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theme" Target="theme/theme1.xml"/>
  <Relationship Id="rId16"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686300"/>
            <a:ext cx="5486400" cy="37719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name="cover">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In the next twenty minutes: what EC2 is, how an instance is put together, how to choose and pay for one, and how to run it in production.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chapters. Each one builds on the previous: why elasticity matters, what an instance is made of, how to choose it, how to pay for it, and how to run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left, the classic data-center pattern: you buy for the peak you expect, sit on idle capacity, and still miss the peak you didn't expect. On the right, Auto Scaling keeps a thin safety margin above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one-sentence definition. Then four numbers to remember: breadth of instance types, per-second billing, the SLA, and the Spot discount.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instance is not one thing — it's an image, a size, storage, networking, an identity and an access path, all attached to a virtual machine running on Nitro.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Nitro moves the hypervisor's I/O work to dedicated cards and a security chip, so almost all of the host goes to your instance — and the host has no interactive operator access.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bottleneck: CPU, memory, accelerators, local storage or network. The family letter in the name tells you which one you picked.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 is the family, 7 the generation, g the Graviton processor, and 2xlarge the size — each size step doubles vCPU and memory.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further right you go — more commitment — the bigger the discount. Spot sits apart: the biggest discount, in exchange for interruption.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pay for compute only while the instance is running. A stopped instance costs you its EBS volumes, not its compute; terminate deletes the root volume by default.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Requests come in through the internet gateway to the load balancer, which spreads them over instances in two Availability Zones. CloudWatch alarms drive Auto Scaling, which adds capacity and replaces unhealthy instances.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choice on the console maps to one flag on the CLI. Once you know the five decisions you can script, template and review them.</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sentences to take home. Thank you — happy to take questions.</a:t>
            </a:r>
          </a:p>
        </p:txBody>
      </p:sp>
    </p:spTree>
  </p:cSld>
  <p:clrMapOvr>
    <a:masterClrMapping/>
  </p:clrMapOvr>
</p:note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p:cSld name="title">
    <p:spTree>
      <p:nvGrpSpPr>
        <p:cNvPr id="1" name=""/>
        <p:cNvGrpSpPr/>
        <p:nvPr/>
      </p:nvGrpSpPr>
      <p:grpSpPr>
        <a:xfrm>
          <a:off x="0" y="0"/>
          <a:ext cx="0" cy="0"/>
          <a:chOff x="0" y="0"/>
          <a:chExt cx="0" cy="0"/>
        </a:xfrm>
      </p:grpSpPr>
      <p:sp>
        <p:nvSpPr>
          <p:cNvPr id="2" name="kicker"/>
          <p:cNvSpPr>
            <a:spLocks noGrp="1"/>
          </p:cNvSpPr>
          <p:nvPr>
            <p:ph type="body" idx="2"/>
          </p:nvPr>
        </p:nvSpPr>
        <p:spPr/>
        <p:txBody>
          <a:bodyPr/>
          <a:lstStyle/>
          <a:p>
            <a:endParaRPr/>
          </a:p>
        </p:txBody>
      </p:sp>
      <p:sp>
        <p:nvSpPr>
          <p:cNvPr id="3" name="title"/>
          <p:cNvSpPr>
            <a:spLocks noGrp="1"/>
          </p:cNvSpPr>
          <p:nvPr>
            <p:ph type="ctrTitle"/>
          </p:nvPr>
        </p:nvSpPr>
        <p:spPr/>
        <p:txBody>
          <a:bodyPr/>
          <a:lstStyle/>
          <a:p>
            <a:endParaRPr/>
          </a:p>
        </p:txBody>
      </p:sp>
      <p:sp>
        <p:nvSpPr>
          <p:cNvPr id="4" name="subtitle"/>
          <p:cNvSpPr>
            <a:spLocks noGrp="1"/>
          </p:cNvSpPr>
          <p:nvPr>
            <p:ph type="subTitle" idx="1"/>
          </p:nvPr>
        </p:nvSpPr>
        <p:spPr/>
        <p:txBody>
          <a:bodyPr/>
          <a:lstStyle/>
          <a:p>
            <a:endParaRPr/>
          </a:p>
        </p:txBody>
      </p:sp>
      <p:sp>
        <p:nvSpPr>
          <p:cNvPr id="5" name="author"/>
          <p:cNvSpPr>
            <a:spLocks noGrp="1"/>
          </p:cNvSpPr>
          <p:nvPr>
            <p:ph type="body" idx="3"/>
          </p:nvPr>
        </p:nvSpPr>
        <p:spPr/>
        <p:txBody>
          <a:bodyPr/>
          <a:lstStyle/>
          <a:p>
            <a:endParaRPr/>
          </a:p>
        </p:txBody>
      </p:sp>
      <p:sp>
        <p:nvSpPr>
          <p:cNvPr id="6" name="date"/>
          <p:cNvSpPr>
            <a:spLocks noGrp="1"/>
          </p:cNvSpPr>
          <p:nvPr>
            <p:ph type="body" idx="4"/>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320"/>
            <a:ext cx="11277600" cy="1143000"/>
          </a:xfrm>
          <a:prstGeom prst="rect">
            <a:avLst/>
          </a:prstGeom>
        </p:spPr>
        <p:txBody>
          <a:bodyPr/>
          <a:lstStyle/>
          <a:p>
            <a:endParaRPr/>
          </a:p>
        </p:txBody>
      </p:sp>
      <p:sp>
        <p:nvSpPr>
          <p:cNvPr id="3" name="Body Placeholder 2"/>
          <p:cNvSpPr>
            <a:spLocks noGrp="1"/>
          </p:cNvSpPr>
          <p:nvPr>
            <p:ph type="body" idx="1"/>
          </p:nvPr>
        </p:nvSpPr>
        <p:spPr>
          <a:xfrm>
            <a:off x="457200" y="1600200"/>
            <a:ext cx="11277600" cy="4800600"/>
          </a:xfrm>
          <a:prstGeom prst="rect">
            <a:avLst/>
          </a:prstGeom>
        </p:spPr>
        <p:txBody>
          <a:body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Lst>
  <p:txStyles>
    <p:titleStyle>
      <a:lvl1pPr algn="l">
        <a:defRPr sz="4400"/>
      </a:lvl1pPr>
    </p:titleStyle>
    <p:bodyStyle>
      <a:lvl1pPr>
        <a:defRPr sz="2400"/>
      </a:lvl1pPr>
    </p:bodyStyle>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name="cover">
    <p:bg>
      <p:bgPr>
        <a:solidFill>
          <a:schemeClr val="bg1"/>
        </a:solidFill>
        <a:effectLst/>
      </p:bgPr>
    </p:bg>
    <p:spTree>
      <p:nvGrpSpPr>
        <p:cNvPr id="1" name=""/>
        <p:cNvGrpSpPr/>
        <p:nvPr/>
      </p:nvGrpSpPr>
      <p:grpSpPr>
        <a:xfrm>
          <a:off x="0" y="0"/>
          <a:ext cx="0" cy="0"/>
          <a:chOff x="0" y="0"/>
          <a:chExt cx="0" cy="0"/>
        </a:xfrm>
      </p:grpSpPr>
      <p:sp>
        <p:nvSpPr>
          <p:cNvPr id="2" name="background overlay"/>
          <p:cNvSpPr>
            <a:spLocks noGrp="1" noSelect="1" noMove="1" noResize="1"/>
          </p:cNvSpPr>
          <p:nvPr/>
        </p:nvSpPr>
        <p:spPr>
          <a:xfrm>
            <a:off x="0" y="0"/>
            <a:ext cx="12192000" cy="6858000"/>
          </a:xfrm>
          <a:prstGeom prst="rect">
            <a:avLst/>
          </a:prstGeom>
          <a:gradFill>
            <a:gsLst>
              <a:gs pos="0">
                <a:schemeClr val="accent1">
                  <a:alpha val="35000"/>
                </a:schemeClr>
              </a:gs>
              <a:gs pos="100000">
                <a:schemeClr val="bg1">
                  <a:alpha val="0"/>
                </a:schemeClr>
              </a:gs>
            </a:gsLst>
            <a:path path="circle">
              <a:fillToRect l="0" t="100000" r="100000" b="0"/>
            </a:path>
          </a:gradFill>
          <a:ln>
            <a:noFill/>
          </a:ln>
        </p:spPr>
      </p:sp>
      <p:sp>
        <p:nvSpPr>
          <p:cNvPr id="3" name="text s0.0"/>
          <p:cNvSpPr txBox="1"/>
          <p:nvPr>
            <p:ph type="body" idx="2"/>
          </p:nvPr>
        </p:nvSpPr>
        <p:spPr>
          <a:xfrm>
            <a:off x="609600" y="1439317"/>
            <a:ext cx="72390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AWS compute fundamentals</a:t>
            </a:r>
          </a:p>
        </p:txBody>
      </p:sp>
      <p:sp>
        <p:nvSpPr>
          <p:cNvPr id="4" name="h1 s0.1"/>
          <p:cNvSpPr txBox="1"/>
          <p:nvPr>
            <p:ph type="ctrTitle"/>
          </p:nvPr>
        </p:nvSpPr>
        <p:spPr>
          <a:xfrm>
            <a:off x="609600" y="1753642"/>
            <a:ext cx="7239000" cy="1645741"/>
          </a:xfrm>
          <a:prstGeom prst="rect">
            <a:avLst/>
          </a:prstGeom>
          <a:noFill/>
          <a:ln>
            <a:noFill/>
          </a:ln>
        </p:spPr>
        <p:txBody>
          <a:bodyPr wrap="square" lIns="0" tIns="0" rIns="0" bIns="0" anchor="t">
            <a:normAutofit/>
          </a:bodyPr>
          <a:lstStyle/>
          <a:p>
            <a:pPr algn="l">
              <a:lnSpc>
                <a:spcPts val="6480"/>
              </a:lnSpc>
            </a:pPr>
            <a:r>
              <a:rPr sz="5400" b="1">
                <a:solidFill>
                  <a:schemeClr val="tx1"/>
                </a:solidFill>
                <a:latin typeface="+mj-lt"/>
                <a:ea typeface="+mj-ea"/>
              </a:rPr>
              <a:t>What is</a:t>
            </a:r>
            <a:br/>
            <a:r>
              <a:rPr sz="5400" b="1" i="0" u="none">
                <a:gradFill>
                  <a:gsLst>
                    <a:gs pos="0">
                      <a:schemeClr val="accent1"/>
                    </a:gs>
                    <a:gs pos="50000">
                      <a:schemeClr val="accent5"/>
                    </a:gs>
                    <a:gs pos="100000">
                      <a:schemeClr val="accent4"/>
                    </a:gs>
                  </a:gsLst>
                  <a:lin ang="0" scaled="1"/>
                </a:gradFill>
                <a:latin typeface="+mj-lt"/>
                <a:ea typeface="+mj-ea"/>
              </a:rPr>
              <a:t>Amazon EC2?</a:t>
            </a:r>
          </a:p>
        </p:txBody>
      </p:sp>
      <p:sp>
        <p:nvSpPr>
          <p:cNvPr id="5" name="text s0.2"/>
          <p:cNvSpPr txBox="1"/>
          <p:nvPr>
            <p:ph type="subTitle" idx="1"/>
          </p:nvPr>
        </p:nvSpPr>
        <p:spPr>
          <a:xfrm>
            <a:off x="609600" y="3513683"/>
            <a:ext cx="7239000" cy="6858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Secure, resizable compute capacity in the cloud — from a single instance to planet-scale fleets.</a:t>
            </a:r>
          </a:p>
        </p:txBody>
      </p:sp>
      <p:sp>
        <p:nvSpPr>
          <p:cNvPr id="6" name="text s0.3"/>
          <p:cNvSpPr txBox="1"/>
          <p:nvPr>
            <p:ph type="body" idx="3"/>
          </p:nvPr>
        </p:nvSpPr>
        <p:spPr>
          <a:xfrm>
            <a:off x="609600" y="4961483"/>
            <a:ext cx="7239000" cy="342900"/>
          </a:xfrm>
          <a:prstGeom prst="rect">
            <a:avLst/>
          </a:prstGeom>
          <a:noFill/>
          <a:ln>
            <a:noFill/>
          </a:ln>
        </p:spPr>
        <p:txBody>
          <a:bodyPr wrap="square" lIns="0" tIns="0" rIns="0" bIns="0" anchor="t">
            <a:normAutofit/>
          </a:bodyPr>
          <a:lstStyle/>
          <a:p>
            <a:pPr algn="l">
              <a:lnSpc>
                <a:spcPts val="2700"/>
              </a:lnSpc>
            </a:pPr>
            <a:r>
              <a:rPr sz="1800" b="1" i="0" u="none">
                <a:solidFill>
                  <a:schemeClr val="tx1"/>
                </a:solidFill>
                <a:latin typeface="+mn-lt"/>
                <a:ea typeface="+mn-ea"/>
              </a:rPr>
              <a:t>SeBeom Lee</a:t>
            </a:r>
            <a:r>
              <a:rPr sz="1800" b="0">
                <a:solidFill>
                  <a:schemeClr val="tx1"/>
                </a:solidFill>
                <a:latin typeface="+mn-lt"/>
                <a:ea typeface="+mn-ea"/>
              </a:rPr>
              <a:t> · Solutions Architect</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hape s1.0"/>
          <p:cNvSpPr/>
          <p:nvPr/>
        </p:nvSpPr>
        <p:spPr>
          <a:xfrm>
            <a:off x="0" y="0"/>
            <a:ext cx="3810000" cy="6858000"/>
          </a:xfrm>
          <a:prstGeom prst="rect">
            <a:avLst/>
          </a:prstGeom>
          <a:solidFill>
            <a:schemeClr val="bg2"/>
          </a:solidFill>
          <a:ln>
            <a:noFill/>
          </a:ln>
        </p:spPr>
        <p:txBody>
          <a:bodyPr wrap="square" lIns="0" tIns="0" rIns="0" bIns="0" anchor="t">
            <a:normAutofit/>
          </a:bodyPr>
          <a:lstStyle/>
          <a:p/>
        </p:txBody>
      </p:sp>
      <p:sp>
        <p:nvSpPr>
          <p:cNvPr id="3" name="text s1.1.0"/>
          <p:cNvSpPr txBox="1"/>
          <p:nvPr/>
        </p:nvSpPr>
        <p:spPr>
          <a:xfrm>
            <a:off x="609600" y="2038350"/>
            <a:ext cx="28575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Today</a:t>
            </a:r>
          </a:p>
        </p:txBody>
      </p:sp>
      <p:sp>
        <p:nvSpPr>
          <p:cNvPr id="4" name="h1 s1.1.1"/>
          <p:cNvSpPr txBox="1"/>
          <p:nvPr/>
        </p:nvSpPr>
        <p:spPr>
          <a:xfrm>
            <a:off x="609600" y="2352675"/>
            <a:ext cx="28575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Agenda</a:t>
            </a:r>
          </a:p>
        </p:txBody>
      </p:sp>
      <p:sp>
        <p:nvSpPr>
          <p:cNvPr id="5" name="p s1.1.2"/>
          <p:cNvSpPr txBox="1"/>
          <p:nvPr/>
        </p:nvSpPr>
        <p:spPr>
          <a:xfrm>
            <a:off x="609600" y="3198465"/>
            <a:ext cx="2857500" cy="1257300"/>
          </a:xfrm>
          <a:prstGeom prst="rect">
            <a:avLst/>
          </a:prstGeom>
          <a:noFill/>
          <a:ln>
            <a:noFill/>
          </a:ln>
        </p:spPr>
        <p:txBody>
          <a:bodyPr wrap="square" lIns="0" tIns="0" rIns="0" bIns="0" anchor="t">
            <a:normAutofit/>
          </a:bodyPr>
          <a:lstStyle/>
          <a:p>
            <a:pPr algn="l">
              <a:lnSpc>
                <a:spcPts val="2475"/>
              </a:lnSpc>
            </a:pPr>
            <a:r>
              <a:rPr sz="1650" b="0">
                <a:solidFill>
                  <a:schemeClr val="tx2"/>
                </a:solidFill>
                <a:latin typeface="+mn-lt"/>
                <a:ea typeface="+mn-ea"/>
              </a:rPr>
              <a:t>Five ideas that take you from “what is a server in the cloud?” to a resilient architecture.</a:t>
            </a:r>
          </a:p>
        </p:txBody>
      </p:sp>
      <p:sp>
        <p:nvSpPr>
          <p:cNvPr id="6" name="text s1.2.0.0"/>
          <p:cNvSpPr txBox="1"/>
          <p:nvPr/>
        </p:nvSpPr>
        <p:spPr>
          <a:xfrm>
            <a:off x="4343400" y="12192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01</a:t>
            </a:r>
          </a:p>
        </p:txBody>
      </p:sp>
      <p:sp>
        <p:nvSpPr>
          <p:cNvPr id="7" name="shape s1.2.0.1"/>
          <p:cNvSpPr/>
          <p:nvPr/>
        </p:nvSpPr>
        <p:spPr>
          <a:xfrm>
            <a:off x="5105400" y="1200150"/>
            <a:ext cx="495300" cy="495300"/>
          </a:xfrm>
          <a:prstGeom prst="ellipse">
            <a:avLst/>
          </a:prstGeom>
          <a:solidFill>
            <a:schemeClr val="accent1">
              <a:lumMod val="15000"/>
              <a:lumOff val="85000"/>
            </a:schemeClr>
          </a:solidFill>
          <a:ln>
            <a:noFill/>
          </a:ln>
        </p:spPr>
        <p:txBody>
          <a:bodyPr wrap="square" lIns="0" tIns="0" rIns="0" bIns="0" anchor="ctr">
            <a:normAutofit/>
          </a:bodyPr>
          <a:lstStyle/>
          <a:p>
            <a:pPr algn="ctr">
              <a:lnSpc>
                <a:spcPts val="2250"/>
              </a:lnSpc>
            </a:pPr>
            <a:r>
              <a:rPr sz="1500" b="1" i="0" u="none">
                <a:solidFill>
                  <a:schemeClr val="accent1"/>
                </a:solidFill>
                <a:latin typeface="+mn-lt"/>
                <a:ea typeface="+mn-ea"/>
              </a:rPr>
              <a:t>E</a:t>
            </a:r>
          </a:p>
        </p:txBody>
      </p:sp>
      <p:sp>
        <p:nvSpPr>
          <p:cNvPr id="8" name="text s1.2.0.2.0"/>
          <p:cNvSpPr txBox="1"/>
          <p:nvPr/>
        </p:nvSpPr>
        <p:spPr>
          <a:xfrm>
            <a:off x="5829300" y="11544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Why elastic compute</a:t>
            </a:r>
          </a:p>
        </p:txBody>
      </p:sp>
      <p:sp>
        <p:nvSpPr>
          <p:cNvPr id="9" name="text s1.2.0.2.1"/>
          <p:cNvSpPr txBox="1"/>
          <p:nvPr/>
        </p:nvSpPr>
        <p:spPr>
          <a:xfrm>
            <a:off x="5829300" y="15010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Capacity that follows demand</a:t>
            </a:r>
          </a:p>
        </p:txBody>
      </p:sp>
      <p:sp>
        <p:nvSpPr>
          <p:cNvPr id="10" name="shape s1.2.1"/>
          <p:cNvSpPr/>
          <p:nvPr/>
        </p:nvSpPr>
        <p:spPr>
          <a:xfrm>
            <a:off x="4343400" y="1905000"/>
            <a:ext cx="7239000" cy="9525"/>
          </a:xfrm>
          <a:prstGeom prst="rect">
            <a:avLst/>
          </a:prstGeom>
          <a:solidFill>
            <a:schemeClr val="bg2"/>
          </a:solidFill>
          <a:ln>
            <a:noFill/>
          </a:ln>
        </p:spPr>
        <p:txBody>
          <a:bodyPr wrap="square" lIns="0" tIns="0" rIns="0" bIns="0" anchor="t">
            <a:normAutofit/>
          </a:bodyPr>
          <a:lstStyle/>
          <a:p/>
        </p:txBody>
      </p:sp>
      <p:sp>
        <p:nvSpPr>
          <p:cNvPr id="11" name="text s1.2.2.0"/>
          <p:cNvSpPr txBox="1"/>
          <p:nvPr/>
        </p:nvSpPr>
        <p:spPr>
          <a:xfrm>
            <a:off x="4343400" y="214312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02</a:t>
            </a:r>
          </a:p>
        </p:txBody>
      </p:sp>
      <p:sp>
        <p:nvSpPr>
          <p:cNvPr id="12" name="shape s1.2.2.1"/>
          <p:cNvSpPr/>
          <p:nvPr/>
        </p:nvSpPr>
        <p:spPr>
          <a:xfrm>
            <a:off x="5105400" y="2124075"/>
            <a:ext cx="495300" cy="495300"/>
          </a:xfrm>
          <a:prstGeom prst="ellipse">
            <a:avLst/>
          </a:prstGeom>
          <a:solidFill>
            <a:schemeClr val="accent4">
              <a:lumMod val="15000"/>
              <a:lumOff val="85000"/>
            </a:schemeClr>
          </a:solidFill>
          <a:ln>
            <a:noFill/>
          </a:ln>
        </p:spPr>
        <p:txBody>
          <a:bodyPr wrap="square" lIns="0" tIns="0" rIns="0" bIns="0" anchor="ctr">
            <a:normAutofit/>
          </a:bodyPr>
          <a:lstStyle/>
          <a:p>
            <a:pPr algn="ctr">
              <a:lnSpc>
                <a:spcPts val="2250"/>
              </a:lnSpc>
            </a:pPr>
            <a:r>
              <a:rPr sz="1500" b="1" i="0" u="none">
                <a:solidFill>
                  <a:schemeClr val="accent4"/>
                </a:solidFill>
                <a:latin typeface="+mn-lt"/>
                <a:ea typeface="+mn-ea"/>
              </a:rPr>
              <a:t>A</a:t>
            </a:r>
          </a:p>
        </p:txBody>
      </p:sp>
      <p:sp>
        <p:nvSpPr>
          <p:cNvPr id="13" name="text s1.2.2.2.0"/>
          <p:cNvSpPr txBox="1"/>
          <p:nvPr/>
        </p:nvSpPr>
        <p:spPr>
          <a:xfrm>
            <a:off x="5829300" y="207838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Anatomy of an instance</a:t>
            </a:r>
          </a:p>
        </p:txBody>
      </p:sp>
      <p:sp>
        <p:nvSpPr>
          <p:cNvPr id="14" name="text s1.2.2.2.1"/>
          <p:cNvSpPr txBox="1"/>
          <p:nvPr/>
        </p:nvSpPr>
        <p:spPr>
          <a:xfrm>
            <a:off x="5829300" y="242500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AMI, type, storage, network, identity — and Nitro</a:t>
            </a:r>
          </a:p>
        </p:txBody>
      </p:sp>
      <p:sp>
        <p:nvSpPr>
          <p:cNvPr id="15" name="shape s1.2.3"/>
          <p:cNvSpPr/>
          <p:nvPr/>
        </p:nvSpPr>
        <p:spPr>
          <a:xfrm>
            <a:off x="4343400" y="2828925"/>
            <a:ext cx="7239000" cy="9525"/>
          </a:xfrm>
          <a:prstGeom prst="rect">
            <a:avLst/>
          </a:prstGeom>
          <a:solidFill>
            <a:schemeClr val="bg2"/>
          </a:solidFill>
          <a:ln>
            <a:noFill/>
          </a:ln>
        </p:spPr>
        <p:txBody>
          <a:bodyPr wrap="square" lIns="0" tIns="0" rIns="0" bIns="0" anchor="t">
            <a:normAutofit/>
          </a:bodyPr>
          <a:lstStyle/>
          <a:p/>
        </p:txBody>
      </p:sp>
      <p:sp>
        <p:nvSpPr>
          <p:cNvPr id="16" name="text s1.2.4.0"/>
          <p:cNvSpPr txBox="1"/>
          <p:nvPr/>
        </p:nvSpPr>
        <p:spPr>
          <a:xfrm>
            <a:off x="4343400" y="306705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03</a:t>
            </a:r>
          </a:p>
        </p:txBody>
      </p:sp>
      <p:sp>
        <p:nvSpPr>
          <p:cNvPr id="17" name="shape s1.2.4.1"/>
          <p:cNvSpPr/>
          <p:nvPr/>
        </p:nvSpPr>
        <p:spPr>
          <a:xfrm>
            <a:off x="5105400" y="3048000"/>
            <a:ext cx="495300" cy="495300"/>
          </a:xfrm>
          <a:prstGeom prst="ellipse">
            <a:avLst/>
          </a:prstGeom>
          <a:solidFill>
            <a:schemeClr val="accent2">
              <a:lumMod val="15000"/>
              <a:lumOff val="85000"/>
            </a:schemeClr>
          </a:solidFill>
          <a:ln>
            <a:noFill/>
          </a:ln>
        </p:spPr>
        <p:txBody>
          <a:bodyPr wrap="square" lIns="0" tIns="0" rIns="0" bIns="0" anchor="ctr">
            <a:normAutofit/>
          </a:bodyPr>
          <a:lstStyle/>
          <a:p>
            <a:pPr algn="ctr">
              <a:lnSpc>
                <a:spcPts val="2250"/>
              </a:lnSpc>
            </a:pPr>
            <a:r>
              <a:rPr sz="1500" b="1" i="0" u="none">
                <a:solidFill>
                  <a:schemeClr val="accent2"/>
                </a:solidFill>
                <a:latin typeface="+mn-lt"/>
                <a:ea typeface="+mn-ea"/>
              </a:rPr>
              <a:t>C</a:t>
            </a:r>
          </a:p>
        </p:txBody>
      </p:sp>
      <p:sp>
        <p:nvSpPr>
          <p:cNvPr id="18" name="text s1.2.4.2.0"/>
          <p:cNvSpPr txBox="1"/>
          <p:nvPr/>
        </p:nvSpPr>
        <p:spPr>
          <a:xfrm>
            <a:off x="5829300" y="300231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Choosing an instance</a:t>
            </a:r>
          </a:p>
        </p:txBody>
      </p:sp>
      <p:sp>
        <p:nvSpPr>
          <p:cNvPr id="19" name="text s1.2.4.2.1"/>
          <p:cNvSpPr txBox="1"/>
          <p:nvPr/>
        </p:nvSpPr>
        <p:spPr>
          <a:xfrm>
            <a:off x="5829300" y="334893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Families, generations and sizes</a:t>
            </a:r>
          </a:p>
        </p:txBody>
      </p:sp>
      <p:sp>
        <p:nvSpPr>
          <p:cNvPr id="20" name="shape s1.2.5"/>
          <p:cNvSpPr/>
          <p:nvPr/>
        </p:nvSpPr>
        <p:spPr>
          <a:xfrm>
            <a:off x="4343400" y="3752850"/>
            <a:ext cx="7239000" cy="9525"/>
          </a:xfrm>
          <a:prstGeom prst="rect">
            <a:avLst/>
          </a:prstGeom>
          <a:solidFill>
            <a:schemeClr val="bg2"/>
          </a:solidFill>
          <a:ln>
            <a:noFill/>
          </a:ln>
        </p:spPr>
        <p:txBody>
          <a:bodyPr wrap="square" lIns="0" tIns="0" rIns="0" bIns="0" anchor="t">
            <a:normAutofit/>
          </a:bodyPr>
          <a:lstStyle/>
          <a:p/>
        </p:txBody>
      </p:sp>
      <p:sp>
        <p:nvSpPr>
          <p:cNvPr id="21" name="text s1.2.6.0"/>
          <p:cNvSpPr txBox="1"/>
          <p:nvPr/>
        </p:nvSpPr>
        <p:spPr>
          <a:xfrm>
            <a:off x="4343400" y="399097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04</a:t>
            </a:r>
          </a:p>
        </p:txBody>
      </p:sp>
      <p:sp>
        <p:nvSpPr>
          <p:cNvPr id="22" name="shape s1.2.6.1"/>
          <p:cNvSpPr/>
          <p:nvPr/>
        </p:nvSpPr>
        <p:spPr>
          <a:xfrm>
            <a:off x="5105400" y="3971925"/>
            <a:ext cx="495300" cy="495300"/>
          </a:xfrm>
          <a:prstGeom prst="ellipse">
            <a:avLst/>
          </a:prstGeom>
          <a:solidFill>
            <a:schemeClr val="accent3">
              <a:lumMod val="15000"/>
              <a:lumOff val="85000"/>
            </a:schemeClr>
          </a:solidFill>
          <a:ln>
            <a:noFill/>
          </a:ln>
        </p:spPr>
        <p:txBody>
          <a:bodyPr wrap="square" lIns="0" tIns="0" rIns="0" bIns="0" anchor="ctr">
            <a:normAutofit/>
          </a:bodyPr>
          <a:lstStyle/>
          <a:p>
            <a:pPr algn="ctr">
              <a:lnSpc>
                <a:spcPts val="2250"/>
              </a:lnSpc>
            </a:pPr>
            <a:r>
              <a:rPr sz="1500" b="1" i="0" u="none">
                <a:solidFill>
                  <a:schemeClr val="accent3"/>
                </a:solidFill>
                <a:latin typeface="+mn-lt"/>
                <a:ea typeface="+mn-ea"/>
              </a:rPr>
              <a:t>$</a:t>
            </a:r>
          </a:p>
        </p:txBody>
      </p:sp>
      <p:sp>
        <p:nvSpPr>
          <p:cNvPr id="23" name="text s1.2.6.2.0"/>
          <p:cNvSpPr txBox="1"/>
          <p:nvPr/>
        </p:nvSpPr>
        <p:spPr>
          <a:xfrm>
            <a:off x="5829300" y="392623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Paying for compute</a:t>
            </a:r>
          </a:p>
        </p:txBody>
      </p:sp>
      <p:sp>
        <p:nvSpPr>
          <p:cNvPr id="24" name="text s1.2.6.2.1"/>
          <p:cNvSpPr txBox="1"/>
          <p:nvPr/>
        </p:nvSpPr>
        <p:spPr>
          <a:xfrm>
            <a:off x="5829300" y="427285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On-Demand, Savings Plans, Reserved, Spot</a:t>
            </a:r>
          </a:p>
        </p:txBody>
      </p:sp>
      <p:sp>
        <p:nvSpPr>
          <p:cNvPr id="25" name="shape s1.2.7"/>
          <p:cNvSpPr/>
          <p:nvPr/>
        </p:nvSpPr>
        <p:spPr>
          <a:xfrm>
            <a:off x="4343400" y="4676775"/>
            <a:ext cx="7239000" cy="9525"/>
          </a:xfrm>
          <a:prstGeom prst="rect">
            <a:avLst/>
          </a:prstGeom>
          <a:solidFill>
            <a:schemeClr val="bg2"/>
          </a:solidFill>
          <a:ln>
            <a:noFill/>
          </a:ln>
        </p:spPr>
        <p:txBody>
          <a:bodyPr wrap="square" lIns="0" tIns="0" rIns="0" bIns="0" anchor="t">
            <a:normAutofit/>
          </a:bodyPr>
          <a:lstStyle/>
          <a:p/>
        </p:txBody>
      </p:sp>
      <p:sp>
        <p:nvSpPr>
          <p:cNvPr id="26" name="text s1.2.8.0"/>
          <p:cNvSpPr txBox="1"/>
          <p:nvPr/>
        </p:nvSpPr>
        <p:spPr>
          <a:xfrm>
            <a:off x="4343400" y="49149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05</a:t>
            </a:r>
          </a:p>
        </p:txBody>
      </p:sp>
      <p:sp>
        <p:nvSpPr>
          <p:cNvPr id="27" name="shape s1.2.8.1"/>
          <p:cNvSpPr/>
          <p:nvPr/>
        </p:nvSpPr>
        <p:spPr>
          <a:xfrm>
            <a:off x="5105400" y="4895850"/>
            <a:ext cx="495300" cy="495300"/>
          </a:xfrm>
          <a:prstGeom prst="ellipse">
            <a:avLst/>
          </a:prstGeom>
          <a:solidFill>
            <a:schemeClr val="accent5">
              <a:lumMod val="15000"/>
              <a:lumOff val="85000"/>
            </a:schemeClr>
          </a:solidFill>
          <a:ln>
            <a:noFill/>
          </a:ln>
        </p:spPr>
        <p:txBody>
          <a:bodyPr wrap="square" lIns="0" tIns="0" rIns="0" bIns="0" anchor="ctr">
            <a:normAutofit/>
          </a:bodyPr>
          <a:lstStyle/>
          <a:p>
            <a:pPr algn="ctr">
              <a:lnSpc>
                <a:spcPts val="2250"/>
              </a:lnSpc>
            </a:pPr>
            <a:r>
              <a:rPr sz="1500" b="1" i="0" u="none">
                <a:solidFill>
                  <a:schemeClr val="accent5"/>
                </a:solidFill>
                <a:latin typeface="+mn-lt"/>
                <a:ea typeface="+mn-ea"/>
              </a:rPr>
              <a:t>P</a:t>
            </a:r>
          </a:p>
        </p:txBody>
      </p:sp>
      <p:sp>
        <p:nvSpPr>
          <p:cNvPr id="28" name="text s1.2.8.2.0"/>
          <p:cNvSpPr txBox="1"/>
          <p:nvPr/>
        </p:nvSpPr>
        <p:spPr>
          <a:xfrm>
            <a:off x="5829300" y="48501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Run it in production</a:t>
            </a:r>
          </a:p>
        </p:txBody>
      </p:sp>
      <p:sp>
        <p:nvSpPr>
          <p:cNvPr id="29" name="text s1.2.8.2.1"/>
          <p:cNvSpPr txBox="1"/>
          <p:nvPr/>
        </p:nvSpPr>
        <p:spPr>
          <a:xfrm>
            <a:off x="5829300" y="51967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Lifecycle, reference architecture, first launch</a:t>
            </a:r>
          </a:p>
        </p:txBody>
      </p:sp>
      <p:sp>
        <p:nvSpPr>
          <p:cNvPr id="30"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1"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24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24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anim calcmode="lin" valueType="num">
                                      <p:cBhvr>
                                        <p:cTn id="28" dur="600" decel="100000" fill="hold"/>
                                        <p:tgtEl>
                                          <p:spTgt spid="7"/>
                                        </p:tgtEl>
                                        <p:attrNameLst>
                                          <p:attrName>ppt_x</p:attrName>
                                        </p:attrNameLst>
                                      </p:cBhvr>
                                      <p:tavLst>
                                        <p:tav tm="0">
                                          <p:val>
                                            <p:strVal val="#ppt_x"/>
                                          </p:val>
                                        </p:tav>
                                        <p:tav tm="100000">
                                          <p:val>
                                            <p:strVal val="#ppt_x"/>
                                          </p:val>
                                        </p:tav>
                                      </p:tavLst>
                                    </p:anim>
                                    <p:anim calcmode="lin" valueType="num">
                                      <p:cBhvr>
                                        <p:cTn id="29" dur="600" decel="100000" fill="hold"/>
                                        <p:tgtEl>
                                          <p:spTgt spid="7"/>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24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600"/>
                                        <p:tgtEl>
                                          <p:spTgt spid="8"/>
                                        </p:tgtEl>
                                      </p:cBhvr>
                                    </p:animEffect>
                                    <p:anim calcmode="lin" valueType="num">
                                      <p:cBhvr>
                                        <p:cTn id="33" dur="600" decel="100000" fill="hold"/>
                                        <p:tgtEl>
                                          <p:spTgt spid="8"/>
                                        </p:tgtEl>
                                        <p:attrNameLst>
                                          <p:attrName>ppt_x</p:attrName>
                                        </p:attrNameLst>
                                      </p:cBhvr>
                                      <p:tavLst>
                                        <p:tav tm="0">
                                          <p:val>
                                            <p:strVal val="#ppt_x"/>
                                          </p:val>
                                        </p:tav>
                                        <p:tav tm="100000">
                                          <p:val>
                                            <p:strVal val="#ppt_x"/>
                                          </p:val>
                                        </p:tav>
                                      </p:tavLst>
                                    </p:anim>
                                    <p:anim calcmode="lin" valueType="num">
                                      <p:cBhvr>
                                        <p:cTn id="34" dur="600" decel="100000" fill="hold"/>
                                        <p:tgtEl>
                                          <p:spTgt spid="8"/>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24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600"/>
                                        <p:tgtEl>
                                          <p:spTgt spid="9"/>
                                        </p:tgtEl>
                                      </p:cBhvr>
                                    </p:animEffect>
                                    <p:anim calcmode="lin" valueType="num">
                                      <p:cBhvr>
                                        <p:cTn id="38" dur="600" decel="100000" fill="hold"/>
                                        <p:tgtEl>
                                          <p:spTgt spid="9"/>
                                        </p:tgtEl>
                                        <p:attrNameLst>
                                          <p:attrName>ppt_x</p:attrName>
                                        </p:attrNameLst>
                                      </p:cBhvr>
                                      <p:tavLst>
                                        <p:tav tm="0">
                                          <p:val>
                                            <p:strVal val="#ppt_x"/>
                                          </p:val>
                                        </p:tav>
                                        <p:tav tm="100000">
                                          <p:val>
                                            <p:strVal val="#ppt_x"/>
                                          </p:val>
                                        </p:tav>
                                      </p:tavLst>
                                    </p:anim>
                                    <p:anim calcmode="lin" valueType="num">
                                      <p:cBhvr>
                                        <p:cTn id="39" dur="600" decel="100000" fill="hold"/>
                                        <p:tgtEl>
                                          <p:spTgt spid="9"/>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24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600"/>
                                        <p:tgtEl>
                                          <p:spTgt spid="10"/>
                                        </p:tgtEl>
                                      </p:cBhvr>
                                    </p:animEffect>
                                    <p:anim calcmode="lin" valueType="num">
                                      <p:cBhvr>
                                        <p:cTn id="43" dur="600" decel="100000" fill="hold"/>
                                        <p:tgtEl>
                                          <p:spTgt spid="10"/>
                                        </p:tgtEl>
                                        <p:attrNameLst>
                                          <p:attrName>ppt_x</p:attrName>
                                        </p:attrNameLst>
                                      </p:cBhvr>
                                      <p:tavLst>
                                        <p:tav tm="0">
                                          <p:val>
                                            <p:strVal val="#ppt_x"/>
                                          </p:val>
                                        </p:tav>
                                        <p:tav tm="100000">
                                          <p:val>
                                            <p:strVal val="#ppt_x"/>
                                          </p:val>
                                        </p:tav>
                                      </p:tavLst>
                                    </p:anim>
                                    <p:anim calcmode="lin" valueType="num">
                                      <p:cBhvr>
                                        <p:cTn id="44" dur="600" decel="100000" fill="hold"/>
                                        <p:tgtEl>
                                          <p:spTgt spid="10"/>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2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600"/>
                                        <p:tgtEl>
                                          <p:spTgt spid="11"/>
                                        </p:tgtEl>
                                      </p:cBhvr>
                                    </p:animEffect>
                                    <p:anim calcmode="lin" valueType="num">
                                      <p:cBhvr>
                                        <p:cTn id="48" dur="600" decel="100000" fill="hold"/>
                                        <p:tgtEl>
                                          <p:spTgt spid="11"/>
                                        </p:tgtEl>
                                        <p:attrNameLst>
                                          <p:attrName>ppt_x</p:attrName>
                                        </p:attrNameLst>
                                      </p:cBhvr>
                                      <p:tavLst>
                                        <p:tav tm="0">
                                          <p:val>
                                            <p:strVal val="#ppt_x"/>
                                          </p:val>
                                        </p:tav>
                                        <p:tav tm="100000">
                                          <p:val>
                                            <p:strVal val="#ppt_x"/>
                                          </p:val>
                                        </p:tav>
                                      </p:tavLst>
                                    </p:anim>
                                    <p:anim calcmode="lin" valueType="num">
                                      <p:cBhvr>
                                        <p:cTn id="49" dur="600" decel="100000" fill="hold"/>
                                        <p:tgtEl>
                                          <p:spTgt spid="11"/>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24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600"/>
                                        <p:tgtEl>
                                          <p:spTgt spid="12"/>
                                        </p:tgtEl>
                                      </p:cBhvr>
                                    </p:animEffect>
                                    <p:anim calcmode="lin" valueType="num">
                                      <p:cBhvr>
                                        <p:cTn id="53" dur="600" decel="100000" fill="hold"/>
                                        <p:tgtEl>
                                          <p:spTgt spid="12"/>
                                        </p:tgtEl>
                                        <p:attrNameLst>
                                          <p:attrName>ppt_x</p:attrName>
                                        </p:attrNameLst>
                                      </p:cBhvr>
                                      <p:tavLst>
                                        <p:tav tm="0">
                                          <p:val>
                                            <p:strVal val="#ppt_x"/>
                                          </p:val>
                                        </p:tav>
                                        <p:tav tm="100000">
                                          <p:val>
                                            <p:strVal val="#ppt_x"/>
                                          </p:val>
                                        </p:tav>
                                      </p:tavLst>
                                    </p:anim>
                                    <p:anim calcmode="lin" valueType="num">
                                      <p:cBhvr>
                                        <p:cTn id="54" dur="600" decel="100000" fill="hold"/>
                                        <p:tgtEl>
                                          <p:spTgt spid="12"/>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24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600"/>
                                        <p:tgtEl>
                                          <p:spTgt spid="13"/>
                                        </p:tgtEl>
                                      </p:cBhvr>
                                    </p:animEffect>
                                    <p:anim calcmode="lin" valueType="num">
                                      <p:cBhvr>
                                        <p:cTn id="58" dur="600" decel="100000" fill="hold"/>
                                        <p:tgtEl>
                                          <p:spTgt spid="13"/>
                                        </p:tgtEl>
                                        <p:attrNameLst>
                                          <p:attrName>ppt_x</p:attrName>
                                        </p:attrNameLst>
                                      </p:cBhvr>
                                      <p:tavLst>
                                        <p:tav tm="0">
                                          <p:val>
                                            <p:strVal val="#ppt_x"/>
                                          </p:val>
                                        </p:tav>
                                        <p:tav tm="100000">
                                          <p:val>
                                            <p:strVal val="#ppt_x"/>
                                          </p:val>
                                        </p:tav>
                                      </p:tavLst>
                                    </p:anim>
                                    <p:anim calcmode="lin" valueType="num">
                                      <p:cBhvr>
                                        <p:cTn id="59" dur="600" decel="100000" fill="hold"/>
                                        <p:tgtEl>
                                          <p:spTgt spid="13"/>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24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anim calcmode="lin" valueType="num">
                                      <p:cBhvr>
                                        <p:cTn id="63" dur="600" decel="100000" fill="hold"/>
                                        <p:tgtEl>
                                          <p:spTgt spid="14"/>
                                        </p:tgtEl>
                                        <p:attrNameLst>
                                          <p:attrName>ppt_x</p:attrName>
                                        </p:attrNameLst>
                                      </p:cBhvr>
                                      <p:tavLst>
                                        <p:tav tm="0">
                                          <p:val>
                                            <p:strVal val="#ppt_x"/>
                                          </p:val>
                                        </p:tav>
                                        <p:tav tm="100000">
                                          <p:val>
                                            <p:strVal val="#ppt_x"/>
                                          </p:val>
                                        </p:tav>
                                      </p:tavLst>
                                    </p:anim>
                                    <p:anim calcmode="lin" valueType="num">
                                      <p:cBhvr>
                                        <p:cTn id="64" dur="600" decel="100000" fill="hold"/>
                                        <p:tgtEl>
                                          <p:spTgt spid="14"/>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24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decel="1000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24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600"/>
                                        <p:tgtEl>
                                          <p:spTgt spid="16"/>
                                        </p:tgtEl>
                                      </p:cBhvr>
                                    </p:animEffect>
                                    <p:anim calcmode="lin" valueType="num">
                                      <p:cBhvr>
                                        <p:cTn id="73" dur="600" decel="100000" fill="hold"/>
                                        <p:tgtEl>
                                          <p:spTgt spid="16"/>
                                        </p:tgtEl>
                                        <p:attrNameLst>
                                          <p:attrName>ppt_x</p:attrName>
                                        </p:attrNameLst>
                                      </p:cBhvr>
                                      <p:tavLst>
                                        <p:tav tm="0">
                                          <p:val>
                                            <p:strVal val="#ppt_x"/>
                                          </p:val>
                                        </p:tav>
                                        <p:tav tm="100000">
                                          <p:val>
                                            <p:strVal val="#ppt_x"/>
                                          </p:val>
                                        </p:tav>
                                      </p:tavLst>
                                    </p:anim>
                                    <p:anim calcmode="lin" valueType="num">
                                      <p:cBhvr>
                                        <p:cTn id="74" dur="600" decel="100000" fill="hold"/>
                                        <p:tgtEl>
                                          <p:spTgt spid="16"/>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24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anim calcmode="lin" valueType="num">
                                      <p:cBhvr>
                                        <p:cTn id="78" dur="600" decel="100000" fill="hold"/>
                                        <p:tgtEl>
                                          <p:spTgt spid="17"/>
                                        </p:tgtEl>
                                        <p:attrNameLst>
                                          <p:attrName>ppt_x</p:attrName>
                                        </p:attrNameLst>
                                      </p:cBhvr>
                                      <p:tavLst>
                                        <p:tav tm="0">
                                          <p:val>
                                            <p:strVal val="#ppt_x"/>
                                          </p:val>
                                        </p:tav>
                                        <p:tav tm="100000">
                                          <p:val>
                                            <p:strVal val="#ppt_x"/>
                                          </p:val>
                                        </p:tav>
                                      </p:tavLst>
                                    </p:anim>
                                    <p:anim calcmode="lin" valueType="num">
                                      <p:cBhvr>
                                        <p:cTn id="79" dur="600" decel="100000" fill="hold"/>
                                        <p:tgtEl>
                                          <p:spTgt spid="17"/>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240"/>
                                  </p:stCondLst>
                                  <p:childTnLst>
                                    <p:set>
                                      <p:cBhvr>
                                        <p:cTn id="81" dur="1" fill="hold">
                                          <p:stCondLst>
                                            <p:cond delay="0"/>
                                          </p:stCondLst>
                                        </p:cTn>
                                        <p:tgtEl>
                                          <p:spTgt spid="18"/>
                                        </p:tgtEl>
                                        <p:attrNameLst>
                                          <p:attrName>style.visibility</p:attrName>
                                        </p:attrNameLst>
                                      </p:cBhvr>
                                      <p:to>
                                        <p:strVal val="visible"/>
                                      </p:to>
                                    </p:set>
                                    <p:animEffect transition="in" filter="fade">
                                      <p:cBhvr>
                                        <p:cTn id="82" dur="600"/>
                                        <p:tgtEl>
                                          <p:spTgt spid="18"/>
                                        </p:tgtEl>
                                      </p:cBhvr>
                                    </p:animEffect>
                                    <p:anim calcmode="lin" valueType="num">
                                      <p:cBhvr>
                                        <p:cTn id="83" dur="600" decel="100000" fill="hold"/>
                                        <p:tgtEl>
                                          <p:spTgt spid="18"/>
                                        </p:tgtEl>
                                        <p:attrNameLst>
                                          <p:attrName>ppt_x</p:attrName>
                                        </p:attrNameLst>
                                      </p:cBhvr>
                                      <p:tavLst>
                                        <p:tav tm="0">
                                          <p:val>
                                            <p:strVal val="#ppt_x"/>
                                          </p:val>
                                        </p:tav>
                                        <p:tav tm="100000">
                                          <p:val>
                                            <p:strVal val="#ppt_x"/>
                                          </p:val>
                                        </p:tav>
                                      </p:tavLst>
                                    </p:anim>
                                    <p:anim calcmode="lin" valueType="num">
                                      <p:cBhvr>
                                        <p:cTn id="84" dur="600" decel="100000" fill="hold"/>
                                        <p:tgtEl>
                                          <p:spTgt spid="18"/>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24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600"/>
                                        <p:tgtEl>
                                          <p:spTgt spid="19"/>
                                        </p:tgtEl>
                                      </p:cBhvr>
                                    </p:animEffect>
                                    <p:anim calcmode="lin" valueType="num">
                                      <p:cBhvr>
                                        <p:cTn id="88" dur="600" decel="100000" fill="hold"/>
                                        <p:tgtEl>
                                          <p:spTgt spid="19"/>
                                        </p:tgtEl>
                                        <p:attrNameLst>
                                          <p:attrName>ppt_x</p:attrName>
                                        </p:attrNameLst>
                                      </p:cBhvr>
                                      <p:tavLst>
                                        <p:tav tm="0">
                                          <p:val>
                                            <p:strVal val="#ppt_x"/>
                                          </p:val>
                                        </p:tav>
                                        <p:tav tm="100000">
                                          <p:val>
                                            <p:strVal val="#ppt_x"/>
                                          </p:val>
                                        </p:tav>
                                      </p:tavLst>
                                    </p:anim>
                                    <p:anim calcmode="lin" valueType="num">
                                      <p:cBhvr>
                                        <p:cTn id="89" dur="600" decel="100000" fill="hold"/>
                                        <p:tgtEl>
                                          <p:spTgt spid="19"/>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24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anim calcmode="lin" valueType="num">
                                      <p:cBhvr>
                                        <p:cTn id="93" dur="600" decel="100000" fill="hold"/>
                                        <p:tgtEl>
                                          <p:spTgt spid="20"/>
                                        </p:tgtEl>
                                        <p:attrNameLst>
                                          <p:attrName>ppt_x</p:attrName>
                                        </p:attrNameLst>
                                      </p:cBhvr>
                                      <p:tavLst>
                                        <p:tav tm="0">
                                          <p:val>
                                            <p:strVal val="#ppt_x"/>
                                          </p:val>
                                        </p:tav>
                                        <p:tav tm="100000">
                                          <p:val>
                                            <p:strVal val="#ppt_x"/>
                                          </p:val>
                                        </p:tav>
                                      </p:tavLst>
                                    </p:anim>
                                    <p:anim calcmode="lin" valueType="num">
                                      <p:cBhvr>
                                        <p:cTn id="94" dur="600" decel="100000" fill="hold"/>
                                        <p:tgtEl>
                                          <p:spTgt spid="20"/>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240"/>
                                  </p:stCondLst>
                                  <p:childTnLst>
                                    <p:set>
                                      <p:cBhvr>
                                        <p:cTn id="96" dur="1" fill="hold">
                                          <p:stCondLst>
                                            <p:cond delay="0"/>
                                          </p:stCondLst>
                                        </p:cTn>
                                        <p:tgtEl>
                                          <p:spTgt spid="21"/>
                                        </p:tgtEl>
                                        <p:attrNameLst>
                                          <p:attrName>style.visibility</p:attrName>
                                        </p:attrNameLst>
                                      </p:cBhvr>
                                      <p:to>
                                        <p:strVal val="visible"/>
                                      </p:to>
                                    </p:set>
                                    <p:animEffect transition="in" filter="fade">
                                      <p:cBhvr>
                                        <p:cTn id="97" dur="600"/>
                                        <p:tgtEl>
                                          <p:spTgt spid="21"/>
                                        </p:tgtEl>
                                      </p:cBhvr>
                                    </p:animEffect>
                                    <p:anim calcmode="lin" valueType="num">
                                      <p:cBhvr>
                                        <p:cTn id="98" dur="600" decel="100000" fill="hold"/>
                                        <p:tgtEl>
                                          <p:spTgt spid="21"/>
                                        </p:tgtEl>
                                        <p:attrNameLst>
                                          <p:attrName>ppt_x</p:attrName>
                                        </p:attrNameLst>
                                      </p:cBhvr>
                                      <p:tavLst>
                                        <p:tav tm="0">
                                          <p:val>
                                            <p:strVal val="#ppt_x"/>
                                          </p:val>
                                        </p:tav>
                                        <p:tav tm="100000">
                                          <p:val>
                                            <p:strVal val="#ppt_x"/>
                                          </p:val>
                                        </p:tav>
                                      </p:tavLst>
                                    </p:anim>
                                    <p:anim calcmode="lin" valueType="num">
                                      <p:cBhvr>
                                        <p:cTn id="99" dur="600" decel="100000" fill="hold"/>
                                        <p:tgtEl>
                                          <p:spTgt spid="21"/>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24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600"/>
                                        <p:tgtEl>
                                          <p:spTgt spid="22"/>
                                        </p:tgtEl>
                                      </p:cBhvr>
                                    </p:animEffect>
                                    <p:anim calcmode="lin" valueType="num">
                                      <p:cBhvr>
                                        <p:cTn id="103" dur="600" decel="100000" fill="hold"/>
                                        <p:tgtEl>
                                          <p:spTgt spid="22"/>
                                        </p:tgtEl>
                                        <p:attrNameLst>
                                          <p:attrName>ppt_x</p:attrName>
                                        </p:attrNameLst>
                                      </p:cBhvr>
                                      <p:tavLst>
                                        <p:tav tm="0">
                                          <p:val>
                                            <p:strVal val="#ppt_x"/>
                                          </p:val>
                                        </p:tav>
                                        <p:tav tm="100000">
                                          <p:val>
                                            <p:strVal val="#ppt_x"/>
                                          </p:val>
                                        </p:tav>
                                      </p:tavLst>
                                    </p:anim>
                                    <p:anim calcmode="lin" valueType="num">
                                      <p:cBhvr>
                                        <p:cTn id="104" dur="600" decel="100000" fill="hold"/>
                                        <p:tgtEl>
                                          <p:spTgt spid="22"/>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240"/>
                                  </p:stCondLst>
                                  <p:childTnLst>
                                    <p:set>
                                      <p:cBhvr>
                                        <p:cTn id="106" dur="1" fill="hold">
                                          <p:stCondLst>
                                            <p:cond delay="0"/>
                                          </p:stCondLst>
                                        </p:cTn>
                                        <p:tgtEl>
                                          <p:spTgt spid="23"/>
                                        </p:tgtEl>
                                        <p:attrNameLst>
                                          <p:attrName>style.visibility</p:attrName>
                                        </p:attrNameLst>
                                      </p:cBhvr>
                                      <p:to>
                                        <p:strVal val="visible"/>
                                      </p:to>
                                    </p:set>
                                    <p:animEffect transition="in" filter="fade">
                                      <p:cBhvr>
                                        <p:cTn id="107" dur="600"/>
                                        <p:tgtEl>
                                          <p:spTgt spid="23"/>
                                        </p:tgtEl>
                                      </p:cBhvr>
                                    </p:animEffect>
                                    <p:anim calcmode="lin" valueType="num">
                                      <p:cBhvr>
                                        <p:cTn id="108" dur="600" decel="100000" fill="hold"/>
                                        <p:tgtEl>
                                          <p:spTgt spid="23"/>
                                        </p:tgtEl>
                                        <p:attrNameLst>
                                          <p:attrName>ppt_x</p:attrName>
                                        </p:attrNameLst>
                                      </p:cBhvr>
                                      <p:tavLst>
                                        <p:tav tm="0">
                                          <p:val>
                                            <p:strVal val="#ppt_x"/>
                                          </p:val>
                                        </p:tav>
                                        <p:tav tm="100000">
                                          <p:val>
                                            <p:strVal val="#ppt_x"/>
                                          </p:val>
                                        </p:tav>
                                      </p:tavLst>
                                    </p:anim>
                                    <p:anim calcmode="lin" valueType="num">
                                      <p:cBhvr>
                                        <p:cTn id="109" dur="600" decel="100000" fill="hold"/>
                                        <p:tgtEl>
                                          <p:spTgt spid="23"/>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24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600"/>
                                        <p:tgtEl>
                                          <p:spTgt spid="24"/>
                                        </p:tgtEl>
                                      </p:cBhvr>
                                    </p:animEffect>
                                    <p:anim calcmode="lin" valueType="num">
                                      <p:cBhvr>
                                        <p:cTn id="113" dur="600" decel="100000" fill="hold"/>
                                        <p:tgtEl>
                                          <p:spTgt spid="24"/>
                                        </p:tgtEl>
                                        <p:attrNameLst>
                                          <p:attrName>ppt_x</p:attrName>
                                        </p:attrNameLst>
                                      </p:cBhvr>
                                      <p:tavLst>
                                        <p:tav tm="0">
                                          <p:val>
                                            <p:strVal val="#ppt_x"/>
                                          </p:val>
                                        </p:tav>
                                        <p:tav tm="100000">
                                          <p:val>
                                            <p:strVal val="#ppt_x"/>
                                          </p:val>
                                        </p:tav>
                                      </p:tavLst>
                                    </p:anim>
                                    <p:anim calcmode="lin" valueType="num">
                                      <p:cBhvr>
                                        <p:cTn id="114" dur="600" decel="100000" fill="hold"/>
                                        <p:tgtEl>
                                          <p:spTgt spid="24"/>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24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600"/>
                                        <p:tgtEl>
                                          <p:spTgt spid="25"/>
                                        </p:tgtEl>
                                      </p:cBhvr>
                                    </p:animEffect>
                                    <p:anim calcmode="lin" valueType="num">
                                      <p:cBhvr>
                                        <p:cTn id="118" dur="600" decel="100000" fill="hold"/>
                                        <p:tgtEl>
                                          <p:spTgt spid="25"/>
                                        </p:tgtEl>
                                        <p:attrNameLst>
                                          <p:attrName>ppt_x</p:attrName>
                                        </p:attrNameLst>
                                      </p:cBhvr>
                                      <p:tavLst>
                                        <p:tav tm="0">
                                          <p:val>
                                            <p:strVal val="#ppt_x"/>
                                          </p:val>
                                        </p:tav>
                                        <p:tav tm="100000">
                                          <p:val>
                                            <p:strVal val="#ppt_x"/>
                                          </p:val>
                                        </p:tav>
                                      </p:tavLst>
                                    </p:anim>
                                    <p:anim calcmode="lin" valueType="num">
                                      <p:cBhvr>
                                        <p:cTn id="119" dur="600" decel="100000" fill="hold"/>
                                        <p:tgtEl>
                                          <p:spTgt spid="25"/>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24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600"/>
                                        <p:tgtEl>
                                          <p:spTgt spid="26"/>
                                        </p:tgtEl>
                                      </p:cBhvr>
                                    </p:animEffect>
                                    <p:anim calcmode="lin" valueType="num">
                                      <p:cBhvr>
                                        <p:cTn id="123" dur="600" decel="100000" fill="hold"/>
                                        <p:tgtEl>
                                          <p:spTgt spid="26"/>
                                        </p:tgtEl>
                                        <p:attrNameLst>
                                          <p:attrName>ppt_x</p:attrName>
                                        </p:attrNameLst>
                                      </p:cBhvr>
                                      <p:tavLst>
                                        <p:tav tm="0">
                                          <p:val>
                                            <p:strVal val="#ppt_x"/>
                                          </p:val>
                                        </p:tav>
                                        <p:tav tm="100000">
                                          <p:val>
                                            <p:strVal val="#ppt_x"/>
                                          </p:val>
                                        </p:tav>
                                      </p:tavLst>
                                    </p:anim>
                                    <p:anim calcmode="lin" valueType="num">
                                      <p:cBhvr>
                                        <p:cTn id="124" dur="600" decel="100000" fill="hold"/>
                                        <p:tgtEl>
                                          <p:spTgt spid="26"/>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240"/>
                                  </p:stCondLst>
                                  <p:childTnLst>
                                    <p:set>
                                      <p:cBhvr>
                                        <p:cTn id="126" dur="1" fill="hold">
                                          <p:stCondLst>
                                            <p:cond delay="0"/>
                                          </p:stCondLst>
                                        </p:cTn>
                                        <p:tgtEl>
                                          <p:spTgt spid="27"/>
                                        </p:tgtEl>
                                        <p:attrNameLst>
                                          <p:attrName>style.visibility</p:attrName>
                                        </p:attrNameLst>
                                      </p:cBhvr>
                                      <p:to>
                                        <p:strVal val="visible"/>
                                      </p:to>
                                    </p:set>
                                    <p:animEffect transition="in" filter="fade">
                                      <p:cBhvr>
                                        <p:cTn id="127" dur="600"/>
                                        <p:tgtEl>
                                          <p:spTgt spid="27"/>
                                        </p:tgtEl>
                                      </p:cBhvr>
                                    </p:animEffect>
                                    <p:anim calcmode="lin" valueType="num">
                                      <p:cBhvr>
                                        <p:cTn id="128" dur="600" decel="100000" fill="hold"/>
                                        <p:tgtEl>
                                          <p:spTgt spid="27"/>
                                        </p:tgtEl>
                                        <p:attrNameLst>
                                          <p:attrName>ppt_x</p:attrName>
                                        </p:attrNameLst>
                                      </p:cBhvr>
                                      <p:tavLst>
                                        <p:tav tm="0">
                                          <p:val>
                                            <p:strVal val="#ppt_x"/>
                                          </p:val>
                                        </p:tav>
                                        <p:tav tm="100000">
                                          <p:val>
                                            <p:strVal val="#ppt_x"/>
                                          </p:val>
                                        </p:tav>
                                      </p:tavLst>
                                    </p:anim>
                                    <p:anim calcmode="lin" valueType="num">
                                      <p:cBhvr>
                                        <p:cTn id="129" dur="600" decel="100000" fill="hold"/>
                                        <p:tgtEl>
                                          <p:spTgt spid="27"/>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24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600"/>
                                        <p:tgtEl>
                                          <p:spTgt spid="28"/>
                                        </p:tgtEl>
                                      </p:cBhvr>
                                    </p:animEffect>
                                    <p:anim calcmode="lin" valueType="num">
                                      <p:cBhvr>
                                        <p:cTn id="133" dur="600" decel="100000" fill="hold"/>
                                        <p:tgtEl>
                                          <p:spTgt spid="28"/>
                                        </p:tgtEl>
                                        <p:attrNameLst>
                                          <p:attrName>ppt_x</p:attrName>
                                        </p:attrNameLst>
                                      </p:cBhvr>
                                      <p:tavLst>
                                        <p:tav tm="0">
                                          <p:val>
                                            <p:strVal val="#ppt_x"/>
                                          </p:val>
                                        </p:tav>
                                        <p:tav tm="100000">
                                          <p:val>
                                            <p:strVal val="#ppt_x"/>
                                          </p:val>
                                        </p:tav>
                                      </p:tavLst>
                                    </p:anim>
                                    <p:anim calcmode="lin" valueType="num">
                                      <p:cBhvr>
                                        <p:cTn id="134" dur="600" decel="100000" fill="hold"/>
                                        <p:tgtEl>
                                          <p:spTgt spid="28"/>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240"/>
                                  </p:stCondLst>
                                  <p:childTnLst>
                                    <p:set>
                                      <p:cBhvr>
                                        <p:cTn id="136" dur="1" fill="hold">
                                          <p:stCondLst>
                                            <p:cond delay="0"/>
                                          </p:stCondLst>
                                        </p:cTn>
                                        <p:tgtEl>
                                          <p:spTgt spid="29"/>
                                        </p:tgtEl>
                                        <p:attrNameLst>
                                          <p:attrName>style.visibility</p:attrName>
                                        </p:attrNameLst>
                                      </p:cBhvr>
                                      <p:to>
                                        <p:strVal val="visible"/>
                                      </p:to>
                                    </p:set>
                                    <p:animEffect transition="in" filter="fade">
                                      <p:cBhvr>
                                        <p:cTn id="137" dur="600"/>
                                        <p:tgtEl>
                                          <p:spTgt spid="29"/>
                                        </p:tgtEl>
                                      </p:cBhvr>
                                    </p:animEffect>
                                    <p:anim calcmode="lin" valueType="num">
                                      <p:cBhvr>
                                        <p:cTn id="138" dur="600" decel="100000" fill="hold"/>
                                        <p:tgtEl>
                                          <p:spTgt spid="29"/>
                                        </p:tgtEl>
                                        <p:attrNameLst>
                                          <p:attrName>ppt_x</p:attrName>
                                        </p:attrNameLst>
                                      </p:cBhvr>
                                      <p:tavLst>
                                        <p:tav tm="0">
                                          <p:val>
                                            <p:strVal val="#ppt_x"/>
                                          </p:val>
                                        </p:tav>
                                        <p:tav tm="100000">
                                          <p:val>
                                            <p:strVal val="#ppt_x"/>
                                          </p:val>
                                        </p:tav>
                                      </p:tavLst>
                                    </p:anim>
                                    <p:anim calcmode="lin" valueType="num">
                                      <p:cBhvr>
                                        <p:cTn id="139" dur="600" decel="100000" fill="hold"/>
                                        <p:tgtEl>
                                          <p:spTgt spid="29"/>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text s2.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Why elastic compute</a:t>
            </a:r>
          </a:p>
        </p:txBody>
      </p:sp>
      <p:sp>
        <p:nvSpPr>
          <p:cNvPr id="3" name="h2 s2.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Stop guessing capacity — let it follow demand</a:t>
            </a:r>
          </a:p>
        </p:txBody>
      </p:sp>
      <p:sp>
        <p:nvSpPr>
          <p:cNvPr id="4" name="shape s2.2.0"/>
          <p:cNvSpPr/>
          <p:nvPr/>
        </p:nvSpPr>
        <p:spPr>
          <a:xfrm>
            <a:off x="60960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h3 s2.2.0.0.0"/>
          <p:cNvSpPr txBox="1"/>
          <p:nvPr/>
        </p:nvSpPr>
        <p:spPr>
          <a:xfrm>
            <a:off x="98583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Traditional provisioning</a:t>
            </a:r>
          </a:p>
        </p:txBody>
      </p:sp>
      <p:sp>
        <p:nvSpPr>
          <p:cNvPr id="6" name="shape s2.2.0.0.1.0"/>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lnTo>
                  <a:pt x="100000" y="100000"/>
                </a:lnTo>
                <a:lnTo>
                  <a:pt x="0" y="100000"/>
                </a:lnTo>
                <a:close/>
              </a:path>
            </a:pathLst>
          </a:custGeom>
          <a:solidFill>
            <a:schemeClr val="bg2"/>
          </a:solidFill>
          <a:ln>
            <a:noFill/>
          </a:ln>
        </p:spPr>
        <p:txBody>
          <a:bodyPr wrap="square" lIns="0" tIns="0" rIns="0" bIns="0" anchor="t">
            <a:normAutofit/>
          </a:bodyPr>
          <a:lstStyle/>
          <a:p/>
        </p:txBody>
      </p:sp>
      <p:sp>
        <p:nvSpPr>
          <p:cNvPr id="7" name="shape s2.2.0.0.1.1"/>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path>
            </a:pathLst>
          </a:custGeom>
          <a:noFill/>
          <a:ln w="19050">
            <a:solidFill>
              <a:schemeClr val="tx2"/>
            </a:solidFill>
            <a:prstDash val="solid"/>
          </a:ln>
        </p:spPr>
        <p:txBody>
          <a:bodyPr wrap="square" lIns="0" tIns="0" rIns="0" bIns="0" anchor="t">
            <a:normAutofit/>
          </a:bodyPr>
          <a:lstStyle/>
          <a:p/>
        </p:txBody>
      </p:sp>
      <p:sp>
        <p:nvSpPr>
          <p:cNvPr id="8" name="shape s2.2.0.0.1.2"/>
          <p:cNvSpPr/>
          <p:nvPr/>
        </p:nvSpPr>
        <p:spPr>
          <a:xfrm>
            <a:off x="98583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9" name="text s2.2.0.0.2.0"/>
          <p:cNvSpPr txBox="1"/>
          <p:nvPr/>
        </p:nvSpPr>
        <p:spPr>
          <a:xfrm>
            <a:off x="985838" y="4660702"/>
            <a:ext cx="905768"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a:t>
            </a:r>
            <a:r>
              <a:rPr sz="1350" b="0">
                <a:solidFill>
                  <a:schemeClr val="tx2"/>
                </a:solidFill>
                <a:latin typeface="+mn-lt"/>
                <a:ea typeface="+mn-ea"/>
              </a:rPr>
              <a:t> Demand</a:t>
            </a:r>
          </a:p>
        </p:txBody>
      </p:sp>
      <p:sp>
        <p:nvSpPr>
          <p:cNvPr id="10" name="text s2.2.0.0.2.1"/>
          <p:cNvSpPr txBox="1"/>
          <p:nvPr/>
        </p:nvSpPr>
        <p:spPr>
          <a:xfrm>
            <a:off x="2120205" y="4660702"/>
            <a:ext cx="1156990"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a:t>
            </a:r>
            <a:r>
              <a:rPr sz="1350" b="0">
                <a:solidFill>
                  <a:schemeClr val="tx2"/>
                </a:solidFill>
                <a:latin typeface="+mn-lt"/>
                <a:ea typeface="+mn-ea"/>
              </a:rPr>
              <a:t> Provisioned</a:t>
            </a:r>
          </a:p>
        </p:txBody>
      </p:sp>
      <p:sp>
        <p:nvSpPr>
          <p:cNvPr id="11" name="text s2.2.0.0.2.2"/>
          <p:cNvSpPr txBox="1"/>
          <p:nvPr/>
        </p:nvSpPr>
        <p:spPr>
          <a:xfrm>
            <a:off x="3505795" y="4660702"/>
            <a:ext cx="1221135"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a:t>
            </a:r>
            <a:r>
              <a:rPr sz="1350" b="0">
                <a:solidFill>
                  <a:schemeClr val="tx2"/>
                </a:solidFill>
                <a:latin typeface="+mn-lt"/>
                <a:ea typeface="+mn-ea"/>
              </a:rPr>
              <a:t> Idle capacity</a:t>
            </a:r>
          </a:p>
        </p:txBody>
      </p:sp>
      <p:sp>
        <p:nvSpPr>
          <p:cNvPr id="12" name="p s2.2.0.0.3"/>
          <p:cNvSpPr txBox="1"/>
          <p:nvPr/>
        </p:nvSpPr>
        <p:spPr>
          <a:xfrm>
            <a:off x="98583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Capacity arrives in big, slow steps. You </a:t>
            </a:r>
            <a:r>
              <a:rPr sz="1500" b="1" i="0" u="none">
                <a:solidFill>
                  <a:schemeClr val="tx2"/>
                </a:solidFill>
                <a:latin typeface="+mn-lt"/>
                <a:ea typeface="+mn-ea"/>
              </a:rPr>
              <a:t>pay for idle hardware</a:t>
            </a:r>
            <a:r>
              <a:rPr sz="1500" b="0">
                <a:solidFill>
                  <a:schemeClr val="tx2"/>
                </a:solidFill>
                <a:latin typeface="+mn-lt"/>
                <a:ea typeface="+mn-ea"/>
              </a:rPr>
              <a:t> most of the time — and </a:t>
            </a:r>
            <a:r>
              <a:rPr sz="1500" b="1" i="0" u="none">
                <a:solidFill>
                  <a:schemeClr val="tx2"/>
                </a:solidFill>
                <a:latin typeface="+mn-lt"/>
                <a:ea typeface="+mn-ea"/>
              </a:rPr>
              <a:t>still run short</a:t>
            </a:r>
            <a:r>
              <a:rPr sz="1500" b="0">
                <a:solidFill>
                  <a:schemeClr val="tx2"/>
                </a:solidFill>
                <a:latin typeface="+mn-lt"/>
                <a:ea typeface="+mn-ea"/>
              </a:rPr>
              <a:t> at peaks.</a:t>
            </a:r>
          </a:p>
        </p:txBody>
      </p:sp>
      <p:sp>
        <p:nvSpPr>
          <p:cNvPr id="13" name="shape s2.2.1"/>
          <p:cNvSpPr/>
          <p:nvPr/>
        </p:nvSpPr>
        <p:spPr>
          <a:xfrm>
            <a:off x="626745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14" name="h3 s2.2.1.0.0"/>
          <p:cNvSpPr txBox="1"/>
          <p:nvPr/>
        </p:nvSpPr>
        <p:spPr>
          <a:xfrm>
            <a:off x="664368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With Amazon EC2</a:t>
            </a:r>
          </a:p>
        </p:txBody>
      </p:sp>
      <p:sp>
        <p:nvSpPr>
          <p:cNvPr id="15" name="shape s2.2.1.0.1.0"/>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lnTo>
                  <a:pt x="100000" y="100000"/>
                </a:lnTo>
                <a:lnTo>
                  <a:pt x="0" y="100000"/>
                </a:lnTo>
                <a:close/>
              </a:path>
            </a:pathLst>
          </a:custGeom>
          <a:solidFill>
            <a:schemeClr val="accent1">
              <a:lumMod val="20000"/>
              <a:lumOff val="80000"/>
            </a:schemeClr>
          </a:solidFill>
          <a:ln>
            <a:noFill/>
          </a:ln>
        </p:spPr>
        <p:txBody>
          <a:bodyPr wrap="square" lIns="0" tIns="0" rIns="0" bIns="0" anchor="t">
            <a:normAutofit/>
          </a:bodyPr>
          <a:lstStyle/>
          <a:p/>
        </p:txBody>
      </p:sp>
      <p:sp>
        <p:nvSpPr>
          <p:cNvPr id="16" name="shape s2.2.1.0.1.1"/>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path>
            </a:pathLst>
          </a:custGeom>
          <a:noFill/>
          <a:ln w="19050">
            <a:solidFill>
              <a:schemeClr val="accent1"/>
            </a:solidFill>
            <a:prstDash val="solid"/>
          </a:ln>
        </p:spPr>
        <p:txBody>
          <a:bodyPr wrap="square" lIns="0" tIns="0" rIns="0" bIns="0" anchor="t">
            <a:normAutofit/>
          </a:bodyPr>
          <a:lstStyle/>
          <a:p/>
        </p:txBody>
      </p:sp>
      <p:sp>
        <p:nvSpPr>
          <p:cNvPr id="17" name="shape s2.2.1.0.1.2"/>
          <p:cNvSpPr/>
          <p:nvPr/>
        </p:nvSpPr>
        <p:spPr>
          <a:xfrm>
            <a:off x="664368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18" name="text s2.2.1.0.2.0"/>
          <p:cNvSpPr txBox="1"/>
          <p:nvPr/>
        </p:nvSpPr>
        <p:spPr>
          <a:xfrm>
            <a:off x="6643688" y="4660702"/>
            <a:ext cx="905768"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a:t>
            </a:r>
            <a:r>
              <a:rPr sz="1350" b="0">
                <a:solidFill>
                  <a:schemeClr val="tx2"/>
                </a:solidFill>
                <a:latin typeface="+mn-lt"/>
                <a:ea typeface="+mn-ea"/>
              </a:rPr>
              <a:t> Demand</a:t>
            </a:r>
          </a:p>
        </p:txBody>
      </p:sp>
      <p:sp>
        <p:nvSpPr>
          <p:cNvPr id="19" name="text s2.2.1.0.2.1"/>
          <p:cNvSpPr txBox="1"/>
          <p:nvPr/>
        </p:nvSpPr>
        <p:spPr>
          <a:xfrm>
            <a:off x="7778055" y="4660702"/>
            <a:ext cx="1218456" cy="239911"/>
          </a:xfrm>
          <a:prstGeom prst="rect">
            <a:avLst/>
          </a:prstGeom>
          <a:noFill/>
          <a:ln>
            <a:noFill/>
          </a:ln>
        </p:spPr>
        <p:txBody>
          <a:bodyPr wrap="none" lIns="0" tIns="0" rIns="0" bIns="0" anchor="t">
            <a:normAutofit/>
          </a:bodyPr>
          <a:lstStyle/>
          <a:p>
            <a:pPr algn="l">
              <a:lnSpc>
                <a:spcPts val="1890"/>
              </a:lnSpc>
            </a:pPr>
            <a:r>
              <a:rPr sz="1350" b="1" i="0" u="none">
                <a:solidFill>
                  <a:schemeClr val="accent1"/>
                </a:solidFill>
                <a:latin typeface="+mn-lt"/>
                <a:ea typeface="+mn-ea"/>
              </a:rPr>
              <a:t>━</a:t>
            </a:r>
            <a:r>
              <a:rPr sz="1350" b="0">
                <a:solidFill>
                  <a:schemeClr val="accent1"/>
                </a:solidFill>
                <a:latin typeface="+mn-lt"/>
                <a:ea typeface="+mn-ea"/>
              </a:rPr>
              <a:t> EC2 capacity</a:t>
            </a:r>
          </a:p>
        </p:txBody>
      </p:sp>
      <p:sp>
        <p:nvSpPr>
          <p:cNvPr id="20" name="text s2.2.1.0.2.2"/>
          <p:cNvSpPr txBox="1"/>
          <p:nvPr/>
        </p:nvSpPr>
        <p:spPr>
          <a:xfrm>
            <a:off x="9225111" y="4660702"/>
            <a:ext cx="1539180" cy="239911"/>
          </a:xfrm>
          <a:prstGeom prst="rect">
            <a:avLst/>
          </a:prstGeom>
          <a:noFill/>
          <a:ln>
            <a:noFill/>
          </a:ln>
        </p:spPr>
        <p:txBody>
          <a:bodyPr wrap="none" lIns="0" tIns="0" rIns="0" bIns="0" anchor="t">
            <a:normAutofit/>
          </a:bodyPr>
          <a:lstStyle/>
          <a:p>
            <a:pPr algn="l">
              <a:lnSpc>
                <a:spcPts val="1890"/>
              </a:lnSpc>
            </a:pPr>
            <a:r>
              <a:rPr sz="1350" b="1" i="0" u="none">
                <a:solidFill>
                  <a:schemeClr val="accent1"/>
                </a:solidFill>
                <a:latin typeface="+mn-lt"/>
                <a:ea typeface="+mn-ea"/>
              </a:rPr>
              <a:t>■</a:t>
            </a:r>
            <a:r>
              <a:rPr sz="1350" b="0">
                <a:solidFill>
                  <a:schemeClr val="accent1"/>
                </a:solidFill>
                <a:latin typeface="+mn-lt"/>
                <a:ea typeface="+mn-ea"/>
              </a:rPr>
              <a:t> Small headroom</a:t>
            </a:r>
          </a:p>
        </p:txBody>
      </p:sp>
      <p:sp>
        <p:nvSpPr>
          <p:cNvPr id="21" name="p s2.2.1.0.3"/>
          <p:cNvSpPr txBox="1"/>
          <p:nvPr/>
        </p:nvSpPr>
        <p:spPr>
          <a:xfrm>
            <a:off x="664368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Add or remove instances in minutes, automatically. </a:t>
            </a:r>
            <a:r>
              <a:rPr sz="1500" b="1" i="0" u="none">
                <a:solidFill>
                  <a:schemeClr val="tx2"/>
                </a:solidFill>
                <a:latin typeface="+mn-lt"/>
                <a:ea typeface="+mn-ea"/>
              </a:rPr>
              <a:t>Pay per second</a:t>
            </a:r>
            <a:r>
              <a:rPr sz="1500" b="0">
                <a:solidFill>
                  <a:schemeClr val="tx2"/>
                </a:solidFill>
                <a:latin typeface="+mn-lt"/>
                <a:ea typeface="+mn-ea"/>
              </a:rPr>
              <a:t> for what you run — </a:t>
            </a:r>
            <a:r>
              <a:rPr sz="1500" b="1" i="0" u="none">
                <a:solidFill>
                  <a:schemeClr val="tx2"/>
                </a:solidFill>
                <a:latin typeface="+mn-lt"/>
                <a:ea typeface="+mn-ea"/>
              </a:rPr>
              <a:t>no upfront hardware</a:t>
            </a:r>
            <a:r>
              <a:rPr sz="1500" b="0">
                <a:solidFill>
                  <a:schemeClr val="tx2"/>
                </a:solidFill>
                <a:latin typeface="+mn-lt"/>
                <a:ea typeface="+mn-ea"/>
              </a:rPr>
              <a:t>.</a:t>
            </a:r>
          </a:p>
        </p:txBody>
      </p:sp>
      <p:sp>
        <p:nvSpPr>
          <p:cNvPr id="22"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3"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3</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text s3.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Definition</a:t>
            </a:r>
          </a:p>
        </p:txBody>
      </p:sp>
      <p:sp>
        <p:nvSpPr>
          <p:cNvPr id="3" name="h1 s3.1.0.0"/>
          <p:cNvSpPr txBox="1"/>
          <p:nvPr/>
        </p:nvSpPr>
        <p:spPr>
          <a:xfrm>
            <a:off x="609600" y="1406128"/>
            <a:ext cx="7658100" cy="2514451"/>
          </a:xfrm>
          <a:prstGeom prst="rect">
            <a:avLst/>
          </a:prstGeom>
          <a:noFill/>
          <a:ln>
            <a:noFill/>
          </a:ln>
        </p:spPr>
        <p:txBody>
          <a:bodyPr wrap="square" lIns="0" tIns="0" rIns="0" bIns="0" anchor="t">
            <a:normAutofit/>
          </a:bodyPr>
          <a:lstStyle/>
          <a:p>
            <a:pPr algn="l">
              <a:lnSpc>
                <a:spcPts val="3960"/>
              </a:lnSpc>
            </a:pPr>
            <a:r>
              <a:rPr sz="3300" b="1">
                <a:solidFill>
                  <a:schemeClr val="tx1"/>
                </a:solidFill>
                <a:latin typeface="+mj-lt"/>
                <a:ea typeface="+mj-ea"/>
              </a:rPr>
              <a:t>Amazon EC2 provides </a:t>
            </a:r>
            <a:r>
              <a:rPr sz="3300" b="1" i="0" u="none">
                <a:solidFill>
                  <a:schemeClr val="tx1"/>
                </a:solidFill>
                <a:highlight>
                  <a:schemeClr val="accent1">
                    <a:lumMod val="25000"/>
                    <a:lumOff val="75000"/>
                  </a:schemeClr>
                </a:highlight>
                <a:latin typeface="+mj-lt"/>
                <a:ea typeface="+mj-ea"/>
              </a:rPr>
              <a:t>secure, resizable compute capacity</a:t>
            </a:r>
            <a:r>
              <a:rPr sz="3300" b="1">
                <a:solidFill>
                  <a:schemeClr val="tx1"/>
                </a:solidFill>
                <a:latin typeface="+mj-lt"/>
                <a:ea typeface="+mj-ea"/>
              </a:rPr>
              <a:t> in the cloud — virtual servers you launch in minutes and </a:t>
            </a:r>
            <a:r>
              <a:rPr sz="3300" b="1" i="0" u="none">
                <a:solidFill>
                  <a:schemeClr val="tx1"/>
                </a:solidFill>
                <a:highlight>
                  <a:schemeClr val="accent1">
                    <a:lumMod val="25000"/>
                    <a:lumOff val="75000"/>
                  </a:schemeClr>
                </a:highlight>
                <a:latin typeface="+mj-lt"/>
                <a:ea typeface="+mj-ea"/>
              </a:rPr>
              <a:t>pay for by the second</a:t>
            </a:r>
            <a:r>
              <a:rPr sz="3300" b="1">
                <a:solidFill>
                  <a:schemeClr val="tx1"/>
                </a:solidFill>
                <a:latin typeface="+mj-lt"/>
                <a:ea typeface="+mj-ea"/>
              </a:rPr>
              <a:t>.</a:t>
            </a:r>
          </a:p>
        </p:txBody>
      </p:sp>
      <p:sp>
        <p:nvSpPr>
          <p:cNvPr id="4" name="text s3.1.0.1"/>
          <p:cNvSpPr txBox="1"/>
          <p:nvPr/>
        </p:nvSpPr>
        <p:spPr>
          <a:xfrm>
            <a:off x="609600" y="4149179"/>
            <a:ext cx="7658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Elastic Compute Cloud · generally available since 2006 · runs in every AWS Region</a:t>
            </a:r>
          </a:p>
        </p:txBody>
      </p:sp>
      <p:sp>
        <p:nvSpPr>
          <p:cNvPr id="5" name="shape s3.1.1.0"/>
          <p:cNvSpPr/>
          <p:nvPr/>
        </p:nvSpPr>
        <p:spPr>
          <a:xfrm>
            <a:off x="8724900" y="1468934"/>
            <a:ext cx="2857500" cy="2857500"/>
          </a:xfrm>
          <a:prstGeom prst="ellipse">
            <a:avLst/>
          </a:prstGeom>
          <a:noFill/>
          <a:ln w="19050">
            <a:solidFill>
              <a:schemeClr val="accent1">
                <a:lumMod val="40000"/>
                <a:lumOff val="60000"/>
              </a:schemeClr>
            </a:solidFill>
            <a:prstDash val="dash"/>
          </a:ln>
        </p:spPr>
        <p:txBody>
          <a:bodyPr wrap="square" lIns="0" tIns="0" rIns="0" bIns="0" anchor="t">
            <a:normAutofit/>
          </a:bodyPr>
          <a:lstStyle/>
          <a:p/>
        </p:txBody>
      </p:sp>
      <p:sp>
        <p:nvSpPr>
          <p:cNvPr id="6" name="shape s3.1.1.1"/>
          <p:cNvSpPr/>
          <p:nvPr/>
        </p:nvSpPr>
        <p:spPr>
          <a:xfrm>
            <a:off x="9201150" y="1945184"/>
            <a:ext cx="1905000" cy="1905000"/>
          </a:xfrm>
          <a:prstGeom prst="ellipse">
            <a:avLst/>
          </a:prstGeom>
          <a:noFill/>
          <a:ln w="9525">
            <a:solidFill>
              <a:schemeClr val="accent1">
                <a:lumMod val="20000"/>
                <a:lumOff val="80000"/>
              </a:schemeClr>
            </a:solidFill>
            <a:prstDash val="solid"/>
          </a:ln>
        </p:spPr>
        <p:txBody>
          <a:bodyPr wrap="square" lIns="0" tIns="0" rIns="0" bIns="0" anchor="t">
            <a:normAutofit/>
          </a:bodyPr>
          <a:lstStyle/>
          <a:p/>
        </p:txBody>
      </p:sp>
      <p:sp>
        <p:nvSpPr>
          <p:cNvPr id="7" name="shape s3.1.1.2"/>
          <p:cNvSpPr/>
          <p:nvPr/>
        </p:nvSpPr>
        <p:spPr>
          <a:xfrm>
            <a:off x="9582150" y="2326184"/>
            <a:ext cx="1143000" cy="1143000"/>
          </a:xfrm>
          <a:prstGeom prst="roundRect">
            <a:avLst>
              <a:gd name="adj" fmla="val 2000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925"/>
              </a:lnSpc>
            </a:pPr>
            <a:r>
              <a:rPr sz="2250" b="1">
                <a:solidFill>
                  <a:schemeClr val="accent1"/>
                </a:solidFill>
                <a:latin typeface="+mj-lt"/>
                <a:ea typeface="+mj-ea"/>
              </a:rPr>
              <a:t>EC2</a:t>
            </a:r>
          </a:p>
        </p:txBody>
      </p:sp>
      <p:sp>
        <p:nvSpPr>
          <p:cNvPr id="8" name="shape s3.1.1.3"/>
          <p:cNvSpPr/>
          <p:nvPr/>
        </p:nvSpPr>
        <p:spPr>
          <a:xfrm>
            <a:off x="9906000" y="14689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2"/>
                </a:solidFill>
                <a:latin typeface="+mn-lt"/>
                <a:ea typeface="+mn-ea"/>
              </a:rPr>
              <a:t>VPC</a:t>
            </a:r>
          </a:p>
        </p:txBody>
      </p:sp>
      <p:sp>
        <p:nvSpPr>
          <p:cNvPr id="9" name="shape s3.1.1.4"/>
          <p:cNvSpPr/>
          <p:nvPr/>
        </p:nvSpPr>
        <p:spPr>
          <a:xfrm>
            <a:off x="110871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3"/>
                </a:solidFill>
                <a:latin typeface="+mn-lt"/>
                <a:ea typeface="+mn-ea"/>
              </a:rPr>
              <a:t>EBS</a:t>
            </a:r>
          </a:p>
        </p:txBody>
      </p:sp>
      <p:sp>
        <p:nvSpPr>
          <p:cNvPr id="10" name="shape s3.1.1.5"/>
          <p:cNvSpPr/>
          <p:nvPr/>
        </p:nvSpPr>
        <p:spPr>
          <a:xfrm>
            <a:off x="9906000" y="38311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4"/>
                </a:solidFill>
                <a:latin typeface="+mn-lt"/>
                <a:ea typeface="+mn-ea"/>
              </a:rPr>
              <a:t>IAM</a:t>
            </a:r>
          </a:p>
        </p:txBody>
      </p:sp>
      <p:sp>
        <p:nvSpPr>
          <p:cNvPr id="11" name="shape s3.1.1.6"/>
          <p:cNvSpPr/>
          <p:nvPr/>
        </p:nvSpPr>
        <p:spPr>
          <a:xfrm>
            <a:off x="87249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5"/>
                </a:solidFill>
                <a:latin typeface="+mn-lt"/>
                <a:ea typeface="+mn-ea"/>
              </a:rPr>
              <a:t>ELB</a:t>
            </a:r>
          </a:p>
        </p:txBody>
      </p:sp>
      <p:sp>
        <p:nvSpPr>
          <p:cNvPr id="12" name="shape s3.2.0.0"/>
          <p:cNvSpPr/>
          <p:nvPr/>
        </p:nvSpPr>
        <p:spPr>
          <a:xfrm>
            <a:off x="609600" y="4985742"/>
            <a:ext cx="2486025" cy="28575"/>
          </a:xfrm>
          <a:prstGeom prst="rect">
            <a:avLst/>
          </a:prstGeom>
          <a:solidFill>
            <a:schemeClr val="tx1"/>
          </a:solidFill>
          <a:ln>
            <a:noFill/>
          </a:ln>
        </p:spPr>
        <p:txBody>
          <a:bodyPr wrap="square" lIns="0" tIns="0" rIns="0" bIns="0" anchor="t">
            <a:normAutofit/>
          </a:bodyPr>
          <a:lstStyle/>
          <a:p/>
        </p:txBody>
      </p:sp>
      <p:sp>
        <p:nvSpPr>
          <p:cNvPr id="13" name="text s3.2.0.1"/>
          <p:cNvSpPr txBox="1"/>
          <p:nvPr/>
        </p:nvSpPr>
        <p:spPr>
          <a:xfrm>
            <a:off x="60960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750</a:t>
            </a:r>
            <a:r>
              <a:rPr sz="2100" b="1" i="0" u="none">
                <a:solidFill>
                  <a:schemeClr val="tx1"/>
                </a:solidFill>
                <a:latin typeface="+mj-lt"/>
                <a:ea typeface="+mj-ea"/>
              </a:rPr>
              <a:t>+</a:t>
            </a:r>
          </a:p>
        </p:txBody>
      </p:sp>
      <p:sp>
        <p:nvSpPr>
          <p:cNvPr id="14" name="text s3.2.0.2"/>
          <p:cNvSpPr txBox="1"/>
          <p:nvPr/>
        </p:nvSpPr>
        <p:spPr>
          <a:xfrm>
            <a:off x="60960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instance types across x86, Arm, GPU and custom silicon</a:t>
            </a:r>
          </a:p>
        </p:txBody>
      </p:sp>
      <p:sp>
        <p:nvSpPr>
          <p:cNvPr id="15" name="shape s3.2.1.0"/>
          <p:cNvSpPr/>
          <p:nvPr/>
        </p:nvSpPr>
        <p:spPr>
          <a:xfrm>
            <a:off x="3438525" y="4985742"/>
            <a:ext cx="2486025" cy="28575"/>
          </a:xfrm>
          <a:prstGeom prst="rect">
            <a:avLst/>
          </a:prstGeom>
          <a:solidFill>
            <a:schemeClr val="tx1"/>
          </a:solidFill>
          <a:ln>
            <a:noFill/>
          </a:ln>
        </p:spPr>
        <p:txBody>
          <a:bodyPr wrap="square" lIns="0" tIns="0" rIns="0" bIns="0" anchor="t">
            <a:normAutofit/>
          </a:bodyPr>
          <a:lstStyle/>
          <a:p/>
        </p:txBody>
      </p:sp>
      <p:sp>
        <p:nvSpPr>
          <p:cNvPr id="16" name="text s3.2.1.1"/>
          <p:cNvSpPr txBox="1"/>
          <p:nvPr/>
        </p:nvSpPr>
        <p:spPr>
          <a:xfrm>
            <a:off x="343852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1</a:t>
            </a:r>
            <a:r>
              <a:rPr sz="2100" b="1" i="0" u="none">
                <a:solidFill>
                  <a:schemeClr val="tx1"/>
                </a:solidFill>
                <a:latin typeface="+mj-lt"/>
                <a:ea typeface="+mj-ea"/>
              </a:rPr>
              <a:t>s</a:t>
            </a:r>
          </a:p>
        </p:txBody>
      </p:sp>
      <p:sp>
        <p:nvSpPr>
          <p:cNvPr id="17" name="text s3.2.1.2"/>
          <p:cNvSpPr txBox="1"/>
          <p:nvPr/>
        </p:nvSpPr>
        <p:spPr>
          <a:xfrm>
            <a:off x="343852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billing granularity for Linux and Windows</a:t>
            </a:r>
          </a:p>
        </p:txBody>
      </p:sp>
      <p:sp>
        <p:nvSpPr>
          <p:cNvPr id="18" name="shape s3.2.2.0"/>
          <p:cNvSpPr/>
          <p:nvPr/>
        </p:nvSpPr>
        <p:spPr>
          <a:xfrm>
            <a:off x="6267450" y="4985742"/>
            <a:ext cx="2486025" cy="28575"/>
          </a:xfrm>
          <a:prstGeom prst="rect">
            <a:avLst/>
          </a:prstGeom>
          <a:solidFill>
            <a:schemeClr val="tx1"/>
          </a:solidFill>
          <a:ln>
            <a:noFill/>
          </a:ln>
        </p:spPr>
        <p:txBody>
          <a:bodyPr wrap="square" lIns="0" tIns="0" rIns="0" bIns="0" anchor="t">
            <a:normAutofit/>
          </a:bodyPr>
          <a:lstStyle/>
          <a:p/>
        </p:txBody>
      </p:sp>
      <p:sp>
        <p:nvSpPr>
          <p:cNvPr id="19" name="text s3.2.2.1"/>
          <p:cNvSpPr txBox="1"/>
          <p:nvPr/>
        </p:nvSpPr>
        <p:spPr>
          <a:xfrm>
            <a:off x="626745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99.99</a:t>
            </a:r>
            <a:r>
              <a:rPr sz="2100" b="1" i="0" u="none">
                <a:solidFill>
                  <a:schemeClr val="tx1"/>
                </a:solidFill>
                <a:latin typeface="+mj-lt"/>
                <a:ea typeface="+mj-ea"/>
              </a:rPr>
              <a:t>%</a:t>
            </a:r>
          </a:p>
        </p:txBody>
      </p:sp>
      <p:sp>
        <p:nvSpPr>
          <p:cNvPr id="20" name="text s3.2.2.2"/>
          <p:cNvSpPr txBox="1"/>
          <p:nvPr/>
        </p:nvSpPr>
        <p:spPr>
          <a:xfrm>
            <a:off x="626745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Region-level availability SLA across AZs</a:t>
            </a:r>
          </a:p>
        </p:txBody>
      </p:sp>
      <p:sp>
        <p:nvSpPr>
          <p:cNvPr id="21" name="shape s3.2.3.0"/>
          <p:cNvSpPr/>
          <p:nvPr/>
        </p:nvSpPr>
        <p:spPr>
          <a:xfrm>
            <a:off x="9096375" y="4985742"/>
            <a:ext cx="2486025" cy="28575"/>
          </a:xfrm>
          <a:prstGeom prst="rect">
            <a:avLst/>
          </a:prstGeom>
          <a:solidFill>
            <a:schemeClr val="accent1"/>
          </a:solidFill>
          <a:ln>
            <a:noFill/>
          </a:ln>
        </p:spPr>
        <p:txBody>
          <a:bodyPr wrap="square" lIns="0" tIns="0" rIns="0" bIns="0" anchor="t">
            <a:normAutofit/>
          </a:bodyPr>
          <a:lstStyle/>
          <a:p/>
        </p:txBody>
      </p:sp>
      <p:sp>
        <p:nvSpPr>
          <p:cNvPr id="22" name="text s3.2.3.1"/>
          <p:cNvSpPr txBox="1"/>
          <p:nvPr/>
        </p:nvSpPr>
        <p:spPr>
          <a:xfrm>
            <a:off x="909637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accent1"/>
                </a:solidFill>
                <a:latin typeface="+mj-lt"/>
                <a:ea typeface="+mj-ea"/>
              </a:rPr>
              <a:t>90</a:t>
            </a:r>
            <a:r>
              <a:rPr sz="2100" b="1" i="0" u="none">
                <a:solidFill>
                  <a:schemeClr val="accent1"/>
                </a:solidFill>
                <a:latin typeface="+mj-lt"/>
                <a:ea typeface="+mj-ea"/>
              </a:rPr>
              <a:t>%</a:t>
            </a:r>
          </a:p>
        </p:txBody>
      </p:sp>
      <p:sp>
        <p:nvSpPr>
          <p:cNvPr id="23" name="text s3.2.3.2"/>
          <p:cNvSpPr txBox="1"/>
          <p:nvPr/>
        </p:nvSpPr>
        <p:spPr>
          <a:xfrm>
            <a:off x="909637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maximum discount vs. On-Demand with Spot</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4</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24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53" presetClass="entr" presetSubtype="16"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ppt_w</p:attrName>
                                        </p:attrNameLst>
                                      </p:cBhvr>
                                      <p:tavLst>
                                        <p:tav tm="0">
                                          <p:val>
                                            <p:strVal val="#ppt_w*0.9"/>
                                          </p:val>
                                        </p:tav>
                                        <p:tav tm="100000">
                                          <p:val>
                                            <p:strVal val="#ppt_w"/>
                                          </p:val>
                                        </p:tav>
                                      </p:tavLst>
                                    </p:anim>
                                    <p:anim calcmode="lin" valueType="num">
                                      <p:cBhvr>
                                        <p:cTn id="24" dur="600" decel="100000" fill="hold"/>
                                        <p:tgtEl>
                                          <p:spTgt spid="5"/>
                                        </p:tgtEl>
                                        <p:attrNameLst>
                                          <p:attrName>ppt_h</p:attrName>
                                        </p:attrNameLst>
                                      </p:cBhvr>
                                      <p:tavLst>
                                        <p:tav tm="0">
                                          <p:val>
                                            <p:strVal val="#ppt_h*0.9"/>
                                          </p:val>
                                        </p:tav>
                                        <p:tav tm="100000">
                                          <p:val>
                                            <p:strVal val="#ppt_h"/>
                                          </p:val>
                                        </p:tav>
                                      </p:tavLst>
                                    </p:anim>
                                  </p:childTnLst>
                                </p:cTn>
                              </p:par>
                              <p:par>
                                <p:cTn id="25" presetID="53" presetClass="entr" presetSubtype="16"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ppt_w</p:attrName>
                                        </p:attrNameLst>
                                      </p:cBhvr>
                                      <p:tavLst>
                                        <p:tav tm="0">
                                          <p:val>
                                            <p:strVal val="#ppt_w*0.9"/>
                                          </p:val>
                                        </p:tav>
                                        <p:tav tm="100000">
                                          <p:val>
                                            <p:strVal val="#ppt_w"/>
                                          </p:val>
                                        </p:tav>
                                      </p:tavLst>
                                    </p:anim>
                                    <p:anim calcmode="lin" valueType="num">
                                      <p:cBhvr>
                                        <p:cTn id="29" dur="600" decel="100000" fill="hold"/>
                                        <p:tgtEl>
                                          <p:spTgt spid="6"/>
                                        </p:tgtEl>
                                        <p:attrNameLst>
                                          <p:attrName>ppt_h</p:attrName>
                                        </p:attrNameLst>
                                      </p:cBhvr>
                                      <p:tavLst>
                                        <p:tav tm="0">
                                          <p:val>
                                            <p:strVal val="#ppt_h*0.9"/>
                                          </p:val>
                                        </p:tav>
                                        <p:tav tm="100000">
                                          <p:val>
                                            <p:strVal val="#ppt_h"/>
                                          </p:val>
                                        </p:tav>
                                      </p:tavLst>
                                    </p:anim>
                                  </p:childTnLst>
                                </p:cTn>
                              </p:par>
                              <p:par>
                                <p:cTn id="30" presetID="53" presetClass="entr" presetSubtype="16"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ppt_w</p:attrName>
                                        </p:attrNameLst>
                                      </p:cBhvr>
                                      <p:tavLst>
                                        <p:tav tm="0">
                                          <p:val>
                                            <p:strVal val="#ppt_w*0.9"/>
                                          </p:val>
                                        </p:tav>
                                        <p:tav tm="100000">
                                          <p:val>
                                            <p:strVal val="#ppt_w"/>
                                          </p:val>
                                        </p:tav>
                                      </p:tavLst>
                                    </p:anim>
                                    <p:anim calcmode="lin" valueType="num">
                                      <p:cBhvr>
                                        <p:cTn id="34" dur="600" decel="100000" fill="hold"/>
                                        <p:tgtEl>
                                          <p:spTgt spid="7"/>
                                        </p:tgtEl>
                                        <p:attrNameLst>
                                          <p:attrName>ppt_h</p:attrName>
                                        </p:attrNameLst>
                                      </p:cBhvr>
                                      <p:tavLst>
                                        <p:tav tm="0">
                                          <p:val>
                                            <p:strVal val="#ppt_h*0.9"/>
                                          </p:val>
                                        </p:tav>
                                        <p:tav tm="100000">
                                          <p:val>
                                            <p:strVal val="#ppt_h"/>
                                          </p:val>
                                        </p:tav>
                                      </p:tavLst>
                                    </p:anim>
                                  </p:childTnLst>
                                </p:cTn>
                              </p:par>
                              <p:par>
                                <p:cTn id="35" presetID="53" presetClass="entr" presetSubtype="16"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ppt_w</p:attrName>
                                        </p:attrNameLst>
                                      </p:cBhvr>
                                      <p:tavLst>
                                        <p:tav tm="0">
                                          <p:val>
                                            <p:strVal val="#ppt_w*0.9"/>
                                          </p:val>
                                        </p:tav>
                                        <p:tav tm="100000">
                                          <p:val>
                                            <p:strVal val="#ppt_w"/>
                                          </p:val>
                                        </p:tav>
                                      </p:tavLst>
                                    </p:anim>
                                    <p:anim calcmode="lin" valueType="num">
                                      <p:cBhvr>
                                        <p:cTn id="39" dur="600" decel="100000" fill="hold"/>
                                        <p:tgtEl>
                                          <p:spTgt spid="8"/>
                                        </p:tgtEl>
                                        <p:attrNameLst>
                                          <p:attrName>ppt_h</p:attrName>
                                        </p:attrNameLst>
                                      </p:cBhvr>
                                      <p:tavLst>
                                        <p:tav tm="0">
                                          <p:val>
                                            <p:strVal val="#ppt_h*0.9"/>
                                          </p:val>
                                        </p:tav>
                                        <p:tav tm="100000">
                                          <p:val>
                                            <p:strVal val="#ppt_h"/>
                                          </p:val>
                                        </p:tav>
                                      </p:tavLst>
                                    </p:anim>
                                  </p:childTnLst>
                                </p:cTn>
                              </p:par>
                              <p:par>
                                <p:cTn id="40" presetID="53" presetClass="entr" presetSubtype="16"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ppt_w</p:attrName>
                                        </p:attrNameLst>
                                      </p:cBhvr>
                                      <p:tavLst>
                                        <p:tav tm="0">
                                          <p:val>
                                            <p:strVal val="#ppt_w*0.9"/>
                                          </p:val>
                                        </p:tav>
                                        <p:tav tm="100000">
                                          <p:val>
                                            <p:strVal val="#ppt_w"/>
                                          </p:val>
                                        </p:tav>
                                      </p:tavLst>
                                    </p:anim>
                                    <p:anim calcmode="lin" valueType="num">
                                      <p:cBhvr>
                                        <p:cTn id="44" dur="600" decel="100000" fill="hold"/>
                                        <p:tgtEl>
                                          <p:spTgt spid="9"/>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ppt_w</p:attrName>
                                        </p:attrNameLst>
                                      </p:cBhvr>
                                      <p:tavLst>
                                        <p:tav tm="0">
                                          <p:val>
                                            <p:strVal val="#ppt_w*0.9"/>
                                          </p:val>
                                        </p:tav>
                                        <p:tav tm="100000">
                                          <p:val>
                                            <p:strVal val="#ppt_w"/>
                                          </p:val>
                                        </p:tav>
                                      </p:tavLst>
                                    </p:anim>
                                    <p:anim calcmode="lin" valueType="num">
                                      <p:cBhvr>
                                        <p:cTn id="49" dur="600" decel="100000" fill="hold"/>
                                        <p:tgtEl>
                                          <p:spTgt spid="10"/>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ppt_w</p:attrName>
                                        </p:attrNameLst>
                                      </p:cBhvr>
                                      <p:tavLst>
                                        <p:tav tm="0">
                                          <p:val>
                                            <p:strVal val="#ppt_w*0.9"/>
                                          </p:val>
                                        </p:tav>
                                        <p:tav tm="100000">
                                          <p:val>
                                            <p:strVal val="#ppt_w"/>
                                          </p:val>
                                        </p:tav>
                                      </p:tavLst>
                                    </p:anim>
                                    <p:anim calcmode="lin" valueType="num">
                                      <p:cBhvr>
                                        <p:cTn id="54" dur="600" decel="100000" fill="hold"/>
                                        <p:tgtEl>
                                          <p:spTgt spid="11"/>
                                        </p:tgtEl>
                                        <p:attrNameLst>
                                          <p:attrName>ppt_h</p:attrName>
                                        </p:attrNameLst>
                                      </p:cBhvr>
                                      <p:tavLst>
                                        <p:tav tm="0">
                                          <p:val>
                                            <p:strVal val="#ppt_h*0.9"/>
                                          </p:val>
                                        </p:tav>
                                        <p:tav tm="100000">
                                          <p:val>
                                            <p:strVal val="#ppt_h"/>
                                          </p:val>
                                        </p:tav>
                                      </p:tavLst>
                                    </p:anim>
                                  </p:childTnLst>
                                </p:cTn>
                              </p:par>
                              <p:par>
                                <p:cTn id="55" presetID="42" presetClass="entr" presetSubtype="0" fill="hold" grpId="0" nodeType="withEffect">
                                  <p:stCondLst>
                                    <p:cond delay="42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42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42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42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42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42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42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42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42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42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42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42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text s4.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Anatomy of an instance</a:t>
            </a:r>
          </a:p>
        </p:txBody>
      </p:sp>
      <p:sp>
        <p:nvSpPr>
          <p:cNvPr id="3" name="h2 s4.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Six building blocks make up every EC2 instance</a:t>
            </a:r>
          </a:p>
        </p:txBody>
      </p:sp>
      <p:sp>
        <p:nvSpPr>
          <p:cNvPr id="4" name="shape s4.2.0.0"/>
          <p:cNvSpPr/>
          <p:nvPr/>
        </p:nvSpPr>
        <p:spPr>
          <a:xfrm>
            <a:off x="6096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Amazon Machine Image</a:t>
            </a:r>
          </a:p>
          <a:p>
            <a:pPr algn="l">
              <a:lnSpc>
                <a:spcPts val="2025"/>
              </a:lnSpc>
            </a:pPr>
            <a:r>
              <a:rPr sz="1350" b="0">
                <a:solidFill>
                  <a:schemeClr val="tx2"/>
                </a:solidFill>
                <a:latin typeface="+mn-lt"/>
                <a:ea typeface="+mn-ea"/>
              </a:rPr>
              <a:t>OS + software template the instance boots from</a:t>
            </a:r>
          </a:p>
        </p:txBody>
      </p:sp>
      <p:sp>
        <p:nvSpPr>
          <p:cNvPr id="5" name="shape s4.2.0.1"/>
          <p:cNvSpPr/>
          <p:nvPr/>
        </p:nvSpPr>
        <p:spPr>
          <a:xfrm>
            <a:off x="6096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Instance type</a:t>
            </a:r>
          </a:p>
          <a:p>
            <a:pPr algn="l">
              <a:lnSpc>
                <a:spcPts val="2025"/>
              </a:lnSpc>
            </a:pPr>
            <a:r>
              <a:rPr sz="1350" b="0">
                <a:solidFill>
                  <a:schemeClr val="tx2"/>
                </a:solidFill>
                <a:latin typeface="+mn-lt"/>
                <a:ea typeface="+mn-ea"/>
              </a:rPr>
              <a:t>vCPU, memory, network bandwidth, accelerators</a:t>
            </a:r>
          </a:p>
        </p:txBody>
      </p:sp>
      <p:sp>
        <p:nvSpPr>
          <p:cNvPr id="6" name="shape s4.2.0.2"/>
          <p:cNvSpPr/>
          <p:nvPr/>
        </p:nvSpPr>
        <p:spPr>
          <a:xfrm>
            <a:off x="6096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Key pair &amp; access</a:t>
            </a:r>
          </a:p>
          <a:p>
            <a:pPr algn="l">
              <a:lnSpc>
                <a:spcPts val="2025"/>
              </a:lnSpc>
            </a:pPr>
            <a:r>
              <a:rPr sz="1350" b="0">
                <a:solidFill>
                  <a:schemeClr val="tx2"/>
                </a:solidFill>
                <a:latin typeface="+mn-lt"/>
                <a:ea typeface="+mn-ea"/>
              </a:rPr>
              <a:t>Secure login over SSH, RDP or keyless SSM</a:t>
            </a:r>
          </a:p>
        </p:txBody>
      </p:sp>
      <p:sp>
        <p:nvSpPr>
          <p:cNvPr id="7" name="shape s4.2.2"/>
          <p:cNvSpPr/>
          <p:nvPr/>
        </p:nvSpPr>
        <p:spPr>
          <a:xfrm>
            <a:off x="4762500" y="2837408"/>
            <a:ext cx="2667000" cy="2286000"/>
          </a:xfrm>
          <a:prstGeom prst="roundRect">
            <a:avLst>
              <a:gd name="adj" fmla="val 10000"/>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8" name="text s4.2.2.0.0"/>
          <p:cNvSpPr txBox="1"/>
          <p:nvPr/>
        </p:nvSpPr>
        <p:spPr>
          <a:xfrm>
            <a:off x="5077718" y="3376315"/>
            <a:ext cx="2036415" cy="388590"/>
          </a:xfrm>
          <a:prstGeom prst="rect">
            <a:avLst/>
          </a:prstGeom>
          <a:noFill/>
          <a:ln>
            <a:noFill/>
          </a:ln>
        </p:spPr>
        <p:txBody>
          <a:bodyPr wrap="none" lIns="0" tIns="0" rIns="0" bIns="0" anchor="t">
            <a:normAutofit/>
          </a:bodyPr>
          <a:lstStyle/>
          <a:p>
            <a:pPr algn="ctr">
              <a:lnSpc>
                <a:spcPts val="3060"/>
              </a:lnSpc>
            </a:pPr>
            <a:r>
              <a:rPr sz="2550" b="1">
                <a:solidFill>
                  <a:schemeClr val="bg1"/>
                </a:solidFill>
                <a:latin typeface="+mj-lt"/>
                <a:ea typeface="+mj-ea"/>
              </a:rPr>
              <a:t>EC2 instance</a:t>
            </a:r>
          </a:p>
        </p:txBody>
      </p:sp>
      <p:sp>
        <p:nvSpPr>
          <p:cNvPr id="9" name="text s4.2.2.0.1"/>
          <p:cNvSpPr txBox="1"/>
          <p:nvPr/>
        </p:nvSpPr>
        <p:spPr>
          <a:xfrm>
            <a:off x="5227290" y="3822055"/>
            <a:ext cx="1737420" cy="228600"/>
          </a:xfrm>
          <a:prstGeom prst="rect">
            <a:avLst/>
          </a:prstGeom>
          <a:noFill/>
          <a:ln>
            <a:noFill/>
          </a:ln>
        </p:spPr>
        <p:txBody>
          <a:bodyPr wrap="none" lIns="0" tIns="0" rIns="0" bIns="0" anchor="t">
            <a:normAutofit/>
          </a:bodyPr>
          <a:lstStyle/>
          <a:p>
            <a:pPr algn="ctr">
              <a:lnSpc>
                <a:spcPts val="1800"/>
              </a:lnSpc>
            </a:pPr>
            <a:r>
              <a:rPr sz="1200" b="0">
                <a:solidFill>
                  <a:schemeClr val="tx2"/>
                </a:solidFill>
                <a:latin typeface="Noto Sans Mono"/>
                <a:ea typeface="Noto Sans Mono CJK KR"/>
              </a:rPr>
              <a:t>i-0a1b2c3d4e5f67890</a:t>
            </a:r>
          </a:p>
        </p:txBody>
      </p:sp>
      <p:sp>
        <p:nvSpPr>
          <p:cNvPr id="10" name="shape s4.2.2.0.2"/>
          <p:cNvSpPr/>
          <p:nvPr/>
        </p:nvSpPr>
        <p:spPr>
          <a:xfrm>
            <a:off x="5123557" y="4107805"/>
            <a:ext cx="1944886" cy="476548"/>
          </a:xfrm>
          <a:prstGeom prst="roundRect">
            <a:avLst>
              <a:gd name="adj" fmla="val 47970"/>
            </a:avLst>
          </a:prstGeom>
          <a:solidFill>
            <a:schemeClr val="accent3">
              <a:lumMod val="60000"/>
            </a:schemeClr>
          </a:solidFill>
          <a:ln>
            <a:noFill/>
          </a:ln>
        </p:spPr>
        <p:txBody>
          <a:bodyPr wrap="square" lIns="57150" tIns="57150" rIns="57150" bIns="57150" anchor="t">
            <a:normAutofit/>
          </a:bodyPr>
          <a:lstStyle/>
          <a:p>
            <a:pPr algn="ctr">
              <a:lnSpc>
                <a:spcPts val="1800"/>
              </a:lnSpc>
            </a:pPr>
            <a:r>
              <a:rPr sz="1200" b="1" i="0" u="none">
                <a:solidFill>
                  <a:schemeClr val="bg1"/>
                </a:solidFill>
                <a:latin typeface="+mn-lt"/>
                <a:ea typeface="+mn-ea"/>
              </a:rPr>
              <a:t>● running · m7g.large</a:t>
            </a:r>
          </a:p>
        </p:txBody>
      </p:sp>
      <p:sp>
        <p:nvSpPr>
          <p:cNvPr id="11" name="shape s4.2.4.0"/>
          <p:cNvSpPr/>
          <p:nvPr/>
        </p:nvSpPr>
        <p:spPr>
          <a:xfrm>
            <a:off x="81534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EBS volumes</a:t>
            </a:r>
          </a:p>
          <a:p>
            <a:pPr algn="r">
              <a:lnSpc>
                <a:spcPts val="2025"/>
              </a:lnSpc>
            </a:pPr>
            <a:r>
              <a:rPr sz="1350" b="0">
                <a:solidFill>
                  <a:schemeClr val="tx2"/>
                </a:solidFill>
                <a:latin typeface="+mn-lt"/>
                <a:ea typeface="+mn-ea"/>
              </a:rPr>
              <a:t>Persistent block storage, snapshots to S3</a:t>
            </a:r>
          </a:p>
        </p:txBody>
      </p:sp>
      <p:sp>
        <p:nvSpPr>
          <p:cNvPr id="12" name="shape s4.2.4.1"/>
          <p:cNvSpPr/>
          <p:nvPr/>
        </p:nvSpPr>
        <p:spPr>
          <a:xfrm>
            <a:off x="81534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Network interface + SG</a:t>
            </a:r>
          </a:p>
          <a:p>
            <a:pPr algn="r">
              <a:lnSpc>
                <a:spcPts val="2025"/>
              </a:lnSpc>
            </a:pPr>
            <a:r>
              <a:rPr sz="1350" b="0">
                <a:solidFill>
                  <a:schemeClr val="tx2"/>
                </a:solidFill>
                <a:latin typeface="+mn-lt"/>
                <a:ea typeface="+mn-ea"/>
              </a:rPr>
              <a:t>Private IP in a VPC subnet; security group firewall</a:t>
            </a:r>
          </a:p>
        </p:txBody>
      </p:sp>
      <p:sp>
        <p:nvSpPr>
          <p:cNvPr id="13" name="shape s4.2.4.2"/>
          <p:cNvSpPr/>
          <p:nvPr/>
        </p:nvSpPr>
        <p:spPr>
          <a:xfrm>
            <a:off x="81534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IAM role</a:t>
            </a:r>
          </a:p>
          <a:p>
            <a:pPr algn="r">
              <a:lnSpc>
                <a:spcPts val="2025"/>
              </a:lnSpc>
            </a:pPr>
            <a:r>
              <a:rPr sz="1350" b="0">
                <a:solidFill>
                  <a:schemeClr val="tx2"/>
                </a:solidFill>
                <a:latin typeface="+mn-lt"/>
                <a:ea typeface="+mn-ea"/>
              </a:rPr>
              <a:t>Temporary credentials for apps — no keys on disk</a:t>
            </a:r>
          </a:p>
        </p:txBody>
      </p:sp>
      <p:cxnSp>
        <p:nvCxnSpPr>
          <p:cNvPr id="14" name="connector s4.3"/>
          <p:cNvCxnSpPr>
            <a:stCxn id="4" idx="3"/>
            <a:endCxn id="7" idx="1"/>
          </p:cNvCxnSpPr>
          <p:nvPr/>
        </p:nvCxnSpPr>
        <p:spPr>
          <a:xfrm>
            <a:off x="4038600" y="2685008"/>
            <a:ext cx="723900" cy="1295400"/>
          </a:xfrm>
          <a:prstGeom prst="curvedConnector3">
            <a:avLst/>
          </a:prstGeom>
          <a:ln w="19050">
            <a:solidFill>
              <a:schemeClr val="tx2"/>
            </a:solidFill>
            <a:prstDash val="solid"/>
            <a:headEnd type="oval" w="lg" len="lg"/>
            <a:tailEnd type="oval" w="lg" len="lg"/>
          </a:ln>
        </p:spPr>
      </p:cxnSp>
      <p:cxnSp>
        <p:nvCxnSpPr>
          <p:cNvPr id="15" name="connector s4.4"/>
          <p:cNvCxnSpPr>
            <a:stCxn id="5" idx="3"/>
            <a:endCxn id="7" idx="1"/>
          </p:cNvCxnSpPr>
          <p:nvPr/>
        </p:nvCxnSpPr>
        <p:spPr>
          <a:xfrm>
            <a:off x="4038600" y="3980408"/>
            <a:ext cx="723900" cy="0"/>
          </a:xfrm>
          <a:prstGeom prst="curvedConnector3">
            <a:avLst/>
          </a:prstGeom>
          <a:ln w="19050">
            <a:solidFill>
              <a:schemeClr val="tx2"/>
            </a:solidFill>
            <a:prstDash val="solid"/>
            <a:headEnd type="oval" w="lg" len="lg"/>
            <a:tailEnd type="oval" w="lg" len="lg"/>
          </a:ln>
        </p:spPr>
      </p:cxnSp>
      <p:cxnSp>
        <p:nvCxnSpPr>
          <p:cNvPr id="16" name="connector s4.5"/>
          <p:cNvCxnSpPr>
            <a:stCxn id="6" idx="3"/>
            <a:endCxn id="7" idx="1"/>
          </p:cNvCxnSpPr>
          <p:nvPr/>
        </p:nvCxnSpPr>
        <p:spPr>
          <a:xfrm flipV="1">
            <a:off x="4038600" y="3980408"/>
            <a:ext cx="723900" cy="1295400"/>
          </a:xfrm>
          <a:prstGeom prst="curvedConnector3">
            <a:avLst/>
          </a:prstGeom>
          <a:ln w="19050">
            <a:solidFill>
              <a:schemeClr val="tx2"/>
            </a:solidFill>
            <a:prstDash val="solid"/>
            <a:headEnd type="oval" w="lg" len="lg"/>
            <a:tailEnd type="oval" w="lg" len="lg"/>
          </a:ln>
        </p:spPr>
      </p:cxnSp>
      <p:cxnSp>
        <p:nvCxnSpPr>
          <p:cNvPr id="17" name="connector s4.6"/>
          <p:cNvCxnSpPr>
            <a:stCxn id="11" idx="1"/>
            <a:endCxn id="7" idx="3"/>
          </p:cNvCxnSpPr>
          <p:nvPr/>
        </p:nvCxnSpPr>
        <p:spPr>
          <a:xfrm flipH="1">
            <a:off x="7429500" y="2685008"/>
            <a:ext cx="723900" cy="1295400"/>
          </a:xfrm>
          <a:prstGeom prst="curvedConnector3">
            <a:avLst/>
          </a:prstGeom>
          <a:ln w="19050">
            <a:solidFill>
              <a:schemeClr val="tx2"/>
            </a:solidFill>
            <a:prstDash val="solid"/>
            <a:headEnd type="oval" w="lg" len="lg"/>
            <a:tailEnd type="oval" w="lg" len="lg"/>
          </a:ln>
        </p:spPr>
      </p:cxnSp>
      <p:cxnSp>
        <p:nvCxnSpPr>
          <p:cNvPr id="18" name="connector s4.7"/>
          <p:cNvCxnSpPr>
            <a:stCxn id="12" idx="1"/>
            <a:endCxn id="7" idx="3"/>
          </p:cNvCxnSpPr>
          <p:nvPr/>
        </p:nvCxnSpPr>
        <p:spPr>
          <a:xfrm flipH="1">
            <a:off x="7429500" y="3980408"/>
            <a:ext cx="723900" cy="0"/>
          </a:xfrm>
          <a:prstGeom prst="curvedConnector3">
            <a:avLst/>
          </a:prstGeom>
          <a:ln w="19050">
            <a:solidFill>
              <a:schemeClr val="tx2"/>
            </a:solidFill>
            <a:prstDash val="solid"/>
            <a:headEnd type="oval" w="lg" len="lg"/>
            <a:tailEnd type="oval" w="lg" len="lg"/>
          </a:ln>
        </p:spPr>
      </p:cxnSp>
      <p:cxnSp>
        <p:nvCxnSpPr>
          <p:cNvPr id="19" name="connector s4.8"/>
          <p:cNvCxnSpPr>
            <a:stCxn id="13" idx="1"/>
            <a:endCxn id="7" idx="3"/>
          </p:cNvCxnSpPr>
          <p:nvPr/>
        </p:nvCxnSpPr>
        <p:spPr>
          <a:xfrm flipH="1" flipV="1">
            <a:off x="7429500" y="3980408"/>
            <a:ext cx="723900" cy="1295400"/>
          </a:xfrm>
          <a:prstGeom prst="curvedConnector3">
            <a:avLst/>
          </a:prstGeom>
          <a:ln w="19050">
            <a:solidFill>
              <a:schemeClr val="tx2"/>
            </a:solidFill>
            <a:prstDash val="solid"/>
            <a:headEnd type="oval" w="lg" len="lg"/>
            <a:tailEnd type="oval" w="lg" len="lg"/>
          </a:ln>
        </p:spPr>
      </p:cxnSp>
      <p:sp>
        <p:nvSpPr>
          <p:cNvPr id="20"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1"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5</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anim calcmode="lin" valueType="num">
                                      <p:cBhvr>
                                        <p:cTn id="33" dur="600" decel="100000" fill="hold"/>
                                        <p:tgtEl>
                                          <p:spTgt spid="11"/>
                                        </p:tgtEl>
                                        <p:attrNameLst>
                                          <p:attrName>ppt_x</p:attrName>
                                        </p:attrNameLst>
                                      </p:cBhvr>
                                      <p:tavLst>
                                        <p:tav tm="0">
                                          <p:val>
                                            <p:strVal val="#ppt_x"/>
                                          </p:val>
                                        </p:tav>
                                        <p:tav tm="100000">
                                          <p:val>
                                            <p:strVal val="#ppt_x"/>
                                          </p:val>
                                        </p:tav>
                                      </p:tavLst>
                                    </p:anim>
                                    <p:anim calcmode="lin" valueType="num">
                                      <p:cBhvr>
                                        <p:cTn id="34" dur="600" decel="100000" fill="hold"/>
                                        <p:tgtEl>
                                          <p:spTgt spid="11"/>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anim calcmode="lin" valueType="num">
                                      <p:cBhvr>
                                        <p:cTn id="38" dur="600" decel="100000" fill="hold"/>
                                        <p:tgtEl>
                                          <p:spTgt spid="12"/>
                                        </p:tgtEl>
                                        <p:attrNameLst>
                                          <p:attrName>ppt_x</p:attrName>
                                        </p:attrNameLst>
                                      </p:cBhvr>
                                      <p:tavLst>
                                        <p:tav tm="0">
                                          <p:val>
                                            <p:strVal val="#ppt_x"/>
                                          </p:val>
                                        </p:tav>
                                        <p:tav tm="100000">
                                          <p:val>
                                            <p:strVal val="#ppt_x"/>
                                          </p:val>
                                        </p:tav>
                                      </p:tavLst>
                                    </p:anim>
                                    <p:anim calcmode="lin" valueType="num">
                                      <p:cBhvr>
                                        <p:cTn id="39" dur="600" decel="100000" fill="hold"/>
                                        <p:tgtEl>
                                          <p:spTgt spid="12"/>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ppt_x</p:attrName>
                                        </p:attrNameLst>
                                      </p:cBhvr>
                                      <p:tavLst>
                                        <p:tav tm="0">
                                          <p:val>
                                            <p:strVal val="#ppt_x"/>
                                          </p:val>
                                        </p:tav>
                                        <p:tav tm="100000">
                                          <p:val>
                                            <p:strVal val="#ppt_x"/>
                                          </p:val>
                                        </p:tav>
                                      </p:tavLst>
                                    </p:anim>
                                    <p:anim calcmode="lin" valueType="num">
                                      <p:cBhvr>
                                        <p:cTn id="44" dur="600" decel="100000" fill="hold"/>
                                        <p:tgtEl>
                                          <p:spTgt spid="13"/>
                                        </p:tgtEl>
                                        <p:attrNameLst>
                                          <p:attrName>ppt_y</p:attrName>
                                        </p:attrNameLst>
                                      </p:cBhvr>
                                      <p:tavLst>
                                        <p:tav tm="0">
                                          <p:val>
                                            <p:strVal val="#ppt_y+0.0333"/>
                                          </p:val>
                                        </p:tav>
                                        <p:tav tm="100000">
                                          <p:val>
                                            <p:strVal val="#ppt_y"/>
                                          </p:val>
                                        </p:tav>
                                      </p:tavLst>
                                    </p:anim>
                                  </p:childTnLst>
                                </p:cTn>
                              </p:par>
                              <p:par>
                                <p:cTn id="45" presetID="53" presetClass="entr" presetSubtype="16" fill="hold" grpId="0" nodeType="withEffect">
                                  <p:stCondLst>
                                    <p:cond delay="42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600"/>
                                        <p:tgtEl>
                                          <p:spTgt spid="7"/>
                                        </p:tgtEl>
                                      </p:cBhvr>
                                    </p:animEffect>
                                    <p:anim calcmode="lin" valueType="num">
                                      <p:cBhvr>
                                        <p:cTn id="48" dur="600" decel="100000" fill="hold"/>
                                        <p:tgtEl>
                                          <p:spTgt spid="7"/>
                                        </p:tgtEl>
                                        <p:attrNameLst>
                                          <p:attrName>ppt_w</p:attrName>
                                        </p:attrNameLst>
                                      </p:cBhvr>
                                      <p:tavLst>
                                        <p:tav tm="0">
                                          <p:val>
                                            <p:strVal val="#ppt_w*0.9"/>
                                          </p:val>
                                        </p:tav>
                                        <p:tav tm="100000">
                                          <p:val>
                                            <p:strVal val="#ppt_w"/>
                                          </p:val>
                                        </p:tav>
                                      </p:tavLst>
                                    </p:anim>
                                    <p:anim calcmode="lin" valueType="num">
                                      <p:cBhvr>
                                        <p:cTn id="49" dur="600" decel="100000" fill="hold"/>
                                        <p:tgtEl>
                                          <p:spTgt spid="7"/>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42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600"/>
                                        <p:tgtEl>
                                          <p:spTgt spid="8"/>
                                        </p:tgtEl>
                                      </p:cBhvr>
                                    </p:animEffect>
                                    <p:anim calcmode="lin" valueType="num">
                                      <p:cBhvr>
                                        <p:cTn id="53" dur="600" decel="100000" fill="hold"/>
                                        <p:tgtEl>
                                          <p:spTgt spid="8"/>
                                        </p:tgtEl>
                                        <p:attrNameLst>
                                          <p:attrName>ppt_w</p:attrName>
                                        </p:attrNameLst>
                                      </p:cBhvr>
                                      <p:tavLst>
                                        <p:tav tm="0">
                                          <p:val>
                                            <p:strVal val="#ppt_w*0.9"/>
                                          </p:val>
                                        </p:tav>
                                        <p:tav tm="100000">
                                          <p:val>
                                            <p:strVal val="#ppt_w"/>
                                          </p:val>
                                        </p:tav>
                                      </p:tavLst>
                                    </p:anim>
                                    <p:anim calcmode="lin" valueType="num">
                                      <p:cBhvr>
                                        <p:cTn id="54" dur="600" decel="100000" fill="hold"/>
                                        <p:tgtEl>
                                          <p:spTgt spid="8"/>
                                        </p:tgtEl>
                                        <p:attrNameLst>
                                          <p:attrName>ppt_h</p:attrName>
                                        </p:attrNameLst>
                                      </p:cBhvr>
                                      <p:tavLst>
                                        <p:tav tm="0">
                                          <p:val>
                                            <p:strVal val="#ppt_h*0.9"/>
                                          </p:val>
                                        </p:tav>
                                        <p:tav tm="100000">
                                          <p:val>
                                            <p:strVal val="#ppt_h"/>
                                          </p:val>
                                        </p:tav>
                                      </p:tavLst>
                                    </p:anim>
                                  </p:childTnLst>
                                </p:cTn>
                              </p:par>
                              <p:par>
                                <p:cTn id="55" presetID="53" presetClass="entr" presetSubtype="16" fill="hold" grpId="0" nodeType="withEffect">
                                  <p:stCondLst>
                                    <p:cond delay="42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600"/>
                                        <p:tgtEl>
                                          <p:spTgt spid="9"/>
                                        </p:tgtEl>
                                      </p:cBhvr>
                                    </p:animEffect>
                                    <p:anim calcmode="lin" valueType="num">
                                      <p:cBhvr>
                                        <p:cTn id="58" dur="600" decel="100000" fill="hold"/>
                                        <p:tgtEl>
                                          <p:spTgt spid="9"/>
                                        </p:tgtEl>
                                        <p:attrNameLst>
                                          <p:attrName>ppt_w</p:attrName>
                                        </p:attrNameLst>
                                      </p:cBhvr>
                                      <p:tavLst>
                                        <p:tav tm="0">
                                          <p:val>
                                            <p:strVal val="#ppt_w*0.9"/>
                                          </p:val>
                                        </p:tav>
                                        <p:tav tm="100000">
                                          <p:val>
                                            <p:strVal val="#ppt_w"/>
                                          </p:val>
                                        </p:tav>
                                      </p:tavLst>
                                    </p:anim>
                                    <p:anim calcmode="lin" valueType="num">
                                      <p:cBhvr>
                                        <p:cTn id="59" dur="600" decel="100000" fill="hold"/>
                                        <p:tgtEl>
                                          <p:spTgt spid="9"/>
                                        </p:tgtEl>
                                        <p:attrNameLst>
                                          <p:attrName>ppt_h</p:attrName>
                                        </p:attrNameLst>
                                      </p:cBhvr>
                                      <p:tavLst>
                                        <p:tav tm="0">
                                          <p:val>
                                            <p:strVal val="#ppt_h*0.9"/>
                                          </p:val>
                                        </p:tav>
                                        <p:tav tm="100000">
                                          <p:val>
                                            <p:strVal val="#ppt_h"/>
                                          </p:val>
                                        </p:tav>
                                      </p:tavLst>
                                    </p:anim>
                                  </p:childTnLst>
                                </p:cTn>
                              </p:par>
                              <p:par>
                                <p:cTn id="60" presetID="53" presetClass="entr" presetSubtype="16" fill="hold" grpId="0" nodeType="withEffect">
                                  <p:stCondLst>
                                    <p:cond delay="42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600"/>
                                        <p:tgtEl>
                                          <p:spTgt spid="10"/>
                                        </p:tgtEl>
                                      </p:cBhvr>
                                    </p:animEffect>
                                    <p:anim calcmode="lin" valueType="num">
                                      <p:cBhvr>
                                        <p:cTn id="63" dur="600" decel="100000" fill="hold"/>
                                        <p:tgtEl>
                                          <p:spTgt spid="10"/>
                                        </p:tgtEl>
                                        <p:attrNameLst>
                                          <p:attrName>ppt_w</p:attrName>
                                        </p:attrNameLst>
                                      </p:cBhvr>
                                      <p:tavLst>
                                        <p:tav tm="0">
                                          <p:val>
                                            <p:strVal val="#ppt_w*0.9"/>
                                          </p:val>
                                        </p:tav>
                                        <p:tav tm="100000">
                                          <p:val>
                                            <p:strVal val="#ppt_w"/>
                                          </p:val>
                                        </p:tav>
                                      </p:tavLst>
                                    </p:anim>
                                    <p:anim calcmode="lin" valueType="num">
                                      <p:cBhvr>
                                        <p:cTn id="64" dur="600" decel="100000" fill="hold"/>
                                        <p:tgtEl>
                                          <p:spTgt spid="10"/>
                                        </p:tgtEl>
                                        <p:attrNameLst>
                                          <p:attrName>ppt_h</p:attrName>
                                        </p:attrNameLst>
                                      </p:cBhvr>
                                      <p:tavLst>
                                        <p:tav tm="0">
                                          <p:val>
                                            <p:strVal val="#ppt_h*0.9"/>
                                          </p:val>
                                        </p:tav>
                                        <p:tav tm="100000">
                                          <p:val>
                                            <p:strVal val="#ppt_h"/>
                                          </p:val>
                                        </p:tav>
                                      </p:tavLst>
                                    </p:anim>
                                  </p:childTnLst>
                                </p:cTn>
                              </p:par>
                              <p:par>
                                <p:cTn id="65" presetID="22" presetClass="entr" presetSubtype="1" fill="hold" grpId="0" nodeType="withEffect">
                                  <p:stCondLst>
                                    <p:cond delay="510"/>
                                  </p:stCondLst>
                                  <p:childTnLst>
                                    <p:set>
                                      <p:cBhvr>
                                        <p:cTn id="66" dur="1" fill="hold">
                                          <p:stCondLst>
                                            <p:cond delay="0"/>
                                          </p:stCondLst>
                                        </p:cTn>
                                        <p:tgtEl>
                                          <p:spTgt spid="14"/>
                                        </p:tgtEl>
                                        <p:attrNameLst>
                                          <p:attrName>style.visibility</p:attrName>
                                        </p:attrNameLst>
                                      </p:cBhvr>
                                      <p:to>
                                        <p:strVal val="visible"/>
                                      </p:to>
                                    </p:set>
                                    <p:animEffect transition="in" filter="wipe(up)">
                                      <p:cBhvr>
                                        <p:cTn id="67" dur="600"/>
                                        <p:tgtEl>
                                          <p:spTgt spid="14"/>
                                        </p:tgtEl>
                                      </p:cBhvr>
                                    </p:animEffect>
                                  </p:childTnLst>
                                </p:cTn>
                              </p:par>
                              <p:par>
                                <p:cTn id="68" presetID="22" presetClass="entr" presetSubtype="8" fill="hold" grpId="0" nodeType="withEffect">
                                  <p:stCondLst>
                                    <p:cond delay="600"/>
                                  </p:stCondLst>
                                  <p:childTnLst>
                                    <p:set>
                                      <p:cBhvr>
                                        <p:cTn id="69" dur="1" fill="hold">
                                          <p:stCondLst>
                                            <p:cond delay="0"/>
                                          </p:stCondLst>
                                        </p:cTn>
                                        <p:tgtEl>
                                          <p:spTgt spid="15"/>
                                        </p:tgtEl>
                                        <p:attrNameLst>
                                          <p:attrName>style.visibility</p:attrName>
                                        </p:attrNameLst>
                                      </p:cBhvr>
                                      <p:to>
                                        <p:strVal val="visible"/>
                                      </p:to>
                                    </p:set>
                                    <p:animEffect transition="in" filter="wipe(left)">
                                      <p:cBhvr>
                                        <p:cTn id="70" dur="600"/>
                                        <p:tgtEl>
                                          <p:spTgt spid="15"/>
                                        </p:tgtEl>
                                      </p:cBhvr>
                                    </p:animEffect>
                                  </p:childTnLst>
                                </p:cTn>
                              </p:par>
                              <p:par>
                                <p:cTn id="71" presetID="22" presetClass="entr" presetSubtype="4" fill="hold" grpId="0" nodeType="withEffect">
                                  <p:stCondLst>
                                    <p:cond delay="690"/>
                                  </p:stCondLst>
                                  <p:childTnLst>
                                    <p:set>
                                      <p:cBhvr>
                                        <p:cTn id="72" dur="1" fill="hold">
                                          <p:stCondLst>
                                            <p:cond delay="0"/>
                                          </p:stCondLst>
                                        </p:cTn>
                                        <p:tgtEl>
                                          <p:spTgt spid="16"/>
                                        </p:tgtEl>
                                        <p:attrNameLst>
                                          <p:attrName>style.visibility</p:attrName>
                                        </p:attrNameLst>
                                      </p:cBhvr>
                                      <p:to>
                                        <p:strVal val="visible"/>
                                      </p:to>
                                    </p:set>
                                    <p:animEffect transition="in" filter="wipe(down)">
                                      <p:cBhvr>
                                        <p:cTn id="73" dur="600"/>
                                        <p:tgtEl>
                                          <p:spTgt spid="16"/>
                                        </p:tgtEl>
                                      </p:cBhvr>
                                    </p:animEffect>
                                  </p:childTnLst>
                                </p:cTn>
                              </p:par>
                              <p:par>
                                <p:cTn id="74" presetID="22" presetClass="entr" presetSubtype="1" fill="hold" grpId="0" nodeType="withEffect">
                                  <p:stCondLst>
                                    <p:cond delay="780"/>
                                  </p:stCondLst>
                                  <p:childTnLst>
                                    <p:set>
                                      <p:cBhvr>
                                        <p:cTn id="75" dur="1" fill="hold">
                                          <p:stCondLst>
                                            <p:cond delay="0"/>
                                          </p:stCondLst>
                                        </p:cTn>
                                        <p:tgtEl>
                                          <p:spTgt spid="17"/>
                                        </p:tgtEl>
                                        <p:attrNameLst>
                                          <p:attrName>style.visibility</p:attrName>
                                        </p:attrNameLst>
                                      </p:cBhvr>
                                      <p:to>
                                        <p:strVal val="visible"/>
                                      </p:to>
                                    </p:set>
                                    <p:animEffect transition="in" filter="wipe(up)">
                                      <p:cBhvr>
                                        <p:cTn id="76" dur="600"/>
                                        <p:tgtEl>
                                          <p:spTgt spid="17"/>
                                        </p:tgtEl>
                                      </p:cBhvr>
                                    </p:animEffect>
                                  </p:childTnLst>
                                </p:cTn>
                              </p:par>
                              <p:par>
                                <p:cTn id="77" presetID="22" presetClass="entr" presetSubtype="2" fill="hold" grpId="0" nodeType="withEffect">
                                  <p:stCondLst>
                                    <p:cond delay="870"/>
                                  </p:stCondLst>
                                  <p:childTnLst>
                                    <p:set>
                                      <p:cBhvr>
                                        <p:cTn id="78" dur="1" fill="hold">
                                          <p:stCondLst>
                                            <p:cond delay="0"/>
                                          </p:stCondLst>
                                        </p:cTn>
                                        <p:tgtEl>
                                          <p:spTgt spid="18"/>
                                        </p:tgtEl>
                                        <p:attrNameLst>
                                          <p:attrName>style.visibility</p:attrName>
                                        </p:attrNameLst>
                                      </p:cBhvr>
                                      <p:to>
                                        <p:strVal val="visible"/>
                                      </p:to>
                                    </p:set>
                                    <p:animEffect transition="in" filter="wipe(right)">
                                      <p:cBhvr>
                                        <p:cTn id="79" dur="600"/>
                                        <p:tgtEl>
                                          <p:spTgt spid="18"/>
                                        </p:tgtEl>
                                      </p:cBhvr>
                                    </p:animEffect>
                                  </p:childTnLst>
                                </p:cTn>
                              </p:par>
                              <p:par>
                                <p:cTn id="80" presetID="22" presetClass="entr" presetSubtype="4" fill="hold" grpId="0" nodeType="withEffect">
                                  <p:stCondLst>
                                    <p:cond delay="960"/>
                                  </p:stCondLst>
                                  <p:childTnLst>
                                    <p:set>
                                      <p:cBhvr>
                                        <p:cTn id="81" dur="1" fill="hold">
                                          <p:stCondLst>
                                            <p:cond delay="0"/>
                                          </p:stCondLst>
                                        </p:cTn>
                                        <p:tgtEl>
                                          <p:spTgt spid="19"/>
                                        </p:tgtEl>
                                        <p:attrNameLst>
                                          <p:attrName>style.visibility</p:attrName>
                                        </p:attrNameLst>
                                      </p:cBhvr>
                                      <p:to>
                                        <p:strVal val="visible"/>
                                      </p:to>
                                    </p:set>
                                    <p:animEffect transition="in" filter="wipe(down)">
                                      <p:cBhvr>
                                        <p:cTn id="8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11" grpId="0" animBg="1"/>
      <p:bldP spid="12" grpId="0" animBg="1"/>
      <p:bldP spid="13" grpId="0" animBg="1"/>
      <p:bldP spid="7" grpId="0" animBg="1"/>
      <p:bldP spid="8" grpId="0" animBg="1"/>
      <p:bldP spid="9"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text s5.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Under the hood</a:t>
            </a:r>
          </a:p>
        </p:txBody>
      </p:sp>
      <p:sp>
        <p:nvSpPr>
          <p:cNvPr id="3" name="h2 s5.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The Nitro System: virtualization rebuilt in hardware</a:t>
            </a:r>
          </a:p>
        </p:txBody>
      </p:sp>
      <p:sp>
        <p:nvSpPr>
          <p:cNvPr id="4" name="shape s5.2.0.0"/>
          <p:cNvSpPr/>
          <p:nvPr/>
        </p:nvSpPr>
        <p:spPr>
          <a:xfrm>
            <a:off x="990600" y="193253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5" name="shape s5.2.0.1"/>
          <p:cNvSpPr/>
          <p:nvPr/>
        </p:nvSpPr>
        <p:spPr>
          <a:xfrm>
            <a:off x="2324100" y="193253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6" name="shape s5.2.0.2"/>
          <p:cNvSpPr/>
          <p:nvPr/>
        </p:nvSpPr>
        <p:spPr>
          <a:xfrm>
            <a:off x="3657600" y="193253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7" name="shape s5.2.0.3"/>
          <p:cNvSpPr/>
          <p:nvPr/>
        </p:nvSpPr>
        <p:spPr>
          <a:xfrm>
            <a:off x="609600" y="2789783"/>
            <a:ext cx="5334000" cy="914400"/>
          </a:xfrm>
          <a:prstGeom prst="cube">
            <a:avLst/>
          </a:prstGeom>
          <a:solidFill>
            <a:schemeClr val="accent4"/>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Hypervisor</a:t>
            </a:r>
            <a:r>
              <a:rPr sz="1350" b="0">
                <a:solidFill>
                  <a:schemeClr val="bg1"/>
                </a:solidFill>
                <a:latin typeface="+mn-lt"/>
                <a:ea typeface="+mn-ea"/>
              </a:rPr>
              <a:t> — memory &amp; CPU allocation only</a:t>
            </a:r>
          </a:p>
        </p:txBody>
      </p:sp>
      <p:sp>
        <p:nvSpPr>
          <p:cNvPr id="8" name="shape s5.2.0.4"/>
          <p:cNvSpPr/>
          <p:nvPr/>
        </p:nvSpPr>
        <p:spPr>
          <a:xfrm>
            <a:off x="609600" y="3551783"/>
            <a:ext cx="5334000" cy="914400"/>
          </a:xfrm>
          <a:prstGeom prst="cube">
            <a:avLst/>
          </a:prstGeom>
          <a:solidFill>
            <a:schemeClr val="accent5"/>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Security Chip</a:t>
            </a:r>
            <a:r>
              <a:rPr sz="1350" b="0">
                <a:solidFill>
                  <a:schemeClr val="bg1"/>
                </a:solidFill>
                <a:latin typeface="+mn-lt"/>
                <a:ea typeface="+mn-ea"/>
              </a:rPr>
              <a:t> — hardware root of trust</a:t>
            </a:r>
          </a:p>
        </p:txBody>
      </p:sp>
      <p:sp>
        <p:nvSpPr>
          <p:cNvPr id="9" name="shape s5.2.0.5"/>
          <p:cNvSpPr/>
          <p:nvPr/>
        </p:nvSpPr>
        <p:spPr>
          <a:xfrm>
            <a:off x="609600" y="4313783"/>
            <a:ext cx="5334000" cy="914400"/>
          </a:xfrm>
          <a:prstGeom prst="cube">
            <a:avLst/>
          </a:prstGeom>
          <a:solidFill>
            <a:schemeClr val="accent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Cards</a:t>
            </a:r>
            <a:r>
              <a:rPr sz="1350" b="0">
                <a:solidFill>
                  <a:schemeClr val="bg1"/>
                </a:solidFill>
                <a:latin typeface="+mn-lt"/>
                <a:ea typeface="+mn-ea"/>
              </a:rPr>
              <a:t> — VPC · EBS · instance storage</a:t>
            </a:r>
          </a:p>
        </p:txBody>
      </p:sp>
      <p:sp>
        <p:nvSpPr>
          <p:cNvPr id="10" name="shape s5.2.0.6"/>
          <p:cNvSpPr/>
          <p:nvPr/>
        </p:nvSpPr>
        <p:spPr>
          <a:xfrm>
            <a:off x="609600" y="5075783"/>
            <a:ext cx="5334000" cy="914400"/>
          </a:xfrm>
          <a:prstGeom prst="cube">
            <a:avLst/>
          </a:prstGeom>
          <a:solidFill>
            <a:schemeClr val="tx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Host hardware</a:t>
            </a:r>
            <a:r>
              <a:rPr sz="1350" b="0">
                <a:solidFill>
                  <a:schemeClr val="bg1"/>
                </a:solidFill>
                <a:latin typeface="+mn-lt"/>
                <a:ea typeface="+mn-ea"/>
              </a:rPr>
              <a:t> — Graviton · Intel · AMD · GPUs</a:t>
            </a:r>
          </a:p>
        </p:txBody>
      </p:sp>
      <p:sp>
        <p:nvSpPr>
          <p:cNvPr id="11" name="shape s5.2.0.7"/>
          <p:cNvSpPr/>
          <p:nvPr/>
        </p:nvSpPr>
        <p:spPr>
          <a:xfrm>
            <a:off x="6038850" y="3456533"/>
            <a:ext cx="209550" cy="2381250"/>
          </a:xfrm>
          <a:prstGeom prst="rightBrace">
            <a:avLst/>
          </a:prstGeom>
          <a:noFill/>
          <a:ln w="19050">
            <a:solidFill>
              <a:schemeClr val="tx2"/>
            </a:solidFill>
            <a:prstDash val="solid"/>
          </a:ln>
        </p:spPr>
        <p:txBody>
          <a:bodyPr wrap="square" lIns="0" tIns="0" rIns="0" bIns="0" anchor="t">
            <a:normAutofit/>
          </a:bodyPr>
          <a:lstStyle/>
          <a:p/>
        </p:txBody>
      </p:sp>
      <p:sp>
        <p:nvSpPr>
          <p:cNvPr id="12" name="shape s5.2.1.0.0"/>
          <p:cNvSpPr/>
          <p:nvPr/>
        </p:nvSpPr>
        <p:spPr>
          <a:xfrm>
            <a:off x="6781800" y="2149822"/>
            <a:ext cx="495300" cy="495300"/>
          </a:xfrm>
          <a:prstGeom prst="roundRect">
            <a:avLst>
              <a:gd name="adj" fmla="val 23077"/>
            </a:avLst>
          </a:prstGeom>
          <a:solidFill>
            <a:schemeClr val="accent1">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1"/>
                </a:solidFill>
                <a:latin typeface="+mn-lt"/>
                <a:ea typeface="+mn-ea"/>
              </a:rPr>
              <a:t>⚡</a:t>
            </a:r>
          </a:p>
        </p:txBody>
      </p:sp>
      <p:sp>
        <p:nvSpPr>
          <p:cNvPr id="13" name="h3 s5.2.1.0.1.0"/>
          <p:cNvSpPr txBox="1"/>
          <p:nvPr/>
        </p:nvSpPr>
        <p:spPr>
          <a:xfrm>
            <a:off x="7505700" y="2149822"/>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Near bare-metal performance</a:t>
            </a:r>
          </a:p>
        </p:txBody>
      </p:sp>
      <p:sp>
        <p:nvSpPr>
          <p:cNvPr id="14" name="p s5.2.1.0.1.1"/>
          <p:cNvSpPr txBox="1"/>
          <p:nvPr/>
        </p:nvSpPr>
        <p:spPr>
          <a:xfrm>
            <a:off x="7505700" y="2422178"/>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Networking and storage run on dedicated Nitro Cards.</a:t>
            </a:r>
          </a:p>
        </p:txBody>
      </p:sp>
      <p:sp>
        <p:nvSpPr>
          <p:cNvPr id="15" name="shape s5.2.1.1.0"/>
          <p:cNvSpPr/>
          <p:nvPr/>
        </p:nvSpPr>
        <p:spPr>
          <a:xfrm>
            <a:off x="6781800" y="3279428"/>
            <a:ext cx="495300" cy="495300"/>
          </a:xfrm>
          <a:prstGeom prst="roundRect">
            <a:avLst>
              <a:gd name="adj" fmla="val 23077"/>
            </a:avLst>
          </a:prstGeom>
          <a:solidFill>
            <a:schemeClr val="accent5">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5"/>
                </a:solidFill>
                <a:latin typeface="+mn-lt"/>
                <a:ea typeface="+mn-ea"/>
              </a:rPr>
              <a:t>✓</a:t>
            </a:r>
          </a:p>
        </p:txBody>
      </p:sp>
      <p:sp>
        <p:nvSpPr>
          <p:cNvPr id="16" name="h3 s5.2.1.1.1.0"/>
          <p:cNvSpPr txBox="1"/>
          <p:nvPr/>
        </p:nvSpPr>
        <p:spPr>
          <a:xfrm>
            <a:off x="7505700" y="3279428"/>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Security by design</a:t>
            </a:r>
          </a:p>
        </p:txBody>
      </p:sp>
      <p:sp>
        <p:nvSpPr>
          <p:cNvPr id="17" name="p s5.2.1.1.1.1"/>
          <p:cNvSpPr txBox="1"/>
          <p:nvPr/>
        </p:nvSpPr>
        <p:spPr>
          <a:xfrm>
            <a:off x="7505700" y="3551783"/>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No operator access to the host; firmware verified at boot.</a:t>
            </a:r>
          </a:p>
        </p:txBody>
      </p:sp>
      <p:sp>
        <p:nvSpPr>
          <p:cNvPr id="18" name="shape s5.2.1.2.0"/>
          <p:cNvSpPr/>
          <p:nvPr/>
        </p:nvSpPr>
        <p:spPr>
          <a:xfrm>
            <a:off x="6781800" y="4409033"/>
            <a:ext cx="495300" cy="495300"/>
          </a:xfrm>
          <a:prstGeom prst="roundRect">
            <a:avLst>
              <a:gd name="adj" fmla="val 23077"/>
            </a:avLst>
          </a:prstGeom>
          <a:solidFill>
            <a:schemeClr val="accent4">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4"/>
                </a:solidFill>
                <a:latin typeface="+mn-lt"/>
                <a:ea typeface="+mn-ea"/>
              </a:rPr>
              <a:t>+</a:t>
            </a:r>
          </a:p>
        </p:txBody>
      </p:sp>
      <p:sp>
        <p:nvSpPr>
          <p:cNvPr id="19" name="h3 s5.2.1.2.1.0"/>
          <p:cNvSpPr txBox="1"/>
          <p:nvPr/>
        </p:nvSpPr>
        <p:spPr>
          <a:xfrm>
            <a:off x="7505700" y="4409033"/>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Faster innovation</a:t>
            </a:r>
          </a:p>
        </p:txBody>
      </p:sp>
      <p:sp>
        <p:nvSpPr>
          <p:cNvPr id="20" name="p s5.2.1.2.1.1"/>
          <p:cNvSpPr txBox="1"/>
          <p:nvPr/>
        </p:nvSpPr>
        <p:spPr>
          <a:xfrm>
            <a:off x="7505700" y="468138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Modular blocks ship new instance types quickly.</a:t>
            </a:r>
          </a:p>
        </p:txBody>
      </p:sp>
      <p:sp>
        <p:nvSpPr>
          <p:cNvPr id="21" name="shape s5.2.1.3.0"/>
          <p:cNvSpPr/>
          <p:nvPr/>
        </p:nvSpPr>
        <p:spPr>
          <a:xfrm>
            <a:off x="6781800" y="5281464"/>
            <a:ext cx="495300" cy="495300"/>
          </a:xfrm>
          <a:prstGeom prst="roundRect">
            <a:avLst>
              <a:gd name="adj" fmla="val 23077"/>
            </a:avLst>
          </a:prstGeom>
          <a:solidFill>
            <a:schemeClr val="bg2"/>
          </a:solidFill>
          <a:ln>
            <a:noFill/>
          </a:ln>
        </p:spPr>
        <p:txBody>
          <a:bodyPr wrap="square" lIns="0" tIns="0" rIns="0" bIns="0" anchor="ctr">
            <a:normAutofit/>
          </a:bodyPr>
          <a:lstStyle/>
          <a:p>
            <a:pPr algn="ctr">
              <a:lnSpc>
                <a:spcPts val="2475"/>
              </a:lnSpc>
            </a:pPr>
            <a:r>
              <a:rPr sz="1650" b="1" i="0" u="none">
                <a:solidFill>
                  <a:schemeClr val="tx1"/>
                </a:solidFill>
                <a:latin typeface="+mn-lt"/>
                <a:ea typeface="+mn-ea"/>
              </a:rPr>
              <a:t>◇</a:t>
            </a:r>
          </a:p>
        </p:txBody>
      </p:sp>
      <p:sp>
        <p:nvSpPr>
          <p:cNvPr id="22" name="h3 s5.2.1.3.1.0"/>
          <p:cNvSpPr txBox="1"/>
          <p:nvPr/>
        </p:nvSpPr>
        <p:spPr>
          <a:xfrm>
            <a:off x="7505700" y="5281464"/>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Nitro Enclaves</a:t>
            </a:r>
          </a:p>
        </p:txBody>
      </p:sp>
      <p:sp>
        <p:nvSpPr>
          <p:cNvPr id="23" name="p s5.2.1.3.1.1"/>
          <p:cNvSpPr txBox="1"/>
          <p:nvPr/>
        </p:nvSpPr>
        <p:spPr>
          <a:xfrm>
            <a:off x="7505700" y="555381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Isolated environments for highly sensitive data.</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6</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text s6.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Choosing an instance</a:t>
            </a:r>
          </a:p>
        </p:txBody>
      </p:sp>
      <p:sp>
        <p:nvSpPr>
          <p:cNvPr id="3" name="h2 s6.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Pick a family by your workload's bottleneck</a:t>
            </a:r>
          </a:p>
        </p:txBody>
      </p:sp>
      <p:sp>
        <p:nvSpPr>
          <p:cNvPr id="4" name="shape s6.2.0"/>
          <p:cNvSpPr/>
          <p:nvPr/>
        </p:nvSpPr>
        <p:spPr>
          <a:xfrm>
            <a:off x="6096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5" name="shape s6.2.0.0.0"/>
          <p:cNvSpPr/>
          <p:nvPr/>
        </p:nvSpPr>
        <p:spPr>
          <a:xfrm>
            <a:off x="642938" y="1745903"/>
            <a:ext cx="3438525" cy="38100"/>
          </a:xfrm>
          <a:prstGeom prst="rect">
            <a:avLst/>
          </a:prstGeom>
          <a:solidFill>
            <a:schemeClr val="accent1"/>
          </a:solidFill>
          <a:ln>
            <a:noFill/>
          </a:ln>
        </p:spPr>
        <p:txBody>
          <a:bodyPr wrap="square" lIns="0" tIns="0" rIns="0" bIns="0" anchor="t">
            <a:normAutofit/>
          </a:bodyPr>
          <a:lstStyle/>
          <a:p/>
        </p:txBody>
      </p:sp>
      <p:sp>
        <p:nvSpPr>
          <p:cNvPr id="6" name="h3 s6.2.0.0.1.0"/>
          <p:cNvSpPr txBox="1"/>
          <p:nvPr/>
        </p:nvSpPr>
        <p:spPr>
          <a:xfrm>
            <a:off x="8715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General purpose</a:t>
            </a:r>
          </a:p>
        </p:txBody>
      </p:sp>
      <p:sp>
        <p:nvSpPr>
          <p:cNvPr id="7" name="shape s6.2.0.0.1.1.0"/>
          <p:cNvSpPr/>
          <p:nvPr/>
        </p:nvSpPr>
        <p:spPr>
          <a:xfrm>
            <a:off x="871538"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t>
            </a:r>
          </a:p>
        </p:txBody>
      </p:sp>
      <p:sp>
        <p:nvSpPr>
          <p:cNvPr id="8" name="shape s6.2.0.0.1.1.1"/>
          <p:cNvSpPr/>
          <p:nvPr/>
        </p:nvSpPr>
        <p:spPr>
          <a:xfrm>
            <a:off x="1162199"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T</a:t>
            </a:r>
          </a:p>
        </p:txBody>
      </p:sp>
      <p:sp>
        <p:nvSpPr>
          <p:cNvPr id="9" name="shape s6.2.0.0.1.1.2"/>
          <p:cNvSpPr/>
          <p:nvPr/>
        </p:nvSpPr>
        <p:spPr>
          <a:xfrm>
            <a:off x="1452860" y="2399258"/>
            <a:ext cx="404961" cy="361950"/>
          </a:xfrm>
          <a:prstGeom prst="roundRect">
            <a:avLst>
              <a:gd name="adj" fmla="val 15789"/>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Mac</a:t>
            </a:r>
          </a:p>
        </p:txBody>
      </p:sp>
      <p:sp>
        <p:nvSpPr>
          <p:cNvPr id="10" name="text s6.2.0.0.1.2"/>
          <p:cNvSpPr txBox="1"/>
          <p:nvPr/>
        </p:nvSpPr>
        <p:spPr>
          <a:xfrm>
            <a:off x="8715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1"/>
                </a:solidFill>
                <a:latin typeface="Noto Sans Mono"/>
                <a:ea typeface="Noto Sans Mono CJK KR"/>
              </a:rPr>
              <a:t>m7i.xlarge · 4 vCPU · 16 GiB</a:t>
            </a:r>
          </a:p>
        </p:txBody>
      </p:sp>
      <p:sp>
        <p:nvSpPr>
          <p:cNvPr id="11" name="p s6.2.0.0.1.3"/>
          <p:cNvSpPr txBox="1"/>
          <p:nvPr/>
        </p:nvSpPr>
        <p:spPr>
          <a:xfrm>
            <a:off x="8715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Web and app servers, microservices, dev/test</a:t>
            </a:r>
          </a:p>
        </p:txBody>
      </p:sp>
      <p:sp>
        <p:nvSpPr>
          <p:cNvPr id="12" name="shape s6.2.1"/>
          <p:cNvSpPr/>
          <p:nvPr/>
        </p:nvSpPr>
        <p:spPr>
          <a:xfrm>
            <a:off x="43434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3" name="shape s6.2.1.0.0"/>
          <p:cNvSpPr/>
          <p:nvPr/>
        </p:nvSpPr>
        <p:spPr>
          <a:xfrm>
            <a:off x="4376738" y="1745903"/>
            <a:ext cx="3438525" cy="38100"/>
          </a:xfrm>
          <a:prstGeom prst="rect">
            <a:avLst/>
          </a:prstGeom>
          <a:solidFill>
            <a:schemeClr val="accent2"/>
          </a:solidFill>
          <a:ln>
            <a:noFill/>
          </a:ln>
        </p:spPr>
        <p:txBody>
          <a:bodyPr wrap="square" lIns="0" tIns="0" rIns="0" bIns="0" anchor="t">
            <a:normAutofit/>
          </a:bodyPr>
          <a:lstStyle/>
          <a:p/>
        </p:txBody>
      </p:sp>
      <p:sp>
        <p:nvSpPr>
          <p:cNvPr id="14" name="h3 s6.2.1.0.1.0"/>
          <p:cNvSpPr txBox="1"/>
          <p:nvPr/>
        </p:nvSpPr>
        <p:spPr>
          <a:xfrm>
            <a:off x="46053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Compute optimized</a:t>
            </a:r>
          </a:p>
        </p:txBody>
      </p:sp>
      <p:sp>
        <p:nvSpPr>
          <p:cNvPr id="15" name="shape s6.2.1.0.1.1.0"/>
          <p:cNvSpPr/>
          <p:nvPr/>
        </p:nvSpPr>
        <p:spPr>
          <a:xfrm>
            <a:off x="4605338" y="2399258"/>
            <a:ext cx="233511" cy="361950"/>
          </a:xfrm>
          <a:prstGeom prst="roundRect">
            <a:avLst>
              <a:gd name="adj" fmla="val 24474"/>
            </a:avLst>
          </a:prstGeom>
          <a:solidFill>
            <a:schemeClr val="accent2">
              <a:lumMod val="12000"/>
              <a:lumOff val="88000"/>
            </a:schemeClr>
          </a:solidFill>
          <a:ln w="9525">
            <a:solidFill>
              <a:schemeClr val="accent2">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2"/>
                </a:solidFill>
                <a:latin typeface="Noto Sans Mono"/>
                <a:ea typeface="Noto Sans Mono CJK KR"/>
              </a:rPr>
              <a:t>C</a:t>
            </a:r>
          </a:p>
        </p:txBody>
      </p:sp>
      <p:sp>
        <p:nvSpPr>
          <p:cNvPr id="16" name="text s6.2.1.0.1.2"/>
          <p:cNvSpPr txBox="1"/>
          <p:nvPr/>
        </p:nvSpPr>
        <p:spPr>
          <a:xfrm>
            <a:off x="46053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2"/>
                </a:solidFill>
                <a:latin typeface="Noto Sans Mono"/>
                <a:ea typeface="Noto Sans Mono CJK KR"/>
              </a:rPr>
              <a:t>c7g.xlarge · 4 vCPU · 8 GiB</a:t>
            </a:r>
          </a:p>
        </p:txBody>
      </p:sp>
      <p:sp>
        <p:nvSpPr>
          <p:cNvPr id="17" name="p s6.2.1.0.1.3"/>
          <p:cNvSpPr txBox="1"/>
          <p:nvPr/>
        </p:nvSpPr>
        <p:spPr>
          <a:xfrm>
            <a:off x="46053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Batch processing, game servers, media transcoding</a:t>
            </a:r>
          </a:p>
        </p:txBody>
      </p:sp>
      <p:sp>
        <p:nvSpPr>
          <p:cNvPr id="18" name="shape s6.2.2"/>
          <p:cNvSpPr/>
          <p:nvPr/>
        </p:nvSpPr>
        <p:spPr>
          <a:xfrm>
            <a:off x="80772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9" name="shape s6.2.2.0.0"/>
          <p:cNvSpPr/>
          <p:nvPr/>
        </p:nvSpPr>
        <p:spPr>
          <a:xfrm>
            <a:off x="8110538" y="1745903"/>
            <a:ext cx="3438525" cy="38100"/>
          </a:xfrm>
          <a:prstGeom prst="rect">
            <a:avLst/>
          </a:prstGeom>
          <a:solidFill>
            <a:schemeClr val="accent4"/>
          </a:solidFill>
          <a:ln>
            <a:noFill/>
          </a:ln>
        </p:spPr>
        <p:txBody>
          <a:bodyPr wrap="square" lIns="0" tIns="0" rIns="0" bIns="0" anchor="t">
            <a:normAutofit/>
          </a:bodyPr>
          <a:lstStyle/>
          <a:p/>
        </p:txBody>
      </p:sp>
      <p:sp>
        <p:nvSpPr>
          <p:cNvPr id="20" name="h3 s6.2.2.0.1.0"/>
          <p:cNvSpPr txBox="1"/>
          <p:nvPr/>
        </p:nvSpPr>
        <p:spPr>
          <a:xfrm>
            <a:off x="83391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Memory optimized</a:t>
            </a:r>
          </a:p>
        </p:txBody>
      </p:sp>
      <p:sp>
        <p:nvSpPr>
          <p:cNvPr id="21" name="shape s6.2.2.0.1.1.0"/>
          <p:cNvSpPr/>
          <p:nvPr/>
        </p:nvSpPr>
        <p:spPr>
          <a:xfrm>
            <a:off x="8339138"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R</a:t>
            </a:r>
          </a:p>
        </p:txBody>
      </p:sp>
      <p:sp>
        <p:nvSpPr>
          <p:cNvPr id="22" name="shape s6.2.2.0.1.1.1"/>
          <p:cNvSpPr/>
          <p:nvPr/>
        </p:nvSpPr>
        <p:spPr>
          <a:xfrm>
            <a:off x="8629799"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X</a:t>
            </a:r>
          </a:p>
        </p:txBody>
      </p:sp>
      <p:sp>
        <p:nvSpPr>
          <p:cNvPr id="23" name="shape s6.2.2.0.1.1.2"/>
          <p:cNvSpPr/>
          <p:nvPr/>
        </p:nvSpPr>
        <p:spPr>
          <a:xfrm>
            <a:off x="8920460"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z</a:t>
            </a:r>
          </a:p>
        </p:txBody>
      </p:sp>
      <p:sp>
        <p:nvSpPr>
          <p:cNvPr id="24" name="shape s6.2.2.0.1.1.3"/>
          <p:cNvSpPr/>
          <p:nvPr/>
        </p:nvSpPr>
        <p:spPr>
          <a:xfrm>
            <a:off x="9211121"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U</a:t>
            </a:r>
          </a:p>
        </p:txBody>
      </p:sp>
      <p:sp>
        <p:nvSpPr>
          <p:cNvPr id="25" name="text s6.2.2.0.1.2"/>
          <p:cNvSpPr txBox="1"/>
          <p:nvPr/>
        </p:nvSpPr>
        <p:spPr>
          <a:xfrm>
            <a:off x="83391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4"/>
                </a:solidFill>
                <a:latin typeface="Noto Sans Mono"/>
                <a:ea typeface="Noto Sans Mono CJK KR"/>
              </a:rPr>
              <a:t>r7g.xlarge · 4 vCPU · 32 GiB</a:t>
            </a:r>
          </a:p>
        </p:txBody>
      </p:sp>
      <p:sp>
        <p:nvSpPr>
          <p:cNvPr id="26" name="p s6.2.2.0.1.3"/>
          <p:cNvSpPr txBox="1"/>
          <p:nvPr/>
        </p:nvSpPr>
        <p:spPr>
          <a:xfrm>
            <a:off x="83391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In-memory databases and caches, real-time analytics</a:t>
            </a:r>
          </a:p>
        </p:txBody>
      </p:sp>
      <p:sp>
        <p:nvSpPr>
          <p:cNvPr id="27" name="shape s6.2.3"/>
          <p:cNvSpPr/>
          <p:nvPr/>
        </p:nvSpPr>
        <p:spPr>
          <a:xfrm>
            <a:off x="6096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28" name="shape s6.2.3.0.0"/>
          <p:cNvSpPr/>
          <p:nvPr/>
        </p:nvSpPr>
        <p:spPr>
          <a:xfrm>
            <a:off x="642938" y="4128046"/>
            <a:ext cx="3438525" cy="38100"/>
          </a:xfrm>
          <a:prstGeom prst="rect">
            <a:avLst/>
          </a:prstGeom>
          <a:solidFill>
            <a:schemeClr val="accent5"/>
          </a:solidFill>
          <a:ln>
            <a:noFill/>
          </a:ln>
        </p:spPr>
        <p:txBody>
          <a:bodyPr wrap="square" lIns="0" tIns="0" rIns="0" bIns="0" anchor="t">
            <a:normAutofit/>
          </a:bodyPr>
          <a:lstStyle/>
          <a:p/>
        </p:txBody>
      </p:sp>
      <p:sp>
        <p:nvSpPr>
          <p:cNvPr id="29" name="h3 s6.2.3.0.1.0"/>
          <p:cNvSpPr txBox="1"/>
          <p:nvPr/>
        </p:nvSpPr>
        <p:spPr>
          <a:xfrm>
            <a:off x="8715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Accelerated computing</a:t>
            </a:r>
          </a:p>
        </p:txBody>
      </p:sp>
      <p:sp>
        <p:nvSpPr>
          <p:cNvPr id="30" name="shape s6.2.3.0.1.1.0"/>
          <p:cNvSpPr/>
          <p:nvPr/>
        </p:nvSpPr>
        <p:spPr>
          <a:xfrm>
            <a:off x="871538"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P</a:t>
            </a:r>
          </a:p>
        </p:txBody>
      </p:sp>
      <p:sp>
        <p:nvSpPr>
          <p:cNvPr id="31" name="shape s6.2.3.0.1.1.1"/>
          <p:cNvSpPr/>
          <p:nvPr/>
        </p:nvSpPr>
        <p:spPr>
          <a:xfrm>
            <a:off x="1162199"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G</a:t>
            </a:r>
          </a:p>
        </p:txBody>
      </p:sp>
      <p:sp>
        <p:nvSpPr>
          <p:cNvPr id="32" name="shape s6.2.3.0.1.1.2"/>
          <p:cNvSpPr/>
          <p:nvPr/>
        </p:nvSpPr>
        <p:spPr>
          <a:xfrm>
            <a:off x="1452860"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Trn</a:t>
            </a:r>
          </a:p>
        </p:txBody>
      </p:sp>
      <p:sp>
        <p:nvSpPr>
          <p:cNvPr id="33" name="shape s6.2.3.0.1.1.3"/>
          <p:cNvSpPr/>
          <p:nvPr/>
        </p:nvSpPr>
        <p:spPr>
          <a:xfrm>
            <a:off x="1914971"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Inf</a:t>
            </a:r>
          </a:p>
        </p:txBody>
      </p:sp>
      <p:sp>
        <p:nvSpPr>
          <p:cNvPr id="34" name="shape s6.2.3.0.1.1.4"/>
          <p:cNvSpPr/>
          <p:nvPr/>
        </p:nvSpPr>
        <p:spPr>
          <a:xfrm>
            <a:off x="2377083"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F</a:t>
            </a:r>
          </a:p>
        </p:txBody>
      </p:sp>
      <p:sp>
        <p:nvSpPr>
          <p:cNvPr id="35" name="text s6.2.3.0.1.2"/>
          <p:cNvSpPr txBox="1"/>
          <p:nvPr/>
        </p:nvSpPr>
        <p:spPr>
          <a:xfrm>
            <a:off x="8715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5"/>
                </a:solidFill>
                <a:latin typeface="Noto Sans Mono"/>
                <a:ea typeface="Noto Sans Mono CJK KR"/>
              </a:rPr>
              <a:t>p5.48xlarge · 8× NVIDIA H100</a:t>
            </a:r>
          </a:p>
        </p:txBody>
      </p:sp>
      <p:sp>
        <p:nvSpPr>
          <p:cNvPr id="36" name="p s6.2.3.0.1.3"/>
          <p:cNvSpPr txBox="1"/>
          <p:nvPr/>
        </p:nvSpPr>
        <p:spPr>
          <a:xfrm>
            <a:off x="8715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Generative AI training and inference, graphics</a:t>
            </a:r>
          </a:p>
        </p:txBody>
      </p:sp>
      <p:sp>
        <p:nvSpPr>
          <p:cNvPr id="37" name="shape s6.2.4"/>
          <p:cNvSpPr/>
          <p:nvPr/>
        </p:nvSpPr>
        <p:spPr>
          <a:xfrm>
            <a:off x="43434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38" name="shape s6.2.4.0.0"/>
          <p:cNvSpPr/>
          <p:nvPr/>
        </p:nvSpPr>
        <p:spPr>
          <a:xfrm>
            <a:off x="4376738" y="4128046"/>
            <a:ext cx="3438525" cy="38100"/>
          </a:xfrm>
          <a:prstGeom prst="rect">
            <a:avLst/>
          </a:prstGeom>
          <a:solidFill>
            <a:schemeClr val="accent3"/>
          </a:solidFill>
          <a:ln>
            <a:noFill/>
          </a:ln>
        </p:spPr>
        <p:txBody>
          <a:bodyPr wrap="square" lIns="0" tIns="0" rIns="0" bIns="0" anchor="t">
            <a:normAutofit/>
          </a:bodyPr>
          <a:lstStyle/>
          <a:p/>
        </p:txBody>
      </p:sp>
      <p:sp>
        <p:nvSpPr>
          <p:cNvPr id="39" name="h3 s6.2.4.0.1.0"/>
          <p:cNvSpPr txBox="1"/>
          <p:nvPr/>
        </p:nvSpPr>
        <p:spPr>
          <a:xfrm>
            <a:off x="46053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Storage optimized</a:t>
            </a:r>
          </a:p>
        </p:txBody>
      </p:sp>
      <p:sp>
        <p:nvSpPr>
          <p:cNvPr id="40" name="shape s6.2.4.0.1.1.0"/>
          <p:cNvSpPr/>
          <p:nvPr/>
        </p:nvSpPr>
        <p:spPr>
          <a:xfrm>
            <a:off x="4605338"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I</a:t>
            </a:r>
          </a:p>
        </p:txBody>
      </p:sp>
      <p:sp>
        <p:nvSpPr>
          <p:cNvPr id="41" name="shape s6.2.4.0.1.1.1"/>
          <p:cNvSpPr/>
          <p:nvPr/>
        </p:nvSpPr>
        <p:spPr>
          <a:xfrm>
            <a:off x="4895999"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D</a:t>
            </a:r>
          </a:p>
        </p:txBody>
      </p:sp>
      <p:sp>
        <p:nvSpPr>
          <p:cNvPr id="42" name="shape s6.2.4.0.1.1.2"/>
          <p:cNvSpPr/>
          <p:nvPr/>
        </p:nvSpPr>
        <p:spPr>
          <a:xfrm>
            <a:off x="5186660"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H</a:t>
            </a:r>
          </a:p>
        </p:txBody>
      </p:sp>
      <p:sp>
        <p:nvSpPr>
          <p:cNvPr id="43" name="text s6.2.4.0.1.2"/>
          <p:cNvSpPr txBox="1"/>
          <p:nvPr/>
        </p:nvSpPr>
        <p:spPr>
          <a:xfrm>
            <a:off x="46053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3"/>
                </a:solidFill>
                <a:latin typeface="Noto Sans Mono"/>
                <a:ea typeface="Noto Sans Mono CJK KR"/>
              </a:rPr>
              <a:t>i4i.xlarge · 937 GB NVMe</a:t>
            </a:r>
          </a:p>
        </p:txBody>
      </p:sp>
      <p:sp>
        <p:nvSpPr>
          <p:cNvPr id="44" name="p s6.2.4.0.1.3"/>
          <p:cNvSpPr txBox="1"/>
          <p:nvPr/>
        </p:nvSpPr>
        <p:spPr>
          <a:xfrm>
            <a:off x="4605338" y="5486251"/>
            <a:ext cx="298132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NoSQL databases, data warehousing</a:t>
            </a:r>
          </a:p>
        </p:txBody>
      </p:sp>
      <p:sp>
        <p:nvSpPr>
          <p:cNvPr id="45" name="shape s6.2.5"/>
          <p:cNvSpPr/>
          <p:nvPr/>
        </p:nvSpPr>
        <p:spPr>
          <a:xfrm>
            <a:off x="80772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46" name="shape s6.2.5.0.0"/>
          <p:cNvSpPr/>
          <p:nvPr/>
        </p:nvSpPr>
        <p:spPr>
          <a:xfrm>
            <a:off x="8110538" y="4128046"/>
            <a:ext cx="3438525" cy="38100"/>
          </a:xfrm>
          <a:prstGeom prst="rect">
            <a:avLst/>
          </a:prstGeom>
          <a:solidFill>
            <a:schemeClr val="accent6"/>
          </a:solidFill>
          <a:ln>
            <a:noFill/>
          </a:ln>
        </p:spPr>
        <p:txBody>
          <a:bodyPr wrap="square" lIns="0" tIns="0" rIns="0" bIns="0" anchor="t">
            <a:normAutofit/>
          </a:bodyPr>
          <a:lstStyle/>
          <a:p/>
        </p:txBody>
      </p:sp>
      <p:sp>
        <p:nvSpPr>
          <p:cNvPr id="47" name="h3 s6.2.5.0.1.0"/>
          <p:cNvSpPr txBox="1"/>
          <p:nvPr/>
        </p:nvSpPr>
        <p:spPr>
          <a:xfrm>
            <a:off x="83391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HPC optimized</a:t>
            </a:r>
          </a:p>
        </p:txBody>
      </p:sp>
      <p:sp>
        <p:nvSpPr>
          <p:cNvPr id="48" name="shape s6.2.5.0.1.1.0"/>
          <p:cNvSpPr/>
          <p:nvPr/>
        </p:nvSpPr>
        <p:spPr>
          <a:xfrm>
            <a:off x="8339138" y="4781401"/>
            <a:ext cx="404961" cy="361950"/>
          </a:xfrm>
          <a:prstGeom prst="roundRect">
            <a:avLst>
              <a:gd name="adj" fmla="val 15789"/>
            </a:avLst>
          </a:prstGeom>
          <a:solidFill>
            <a:schemeClr val="accent6">
              <a:lumMod val="12000"/>
              <a:lumOff val="88000"/>
            </a:schemeClr>
          </a:solidFill>
          <a:ln w="9525">
            <a:solidFill>
              <a:schemeClr val="accent6">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6"/>
                </a:solidFill>
                <a:latin typeface="Noto Sans Mono"/>
                <a:ea typeface="Noto Sans Mono CJK KR"/>
              </a:rPr>
              <a:t>Hpc</a:t>
            </a:r>
          </a:p>
        </p:txBody>
      </p:sp>
      <p:sp>
        <p:nvSpPr>
          <p:cNvPr id="49" name="text s6.2.5.0.1.2"/>
          <p:cNvSpPr txBox="1"/>
          <p:nvPr/>
        </p:nvSpPr>
        <p:spPr>
          <a:xfrm>
            <a:off x="83391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6"/>
                </a:solidFill>
                <a:latin typeface="Noto Sans Mono"/>
                <a:ea typeface="Noto Sans Mono CJK KR"/>
              </a:rPr>
              <a:t>hpc7g.16xlarge · 200 Gbps EFA</a:t>
            </a:r>
          </a:p>
        </p:txBody>
      </p:sp>
      <p:sp>
        <p:nvSpPr>
          <p:cNvPr id="50" name="p s6.2.5.0.1.3"/>
          <p:cNvSpPr txBox="1"/>
          <p:nvPr/>
        </p:nvSpPr>
        <p:spPr>
          <a:xfrm>
            <a:off x="83391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Tightly coupled simulations, weather, CFD</a:t>
            </a:r>
          </a:p>
        </p:txBody>
      </p:sp>
      <p:sp>
        <p:nvSpPr>
          <p:cNvPr id="51"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52"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7</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33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par>
                                <p:cTn id="185" presetID="42" presetClass="entr" presetSubtype="0" fill="hold" grpId="0" nodeType="withEffect">
                                  <p:stCondLst>
                                    <p:cond delay="330"/>
                                  </p:stCondLst>
                                  <p:childTnLst>
                                    <p:set>
                                      <p:cBhvr>
                                        <p:cTn id="186" dur="1" fill="hold">
                                          <p:stCondLst>
                                            <p:cond delay="0"/>
                                          </p:stCondLst>
                                        </p:cTn>
                                        <p:tgtEl>
                                          <p:spTgt spid="38"/>
                                        </p:tgtEl>
                                        <p:attrNameLst>
                                          <p:attrName>style.visibility</p:attrName>
                                        </p:attrNameLst>
                                      </p:cBhvr>
                                      <p:to>
                                        <p:strVal val="visible"/>
                                      </p:to>
                                    </p:set>
                                    <p:animEffect transition="in" filter="fade">
                                      <p:cBhvr>
                                        <p:cTn id="187" dur="600"/>
                                        <p:tgtEl>
                                          <p:spTgt spid="38"/>
                                        </p:tgtEl>
                                      </p:cBhvr>
                                    </p:animEffect>
                                    <p:anim calcmode="lin" valueType="num">
                                      <p:cBhvr>
                                        <p:cTn id="188" dur="600" decel="100000" fill="hold"/>
                                        <p:tgtEl>
                                          <p:spTgt spid="38"/>
                                        </p:tgtEl>
                                        <p:attrNameLst>
                                          <p:attrName>ppt_x</p:attrName>
                                        </p:attrNameLst>
                                      </p:cBhvr>
                                      <p:tavLst>
                                        <p:tav tm="0">
                                          <p:val>
                                            <p:strVal val="#ppt_x"/>
                                          </p:val>
                                        </p:tav>
                                        <p:tav tm="100000">
                                          <p:val>
                                            <p:strVal val="#ppt_x"/>
                                          </p:val>
                                        </p:tav>
                                      </p:tavLst>
                                    </p:anim>
                                    <p:anim calcmode="lin" valueType="num">
                                      <p:cBhvr>
                                        <p:cTn id="189" dur="600" decel="100000" fill="hold"/>
                                        <p:tgtEl>
                                          <p:spTgt spid="38"/>
                                        </p:tgtEl>
                                        <p:attrNameLst>
                                          <p:attrName>ppt_y</p:attrName>
                                        </p:attrNameLst>
                                      </p:cBhvr>
                                      <p:tavLst>
                                        <p:tav tm="0">
                                          <p:val>
                                            <p:strVal val="#ppt_y+0.0333"/>
                                          </p:val>
                                        </p:tav>
                                        <p:tav tm="100000">
                                          <p:val>
                                            <p:strVal val="#ppt_y"/>
                                          </p:val>
                                        </p:tav>
                                      </p:tavLst>
                                    </p:anim>
                                  </p:childTnLst>
                                </p:cTn>
                              </p:par>
                              <p:par>
                                <p:cTn id="190" presetID="42" presetClass="entr" presetSubtype="0" fill="hold" grpId="0" nodeType="withEffect">
                                  <p:stCondLst>
                                    <p:cond delay="330"/>
                                  </p:stCondLst>
                                  <p:childTnLst>
                                    <p:set>
                                      <p:cBhvr>
                                        <p:cTn id="191" dur="1" fill="hold">
                                          <p:stCondLst>
                                            <p:cond delay="0"/>
                                          </p:stCondLst>
                                        </p:cTn>
                                        <p:tgtEl>
                                          <p:spTgt spid="39"/>
                                        </p:tgtEl>
                                        <p:attrNameLst>
                                          <p:attrName>style.visibility</p:attrName>
                                        </p:attrNameLst>
                                      </p:cBhvr>
                                      <p:to>
                                        <p:strVal val="visible"/>
                                      </p:to>
                                    </p:set>
                                    <p:animEffect transition="in" filter="fade">
                                      <p:cBhvr>
                                        <p:cTn id="192" dur="600"/>
                                        <p:tgtEl>
                                          <p:spTgt spid="39"/>
                                        </p:tgtEl>
                                      </p:cBhvr>
                                    </p:animEffect>
                                    <p:anim calcmode="lin" valueType="num">
                                      <p:cBhvr>
                                        <p:cTn id="193" dur="600" decel="100000" fill="hold"/>
                                        <p:tgtEl>
                                          <p:spTgt spid="39"/>
                                        </p:tgtEl>
                                        <p:attrNameLst>
                                          <p:attrName>ppt_x</p:attrName>
                                        </p:attrNameLst>
                                      </p:cBhvr>
                                      <p:tavLst>
                                        <p:tav tm="0">
                                          <p:val>
                                            <p:strVal val="#ppt_x"/>
                                          </p:val>
                                        </p:tav>
                                        <p:tav tm="100000">
                                          <p:val>
                                            <p:strVal val="#ppt_x"/>
                                          </p:val>
                                        </p:tav>
                                      </p:tavLst>
                                    </p:anim>
                                    <p:anim calcmode="lin" valueType="num">
                                      <p:cBhvr>
                                        <p:cTn id="194" dur="600" decel="100000" fill="hold"/>
                                        <p:tgtEl>
                                          <p:spTgt spid="39"/>
                                        </p:tgtEl>
                                        <p:attrNameLst>
                                          <p:attrName>ppt_y</p:attrName>
                                        </p:attrNameLst>
                                      </p:cBhvr>
                                      <p:tavLst>
                                        <p:tav tm="0">
                                          <p:val>
                                            <p:strVal val="#ppt_y+0.0333"/>
                                          </p:val>
                                        </p:tav>
                                        <p:tav tm="100000">
                                          <p:val>
                                            <p:strVal val="#ppt_y"/>
                                          </p:val>
                                        </p:tav>
                                      </p:tavLst>
                                    </p:anim>
                                  </p:childTnLst>
                                </p:cTn>
                              </p:par>
                              <p:par>
                                <p:cTn id="195" presetID="42" presetClass="entr" presetSubtype="0" fill="hold" grpId="0" nodeType="withEffect">
                                  <p:stCondLst>
                                    <p:cond delay="330"/>
                                  </p:stCondLst>
                                  <p:childTnLst>
                                    <p:set>
                                      <p:cBhvr>
                                        <p:cTn id="196" dur="1" fill="hold">
                                          <p:stCondLst>
                                            <p:cond delay="0"/>
                                          </p:stCondLst>
                                        </p:cTn>
                                        <p:tgtEl>
                                          <p:spTgt spid="40"/>
                                        </p:tgtEl>
                                        <p:attrNameLst>
                                          <p:attrName>style.visibility</p:attrName>
                                        </p:attrNameLst>
                                      </p:cBhvr>
                                      <p:to>
                                        <p:strVal val="visible"/>
                                      </p:to>
                                    </p:set>
                                    <p:animEffect transition="in" filter="fade">
                                      <p:cBhvr>
                                        <p:cTn id="197" dur="600"/>
                                        <p:tgtEl>
                                          <p:spTgt spid="40"/>
                                        </p:tgtEl>
                                      </p:cBhvr>
                                    </p:animEffect>
                                    <p:anim calcmode="lin" valueType="num">
                                      <p:cBhvr>
                                        <p:cTn id="198" dur="600" decel="100000" fill="hold"/>
                                        <p:tgtEl>
                                          <p:spTgt spid="40"/>
                                        </p:tgtEl>
                                        <p:attrNameLst>
                                          <p:attrName>ppt_x</p:attrName>
                                        </p:attrNameLst>
                                      </p:cBhvr>
                                      <p:tavLst>
                                        <p:tav tm="0">
                                          <p:val>
                                            <p:strVal val="#ppt_x"/>
                                          </p:val>
                                        </p:tav>
                                        <p:tav tm="100000">
                                          <p:val>
                                            <p:strVal val="#ppt_x"/>
                                          </p:val>
                                        </p:tav>
                                      </p:tavLst>
                                    </p:anim>
                                    <p:anim calcmode="lin" valueType="num">
                                      <p:cBhvr>
                                        <p:cTn id="199" dur="600" decel="100000" fill="hold"/>
                                        <p:tgtEl>
                                          <p:spTgt spid="40"/>
                                        </p:tgtEl>
                                        <p:attrNameLst>
                                          <p:attrName>ppt_y</p:attrName>
                                        </p:attrNameLst>
                                      </p:cBhvr>
                                      <p:tavLst>
                                        <p:tav tm="0">
                                          <p:val>
                                            <p:strVal val="#ppt_y+0.0333"/>
                                          </p:val>
                                        </p:tav>
                                        <p:tav tm="100000">
                                          <p:val>
                                            <p:strVal val="#ppt_y"/>
                                          </p:val>
                                        </p:tav>
                                      </p:tavLst>
                                    </p:anim>
                                  </p:childTnLst>
                                </p:cTn>
                              </p:par>
                              <p:par>
                                <p:cTn id="200" presetID="42" presetClass="entr" presetSubtype="0" fill="hold" grpId="0" nodeType="withEffect">
                                  <p:stCondLst>
                                    <p:cond delay="33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600"/>
                                        <p:tgtEl>
                                          <p:spTgt spid="41"/>
                                        </p:tgtEl>
                                      </p:cBhvr>
                                    </p:animEffect>
                                    <p:anim calcmode="lin" valueType="num">
                                      <p:cBhvr>
                                        <p:cTn id="203" dur="600" decel="100000" fill="hold"/>
                                        <p:tgtEl>
                                          <p:spTgt spid="41"/>
                                        </p:tgtEl>
                                        <p:attrNameLst>
                                          <p:attrName>ppt_x</p:attrName>
                                        </p:attrNameLst>
                                      </p:cBhvr>
                                      <p:tavLst>
                                        <p:tav tm="0">
                                          <p:val>
                                            <p:strVal val="#ppt_x"/>
                                          </p:val>
                                        </p:tav>
                                        <p:tav tm="100000">
                                          <p:val>
                                            <p:strVal val="#ppt_x"/>
                                          </p:val>
                                        </p:tav>
                                      </p:tavLst>
                                    </p:anim>
                                    <p:anim calcmode="lin" valueType="num">
                                      <p:cBhvr>
                                        <p:cTn id="204" dur="600" decel="100000" fill="hold"/>
                                        <p:tgtEl>
                                          <p:spTgt spid="41"/>
                                        </p:tgtEl>
                                        <p:attrNameLst>
                                          <p:attrName>ppt_y</p:attrName>
                                        </p:attrNameLst>
                                      </p:cBhvr>
                                      <p:tavLst>
                                        <p:tav tm="0">
                                          <p:val>
                                            <p:strVal val="#ppt_y+0.0333"/>
                                          </p:val>
                                        </p:tav>
                                        <p:tav tm="100000">
                                          <p:val>
                                            <p:strVal val="#ppt_y"/>
                                          </p:val>
                                        </p:tav>
                                      </p:tavLst>
                                    </p:anim>
                                  </p:childTnLst>
                                </p:cTn>
                              </p:par>
                              <p:par>
                                <p:cTn id="205" presetID="42" presetClass="entr" presetSubtype="0" fill="hold" grpId="0" nodeType="withEffect">
                                  <p:stCondLst>
                                    <p:cond delay="330"/>
                                  </p:stCondLst>
                                  <p:childTnLst>
                                    <p:set>
                                      <p:cBhvr>
                                        <p:cTn id="206" dur="1" fill="hold">
                                          <p:stCondLst>
                                            <p:cond delay="0"/>
                                          </p:stCondLst>
                                        </p:cTn>
                                        <p:tgtEl>
                                          <p:spTgt spid="42"/>
                                        </p:tgtEl>
                                        <p:attrNameLst>
                                          <p:attrName>style.visibility</p:attrName>
                                        </p:attrNameLst>
                                      </p:cBhvr>
                                      <p:to>
                                        <p:strVal val="visible"/>
                                      </p:to>
                                    </p:set>
                                    <p:animEffect transition="in" filter="fade">
                                      <p:cBhvr>
                                        <p:cTn id="207" dur="600"/>
                                        <p:tgtEl>
                                          <p:spTgt spid="42"/>
                                        </p:tgtEl>
                                      </p:cBhvr>
                                    </p:animEffect>
                                    <p:anim calcmode="lin" valueType="num">
                                      <p:cBhvr>
                                        <p:cTn id="208" dur="600" decel="100000" fill="hold"/>
                                        <p:tgtEl>
                                          <p:spTgt spid="42"/>
                                        </p:tgtEl>
                                        <p:attrNameLst>
                                          <p:attrName>ppt_x</p:attrName>
                                        </p:attrNameLst>
                                      </p:cBhvr>
                                      <p:tavLst>
                                        <p:tav tm="0">
                                          <p:val>
                                            <p:strVal val="#ppt_x"/>
                                          </p:val>
                                        </p:tav>
                                        <p:tav tm="100000">
                                          <p:val>
                                            <p:strVal val="#ppt_x"/>
                                          </p:val>
                                        </p:tav>
                                      </p:tavLst>
                                    </p:anim>
                                    <p:anim calcmode="lin" valueType="num">
                                      <p:cBhvr>
                                        <p:cTn id="209" dur="600" decel="100000" fill="hold"/>
                                        <p:tgtEl>
                                          <p:spTgt spid="42"/>
                                        </p:tgtEl>
                                        <p:attrNameLst>
                                          <p:attrName>ppt_y</p:attrName>
                                        </p:attrNameLst>
                                      </p:cBhvr>
                                      <p:tavLst>
                                        <p:tav tm="0">
                                          <p:val>
                                            <p:strVal val="#ppt_y+0.0333"/>
                                          </p:val>
                                        </p:tav>
                                        <p:tav tm="100000">
                                          <p:val>
                                            <p:strVal val="#ppt_y"/>
                                          </p:val>
                                        </p:tav>
                                      </p:tavLst>
                                    </p:anim>
                                  </p:childTnLst>
                                </p:cTn>
                              </p:par>
                              <p:par>
                                <p:cTn id="210" presetID="42" presetClass="entr" presetSubtype="0" fill="hold" grpId="0" nodeType="withEffect">
                                  <p:stCondLst>
                                    <p:cond delay="330"/>
                                  </p:stCondLst>
                                  <p:childTnLst>
                                    <p:set>
                                      <p:cBhvr>
                                        <p:cTn id="211" dur="1" fill="hold">
                                          <p:stCondLst>
                                            <p:cond delay="0"/>
                                          </p:stCondLst>
                                        </p:cTn>
                                        <p:tgtEl>
                                          <p:spTgt spid="43"/>
                                        </p:tgtEl>
                                        <p:attrNameLst>
                                          <p:attrName>style.visibility</p:attrName>
                                        </p:attrNameLst>
                                      </p:cBhvr>
                                      <p:to>
                                        <p:strVal val="visible"/>
                                      </p:to>
                                    </p:set>
                                    <p:animEffect transition="in" filter="fade">
                                      <p:cBhvr>
                                        <p:cTn id="212" dur="600"/>
                                        <p:tgtEl>
                                          <p:spTgt spid="43"/>
                                        </p:tgtEl>
                                      </p:cBhvr>
                                    </p:animEffect>
                                    <p:anim calcmode="lin" valueType="num">
                                      <p:cBhvr>
                                        <p:cTn id="213" dur="600" decel="100000" fill="hold"/>
                                        <p:tgtEl>
                                          <p:spTgt spid="43"/>
                                        </p:tgtEl>
                                        <p:attrNameLst>
                                          <p:attrName>ppt_x</p:attrName>
                                        </p:attrNameLst>
                                      </p:cBhvr>
                                      <p:tavLst>
                                        <p:tav tm="0">
                                          <p:val>
                                            <p:strVal val="#ppt_x"/>
                                          </p:val>
                                        </p:tav>
                                        <p:tav tm="100000">
                                          <p:val>
                                            <p:strVal val="#ppt_x"/>
                                          </p:val>
                                        </p:tav>
                                      </p:tavLst>
                                    </p:anim>
                                    <p:anim calcmode="lin" valueType="num">
                                      <p:cBhvr>
                                        <p:cTn id="214" dur="600" decel="100000" fill="hold"/>
                                        <p:tgtEl>
                                          <p:spTgt spid="43"/>
                                        </p:tgtEl>
                                        <p:attrNameLst>
                                          <p:attrName>ppt_y</p:attrName>
                                        </p:attrNameLst>
                                      </p:cBhvr>
                                      <p:tavLst>
                                        <p:tav tm="0">
                                          <p:val>
                                            <p:strVal val="#ppt_y+0.0333"/>
                                          </p:val>
                                        </p:tav>
                                        <p:tav tm="100000">
                                          <p:val>
                                            <p:strVal val="#ppt_y"/>
                                          </p:val>
                                        </p:tav>
                                      </p:tavLst>
                                    </p:anim>
                                  </p:childTnLst>
                                </p:cTn>
                              </p:par>
                              <p:par>
                                <p:cTn id="215" presetID="42" presetClass="entr" presetSubtype="0" fill="hold" grpId="0" nodeType="withEffect">
                                  <p:stCondLst>
                                    <p:cond delay="330"/>
                                  </p:stCondLst>
                                  <p:childTnLst>
                                    <p:set>
                                      <p:cBhvr>
                                        <p:cTn id="216" dur="1" fill="hold">
                                          <p:stCondLst>
                                            <p:cond delay="0"/>
                                          </p:stCondLst>
                                        </p:cTn>
                                        <p:tgtEl>
                                          <p:spTgt spid="44"/>
                                        </p:tgtEl>
                                        <p:attrNameLst>
                                          <p:attrName>style.visibility</p:attrName>
                                        </p:attrNameLst>
                                      </p:cBhvr>
                                      <p:to>
                                        <p:strVal val="visible"/>
                                      </p:to>
                                    </p:set>
                                    <p:animEffect transition="in" filter="fade">
                                      <p:cBhvr>
                                        <p:cTn id="217" dur="600"/>
                                        <p:tgtEl>
                                          <p:spTgt spid="44"/>
                                        </p:tgtEl>
                                      </p:cBhvr>
                                    </p:animEffect>
                                    <p:anim calcmode="lin" valueType="num">
                                      <p:cBhvr>
                                        <p:cTn id="218" dur="600" decel="100000" fill="hold"/>
                                        <p:tgtEl>
                                          <p:spTgt spid="44"/>
                                        </p:tgtEl>
                                        <p:attrNameLst>
                                          <p:attrName>ppt_x</p:attrName>
                                        </p:attrNameLst>
                                      </p:cBhvr>
                                      <p:tavLst>
                                        <p:tav tm="0">
                                          <p:val>
                                            <p:strVal val="#ppt_x"/>
                                          </p:val>
                                        </p:tav>
                                        <p:tav tm="100000">
                                          <p:val>
                                            <p:strVal val="#ppt_x"/>
                                          </p:val>
                                        </p:tav>
                                      </p:tavLst>
                                    </p:anim>
                                    <p:anim calcmode="lin" valueType="num">
                                      <p:cBhvr>
                                        <p:cTn id="219" dur="600" decel="100000" fill="hold"/>
                                        <p:tgtEl>
                                          <p:spTgt spid="44"/>
                                        </p:tgtEl>
                                        <p:attrNameLst>
                                          <p:attrName>ppt_y</p:attrName>
                                        </p:attrNameLst>
                                      </p:cBhvr>
                                      <p:tavLst>
                                        <p:tav tm="0">
                                          <p:val>
                                            <p:strVal val="#ppt_y+0.0333"/>
                                          </p:val>
                                        </p:tav>
                                        <p:tav tm="100000">
                                          <p:val>
                                            <p:strVal val="#ppt_y"/>
                                          </p:val>
                                        </p:tav>
                                      </p:tavLst>
                                    </p:anim>
                                  </p:childTnLst>
                                </p:cTn>
                              </p:par>
                              <p:par>
                                <p:cTn id="220" presetID="42" presetClass="entr" presetSubtype="0" fill="hold" grpId="0" nodeType="withEffect">
                                  <p:stCondLst>
                                    <p:cond delay="330"/>
                                  </p:stCondLst>
                                  <p:childTnLst>
                                    <p:set>
                                      <p:cBhvr>
                                        <p:cTn id="221" dur="1" fill="hold">
                                          <p:stCondLst>
                                            <p:cond delay="0"/>
                                          </p:stCondLst>
                                        </p:cTn>
                                        <p:tgtEl>
                                          <p:spTgt spid="45"/>
                                        </p:tgtEl>
                                        <p:attrNameLst>
                                          <p:attrName>style.visibility</p:attrName>
                                        </p:attrNameLst>
                                      </p:cBhvr>
                                      <p:to>
                                        <p:strVal val="visible"/>
                                      </p:to>
                                    </p:set>
                                    <p:animEffect transition="in" filter="fade">
                                      <p:cBhvr>
                                        <p:cTn id="222" dur="600"/>
                                        <p:tgtEl>
                                          <p:spTgt spid="45"/>
                                        </p:tgtEl>
                                      </p:cBhvr>
                                    </p:animEffect>
                                    <p:anim calcmode="lin" valueType="num">
                                      <p:cBhvr>
                                        <p:cTn id="223" dur="600" decel="100000" fill="hold"/>
                                        <p:tgtEl>
                                          <p:spTgt spid="45"/>
                                        </p:tgtEl>
                                        <p:attrNameLst>
                                          <p:attrName>ppt_x</p:attrName>
                                        </p:attrNameLst>
                                      </p:cBhvr>
                                      <p:tavLst>
                                        <p:tav tm="0">
                                          <p:val>
                                            <p:strVal val="#ppt_x"/>
                                          </p:val>
                                        </p:tav>
                                        <p:tav tm="100000">
                                          <p:val>
                                            <p:strVal val="#ppt_x"/>
                                          </p:val>
                                        </p:tav>
                                      </p:tavLst>
                                    </p:anim>
                                    <p:anim calcmode="lin" valueType="num">
                                      <p:cBhvr>
                                        <p:cTn id="224" dur="600" decel="100000" fill="hold"/>
                                        <p:tgtEl>
                                          <p:spTgt spid="45"/>
                                        </p:tgtEl>
                                        <p:attrNameLst>
                                          <p:attrName>ppt_y</p:attrName>
                                        </p:attrNameLst>
                                      </p:cBhvr>
                                      <p:tavLst>
                                        <p:tav tm="0">
                                          <p:val>
                                            <p:strVal val="#ppt_y+0.0333"/>
                                          </p:val>
                                        </p:tav>
                                        <p:tav tm="100000">
                                          <p:val>
                                            <p:strVal val="#ppt_y"/>
                                          </p:val>
                                        </p:tav>
                                      </p:tavLst>
                                    </p:anim>
                                  </p:childTnLst>
                                </p:cTn>
                              </p:par>
                              <p:par>
                                <p:cTn id="225" presetID="42" presetClass="entr" presetSubtype="0" fill="hold" grpId="0" nodeType="withEffect">
                                  <p:stCondLst>
                                    <p:cond delay="330"/>
                                  </p:stCondLst>
                                  <p:childTnLst>
                                    <p:set>
                                      <p:cBhvr>
                                        <p:cTn id="226" dur="1" fill="hold">
                                          <p:stCondLst>
                                            <p:cond delay="0"/>
                                          </p:stCondLst>
                                        </p:cTn>
                                        <p:tgtEl>
                                          <p:spTgt spid="46"/>
                                        </p:tgtEl>
                                        <p:attrNameLst>
                                          <p:attrName>style.visibility</p:attrName>
                                        </p:attrNameLst>
                                      </p:cBhvr>
                                      <p:to>
                                        <p:strVal val="visible"/>
                                      </p:to>
                                    </p:set>
                                    <p:animEffect transition="in" filter="fade">
                                      <p:cBhvr>
                                        <p:cTn id="227" dur="600"/>
                                        <p:tgtEl>
                                          <p:spTgt spid="46"/>
                                        </p:tgtEl>
                                      </p:cBhvr>
                                    </p:animEffect>
                                    <p:anim calcmode="lin" valueType="num">
                                      <p:cBhvr>
                                        <p:cTn id="228" dur="600" decel="100000" fill="hold"/>
                                        <p:tgtEl>
                                          <p:spTgt spid="46"/>
                                        </p:tgtEl>
                                        <p:attrNameLst>
                                          <p:attrName>ppt_x</p:attrName>
                                        </p:attrNameLst>
                                      </p:cBhvr>
                                      <p:tavLst>
                                        <p:tav tm="0">
                                          <p:val>
                                            <p:strVal val="#ppt_x"/>
                                          </p:val>
                                        </p:tav>
                                        <p:tav tm="100000">
                                          <p:val>
                                            <p:strVal val="#ppt_x"/>
                                          </p:val>
                                        </p:tav>
                                      </p:tavLst>
                                    </p:anim>
                                    <p:anim calcmode="lin" valueType="num">
                                      <p:cBhvr>
                                        <p:cTn id="229" dur="600" decel="100000" fill="hold"/>
                                        <p:tgtEl>
                                          <p:spTgt spid="46"/>
                                        </p:tgtEl>
                                        <p:attrNameLst>
                                          <p:attrName>ppt_y</p:attrName>
                                        </p:attrNameLst>
                                      </p:cBhvr>
                                      <p:tavLst>
                                        <p:tav tm="0">
                                          <p:val>
                                            <p:strVal val="#ppt_y+0.0333"/>
                                          </p:val>
                                        </p:tav>
                                        <p:tav tm="100000">
                                          <p:val>
                                            <p:strVal val="#ppt_y"/>
                                          </p:val>
                                        </p:tav>
                                      </p:tavLst>
                                    </p:anim>
                                  </p:childTnLst>
                                </p:cTn>
                              </p:par>
                              <p:par>
                                <p:cTn id="230" presetID="42" presetClass="entr" presetSubtype="0" fill="hold" grpId="0" nodeType="withEffect">
                                  <p:stCondLst>
                                    <p:cond delay="330"/>
                                  </p:stCondLst>
                                  <p:childTnLst>
                                    <p:set>
                                      <p:cBhvr>
                                        <p:cTn id="231" dur="1" fill="hold">
                                          <p:stCondLst>
                                            <p:cond delay="0"/>
                                          </p:stCondLst>
                                        </p:cTn>
                                        <p:tgtEl>
                                          <p:spTgt spid="47"/>
                                        </p:tgtEl>
                                        <p:attrNameLst>
                                          <p:attrName>style.visibility</p:attrName>
                                        </p:attrNameLst>
                                      </p:cBhvr>
                                      <p:to>
                                        <p:strVal val="visible"/>
                                      </p:to>
                                    </p:set>
                                    <p:animEffect transition="in" filter="fade">
                                      <p:cBhvr>
                                        <p:cTn id="232" dur="600"/>
                                        <p:tgtEl>
                                          <p:spTgt spid="47"/>
                                        </p:tgtEl>
                                      </p:cBhvr>
                                    </p:animEffect>
                                    <p:anim calcmode="lin" valueType="num">
                                      <p:cBhvr>
                                        <p:cTn id="233" dur="600" decel="100000" fill="hold"/>
                                        <p:tgtEl>
                                          <p:spTgt spid="47"/>
                                        </p:tgtEl>
                                        <p:attrNameLst>
                                          <p:attrName>ppt_x</p:attrName>
                                        </p:attrNameLst>
                                      </p:cBhvr>
                                      <p:tavLst>
                                        <p:tav tm="0">
                                          <p:val>
                                            <p:strVal val="#ppt_x"/>
                                          </p:val>
                                        </p:tav>
                                        <p:tav tm="100000">
                                          <p:val>
                                            <p:strVal val="#ppt_x"/>
                                          </p:val>
                                        </p:tav>
                                      </p:tavLst>
                                    </p:anim>
                                    <p:anim calcmode="lin" valueType="num">
                                      <p:cBhvr>
                                        <p:cTn id="234" dur="600" decel="100000" fill="hold"/>
                                        <p:tgtEl>
                                          <p:spTgt spid="47"/>
                                        </p:tgtEl>
                                        <p:attrNameLst>
                                          <p:attrName>ppt_y</p:attrName>
                                        </p:attrNameLst>
                                      </p:cBhvr>
                                      <p:tavLst>
                                        <p:tav tm="0">
                                          <p:val>
                                            <p:strVal val="#ppt_y+0.0333"/>
                                          </p:val>
                                        </p:tav>
                                        <p:tav tm="100000">
                                          <p:val>
                                            <p:strVal val="#ppt_y"/>
                                          </p:val>
                                        </p:tav>
                                      </p:tavLst>
                                    </p:anim>
                                  </p:childTnLst>
                                </p:cTn>
                              </p:par>
                              <p:par>
                                <p:cTn id="235" presetID="42" presetClass="entr" presetSubtype="0" fill="hold" grpId="0" nodeType="withEffect">
                                  <p:stCondLst>
                                    <p:cond delay="330"/>
                                  </p:stCondLst>
                                  <p:childTnLst>
                                    <p:set>
                                      <p:cBhvr>
                                        <p:cTn id="236" dur="1" fill="hold">
                                          <p:stCondLst>
                                            <p:cond delay="0"/>
                                          </p:stCondLst>
                                        </p:cTn>
                                        <p:tgtEl>
                                          <p:spTgt spid="48"/>
                                        </p:tgtEl>
                                        <p:attrNameLst>
                                          <p:attrName>style.visibility</p:attrName>
                                        </p:attrNameLst>
                                      </p:cBhvr>
                                      <p:to>
                                        <p:strVal val="visible"/>
                                      </p:to>
                                    </p:set>
                                    <p:animEffect transition="in" filter="fade">
                                      <p:cBhvr>
                                        <p:cTn id="237" dur="600"/>
                                        <p:tgtEl>
                                          <p:spTgt spid="48"/>
                                        </p:tgtEl>
                                      </p:cBhvr>
                                    </p:animEffect>
                                    <p:anim calcmode="lin" valueType="num">
                                      <p:cBhvr>
                                        <p:cTn id="238" dur="600" decel="100000" fill="hold"/>
                                        <p:tgtEl>
                                          <p:spTgt spid="48"/>
                                        </p:tgtEl>
                                        <p:attrNameLst>
                                          <p:attrName>ppt_x</p:attrName>
                                        </p:attrNameLst>
                                      </p:cBhvr>
                                      <p:tavLst>
                                        <p:tav tm="0">
                                          <p:val>
                                            <p:strVal val="#ppt_x"/>
                                          </p:val>
                                        </p:tav>
                                        <p:tav tm="100000">
                                          <p:val>
                                            <p:strVal val="#ppt_x"/>
                                          </p:val>
                                        </p:tav>
                                      </p:tavLst>
                                    </p:anim>
                                    <p:anim calcmode="lin" valueType="num">
                                      <p:cBhvr>
                                        <p:cTn id="239" dur="600" decel="100000" fill="hold"/>
                                        <p:tgtEl>
                                          <p:spTgt spid="48"/>
                                        </p:tgtEl>
                                        <p:attrNameLst>
                                          <p:attrName>ppt_y</p:attrName>
                                        </p:attrNameLst>
                                      </p:cBhvr>
                                      <p:tavLst>
                                        <p:tav tm="0">
                                          <p:val>
                                            <p:strVal val="#ppt_y+0.0333"/>
                                          </p:val>
                                        </p:tav>
                                        <p:tav tm="100000">
                                          <p:val>
                                            <p:strVal val="#ppt_y"/>
                                          </p:val>
                                        </p:tav>
                                      </p:tavLst>
                                    </p:anim>
                                  </p:childTnLst>
                                </p:cTn>
                              </p:par>
                              <p:par>
                                <p:cTn id="240" presetID="42" presetClass="entr" presetSubtype="0" fill="hold" grpId="0" nodeType="withEffect">
                                  <p:stCondLst>
                                    <p:cond delay="330"/>
                                  </p:stCondLst>
                                  <p:childTnLst>
                                    <p:set>
                                      <p:cBhvr>
                                        <p:cTn id="241" dur="1" fill="hold">
                                          <p:stCondLst>
                                            <p:cond delay="0"/>
                                          </p:stCondLst>
                                        </p:cTn>
                                        <p:tgtEl>
                                          <p:spTgt spid="49"/>
                                        </p:tgtEl>
                                        <p:attrNameLst>
                                          <p:attrName>style.visibility</p:attrName>
                                        </p:attrNameLst>
                                      </p:cBhvr>
                                      <p:to>
                                        <p:strVal val="visible"/>
                                      </p:to>
                                    </p:set>
                                    <p:animEffect transition="in" filter="fade">
                                      <p:cBhvr>
                                        <p:cTn id="242" dur="600"/>
                                        <p:tgtEl>
                                          <p:spTgt spid="49"/>
                                        </p:tgtEl>
                                      </p:cBhvr>
                                    </p:animEffect>
                                    <p:anim calcmode="lin" valueType="num">
                                      <p:cBhvr>
                                        <p:cTn id="243" dur="600" decel="100000" fill="hold"/>
                                        <p:tgtEl>
                                          <p:spTgt spid="49"/>
                                        </p:tgtEl>
                                        <p:attrNameLst>
                                          <p:attrName>ppt_x</p:attrName>
                                        </p:attrNameLst>
                                      </p:cBhvr>
                                      <p:tavLst>
                                        <p:tav tm="0">
                                          <p:val>
                                            <p:strVal val="#ppt_x"/>
                                          </p:val>
                                        </p:tav>
                                        <p:tav tm="100000">
                                          <p:val>
                                            <p:strVal val="#ppt_x"/>
                                          </p:val>
                                        </p:tav>
                                      </p:tavLst>
                                    </p:anim>
                                    <p:anim calcmode="lin" valueType="num">
                                      <p:cBhvr>
                                        <p:cTn id="244" dur="600" decel="100000" fill="hold"/>
                                        <p:tgtEl>
                                          <p:spTgt spid="49"/>
                                        </p:tgtEl>
                                        <p:attrNameLst>
                                          <p:attrName>ppt_y</p:attrName>
                                        </p:attrNameLst>
                                      </p:cBhvr>
                                      <p:tavLst>
                                        <p:tav tm="0">
                                          <p:val>
                                            <p:strVal val="#ppt_y+0.0333"/>
                                          </p:val>
                                        </p:tav>
                                        <p:tav tm="100000">
                                          <p:val>
                                            <p:strVal val="#ppt_y"/>
                                          </p:val>
                                        </p:tav>
                                      </p:tavLst>
                                    </p:anim>
                                  </p:childTnLst>
                                </p:cTn>
                              </p:par>
                              <p:par>
                                <p:cTn id="245" presetID="42" presetClass="entr" presetSubtype="0" fill="hold" grpId="0" nodeType="withEffect">
                                  <p:stCondLst>
                                    <p:cond delay="330"/>
                                  </p:stCondLst>
                                  <p:childTnLst>
                                    <p:set>
                                      <p:cBhvr>
                                        <p:cTn id="246" dur="1" fill="hold">
                                          <p:stCondLst>
                                            <p:cond delay="0"/>
                                          </p:stCondLst>
                                        </p:cTn>
                                        <p:tgtEl>
                                          <p:spTgt spid="50"/>
                                        </p:tgtEl>
                                        <p:attrNameLst>
                                          <p:attrName>style.visibility</p:attrName>
                                        </p:attrNameLst>
                                      </p:cBhvr>
                                      <p:to>
                                        <p:strVal val="visible"/>
                                      </p:to>
                                    </p:set>
                                    <p:animEffect transition="in" filter="fade">
                                      <p:cBhvr>
                                        <p:cTn id="247" dur="600"/>
                                        <p:tgtEl>
                                          <p:spTgt spid="50"/>
                                        </p:tgtEl>
                                      </p:cBhvr>
                                    </p:animEffect>
                                    <p:anim calcmode="lin" valueType="num">
                                      <p:cBhvr>
                                        <p:cTn id="248" dur="600" decel="100000" fill="hold"/>
                                        <p:tgtEl>
                                          <p:spTgt spid="50"/>
                                        </p:tgtEl>
                                        <p:attrNameLst>
                                          <p:attrName>ppt_x</p:attrName>
                                        </p:attrNameLst>
                                      </p:cBhvr>
                                      <p:tavLst>
                                        <p:tav tm="0">
                                          <p:val>
                                            <p:strVal val="#ppt_x"/>
                                          </p:val>
                                        </p:tav>
                                        <p:tav tm="100000">
                                          <p:val>
                                            <p:strVal val="#ppt_x"/>
                                          </p:val>
                                        </p:tav>
                                      </p:tavLst>
                                    </p:anim>
                                    <p:anim calcmode="lin" valueType="num">
                                      <p:cBhvr>
                                        <p:cTn id="249"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text s7.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Reading an instance name</a:t>
            </a:r>
          </a:p>
        </p:txBody>
      </p:sp>
      <p:sp>
        <p:nvSpPr>
          <p:cNvPr id="3" name="h2 s7.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Every instance type name is a spec sheet</a:t>
            </a:r>
          </a:p>
        </p:txBody>
      </p:sp>
      <p:sp>
        <p:nvSpPr>
          <p:cNvPr id="4" name="text s7.2.0.0"/>
          <p:cNvSpPr txBox="1"/>
          <p:nvPr/>
        </p:nvSpPr>
        <p:spPr>
          <a:xfrm>
            <a:off x="11066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1"/>
                </a:solidFill>
                <a:latin typeface="Noto Sans Mono"/>
                <a:ea typeface="Noto Sans Mono CJK KR"/>
              </a:rPr>
              <a:t>m</a:t>
            </a:r>
          </a:p>
        </p:txBody>
      </p:sp>
      <p:sp>
        <p:nvSpPr>
          <p:cNvPr id="5" name="shape s7.2.0.1"/>
          <p:cNvSpPr/>
          <p:nvPr/>
        </p:nvSpPr>
        <p:spPr>
          <a:xfrm>
            <a:off x="6096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1"/>
            </a:solidFill>
            <a:prstDash val="solid"/>
          </a:ln>
        </p:spPr>
        <p:txBody>
          <a:bodyPr wrap="square" lIns="0" tIns="0" rIns="0" bIns="0" anchor="t">
            <a:normAutofit/>
          </a:bodyPr>
          <a:lstStyle/>
          <a:p/>
        </p:txBody>
      </p:sp>
      <p:sp>
        <p:nvSpPr>
          <p:cNvPr id="6" name="text s7.2.0.2"/>
          <p:cNvSpPr txBox="1"/>
          <p:nvPr/>
        </p:nvSpPr>
        <p:spPr>
          <a:xfrm>
            <a:off x="976610" y="3122265"/>
            <a:ext cx="694581" cy="272355"/>
          </a:xfrm>
          <a:prstGeom prst="rect">
            <a:avLst/>
          </a:prstGeom>
          <a:noFill/>
          <a:ln>
            <a:noFill/>
          </a:ln>
        </p:spPr>
        <p:txBody>
          <a:bodyPr wrap="none" lIns="0" tIns="0" rIns="0" bIns="0" anchor="t">
            <a:normAutofit/>
          </a:bodyPr>
          <a:lstStyle/>
          <a:p>
            <a:pPr algn="ctr">
              <a:lnSpc>
                <a:spcPts val="2145"/>
              </a:lnSpc>
            </a:pPr>
            <a:r>
              <a:rPr sz="1650" b="1">
                <a:solidFill>
                  <a:schemeClr val="accent1"/>
                </a:solidFill>
                <a:latin typeface="+mj-lt"/>
                <a:ea typeface="+mj-ea"/>
              </a:rPr>
              <a:t>Family</a:t>
            </a:r>
          </a:p>
        </p:txBody>
      </p:sp>
      <p:sp>
        <p:nvSpPr>
          <p:cNvPr id="7" name="text s7.2.0.3"/>
          <p:cNvSpPr txBox="1"/>
          <p:nvPr/>
        </p:nvSpPr>
        <p:spPr>
          <a:xfrm>
            <a:off x="650528" y="3451771"/>
            <a:ext cx="134674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General purpose</a:t>
            </a:r>
          </a:p>
        </p:txBody>
      </p:sp>
      <p:sp>
        <p:nvSpPr>
          <p:cNvPr id="8" name="text s7.2.1.0"/>
          <p:cNvSpPr txBox="1"/>
          <p:nvPr/>
        </p:nvSpPr>
        <p:spPr>
          <a:xfrm>
            <a:off x="287833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2"/>
                </a:solidFill>
                <a:latin typeface="Noto Sans Mono"/>
                <a:ea typeface="Noto Sans Mono CJK KR"/>
              </a:rPr>
              <a:t>7</a:t>
            </a:r>
          </a:p>
        </p:txBody>
      </p:sp>
      <p:sp>
        <p:nvSpPr>
          <p:cNvPr id="9" name="shape s7.2.1.1"/>
          <p:cNvSpPr/>
          <p:nvPr/>
        </p:nvSpPr>
        <p:spPr>
          <a:xfrm>
            <a:off x="238125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2"/>
            </a:solidFill>
            <a:prstDash val="solid"/>
          </a:ln>
        </p:spPr>
        <p:txBody>
          <a:bodyPr wrap="square" lIns="0" tIns="0" rIns="0" bIns="0" anchor="t">
            <a:normAutofit/>
          </a:bodyPr>
          <a:lstStyle/>
          <a:p/>
        </p:txBody>
      </p:sp>
      <p:sp>
        <p:nvSpPr>
          <p:cNvPr id="10" name="text s7.2.1.2"/>
          <p:cNvSpPr txBox="1"/>
          <p:nvPr/>
        </p:nvSpPr>
        <p:spPr>
          <a:xfrm>
            <a:off x="2507159" y="3122265"/>
            <a:ext cx="1176933" cy="272355"/>
          </a:xfrm>
          <a:prstGeom prst="rect">
            <a:avLst/>
          </a:prstGeom>
          <a:noFill/>
          <a:ln>
            <a:noFill/>
          </a:ln>
        </p:spPr>
        <p:txBody>
          <a:bodyPr wrap="none" lIns="0" tIns="0" rIns="0" bIns="0" anchor="t">
            <a:normAutofit/>
          </a:bodyPr>
          <a:lstStyle/>
          <a:p>
            <a:pPr algn="ctr">
              <a:lnSpc>
                <a:spcPts val="2145"/>
              </a:lnSpc>
            </a:pPr>
            <a:r>
              <a:rPr sz="1650" b="1">
                <a:solidFill>
                  <a:schemeClr val="accent2"/>
                </a:solidFill>
                <a:latin typeface="+mj-lt"/>
                <a:ea typeface="+mj-ea"/>
              </a:rPr>
              <a:t>Generation</a:t>
            </a:r>
          </a:p>
        </p:txBody>
      </p:sp>
      <p:sp>
        <p:nvSpPr>
          <p:cNvPr id="11" name="text s7.2.1.3"/>
          <p:cNvSpPr txBox="1"/>
          <p:nvPr/>
        </p:nvSpPr>
        <p:spPr>
          <a:xfrm>
            <a:off x="2476054" y="3451771"/>
            <a:ext cx="1238994"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Higher = newer</a:t>
            </a:r>
          </a:p>
        </p:txBody>
      </p:sp>
      <p:sp>
        <p:nvSpPr>
          <p:cNvPr id="12" name="text s7.2.2.0"/>
          <p:cNvSpPr txBox="1"/>
          <p:nvPr/>
        </p:nvSpPr>
        <p:spPr>
          <a:xfrm>
            <a:off x="46499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4"/>
                </a:solidFill>
                <a:latin typeface="Noto Sans Mono"/>
                <a:ea typeface="Noto Sans Mono CJK KR"/>
              </a:rPr>
              <a:t>g</a:t>
            </a:r>
          </a:p>
        </p:txBody>
      </p:sp>
      <p:sp>
        <p:nvSpPr>
          <p:cNvPr id="13" name="shape s7.2.2.1"/>
          <p:cNvSpPr/>
          <p:nvPr/>
        </p:nvSpPr>
        <p:spPr>
          <a:xfrm>
            <a:off x="41529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4"/>
            </a:solidFill>
            <a:prstDash val="solid"/>
          </a:ln>
        </p:spPr>
        <p:txBody>
          <a:bodyPr wrap="square" lIns="0" tIns="0" rIns="0" bIns="0" anchor="t">
            <a:normAutofit/>
          </a:bodyPr>
          <a:lstStyle/>
          <a:p/>
        </p:txBody>
      </p:sp>
      <p:sp>
        <p:nvSpPr>
          <p:cNvPr id="14" name="text s7.2.2.2"/>
          <p:cNvSpPr txBox="1"/>
          <p:nvPr/>
        </p:nvSpPr>
        <p:spPr>
          <a:xfrm>
            <a:off x="4454277" y="3122265"/>
            <a:ext cx="825847" cy="272355"/>
          </a:xfrm>
          <a:prstGeom prst="rect">
            <a:avLst/>
          </a:prstGeom>
          <a:noFill/>
          <a:ln>
            <a:noFill/>
          </a:ln>
        </p:spPr>
        <p:txBody>
          <a:bodyPr wrap="none" lIns="0" tIns="0" rIns="0" bIns="0" anchor="t">
            <a:normAutofit/>
          </a:bodyPr>
          <a:lstStyle/>
          <a:p>
            <a:pPr algn="ctr">
              <a:lnSpc>
                <a:spcPts val="2145"/>
              </a:lnSpc>
            </a:pPr>
            <a:r>
              <a:rPr sz="1650" b="1">
                <a:solidFill>
                  <a:schemeClr val="accent4"/>
                </a:solidFill>
                <a:latin typeface="+mj-lt"/>
                <a:ea typeface="+mj-ea"/>
              </a:rPr>
              <a:t>Options</a:t>
            </a:r>
          </a:p>
        </p:txBody>
      </p:sp>
      <p:sp>
        <p:nvSpPr>
          <p:cNvPr id="15" name="text s7.2.2.3"/>
          <p:cNvSpPr txBox="1"/>
          <p:nvPr/>
        </p:nvSpPr>
        <p:spPr>
          <a:xfrm>
            <a:off x="4277469" y="3451771"/>
            <a:ext cx="1179463"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Graviton (Arm)</a:t>
            </a:r>
          </a:p>
        </p:txBody>
      </p:sp>
      <p:sp>
        <p:nvSpPr>
          <p:cNvPr id="16" name="text s7.2.3.0"/>
          <p:cNvSpPr txBox="1"/>
          <p:nvPr/>
        </p:nvSpPr>
        <p:spPr>
          <a:xfrm>
            <a:off x="6012061" y="2224832"/>
            <a:ext cx="434429" cy="1085850"/>
          </a:xfrm>
          <a:prstGeom prst="rect">
            <a:avLst/>
          </a:prstGeom>
          <a:noFill/>
          <a:ln>
            <a:noFill/>
          </a:ln>
        </p:spPr>
        <p:txBody>
          <a:bodyPr wrap="none" lIns="0" tIns="0" rIns="0" bIns="0" anchor="t">
            <a:normAutofit/>
          </a:bodyPr>
          <a:lstStyle/>
          <a:p>
            <a:pPr algn="ctr">
              <a:lnSpc>
                <a:spcPts val="8550"/>
              </a:lnSpc>
            </a:pPr>
            <a:r>
              <a:rPr sz="5700" b="0">
                <a:solidFill>
                  <a:schemeClr val="tx2"/>
                </a:solidFill>
                <a:latin typeface="Noto Sans Mono"/>
                <a:ea typeface="Noto Sans Mono CJK KR"/>
              </a:rPr>
              <a:t>.</a:t>
            </a:r>
          </a:p>
        </p:txBody>
      </p:sp>
      <p:sp>
        <p:nvSpPr>
          <p:cNvPr id="17" name="shape s7.2.3.1"/>
          <p:cNvSpPr/>
          <p:nvPr/>
        </p:nvSpPr>
        <p:spPr>
          <a:xfrm>
            <a:off x="5924550" y="3367832"/>
            <a:ext cx="609600" cy="209550"/>
          </a:xfrm>
          <a:prstGeom prst="rect">
            <a:avLst/>
          </a:prstGeom>
          <a:noFill/>
          <a:ln>
            <a:noFill/>
          </a:ln>
        </p:spPr>
        <p:txBody>
          <a:bodyPr wrap="square" lIns="0" tIns="0" rIns="0" bIns="0" anchor="t">
            <a:normAutofit/>
          </a:bodyPr>
          <a:lstStyle/>
          <a:p/>
        </p:txBody>
      </p:sp>
      <p:sp>
        <p:nvSpPr>
          <p:cNvPr id="18" name="text s7.2.3.2"/>
          <p:cNvSpPr txBox="1"/>
          <p:nvPr/>
        </p:nvSpPr>
        <p:spPr>
          <a:xfrm>
            <a:off x="6229350" y="3634532"/>
            <a:ext cx="0" cy="0"/>
          </a:xfrm>
          <a:prstGeom prst="rect">
            <a:avLst/>
          </a:prstGeom>
          <a:noFill/>
          <a:ln>
            <a:noFill/>
          </a:ln>
        </p:spPr>
        <p:txBody>
          <a:bodyPr wrap="square" lIns="0" tIns="0" rIns="0" bIns="0" anchor="t">
            <a:normAutofit/>
          </a:bodyPr>
          <a:lstStyle/>
          <a:p>
            <a:pPr algn="ctr">
              <a:lnSpc>
                <a:spcPts val="2145"/>
              </a:lnSpc>
            </a:pPr>
          </a:p>
        </p:txBody>
      </p:sp>
      <p:sp>
        <p:nvSpPr>
          <p:cNvPr id="19" name="text s7.2.3.3"/>
          <p:cNvSpPr txBox="1"/>
          <p:nvPr/>
        </p:nvSpPr>
        <p:spPr>
          <a:xfrm>
            <a:off x="6229350" y="3691682"/>
            <a:ext cx="0" cy="0"/>
          </a:xfrm>
          <a:prstGeom prst="rect">
            <a:avLst/>
          </a:prstGeom>
          <a:noFill/>
          <a:ln>
            <a:noFill/>
          </a:ln>
        </p:spPr>
        <p:txBody>
          <a:bodyPr wrap="square" lIns="0" tIns="0" rIns="0" bIns="0" anchor="t">
            <a:normAutofit/>
          </a:bodyPr>
          <a:lstStyle/>
          <a:p>
            <a:pPr algn="ctr">
              <a:lnSpc>
                <a:spcPts val="1890"/>
              </a:lnSpc>
            </a:pPr>
          </a:p>
        </p:txBody>
      </p:sp>
      <p:sp>
        <p:nvSpPr>
          <p:cNvPr id="20" name="text s7.2.4.0"/>
          <p:cNvSpPr txBox="1"/>
          <p:nvPr/>
        </p:nvSpPr>
        <p:spPr>
          <a:xfrm>
            <a:off x="7709446" y="1712565"/>
            <a:ext cx="3040410" cy="1085850"/>
          </a:xfrm>
          <a:prstGeom prst="rect">
            <a:avLst/>
          </a:prstGeom>
          <a:noFill/>
          <a:ln>
            <a:noFill/>
          </a:ln>
        </p:spPr>
        <p:txBody>
          <a:bodyPr wrap="none" lIns="0" tIns="0" rIns="0" bIns="0" anchor="t">
            <a:normAutofit/>
          </a:bodyPr>
          <a:lstStyle/>
          <a:p>
            <a:pPr algn="ctr">
              <a:lnSpc>
                <a:spcPts val="8550"/>
              </a:lnSpc>
            </a:pPr>
            <a:r>
              <a:rPr sz="5700" b="0">
                <a:solidFill>
                  <a:schemeClr val="accent3"/>
                </a:solidFill>
                <a:latin typeface="Noto Sans Mono"/>
                <a:ea typeface="Noto Sans Mono CJK KR"/>
              </a:rPr>
              <a:t>2xlarge</a:t>
            </a:r>
          </a:p>
        </p:txBody>
      </p:sp>
      <p:sp>
        <p:nvSpPr>
          <p:cNvPr id="21" name="shape s7.2.4.1"/>
          <p:cNvSpPr/>
          <p:nvPr/>
        </p:nvSpPr>
        <p:spPr>
          <a:xfrm>
            <a:off x="6877050" y="2855565"/>
            <a:ext cx="47053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3"/>
            </a:solidFill>
            <a:prstDash val="solid"/>
          </a:ln>
        </p:spPr>
        <p:txBody>
          <a:bodyPr wrap="square" lIns="0" tIns="0" rIns="0" bIns="0" anchor="t">
            <a:normAutofit/>
          </a:bodyPr>
          <a:lstStyle/>
          <a:p/>
        </p:txBody>
      </p:sp>
      <p:sp>
        <p:nvSpPr>
          <p:cNvPr id="22" name="text s7.2.4.2"/>
          <p:cNvSpPr txBox="1"/>
          <p:nvPr/>
        </p:nvSpPr>
        <p:spPr>
          <a:xfrm>
            <a:off x="9026872" y="3122265"/>
            <a:ext cx="405557" cy="272355"/>
          </a:xfrm>
          <a:prstGeom prst="rect">
            <a:avLst/>
          </a:prstGeom>
          <a:noFill/>
          <a:ln>
            <a:noFill/>
          </a:ln>
        </p:spPr>
        <p:txBody>
          <a:bodyPr wrap="none" lIns="0" tIns="0" rIns="0" bIns="0" anchor="t">
            <a:normAutofit/>
          </a:bodyPr>
          <a:lstStyle/>
          <a:p>
            <a:pPr algn="ctr">
              <a:lnSpc>
                <a:spcPts val="2145"/>
              </a:lnSpc>
            </a:pPr>
            <a:r>
              <a:rPr sz="1650" b="1">
                <a:solidFill>
                  <a:schemeClr val="accent3"/>
                </a:solidFill>
                <a:latin typeface="+mj-lt"/>
                <a:ea typeface="+mj-ea"/>
              </a:rPr>
              <a:t>Size</a:t>
            </a:r>
          </a:p>
        </p:txBody>
      </p:sp>
      <p:sp>
        <p:nvSpPr>
          <p:cNvPr id="23" name="text s7.2.4.3"/>
          <p:cNvSpPr txBox="1"/>
          <p:nvPr/>
        </p:nvSpPr>
        <p:spPr>
          <a:xfrm>
            <a:off x="8255943" y="3451771"/>
            <a:ext cx="194741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8 vCPU · 32 GiB memory</a:t>
            </a:r>
          </a:p>
        </p:txBody>
      </p:sp>
      <p:sp>
        <p:nvSpPr>
          <p:cNvPr id="24" name="shape s7.4"/>
          <p:cNvSpPr/>
          <p:nvPr/>
        </p:nvSpPr>
        <p:spPr>
          <a:xfrm>
            <a:off x="609600" y="4376738"/>
            <a:ext cx="10972800" cy="1871663"/>
          </a:xfrm>
          <a:prstGeom prst="roundRect">
            <a:avLst>
              <a:gd name="adj" fmla="val 61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5" name="text s7.4.0.0"/>
          <p:cNvSpPr txBox="1"/>
          <p:nvPr/>
        </p:nvSpPr>
        <p:spPr>
          <a:xfrm>
            <a:off x="871538" y="4638675"/>
            <a:ext cx="10448925" cy="200025"/>
          </a:xfrm>
          <a:prstGeom prst="rect">
            <a:avLst/>
          </a:prstGeom>
          <a:noFill/>
          <a:ln>
            <a:noFill/>
          </a:ln>
        </p:spPr>
        <p:txBody>
          <a:bodyPr wrap="square" lIns="0" tIns="0" rIns="0" bIns="0" anchor="t">
            <a:normAutofit/>
          </a:bodyPr>
          <a:lstStyle/>
          <a:p>
            <a:pPr algn="l">
              <a:lnSpc>
                <a:spcPts val="1575"/>
              </a:lnSpc>
            </a:pPr>
            <a:r>
              <a:rPr sz="1050" b="1" spc="168" cap="all">
                <a:solidFill>
                  <a:schemeClr val="tx2"/>
                </a:solidFill>
                <a:latin typeface="+mn-lt"/>
                <a:ea typeface="+mn-ea"/>
              </a:rPr>
              <a:t>Sizes double as you go up — same ratio, more capacity</a:t>
            </a:r>
          </a:p>
        </p:txBody>
      </p:sp>
      <p:sp>
        <p:nvSpPr>
          <p:cNvPr id="26" name="shape s7.4.0.1.0.0"/>
          <p:cNvSpPr/>
          <p:nvPr/>
        </p:nvSpPr>
        <p:spPr>
          <a:xfrm>
            <a:off x="1009650" y="5562600"/>
            <a:ext cx="152400" cy="152400"/>
          </a:xfrm>
          <a:prstGeom prst="roundRect">
            <a:avLst>
              <a:gd name="adj" fmla="val 3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7" name="text s7.4.0.1.0.1"/>
          <p:cNvSpPr txBox="1"/>
          <p:nvPr/>
        </p:nvSpPr>
        <p:spPr>
          <a:xfrm>
            <a:off x="871538" y="5772150"/>
            <a:ext cx="42877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large</a:t>
            </a:r>
          </a:p>
        </p:txBody>
      </p:sp>
      <p:sp>
        <p:nvSpPr>
          <p:cNvPr id="28" name="shape s7.4.0.1.1.0"/>
          <p:cNvSpPr/>
          <p:nvPr/>
        </p:nvSpPr>
        <p:spPr>
          <a:xfrm>
            <a:off x="2841278" y="5505450"/>
            <a:ext cx="209550" cy="209550"/>
          </a:xfrm>
          <a:prstGeom prst="roundRect">
            <a:avLst>
              <a:gd name="adj" fmla="val 27273"/>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9" name="text s7.4.0.1.1.1"/>
          <p:cNvSpPr txBox="1"/>
          <p:nvPr/>
        </p:nvSpPr>
        <p:spPr>
          <a:xfrm>
            <a:off x="2688878" y="5772150"/>
            <a:ext cx="51449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xlarge</a:t>
            </a:r>
          </a:p>
        </p:txBody>
      </p:sp>
      <p:sp>
        <p:nvSpPr>
          <p:cNvPr id="30" name="shape s7.4.0.1.2.0"/>
          <p:cNvSpPr/>
          <p:nvPr/>
        </p:nvSpPr>
        <p:spPr>
          <a:xfrm>
            <a:off x="4739580" y="5410200"/>
            <a:ext cx="304800" cy="304800"/>
          </a:xfrm>
          <a:prstGeom prst="roundRect">
            <a:avLst>
              <a:gd name="adj" fmla="val 18750"/>
            </a:avLst>
          </a:prstGeom>
          <a:gradFill>
            <a:gsLst>
              <a:gs pos="0">
                <a:schemeClr val="accent1">
                  <a:alpha val="55000"/>
                </a:schemeClr>
              </a:gs>
              <a:gs pos="100000">
                <a:schemeClr val="accent1"/>
              </a:gs>
            </a:gsLst>
            <a:lin ang="2700000" scaled="1"/>
          </a:gradFill>
          <a:ln w="19050">
            <a:solidFill>
              <a:schemeClr val="accent3"/>
            </a:solidFill>
            <a:prstDash val="solid"/>
          </a:ln>
        </p:spPr>
        <p:txBody>
          <a:bodyPr wrap="square" lIns="0" tIns="0" rIns="0" bIns="0" anchor="t">
            <a:normAutofit/>
          </a:bodyPr>
          <a:lstStyle/>
          <a:p/>
        </p:txBody>
      </p:sp>
      <p:sp>
        <p:nvSpPr>
          <p:cNvPr id="31" name="text s7.4.0.1.2.1"/>
          <p:cNvSpPr txBox="1"/>
          <p:nvPr/>
        </p:nvSpPr>
        <p:spPr>
          <a:xfrm>
            <a:off x="4591943" y="5772150"/>
            <a:ext cx="600224" cy="214313"/>
          </a:xfrm>
          <a:prstGeom prst="rect">
            <a:avLst/>
          </a:prstGeom>
          <a:noFill/>
          <a:ln>
            <a:noFill/>
          </a:ln>
        </p:spPr>
        <p:txBody>
          <a:bodyPr wrap="none" lIns="0" tIns="0" rIns="0" bIns="0" anchor="t">
            <a:normAutofit/>
          </a:bodyPr>
          <a:lstStyle/>
          <a:p>
            <a:pPr algn="ctr">
              <a:lnSpc>
                <a:spcPts val="1688"/>
              </a:lnSpc>
            </a:pPr>
            <a:r>
              <a:rPr sz="1125" b="1" i="0" u="none">
                <a:solidFill>
                  <a:schemeClr val="tx1"/>
                </a:solidFill>
                <a:latin typeface="Noto Sans Mono"/>
                <a:ea typeface="Noto Sans Mono CJK KR"/>
              </a:rPr>
              <a:t>2xlarge</a:t>
            </a:r>
          </a:p>
        </p:txBody>
      </p:sp>
      <p:sp>
        <p:nvSpPr>
          <p:cNvPr id="32" name="shape s7.4.0.1.3.0"/>
          <p:cNvSpPr/>
          <p:nvPr/>
        </p:nvSpPr>
        <p:spPr>
          <a:xfrm>
            <a:off x="6671370" y="5295900"/>
            <a:ext cx="419100" cy="419100"/>
          </a:xfrm>
          <a:prstGeom prst="roundRect">
            <a:avLst>
              <a:gd name="adj" fmla="val 13636"/>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3" name="text s7.4.0.1.3.1"/>
          <p:cNvSpPr txBox="1"/>
          <p:nvPr/>
        </p:nvSpPr>
        <p:spPr>
          <a:xfrm>
            <a:off x="658088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4xlarge</a:t>
            </a:r>
          </a:p>
        </p:txBody>
      </p:sp>
      <p:sp>
        <p:nvSpPr>
          <p:cNvPr id="34" name="shape s7.4.0.1.4.0"/>
          <p:cNvSpPr/>
          <p:nvPr/>
        </p:nvSpPr>
        <p:spPr>
          <a:xfrm>
            <a:off x="8574435" y="5124450"/>
            <a:ext cx="590550" cy="590550"/>
          </a:xfrm>
          <a:prstGeom prst="roundRect">
            <a:avLst>
              <a:gd name="adj" fmla="val 9677"/>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5" name="text s7.4.0.1.4.1"/>
          <p:cNvSpPr txBox="1"/>
          <p:nvPr/>
        </p:nvSpPr>
        <p:spPr>
          <a:xfrm>
            <a:off x="856967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8xlarge</a:t>
            </a:r>
          </a:p>
        </p:txBody>
      </p:sp>
      <p:sp>
        <p:nvSpPr>
          <p:cNvPr id="36" name="shape s7.4.0.1.5.0"/>
          <p:cNvSpPr/>
          <p:nvPr/>
        </p:nvSpPr>
        <p:spPr>
          <a:xfrm>
            <a:off x="10558463" y="4953000"/>
            <a:ext cx="762000" cy="762000"/>
          </a:xfrm>
          <a:prstGeom prst="roundRect">
            <a:avLst>
              <a:gd name="adj" fmla="val 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7" name="text s7.4.0.1.5.1"/>
          <p:cNvSpPr txBox="1"/>
          <p:nvPr/>
        </p:nvSpPr>
        <p:spPr>
          <a:xfrm>
            <a:off x="10596414" y="5772150"/>
            <a:ext cx="68594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16xlarge</a:t>
            </a:r>
          </a:p>
        </p:txBody>
      </p:sp>
      <p:sp>
        <p:nvSpPr>
          <p:cNvPr id="3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8</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51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51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51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51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51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51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51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51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51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51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51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51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51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51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text s8.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04 · Paying for compute</a:t>
            </a:r>
          </a:p>
        </p:txBody>
      </p:sp>
      <p:sp>
        <p:nvSpPr>
          <p:cNvPr id="3" name="h2 s8.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Trade commitment for savings — then mix and match</a:t>
            </a:r>
          </a:p>
        </p:txBody>
      </p:sp>
      <p:sp>
        <p:nvSpPr>
          <p:cNvPr id="4" name="shape s8.2.0"/>
          <p:cNvSpPr/>
          <p:nvPr/>
        </p:nvSpPr>
        <p:spPr>
          <a:xfrm>
            <a:off x="609600" y="1712565"/>
            <a:ext cx="495300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shape s8.2.0.0.0"/>
          <p:cNvSpPr/>
          <p:nvPr/>
        </p:nvSpPr>
        <p:spPr>
          <a:xfrm>
            <a:off x="985838" y="2088803"/>
            <a:ext cx="19050" cy="3783360"/>
          </a:xfrm>
          <a:prstGeom prst="rect">
            <a:avLst/>
          </a:prstGeom>
          <a:solidFill>
            <a:schemeClr val="tx1"/>
          </a:solidFill>
          <a:ln>
            <a:noFill/>
          </a:ln>
        </p:spPr>
        <p:txBody>
          <a:bodyPr wrap="square" lIns="0" tIns="0" rIns="0" bIns="0" anchor="t">
            <a:normAutofit/>
          </a:bodyPr>
          <a:lstStyle/>
          <a:p/>
        </p:txBody>
      </p:sp>
      <p:sp>
        <p:nvSpPr>
          <p:cNvPr id="6" name="shape s8.2.0.0.1"/>
          <p:cNvSpPr/>
          <p:nvPr/>
        </p:nvSpPr>
        <p:spPr>
          <a:xfrm>
            <a:off x="985838" y="5872163"/>
            <a:ext cx="4200525" cy="19050"/>
          </a:xfrm>
          <a:prstGeom prst="rect">
            <a:avLst/>
          </a:prstGeom>
          <a:solidFill>
            <a:schemeClr val="tx1"/>
          </a:solidFill>
          <a:ln>
            <a:noFill/>
          </a:ln>
        </p:spPr>
        <p:txBody>
          <a:bodyPr wrap="square" lIns="0" tIns="0" rIns="0" bIns="0" anchor="t">
            <a:normAutofit/>
          </a:bodyPr>
          <a:lstStyle/>
          <a:p/>
        </p:txBody>
      </p:sp>
      <p:sp>
        <p:nvSpPr>
          <p:cNvPr id="7" name="shape s8.2.0.0.2"/>
          <p:cNvSpPr/>
          <p:nvPr/>
        </p:nvSpPr>
        <p:spPr>
          <a:xfrm>
            <a:off x="985838" y="2467124"/>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8" name="shape s8.2.0.0.3"/>
          <p:cNvSpPr/>
          <p:nvPr/>
        </p:nvSpPr>
        <p:spPr>
          <a:xfrm>
            <a:off x="985838" y="3791248"/>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9" name="shape s8.2.0.0.4"/>
          <p:cNvSpPr/>
          <p:nvPr/>
        </p:nvSpPr>
        <p:spPr>
          <a:xfrm>
            <a:off x="2665958" y="2921050"/>
            <a:ext cx="2352229" cy="2118568"/>
          </a:xfrm>
          <a:prstGeom prst="rect">
            <a:avLst/>
          </a:prstGeom>
          <a:solidFill>
            <a:schemeClr val="accent2">
              <a:lumMod val="8000"/>
              <a:lumOff val="92000"/>
            </a:schemeClr>
          </a:solidFill>
          <a:ln>
            <a:noFill/>
          </a:ln>
        </p:spPr>
        <p:txBody>
          <a:bodyPr wrap="square" lIns="0" tIns="0" rIns="0" bIns="0" anchor="t">
            <a:normAutofit/>
          </a:bodyPr>
          <a:lstStyle/>
          <a:p/>
        </p:txBody>
      </p:sp>
      <p:sp>
        <p:nvSpPr>
          <p:cNvPr id="10" name="shape s8.2.0.0.5"/>
          <p:cNvSpPr/>
          <p:nvPr/>
        </p:nvSpPr>
        <p:spPr>
          <a:xfrm>
            <a:off x="1153716" y="5191125"/>
            <a:ext cx="533400" cy="533400"/>
          </a:xfrm>
          <a:prstGeom prst="ellipse">
            <a:avLst/>
          </a:prstGeom>
          <a:solidFill>
            <a:schemeClr val="tx1"/>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OD</a:t>
            </a:r>
          </a:p>
        </p:txBody>
      </p:sp>
      <p:sp>
        <p:nvSpPr>
          <p:cNvPr id="11" name="shape s8.2.0.0.6"/>
          <p:cNvSpPr/>
          <p:nvPr/>
        </p:nvSpPr>
        <p:spPr>
          <a:xfrm>
            <a:off x="3002012" y="2694087"/>
            <a:ext cx="533400" cy="533400"/>
          </a:xfrm>
          <a:prstGeom prst="ellipse">
            <a:avLst/>
          </a:prstGeom>
          <a:solidFill>
            <a:schemeClr val="accent2"/>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a:t>
            </a:r>
          </a:p>
        </p:txBody>
      </p:sp>
      <p:sp>
        <p:nvSpPr>
          <p:cNvPr id="12" name="shape s8.2.0.0.7"/>
          <p:cNvSpPr/>
          <p:nvPr/>
        </p:nvSpPr>
        <p:spPr>
          <a:xfrm>
            <a:off x="4094113" y="2694087"/>
            <a:ext cx="533400" cy="533400"/>
          </a:xfrm>
          <a:prstGeom prst="ellipse">
            <a:avLst/>
          </a:prstGeom>
          <a:solidFill>
            <a:schemeClr val="accent4"/>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RI</a:t>
            </a:r>
          </a:p>
        </p:txBody>
      </p:sp>
      <p:sp>
        <p:nvSpPr>
          <p:cNvPr id="13" name="shape s8.2.0.0.8"/>
          <p:cNvSpPr/>
          <p:nvPr/>
        </p:nvSpPr>
        <p:spPr>
          <a:xfrm>
            <a:off x="1153716" y="2240012"/>
            <a:ext cx="533400" cy="533400"/>
          </a:xfrm>
          <a:prstGeom prst="ellipse">
            <a:avLst/>
          </a:prstGeom>
          <a:solidFill>
            <a:schemeClr val="accent3"/>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Spot</a:t>
            </a:r>
          </a:p>
        </p:txBody>
      </p:sp>
      <p:sp>
        <p:nvSpPr>
          <p:cNvPr id="14" name="text s8.2.0.0.9"/>
          <p:cNvSpPr txBox="1"/>
          <p:nvPr/>
        </p:nvSpPr>
        <p:spPr>
          <a:xfrm>
            <a:off x="1657796" y="2202210"/>
            <a:ext cx="2754064"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Spot</a:t>
            </a:r>
            <a:r>
              <a:rPr sz="1350" b="0">
                <a:solidFill>
                  <a:schemeClr val="tx2"/>
                </a:solidFill>
                <a:latin typeface="+mn-lt"/>
                <a:ea typeface="+mn-ea"/>
              </a:rPr>
              <a:t> · spare capacity, 2-min notice</a:t>
            </a:r>
          </a:p>
        </p:txBody>
      </p:sp>
      <p:sp>
        <p:nvSpPr>
          <p:cNvPr id="15" name="text s8.2.0.0.10"/>
          <p:cNvSpPr txBox="1"/>
          <p:nvPr/>
        </p:nvSpPr>
        <p:spPr>
          <a:xfrm>
            <a:off x="1657796" y="5266730"/>
            <a:ext cx="3214836"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On-Demand</a:t>
            </a:r>
            <a:r>
              <a:rPr sz="1350" b="0">
                <a:solidFill>
                  <a:schemeClr val="tx2"/>
                </a:solidFill>
                <a:latin typeface="+mn-lt"/>
                <a:ea typeface="+mn-ea"/>
              </a:rPr>
              <a:t> · baseline, no commitment</a:t>
            </a:r>
          </a:p>
        </p:txBody>
      </p:sp>
      <p:sp>
        <p:nvSpPr>
          <p:cNvPr id="16" name="text s8.2.0.0.11"/>
          <p:cNvSpPr txBox="1"/>
          <p:nvPr/>
        </p:nvSpPr>
        <p:spPr>
          <a:xfrm>
            <a:off x="2750046" y="3299371"/>
            <a:ext cx="1534716" cy="239911"/>
          </a:xfrm>
          <a:prstGeom prst="rect">
            <a:avLst/>
          </a:prstGeom>
          <a:noFill/>
          <a:ln>
            <a:noFill/>
          </a:ln>
        </p:spPr>
        <p:txBody>
          <a:bodyPr wrap="none" lIns="0" tIns="0" rIns="0" bIns="0" anchor="t">
            <a:normAutofit/>
          </a:bodyPr>
          <a:lstStyle/>
          <a:p>
            <a:pPr algn="l">
              <a:lnSpc>
                <a:spcPts val="1890"/>
              </a:lnSpc>
            </a:pPr>
            <a:r>
              <a:rPr sz="1350" b="1" i="0" u="none">
                <a:solidFill>
                  <a:schemeClr val="accent2"/>
                </a:solidFill>
                <a:latin typeface="+mn-lt"/>
                <a:ea typeface="+mn-ea"/>
              </a:rPr>
              <a:t>SP &amp; RI: up to 72%</a:t>
            </a:r>
          </a:p>
        </p:txBody>
      </p:sp>
      <p:sp>
        <p:nvSpPr>
          <p:cNvPr id="17" name="shape s8.2.1.0"/>
          <p:cNvSpPr/>
          <p:nvPr/>
        </p:nvSpPr>
        <p:spPr>
          <a:xfrm>
            <a:off x="5905500" y="171256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18" name="shape s8.2.1.0.0.0"/>
          <p:cNvSpPr/>
          <p:nvPr/>
        </p:nvSpPr>
        <p:spPr>
          <a:xfrm>
            <a:off x="6053138" y="1860203"/>
            <a:ext cx="38100" cy="533400"/>
          </a:xfrm>
          <a:prstGeom prst="rect">
            <a:avLst/>
          </a:prstGeom>
          <a:solidFill>
            <a:schemeClr val="tx1"/>
          </a:solidFill>
          <a:ln>
            <a:noFill/>
          </a:ln>
        </p:spPr>
        <p:txBody>
          <a:bodyPr wrap="square" lIns="0" tIns="0" rIns="0" bIns="0" anchor="t">
            <a:normAutofit/>
          </a:bodyPr>
          <a:lstStyle/>
          <a:p/>
        </p:txBody>
      </p:sp>
      <p:sp>
        <p:nvSpPr>
          <p:cNvPr id="19" name="h3 s8.2.1.0.0.1.0"/>
          <p:cNvSpPr txBox="1"/>
          <p:nvPr/>
        </p:nvSpPr>
        <p:spPr>
          <a:xfrm>
            <a:off x="6319838" y="186928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On-Demand</a:t>
            </a:r>
          </a:p>
        </p:txBody>
      </p:sp>
      <p:sp>
        <p:nvSpPr>
          <p:cNvPr id="20" name="p s8.2.1.0.0.1.1"/>
          <p:cNvSpPr txBox="1"/>
          <p:nvPr/>
        </p:nvSpPr>
        <p:spPr>
          <a:xfrm>
            <a:off x="6319838" y="214163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Pay per second; start and stop anytime.</a:t>
            </a:r>
          </a:p>
        </p:txBody>
      </p:sp>
      <p:sp>
        <p:nvSpPr>
          <p:cNvPr id="21" name="text s8.2.1.0.0.2"/>
          <p:cNvSpPr txBox="1"/>
          <p:nvPr/>
        </p:nvSpPr>
        <p:spPr>
          <a:xfrm>
            <a:off x="10577513" y="2006947"/>
            <a:ext cx="857250" cy="239911"/>
          </a:xfrm>
          <a:prstGeom prst="rect">
            <a:avLst/>
          </a:prstGeom>
          <a:noFill/>
          <a:ln>
            <a:noFill/>
          </a:ln>
        </p:spPr>
        <p:txBody>
          <a:bodyPr wrap="square" lIns="0" tIns="0" rIns="0" bIns="0" anchor="t">
            <a:normAutofit/>
          </a:bodyPr>
          <a:lstStyle/>
          <a:p>
            <a:pPr algn="r">
              <a:lnSpc>
                <a:spcPts val="1890"/>
              </a:lnSpc>
            </a:pPr>
            <a:r>
              <a:rPr sz="1350" b="0">
                <a:solidFill>
                  <a:schemeClr val="tx2"/>
                </a:solidFill>
                <a:latin typeface="+mn-lt"/>
                <a:ea typeface="+mn-ea"/>
              </a:rPr>
              <a:t>baseline</a:t>
            </a:r>
          </a:p>
        </p:txBody>
      </p:sp>
      <p:sp>
        <p:nvSpPr>
          <p:cNvPr id="22" name="shape s8.2.1.1"/>
          <p:cNvSpPr/>
          <p:nvPr/>
        </p:nvSpPr>
        <p:spPr>
          <a:xfrm>
            <a:off x="5905500" y="265554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3" name="shape s8.2.1.1.0.0"/>
          <p:cNvSpPr/>
          <p:nvPr/>
        </p:nvSpPr>
        <p:spPr>
          <a:xfrm>
            <a:off x="6053138" y="2803178"/>
            <a:ext cx="38100" cy="533400"/>
          </a:xfrm>
          <a:prstGeom prst="rect">
            <a:avLst/>
          </a:prstGeom>
          <a:solidFill>
            <a:schemeClr val="accent2"/>
          </a:solidFill>
          <a:ln>
            <a:noFill/>
          </a:ln>
        </p:spPr>
        <p:txBody>
          <a:bodyPr wrap="square" lIns="0" tIns="0" rIns="0" bIns="0" anchor="t">
            <a:normAutofit/>
          </a:bodyPr>
          <a:lstStyle/>
          <a:p/>
        </p:txBody>
      </p:sp>
      <p:sp>
        <p:nvSpPr>
          <p:cNvPr id="24" name="h3 s8.2.1.1.0.1.0"/>
          <p:cNvSpPr txBox="1"/>
          <p:nvPr/>
        </p:nvSpPr>
        <p:spPr>
          <a:xfrm>
            <a:off x="6319838" y="281225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Savings Plans</a:t>
            </a:r>
          </a:p>
        </p:txBody>
      </p:sp>
      <p:sp>
        <p:nvSpPr>
          <p:cNvPr id="25" name="p s8.2.1.1.0.1.1"/>
          <p:cNvSpPr txBox="1"/>
          <p:nvPr/>
        </p:nvSpPr>
        <p:spPr>
          <a:xfrm>
            <a:off x="6319838" y="308461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$/hour for 1 or 3 years.</a:t>
            </a:r>
          </a:p>
        </p:txBody>
      </p:sp>
      <p:sp>
        <p:nvSpPr>
          <p:cNvPr id="26" name="text s8.2.1.1.0.2"/>
          <p:cNvSpPr txBox="1"/>
          <p:nvPr/>
        </p:nvSpPr>
        <p:spPr>
          <a:xfrm>
            <a:off x="10577513" y="287550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2"/>
                </a:solidFill>
                <a:latin typeface="+mj-lt"/>
                <a:ea typeface="+mj-ea"/>
              </a:rPr>
              <a:t>72%</a:t>
            </a:r>
          </a:p>
        </p:txBody>
      </p:sp>
      <p:sp>
        <p:nvSpPr>
          <p:cNvPr id="27" name="shape s8.2.1.2"/>
          <p:cNvSpPr/>
          <p:nvPr/>
        </p:nvSpPr>
        <p:spPr>
          <a:xfrm>
            <a:off x="5905500" y="359851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8" name="shape s8.2.1.2.0.0"/>
          <p:cNvSpPr/>
          <p:nvPr/>
        </p:nvSpPr>
        <p:spPr>
          <a:xfrm>
            <a:off x="6053138" y="3746153"/>
            <a:ext cx="38100" cy="533400"/>
          </a:xfrm>
          <a:prstGeom prst="rect">
            <a:avLst/>
          </a:prstGeom>
          <a:solidFill>
            <a:schemeClr val="accent4"/>
          </a:solidFill>
          <a:ln>
            <a:noFill/>
          </a:ln>
        </p:spPr>
        <p:txBody>
          <a:bodyPr wrap="square" lIns="0" tIns="0" rIns="0" bIns="0" anchor="t">
            <a:normAutofit/>
          </a:bodyPr>
          <a:lstStyle/>
          <a:p/>
        </p:txBody>
      </p:sp>
      <p:sp>
        <p:nvSpPr>
          <p:cNvPr id="29" name="h3 s8.2.1.2.0.1.0"/>
          <p:cNvSpPr txBox="1"/>
          <p:nvPr/>
        </p:nvSpPr>
        <p:spPr>
          <a:xfrm>
            <a:off x="6319838" y="375523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Reserved Instances</a:t>
            </a:r>
          </a:p>
        </p:txBody>
      </p:sp>
      <p:sp>
        <p:nvSpPr>
          <p:cNvPr id="30" name="p s8.2.1.2.0.1.1"/>
          <p:cNvSpPr txBox="1"/>
          <p:nvPr/>
        </p:nvSpPr>
        <p:spPr>
          <a:xfrm>
            <a:off x="6319838" y="402758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an instance configuration.</a:t>
            </a:r>
          </a:p>
        </p:txBody>
      </p:sp>
      <p:sp>
        <p:nvSpPr>
          <p:cNvPr id="31" name="text s8.2.1.2.0.2"/>
          <p:cNvSpPr txBox="1"/>
          <p:nvPr/>
        </p:nvSpPr>
        <p:spPr>
          <a:xfrm>
            <a:off x="10577513" y="3818483"/>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4"/>
                </a:solidFill>
                <a:latin typeface="+mj-lt"/>
                <a:ea typeface="+mj-ea"/>
              </a:rPr>
              <a:t>72%</a:t>
            </a:r>
          </a:p>
        </p:txBody>
      </p:sp>
      <p:sp>
        <p:nvSpPr>
          <p:cNvPr id="32" name="shape s8.2.1.3"/>
          <p:cNvSpPr/>
          <p:nvPr/>
        </p:nvSpPr>
        <p:spPr>
          <a:xfrm>
            <a:off x="5905500" y="454149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33" name="shape s8.2.1.3.0.0"/>
          <p:cNvSpPr/>
          <p:nvPr/>
        </p:nvSpPr>
        <p:spPr>
          <a:xfrm>
            <a:off x="6053138" y="4689128"/>
            <a:ext cx="38100" cy="533400"/>
          </a:xfrm>
          <a:prstGeom prst="rect">
            <a:avLst/>
          </a:prstGeom>
          <a:solidFill>
            <a:schemeClr val="accent3"/>
          </a:solidFill>
          <a:ln>
            <a:noFill/>
          </a:ln>
        </p:spPr>
        <p:txBody>
          <a:bodyPr wrap="square" lIns="0" tIns="0" rIns="0" bIns="0" anchor="t">
            <a:normAutofit/>
          </a:bodyPr>
          <a:lstStyle/>
          <a:p/>
        </p:txBody>
      </p:sp>
      <p:sp>
        <p:nvSpPr>
          <p:cNvPr id="34" name="h3 s8.2.1.3.0.1.0"/>
          <p:cNvSpPr txBox="1"/>
          <p:nvPr/>
        </p:nvSpPr>
        <p:spPr>
          <a:xfrm>
            <a:off x="6319838" y="469820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Spot Instances</a:t>
            </a:r>
          </a:p>
        </p:txBody>
      </p:sp>
      <p:sp>
        <p:nvSpPr>
          <p:cNvPr id="35" name="p s8.2.1.3.0.1.1"/>
          <p:cNvSpPr txBox="1"/>
          <p:nvPr/>
        </p:nvSpPr>
        <p:spPr>
          <a:xfrm>
            <a:off x="6319838" y="497056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Unused capacity for fault-tolerant jobs.</a:t>
            </a:r>
          </a:p>
        </p:txBody>
      </p:sp>
      <p:sp>
        <p:nvSpPr>
          <p:cNvPr id="36" name="text s8.2.1.3.0.2"/>
          <p:cNvSpPr txBox="1"/>
          <p:nvPr/>
        </p:nvSpPr>
        <p:spPr>
          <a:xfrm>
            <a:off x="10577513" y="476145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3"/>
                </a:solidFill>
                <a:latin typeface="+mj-lt"/>
                <a:ea typeface="+mj-ea"/>
              </a:rPr>
              <a:t>90%</a:t>
            </a:r>
          </a:p>
        </p:txBody>
      </p:sp>
      <p:sp>
        <p:nvSpPr>
          <p:cNvPr id="37"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8"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9</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text s9.0"/>
          <p:cNvSpPr txBox="1"/>
          <p:nvPr/>
        </p:nvSpPr>
        <p:spPr>
          <a:xfrm>
            <a:off x="609600" y="609600"/>
            <a:ext cx="2122587"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Instance lifecycle</a:t>
            </a:r>
          </a:p>
        </p:txBody>
      </p:sp>
      <p:sp>
        <p:nvSpPr>
          <p:cNvPr id="3" name="h2 s9.1"/>
          <p:cNvSpPr txBox="1"/>
          <p:nvPr/>
        </p:nvSpPr>
        <p:spPr>
          <a:xfrm>
            <a:off x="609600" y="876300"/>
            <a:ext cx="9213800"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Know the states — they decide what you are billed for</a:t>
            </a:r>
          </a:p>
        </p:txBody>
      </p:sp>
      <p:sp>
        <p:nvSpPr>
          <p:cNvPr id="4" name="shape s9.2"/>
          <p:cNvSpPr/>
          <p:nvPr/>
        </p:nvSpPr>
        <p:spPr>
          <a:xfrm>
            <a:off x="990600" y="4419600"/>
            <a:ext cx="1714500" cy="590550"/>
          </a:xfrm>
          <a:prstGeom prst="roundRect">
            <a:avLst>
              <a:gd name="adj" fmla="val 9677"/>
            </a:avLst>
          </a:prstGeom>
          <a:solidFill>
            <a:schemeClr val="bg1"/>
          </a:solidFill>
          <a:ln w="19050">
            <a:solidFill>
              <a:schemeClr val="accent2"/>
            </a:solidFill>
            <a:prstDash val="solid"/>
          </a:ln>
        </p:spPr>
        <p:txBody>
          <a:bodyPr wrap="square" lIns="0" tIns="0" rIns="0" bIns="0" anchor="ctr">
            <a:normAutofit/>
          </a:bodyPr>
          <a:lstStyle/>
          <a:p>
            <a:pPr algn="ctr">
              <a:lnSpc>
                <a:spcPts val="2700"/>
              </a:lnSpc>
            </a:pPr>
            <a:r>
              <a:rPr sz="1800" b="1" i="0" u="none">
                <a:solidFill>
                  <a:schemeClr val="accent2"/>
                </a:solidFill>
                <a:latin typeface="+mn-lt"/>
                <a:ea typeface="+mn-ea"/>
              </a:rPr>
              <a:t>pending</a:t>
            </a:r>
          </a:p>
        </p:txBody>
      </p:sp>
      <p:sp>
        <p:nvSpPr>
          <p:cNvPr id="5" name="shape s9.3"/>
          <p:cNvSpPr/>
          <p:nvPr/>
        </p:nvSpPr>
        <p:spPr>
          <a:xfrm>
            <a:off x="3657600" y="4419600"/>
            <a:ext cx="1714500" cy="590550"/>
          </a:xfrm>
          <a:prstGeom prst="roundRect">
            <a:avLst>
              <a:gd name="adj" fmla="val 9677"/>
            </a:avLst>
          </a:prstGeom>
          <a:solidFill>
            <a:schemeClr val="accent3"/>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running</a:t>
            </a:r>
          </a:p>
        </p:txBody>
      </p:sp>
      <p:sp>
        <p:nvSpPr>
          <p:cNvPr id="6" name="shape s9.4"/>
          <p:cNvSpPr/>
          <p:nvPr/>
        </p:nvSpPr>
        <p:spPr>
          <a:xfrm>
            <a:off x="3657600" y="3105150"/>
            <a:ext cx="1714500" cy="590550"/>
          </a:xfrm>
          <a:prstGeom prst="roundRect">
            <a:avLst>
              <a:gd name="adj" fmla="val 9677"/>
            </a:avLst>
          </a:prstGeom>
          <a:solidFill>
            <a:schemeClr val="bg1"/>
          </a:solidFill>
          <a:ln w="19050">
            <a:solidFill>
              <a:schemeClr val="accent3"/>
            </a:solidFill>
            <a:prstDash val="solid"/>
          </a:ln>
        </p:spPr>
        <p:txBody>
          <a:bodyPr wrap="square" lIns="0" tIns="0" rIns="0" bIns="0" anchor="ctr">
            <a:normAutofit/>
          </a:bodyPr>
          <a:lstStyle/>
          <a:p>
            <a:pPr algn="ctr">
              <a:lnSpc>
                <a:spcPts val="2700"/>
              </a:lnSpc>
            </a:pPr>
            <a:r>
              <a:rPr sz="1800" b="1" i="0" u="none">
                <a:solidFill>
                  <a:schemeClr val="accent3"/>
                </a:solidFill>
                <a:latin typeface="+mn-lt"/>
                <a:ea typeface="+mn-ea"/>
              </a:rPr>
              <a:t>rebooting</a:t>
            </a:r>
          </a:p>
        </p:txBody>
      </p:sp>
      <p:sp>
        <p:nvSpPr>
          <p:cNvPr id="7" name="shape s9.5"/>
          <p:cNvSpPr/>
          <p:nvPr/>
        </p:nvSpPr>
        <p:spPr>
          <a:xfrm>
            <a:off x="6800850" y="4419600"/>
            <a:ext cx="1809750" cy="590550"/>
          </a:xfrm>
          <a:prstGeom prst="roundRect">
            <a:avLst>
              <a:gd name="adj" fmla="val 9677"/>
            </a:avLst>
          </a:prstGeom>
          <a:solidFill>
            <a:schemeClr val="bg1"/>
          </a:solidFill>
          <a:ln w="19050">
            <a:solidFill>
              <a:schemeClr val="tx2"/>
            </a:solidFill>
            <a:prstDash val="solid"/>
          </a:ln>
        </p:spPr>
        <p:txBody>
          <a:bodyPr wrap="square" lIns="0" tIns="0" rIns="0" bIns="0" anchor="ctr">
            <a:normAutofit/>
          </a:bodyPr>
          <a:lstStyle/>
          <a:p>
            <a:pPr algn="ctr">
              <a:lnSpc>
                <a:spcPts val="2700"/>
              </a:lnSpc>
            </a:pPr>
            <a:r>
              <a:rPr sz="1800" b="1" i="0" u="none">
                <a:solidFill>
                  <a:schemeClr val="tx2"/>
                </a:solidFill>
                <a:latin typeface="+mn-lt"/>
                <a:ea typeface="+mn-ea"/>
              </a:rPr>
              <a:t>stopping</a:t>
            </a:r>
          </a:p>
        </p:txBody>
      </p:sp>
      <p:sp>
        <p:nvSpPr>
          <p:cNvPr id="8" name="shape s9.6"/>
          <p:cNvSpPr/>
          <p:nvPr/>
        </p:nvSpPr>
        <p:spPr>
          <a:xfrm>
            <a:off x="9753600" y="4419600"/>
            <a:ext cx="1714500" cy="590550"/>
          </a:xfrm>
          <a:prstGeom prst="roundRect">
            <a:avLst>
              <a:gd name="adj" fmla="val 9677"/>
            </a:avLst>
          </a:prstGeom>
          <a:solidFill>
            <a:schemeClr val="tx2"/>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stopped</a:t>
            </a:r>
          </a:p>
        </p:txBody>
      </p:sp>
      <p:sp>
        <p:nvSpPr>
          <p:cNvPr id="9" name="shape s9.7"/>
          <p:cNvSpPr/>
          <p:nvPr/>
        </p:nvSpPr>
        <p:spPr>
          <a:xfrm>
            <a:off x="6800850" y="5581650"/>
            <a:ext cx="1809750" cy="590550"/>
          </a:xfrm>
          <a:prstGeom prst="roundRect">
            <a:avLst>
              <a:gd name="adj" fmla="val 9677"/>
            </a:avLst>
          </a:prstGeom>
          <a:solidFill>
            <a:schemeClr val="bg1"/>
          </a:solidFill>
          <a:ln w="19050">
            <a:solidFill>
              <a:schemeClr val="accent5"/>
            </a:solidFill>
            <a:prstDash val="solid"/>
          </a:ln>
        </p:spPr>
        <p:txBody>
          <a:bodyPr wrap="square" lIns="0" tIns="0" rIns="0" bIns="0" anchor="ctr">
            <a:normAutofit/>
          </a:bodyPr>
          <a:lstStyle/>
          <a:p>
            <a:pPr algn="ctr">
              <a:lnSpc>
                <a:spcPts val="2700"/>
              </a:lnSpc>
            </a:pPr>
            <a:r>
              <a:rPr sz="1800" b="1" i="0" u="none">
                <a:solidFill>
                  <a:schemeClr val="accent5"/>
                </a:solidFill>
                <a:latin typeface="+mn-lt"/>
                <a:ea typeface="+mn-ea"/>
              </a:rPr>
              <a:t>shutting-down</a:t>
            </a:r>
          </a:p>
        </p:txBody>
      </p:sp>
      <p:sp>
        <p:nvSpPr>
          <p:cNvPr id="10" name="shape s9.8"/>
          <p:cNvSpPr/>
          <p:nvPr/>
        </p:nvSpPr>
        <p:spPr>
          <a:xfrm>
            <a:off x="9753600" y="5581650"/>
            <a:ext cx="1714500" cy="590550"/>
          </a:xfrm>
          <a:prstGeom prst="roundRect">
            <a:avLst>
              <a:gd name="adj" fmla="val 9677"/>
            </a:avLst>
          </a:prstGeom>
          <a:solidFill>
            <a:schemeClr val="accent5"/>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terminated</a:t>
            </a:r>
          </a:p>
        </p:txBody>
      </p:sp>
      <p:sp>
        <p:nvSpPr>
          <p:cNvPr id="11" name="shape s9.9"/>
          <p:cNvSpPr/>
          <p:nvPr/>
        </p:nvSpPr>
        <p:spPr>
          <a:xfrm>
            <a:off x="3533775" y="428625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2" name="shape s9.10"/>
          <p:cNvSpPr/>
          <p:nvPr/>
        </p:nvSpPr>
        <p:spPr>
          <a:xfrm>
            <a:off x="5248275" y="297180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3" name="shape s9.19"/>
          <p:cNvSpPr/>
          <p:nvPr/>
        </p:nvSpPr>
        <p:spPr>
          <a:xfrm>
            <a:off x="609600" y="5486400"/>
            <a:ext cx="3810000" cy="723900"/>
          </a:xfrm>
          <a:prstGeom prst="roundRect">
            <a:avLst>
              <a:gd name="adj" fmla="val 15789"/>
            </a:avLst>
          </a:prstGeom>
          <a:solidFill>
            <a:schemeClr val="bg2"/>
          </a:solidFill>
          <a:ln>
            <a:noFill/>
          </a:ln>
        </p:spPr>
        <p:txBody>
          <a:bodyPr wrap="square" lIns="114300" tIns="114300" rIns="114300" bIns="114300" anchor="t">
            <a:normAutofit/>
          </a:bodyPr>
          <a:lstStyle/>
          <a:p/>
        </p:txBody>
      </p:sp>
      <p:sp>
        <p:nvSpPr>
          <p:cNvPr id="14" name="text s9.19.0.0"/>
          <p:cNvSpPr txBox="1"/>
          <p:nvPr/>
        </p:nvSpPr>
        <p:spPr>
          <a:xfrm>
            <a:off x="757238" y="563403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a:t>
            </a:r>
            <a:r>
              <a:rPr sz="1350" b="0">
                <a:solidFill>
                  <a:schemeClr val="tx2"/>
                </a:solidFill>
                <a:latin typeface="+mn-lt"/>
                <a:ea typeface="+mn-ea"/>
              </a:rPr>
              <a:t> instance usage billed per second</a:t>
            </a:r>
          </a:p>
        </p:txBody>
      </p:sp>
      <p:sp>
        <p:nvSpPr>
          <p:cNvPr id="15" name="text s9.19.0.1"/>
          <p:cNvSpPr txBox="1"/>
          <p:nvPr/>
        </p:nvSpPr>
        <p:spPr>
          <a:xfrm>
            <a:off x="757238" y="593109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 -</a:t>
            </a:r>
            <a:r>
              <a:rPr sz="1350" b="0">
                <a:solidFill>
                  <a:schemeClr val="tx2"/>
                </a:solidFill>
                <a:latin typeface="+mn-lt"/>
                <a:ea typeface="+mn-ea"/>
              </a:rPr>
              <a:t> EBS-backed instances only</a:t>
            </a:r>
          </a:p>
        </p:txBody>
      </p:sp>
      <p:cxnSp>
        <p:nvCxnSpPr>
          <p:cNvPr id="16" name="connector s9.11"/>
          <p:cNvCxnSpPr>
            <a:stCxn id="4" idx="3"/>
            <a:endCxn id="5" idx="1"/>
          </p:cNvCxnSpPr>
          <p:nvPr/>
        </p:nvCxnSpPr>
        <p:spPr>
          <a:xfrm>
            <a:off x="2705100" y="4714875"/>
            <a:ext cx="952500" cy="0"/>
          </a:xfrm>
          <a:prstGeom prst="straightConnector1">
            <a:avLst/>
          </a:prstGeom>
          <a:ln w="19050">
            <a:solidFill>
              <a:schemeClr val="tx2"/>
            </a:solidFill>
            <a:prstDash val="solid"/>
            <a:headEnd type="none"/>
            <a:tailEnd type="triangle" w="lg" len="lg"/>
          </a:ln>
        </p:spPr>
      </p:cxnSp>
      <p:cxnSp>
        <p:nvCxnSpPr>
          <p:cNvPr id="17" name="connector s9.12"/>
          <p:cNvCxnSpPr>
            <a:stCxn id="5" idx="3"/>
            <a:endCxn id="7" idx="1"/>
          </p:cNvCxnSpPr>
          <p:nvPr/>
        </p:nvCxnSpPr>
        <p:spPr>
          <a:xfrm>
            <a:off x="5372100" y="4714875"/>
            <a:ext cx="1428750" cy="0"/>
          </a:xfrm>
          <a:prstGeom prst="straightConnector1">
            <a:avLst/>
          </a:prstGeom>
          <a:ln w="19050">
            <a:solidFill>
              <a:schemeClr val="tx2"/>
            </a:solidFill>
            <a:prstDash val="solid"/>
            <a:headEnd type="none"/>
            <a:tailEnd type="triangle" w="lg" len="lg"/>
          </a:ln>
        </p:spPr>
      </p:cxnSp>
      <p:cxnSp>
        <p:nvCxnSpPr>
          <p:cNvPr id="18" name="connector s9.13"/>
          <p:cNvCxnSpPr>
            <a:stCxn id="7" idx="3"/>
            <a:endCxn id="8" idx="1"/>
          </p:cNvCxnSpPr>
          <p:nvPr/>
        </p:nvCxnSpPr>
        <p:spPr>
          <a:xfrm>
            <a:off x="8610600" y="4714875"/>
            <a:ext cx="1143000" cy="0"/>
          </a:xfrm>
          <a:prstGeom prst="straightConnector1">
            <a:avLst/>
          </a:prstGeom>
          <a:ln w="19050">
            <a:solidFill>
              <a:schemeClr val="tx2"/>
            </a:solidFill>
            <a:prstDash val="solid"/>
            <a:headEnd type="none"/>
            <a:tailEnd type="triangle" w="lg" len="lg"/>
          </a:ln>
        </p:spPr>
      </p:cxnSp>
      <p:cxnSp>
        <p:nvCxnSpPr>
          <p:cNvPr id="19" name="connector s9.14"/>
          <p:cNvCxnSpPr>
            <a:stCxn id="5" idx="0"/>
            <a:endCxn id="6" idx="2"/>
          </p:cNvCxnSpPr>
          <p:nvPr/>
        </p:nvCxnSpPr>
        <p:spPr>
          <a:xfrm flipV="1">
            <a:off x="4514850" y="3695700"/>
            <a:ext cx="0" cy="723900"/>
          </a:xfrm>
          <a:prstGeom prst="straightConnector1">
            <a:avLst/>
          </a:prstGeom>
          <a:ln w="19050">
            <a:solidFill>
              <a:schemeClr val="tx2"/>
            </a:solidFill>
            <a:prstDash val="solid"/>
            <a:headEnd type="none"/>
            <a:tailEnd type="triangle" w="lg" len="lg"/>
          </a:ln>
        </p:spPr>
      </p:cxnSp>
      <p:cxnSp>
        <p:nvCxnSpPr>
          <p:cNvPr id="20" name="connector s9.15"/>
          <p:cNvCxnSpPr>
            <a:stCxn id="5" idx="2"/>
            <a:endCxn id="9" idx="1"/>
          </p:cNvCxnSpPr>
          <p:nvPr/>
        </p:nvCxnSpPr>
        <p:spPr>
          <a:xfrm rot="5400000" flipV="1">
            <a:off x="5224463" y="4300538"/>
            <a:ext cx="866775" cy="2286000"/>
          </a:xfrm>
          <a:prstGeom prst="bentConnector2">
            <a:avLst/>
          </a:prstGeom>
          <a:ln w="19050">
            <a:solidFill>
              <a:schemeClr val="tx2"/>
            </a:solidFill>
            <a:prstDash val="solid"/>
            <a:headEnd type="none"/>
            <a:tailEnd type="triangle" w="lg" len="lg"/>
          </a:ln>
        </p:spPr>
      </p:cxnSp>
      <p:cxnSp>
        <p:nvCxnSpPr>
          <p:cNvPr id="21" name="connector s9.16"/>
          <p:cNvCxnSpPr>
            <a:stCxn id="8" idx="2"/>
            <a:endCxn id="10" idx="0"/>
          </p:cNvCxnSpPr>
          <p:nvPr/>
        </p:nvCxnSpPr>
        <p:spPr>
          <a:xfrm>
            <a:off x="10610850" y="5010150"/>
            <a:ext cx="0" cy="571500"/>
          </a:xfrm>
          <a:prstGeom prst="straightConnector1">
            <a:avLst/>
          </a:prstGeom>
          <a:ln w="19050">
            <a:solidFill>
              <a:schemeClr val="tx2"/>
            </a:solidFill>
            <a:prstDash val="solid"/>
            <a:headEnd type="none"/>
            <a:tailEnd type="triangle" w="lg" len="lg"/>
          </a:ln>
        </p:spPr>
      </p:cxnSp>
      <p:cxnSp>
        <p:nvCxnSpPr>
          <p:cNvPr id="22" name="connector s9.17"/>
          <p:cNvCxnSpPr>
            <a:stCxn id="9" idx="3"/>
            <a:endCxn id="10" idx="1"/>
          </p:cNvCxnSpPr>
          <p:nvPr/>
        </p:nvCxnSpPr>
        <p:spPr>
          <a:xfrm>
            <a:off x="8610600" y="5876925"/>
            <a:ext cx="1143000" cy="0"/>
          </a:xfrm>
          <a:prstGeom prst="straightConnector1">
            <a:avLst/>
          </a:prstGeom>
          <a:ln w="19050">
            <a:solidFill>
              <a:schemeClr val="tx2"/>
            </a:solidFill>
            <a:prstDash val="solid"/>
            <a:headEnd type="none"/>
            <a:tailEnd type="triangle" w="lg" len="lg"/>
          </a:ln>
        </p:spPr>
      </p:cxnSp>
      <p:cxnSp>
        <p:nvCxnSpPr>
          <p:cNvPr id="23" name="connector s9.18"/>
          <p:cNvCxnSpPr>
            <a:stCxn id="8" idx="0"/>
            <a:endCxn id="4" idx="0"/>
          </p:cNvCxnSpPr>
          <p:nvPr/>
        </p:nvCxnSpPr>
        <p:spPr>
          <a:xfrm rot="5400000">
            <a:off x="6224588" y="38100"/>
            <a:ext cx="9525" cy="8763000"/>
          </a:xfrm>
          <a:prstGeom prst="curvedConnector3">
            <a:avLst>
              <a:gd name="adj1" fmla="val -22950000"/>
            </a:avLst>
          </a:prstGeom>
          <a:ln w="19050">
            <a:solidFill>
              <a:schemeClr val="tx2"/>
            </a:solidFill>
            <a:prstDash val="dash"/>
            <a:headEnd type="none"/>
            <a:tailEnd type="triangle" w="lg" len="lg"/>
          </a:ln>
        </p:spPr>
      </p:cxnSp>
      <p:sp>
        <p:nvSpPr>
          <p:cNvPr id="24" name="connector-label s9.12"/>
          <p:cNvSpPr txBox="1"/>
          <p:nvPr/>
        </p:nvSpPr>
        <p:spPr>
          <a:xfrm>
            <a:off x="5441454" y="4417814"/>
            <a:ext cx="12900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stop / hibernate</a:t>
            </a:r>
          </a:p>
        </p:txBody>
      </p:sp>
      <p:sp>
        <p:nvSpPr>
          <p:cNvPr id="25" name="connector-label s9.14"/>
          <p:cNvSpPr txBox="1"/>
          <p:nvPr/>
        </p:nvSpPr>
        <p:spPr>
          <a:xfrm>
            <a:off x="4572000" y="3937695"/>
            <a:ext cx="53890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reboot</a:t>
            </a:r>
          </a:p>
        </p:txBody>
      </p:sp>
      <p:sp>
        <p:nvSpPr>
          <p:cNvPr id="26" name="connector-label s9.15"/>
          <p:cNvSpPr txBox="1"/>
          <p:nvPr/>
        </p:nvSpPr>
        <p:spPr>
          <a:xfrm>
            <a:off x="4827091" y="5579864"/>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7" name="connector-label s9.16"/>
          <p:cNvSpPr txBox="1"/>
          <p:nvPr/>
        </p:nvSpPr>
        <p:spPr>
          <a:xfrm>
            <a:off x="10668000" y="5175945"/>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8" name="connector-label s9.18"/>
          <p:cNvSpPr txBox="1"/>
          <p:nvPr/>
        </p:nvSpPr>
        <p:spPr>
          <a:xfrm>
            <a:off x="4745547" y="1931834"/>
            <a:ext cx="2961829"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start — new host, same EBS volumes</a:t>
            </a:r>
          </a:p>
        </p:txBody>
      </p: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10</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decel="100000" fill="hold"/>
                                        <p:tgtEl>
                                          <p:spTgt spid="4"/>
                                        </p:tgtEl>
                                        <p:attrNameLst>
                                          <p:attrName>ppt_x</p:attrName>
                                        </p:attrNameLst>
                                      </p:cBhvr>
                                      <p:tavLst>
                                        <p:tav tm="0">
                                          <p:val>
                                            <p:strVal val="#ppt_x"/>
                                          </p:val>
                                        </p:tav>
                                        <p:tav tm="100000">
                                          <p:val>
                                            <p:strVal val="#ppt_x"/>
                                          </p:val>
                                        </p:tav>
                                      </p:tavLst>
                                    </p:anim>
                                    <p:anim calcmode="lin" valueType="num">
                                      <p:cBhvr>
                                        <p:cTn id="9" dur="600" decel="100000" fill="hold"/>
                                        <p:tgtEl>
                                          <p:spTgt spid="4"/>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decel="100000" fill="hold"/>
                                        <p:tgtEl>
                                          <p:spTgt spid="5"/>
                                        </p:tgtEl>
                                        <p:attrNameLst>
                                          <p:attrName>ppt_x</p:attrName>
                                        </p:attrNameLst>
                                      </p:cBhvr>
                                      <p:tavLst>
                                        <p:tav tm="0">
                                          <p:val>
                                            <p:strVal val="#ppt_x"/>
                                          </p:val>
                                        </p:tav>
                                        <p:tav tm="100000">
                                          <p:val>
                                            <p:strVal val="#ppt_x"/>
                                          </p:val>
                                        </p:tav>
                                      </p:tavLst>
                                    </p:anim>
                                    <p:anim calcmode="lin" valueType="num">
                                      <p:cBhvr>
                                        <p:cTn id="14" dur="600" decel="100000" fill="hold"/>
                                        <p:tgtEl>
                                          <p:spTgt spid="5"/>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decel="100000" fill="hold"/>
                                        <p:tgtEl>
                                          <p:spTgt spid="6"/>
                                        </p:tgtEl>
                                        <p:attrNameLst>
                                          <p:attrName>ppt_x</p:attrName>
                                        </p:attrNameLst>
                                      </p:cBhvr>
                                      <p:tavLst>
                                        <p:tav tm="0">
                                          <p:val>
                                            <p:strVal val="#ppt_x"/>
                                          </p:val>
                                        </p:tav>
                                        <p:tav tm="100000">
                                          <p:val>
                                            <p:strVal val="#ppt_x"/>
                                          </p:val>
                                        </p:tav>
                                      </p:tavLst>
                                    </p:anim>
                                    <p:anim calcmode="lin" valueType="num">
                                      <p:cBhvr>
                                        <p:cTn id="19" dur="600" decel="100000" fill="hold"/>
                                        <p:tgtEl>
                                          <p:spTgt spid="6"/>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decel="100000" fill="hold"/>
                                        <p:tgtEl>
                                          <p:spTgt spid="7"/>
                                        </p:tgtEl>
                                        <p:attrNameLst>
                                          <p:attrName>ppt_x</p:attrName>
                                        </p:attrNameLst>
                                      </p:cBhvr>
                                      <p:tavLst>
                                        <p:tav tm="0">
                                          <p:val>
                                            <p:strVal val="#ppt_x"/>
                                          </p:val>
                                        </p:tav>
                                        <p:tav tm="100000">
                                          <p:val>
                                            <p:strVal val="#ppt_x"/>
                                          </p:val>
                                        </p:tav>
                                      </p:tavLst>
                                    </p:anim>
                                    <p:anim calcmode="lin" valueType="num">
                                      <p:cBhvr>
                                        <p:cTn id="24" dur="600" decel="100000" fill="hold"/>
                                        <p:tgtEl>
                                          <p:spTgt spid="7"/>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51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decel="100000" fill="hold"/>
                                        <p:tgtEl>
                                          <p:spTgt spid="8"/>
                                        </p:tgtEl>
                                        <p:attrNameLst>
                                          <p:attrName>ppt_x</p:attrName>
                                        </p:attrNameLst>
                                      </p:cBhvr>
                                      <p:tavLst>
                                        <p:tav tm="0">
                                          <p:val>
                                            <p:strVal val="#ppt_x"/>
                                          </p:val>
                                        </p:tav>
                                        <p:tav tm="100000">
                                          <p:val>
                                            <p:strVal val="#ppt_x"/>
                                          </p:val>
                                        </p:tav>
                                      </p:tavLst>
                                    </p:anim>
                                    <p:anim calcmode="lin" valueType="num">
                                      <p:cBhvr>
                                        <p:cTn id="29" dur="600" decel="100000" fill="hold"/>
                                        <p:tgtEl>
                                          <p:spTgt spid="8"/>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6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anim calcmode="lin" valueType="num">
                                      <p:cBhvr>
                                        <p:cTn id="33" dur="600" decel="100000" fill="hold"/>
                                        <p:tgtEl>
                                          <p:spTgt spid="9"/>
                                        </p:tgtEl>
                                        <p:attrNameLst>
                                          <p:attrName>ppt_x</p:attrName>
                                        </p:attrNameLst>
                                      </p:cBhvr>
                                      <p:tavLst>
                                        <p:tav tm="0">
                                          <p:val>
                                            <p:strVal val="#ppt_x"/>
                                          </p:val>
                                        </p:tav>
                                        <p:tav tm="100000">
                                          <p:val>
                                            <p:strVal val="#ppt_x"/>
                                          </p:val>
                                        </p:tav>
                                      </p:tavLst>
                                    </p:anim>
                                    <p:anim calcmode="lin" valueType="num">
                                      <p:cBhvr>
                                        <p:cTn id="34" dur="600" decel="100000" fill="hold"/>
                                        <p:tgtEl>
                                          <p:spTgt spid="9"/>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69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decel="1000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0333"/>
                                          </p:val>
                                        </p:tav>
                                        <p:tav tm="100000">
                                          <p:val>
                                            <p:strVal val="#ppt_y"/>
                                          </p:val>
                                        </p:tav>
                                      </p:tavLst>
                                    </p:anim>
                                  </p:childTnLst>
                                </p:cTn>
                              </p:par>
                              <p:par>
                                <p:cTn id="40" presetID="53" presetClass="entr" presetSubtype="16" fill="hold" grpId="0" nodeType="withEffect">
                                  <p:stCondLst>
                                    <p:cond delay="78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decel="100000" fill="hold"/>
                                        <p:tgtEl>
                                          <p:spTgt spid="11"/>
                                        </p:tgtEl>
                                        <p:attrNameLst>
                                          <p:attrName>ppt_w</p:attrName>
                                        </p:attrNameLst>
                                      </p:cBhvr>
                                      <p:tavLst>
                                        <p:tav tm="0">
                                          <p:val>
                                            <p:strVal val="#ppt_w*0.9"/>
                                          </p:val>
                                        </p:tav>
                                        <p:tav tm="100000">
                                          <p:val>
                                            <p:strVal val="#ppt_w"/>
                                          </p:val>
                                        </p:tav>
                                      </p:tavLst>
                                    </p:anim>
                                    <p:anim calcmode="lin" valueType="num">
                                      <p:cBhvr>
                                        <p:cTn id="44" dur="600" decel="100000" fill="hold"/>
                                        <p:tgtEl>
                                          <p:spTgt spid="11"/>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87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decel="100000" fill="hold"/>
                                        <p:tgtEl>
                                          <p:spTgt spid="12"/>
                                        </p:tgtEl>
                                        <p:attrNameLst>
                                          <p:attrName>ppt_w</p:attrName>
                                        </p:attrNameLst>
                                      </p:cBhvr>
                                      <p:tavLst>
                                        <p:tav tm="0">
                                          <p:val>
                                            <p:strVal val="#ppt_w*0.9"/>
                                          </p:val>
                                        </p:tav>
                                        <p:tav tm="100000">
                                          <p:val>
                                            <p:strVal val="#ppt_w"/>
                                          </p:val>
                                        </p:tav>
                                      </p:tavLst>
                                    </p:anim>
                                    <p:anim calcmode="lin" valueType="num">
                                      <p:cBhvr>
                                        <p:cTn id="49" dur="600" decel="100000" fill="hold"/>
                                        <p:tgtEl>
                                          <p:spTgt spid="12"/>
                                        </p:tgtEl>
                                        <p:attrNameLst>
                                          <p:attrName>ppt_h</p:attrName>
                                        </p:attrNameLst>
                                      </p:cBhvr>
                                      <p:tavLst>
                                        <p:tav tm="0">
                                          <p:val>
                                            <p:strVal val="#ppt_h*0.9"/>
                                          </p:val>
                                        </p:tav>
                                        <p:tav tm="100000">
                                          <p:val>
                                            <p:strVal val="#ppt_h"/>
                                          </p:val>
                                        </p:tav>
                                      </p:tavLst>
                                    </p:anim>
                                  </p:childTnLst>
                                </p:cTn>
                              </p:par>
                              <p:par>
                                <p:cTn id="50" presetID="22" presetClass="entr" presetSubtype="8" fill="hold" grpId="0" nodeType="withEffect">
                                  <p:stCondLst>
                                    <p:cond delay="96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600"/>
                                        <p:tgtEl>
                                          <p:spTgt spid="16"/>
                                        </p:tgtEl>
                                      </p:cBhvr>
                                    </p:animEffect>
                                  </p:childTnLst>
                                </p:cTn>
                              </p:par>
                              <p:par>
                                <p:cTn id="53" presetID="22" presetClass="entr" presetSubtype="8" fill="hold" grpId="0" nodeType="withEffect">
                                  <p:stCondLst>
                                    <p:cond delay="105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600"/>
                                        <p:tgtEl>
                                          <p:spTgt spid="17"/>
                                        </p:tgtEl>
                                      </p:cBhvr>
                                    </p:animEffect>
                                  </p:childTnLst>
                                </p:cTn>
                              </p:par>
                              <p:par>
                                <p:cTn id="56" presetID="10" presetClass="entr" presetSubtype="0" fill="hold" grpId="0" nodeType="withEffect">
                                  <p:stCondLst>
                                    <p:cond delay="105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600"/>
                                        <p:tgtEl>
                                          <p:spTgt spid="24"/>
                                        </p:tgtEl>
                                      </p:cBhvr>
                                    </p:animEffect>
                                  </p:childTnLst>
                                </p:cTn>
                              </p:par>
                              <p:par>
                                <p:cTn id="59" presetID="22" presetClass="entr" presetSubtype="8" fill="hold" grpId="0" nodeType="withEffect">
                                  <p:stCondLst>
                                    <p:cond delay="114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600"/>
                                        <p:tgtEl>
                                          <p:spTgt spid="18"/>
                                        </p:tgtEl>
                                      </p:cBhvr>
                                    </p:animEffect>
                                  </p:childTnLst>
                                </p:cTn>
                              </p:par>
                              <p:par>
                                <p:cTn id="62" presetID="22" presetClass="entr" presetSubtype="4" fill="hold" grpId="0" nodeType="withEffect">
                                  <p:stCondLst>
                                    <p:cond delay="1230"/>
                                  </p:stCondLst>
                                  <p:childTnLst>
                                    <p:set>
                                      <p:cBhvr>
                                        <p:cTn id="63" dur="1" fill="hold">
                                          <p:stCondLst>
                                            <p:cond delay="0"/>
                                          </p:stCondLst>
                                        </p:cTn>
                                        <p:tgtEl>
                                          <p:spTgt spid="19"/>
                                        </p:tgtEl>
                                        <p:attrNameLst>
                                          <p:attrName>style.visibility</p:attrName>
                                        </p:attrNameLst>
                                      </p:cBhvr>
                                      <p:to>
                                        <p:strVal val="visible"/>
                                      </p:to>
                                    </p:set>
                                    <p:animEffect transition="in" filter="wipe(down)">
                                      <p:cBhvr>
                                        <p:cTn id="64" dur="600"/>
                                        <p:tgtEl>
                                          <p:spTgt spid="19"/>
                                        </p:tgtEl>
                                      </p:cBhvr>
                                    </p:animEffect>
                                  </p:childTnLst>
                                </p:cTn>
                              </p:par>
                              <p:par>
                                <p:cTn id="65" presetID="10" presetClass="entr" presetSubtype="0" fill="hold" grpId="0" nodeType="withEffect">
                                  <p:stCondLst>
                                    <p:cond delay="123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600"/>
                                        <p:tgtEl>
                                          <p:spTgt spid="25"/>
                                        </p:tgtEl>
                                      </p:cBhvr>
                                    </p:animEffect>
                                  </p:childTnLst>
                                </p:cTn>
                              </p:par>
                              <p:par>
                                <p:cTn id="68" presetID="22" presetClass="entr" presetSubtype="8" fill="hold" grpId="0" nodeType="withEffect">
                                  <p:stCondLst>
                                    <p:cond delay="1320"/>
                                  </p:stCondLst>
                                  <p:childTnLst>
                                    <p:set>
                                      <p:cBhvr>
                                        <p:cTn id="69" dur="1" fill="hold">
                                          <p:stCondLst>
                                            <p:cond delay="0"/>
                                          </p:stCondLst>
                                        </p:cTn>
                                        <p:tgtEl>
                                          <p:spTgt spid="20"/>
                                        </p:tgtEl>
                                        <p:attrNameLst>
                                          <p:attrName>style.visibility</p:attrName>
                                        </p:attrNameLst>
                                      </p:cBhvr>
                                      <p:to>
                                        <p:strVal val="visible"/>
                                      </p:to>
                                    </p:set>
                                    <p:animEffect transition="in" filter="wipe(left)">
                                      <p:cBhvr>
                                        <p:cTn id="70" dur="600"/>
                                        <p:tgtEl>
                                          <p:spTgt spid="20"/>
                                        </p:tgtEl>
                                      </p:cBhvr>
                                    </p:animEffect>
                                  </p:childTnLst>
                                </p:cTn>
                              </p:par>
                              <p:par>
                                <p:cTn id="71" presetID="10" presetClass="entr" presetSubtype="0" fill="hold" grpId="0" nodeType="withEffect">
                                  <p:stCondLst>
                                    <p:cond delay="132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600"/>
                                        <p:tgtEl>
                                          <p:spTgt spid="26"/>
                                        </p:tgtEl>
                                      </p:cBhvr>
                                    </p:animEffect>
                                  </p:childTnLst>
                                </p:cTn>
                              </p:par>
                              <p:par>
                                <p:cTn id="74" presetID="22" presetClass="entr" presetSubtype="1" fill="hold" grpId="0" nodeType="withEffect">
                                  <p:stCondLst>
                                    <p:cond delay="1410"/>
                                  </p:stCondLst>
                                  <p:childTnLst>
                                    <p:set>
                                      <p:cBhvr>
                                        <p:cTn id="75" dur="1" fill="hold">
                                          <p:stCondLst>
                                            <p:cond delay="0"/>
                                          </p:stCondLst>
                                        </p:cTn>
                                        <p:tgtEl>
                                          <p:spTgt spid="21"/>
                                        </p:tgtEl>
                                        <p:attrNameLst>
                                          <p:attrName>style.visibility</p:attrName>
                                        </p:attrNameLst>
                                      </p:cBhvr>
                                      <p:to>
                                        <p:strVal val="visible"/>
                                      </p:to>
                                    </p:set>
                                    <p:animEffect transition="in" filter="wipe(up)">
                                      <p:cBhvr>
                                        <p:cTn id="76" dur="600"/>
                                        <p:tgtEl>
                                          <p:spTgt spid="21"/>
                                        </p:tgtEl>
                                      </p:cBhvr>
                                    </p:animEffect>
                                  </p:childTnLst>
                                </p:cTn>
                              </p:par>
                              <p:par>
                                <p:cTn id="77" presetID="10" presetClass="entr" presetSubtype="0" fill="hold" grpId="0" nodeType="withEffect">
                                  <p:stCondLst>
                                    <p:cond delay="141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600"/>
                                        <p:tgtEl>
                                          <p:spTgt spid="27"/>
                                        </p:tgtEl>
                                      </p:cBhvr>
                                    </p:animEffect>
                                  </p:childTnLst>
                                </p:cTn>
                              </p:par>
                              <p:par>
                                <p:cTn id="80" presetID="22" presetClass="entr" presetSubtype="8" fill="hold" grpId="0" nodeType="withEffect">
                                  <p:stCondLst>
                                    <p:cond delay="1500"/>
                                  </p:stCondLst>
                                  <p:childTnLst>
                                    <p:set>
                                      <p:cBhvr>
                                        <p:cTn id="81" dur="1" fill="hold">
                                          <p:stCondLst>
                                            <p:cond delay="0"/>
                                          </p:stCondLst>
                                        </p:cTn>
                                        <p:tgtEl>
                                          <p:spTgt spid="22"/>
                                        </p:tgtEl>
                                        <p:attrNameLst>
                                          <p:attrName>style.visibility</p:attrName>
                                        </p:attrNameLst>
                                      </p:cBhvr>
                                      <p:to>
                                        <p:strVal val="visible"/>
                                      </p:to>
                                    </p:set>
                                    <p:animEffect transition="in" filter="wipe(left)">
                                      <p:cBhvr>
                                        <p:cTn id="82" dur="600"/>
                                        <p:tgtEl>
                                          <p:spTgt spid="22"/>
                                        </p:tgtEl>
                                      </p:cBhvr>
                                    </p:animEffect>
                                  </p:childTnLst>
                                </p:cTn>
                              </p:par>
                              <p:par>
                                <p:cTn id="83" presetID="22" presetClass="entr" presetSubtype="2" fill="hold" grpId="0" nodeType="withEffect">
                                  <p:stCondLst>
                                    <p:cond delay="1590"/>
                                  </p:stCondLst>
                                  <p:childTnLst>
                                    <p:set>
                                      <p:cBhvr>
                                        <p:cTn id="84" dur="1" fill="hold">
                                          <p:stCondLst>
                                            <p:cond delay="0"/>
                                          </p:stCondLst>
                                        </p:cTn>
                                        <p:tgtEl>
                                          <p:spTgt spid="23"/>
                                        </p:tgtEl>
                                        <p:attrNameLst>
                                          <p:attrName>style.visibility</p:attrName>
                                        </p:attrNameLst>
                                      </p:cBhvr>
                                      <p:to>
                                        <p:strVal val="visible"/>
                                      </p:to>
                                    </p:set>
                                    <p:animEffect transition="in" filter="wipe(right)">
                                      <p:cBhvr>
                                        <p:cTn id="85" dur="600"/>
                                        <p:tgtEl>
                                          <p:spTgt spid="23"/>
                                        </p:tgtEl>
                                      </p:cBhvr>
                                    </p:animEffect>
                                  </p:childTnLst>
                                </p:cTn>
                              </p:par>
                              <p:par>
                                <p:cTn id="86" presetID="10" presetClass="entr" presetSubtype="0" fill="hold" grpId="0" nodeType="withEffect">
                                  <p:stCondLst>
                                    <p:cond delay="159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24" grpId="0" animBg="1"/>
      <p:bldP spid="25"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text s10.0"/>
          <p:cNvSpPr txBox="1"/>
          <p:nvPr/>
        </p:nvSpPr>
        <p:spPr>
          <a:xfrm>
            <a:off x="609600" y="609600"/>
            <a:ext cx="2390031"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Run it in production</a:t>
            </a:r>
          </a:p>
        </p:txBody>
      </p:sp>
      <p:sp>
        <p:nvSpPr>
          <p:cNvPr id="3" name="h2 s10.1"/>
          <p:cNvSpPr txBox="1"/>
          <p:nvPr/>
        </p:nvSpPr>
        <p:spPr>
          <a:xfrm>
            <a:off x="609600" y="876300"/>
            <a:ext cx="5762476"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A highly available web tier on EC2</a:t>
            </a:r>
          </a:p>
        </p:txBody>
      </p:sp>
      <p:sp>
        <p:nvSpPr>
          <p:cNvPr id="4" name="shape s10.2"/>
          <p:cNvSpPr/>
          <p:nvPr/>
        </p:nvSpPr>
        <p:spPr>
          <a:xfrm>
            <a:off x="1485900" y="1524000"/>
            <a:ext cx="10096500" cy="3524250"/>
          </a:xfrm>
          <a:prstGeom prst="rect">
            <a:avLst/>
          </a:prstGeom>
          <a:noFill/>
          <a:ln w="9525">
            <a:solidFill>
              <a:schemeClr val="tx1"/>
            </a:solidFill>
            <a:prstDash val="solid"/>
          </a:ln>
        </p:spPr>
        <p:txBody>
          <a:bodyPr wrap="square" lIns="0" tIns="0" rIns="0" bIns="0" anchor="t">
            <a:normAutofit/>
          </a:bodyPr>
          <a:lstStyle/>
          <a:p/>
        </p:txBody>
      </p:sp>
      <p:sp>
        <p:nvSpPr>
          <p:cNvPr id="5" name="text s10.3"/>
          <p:cNvSpPr txBox="1"/>
          <p:nvPr/>
        </p:nvSpPr>
        <p:spPr>
          <a:xfrm>
            <a:off x="1600200" y="1581150"/>
            <a:ext cx="703957" cy="186630"/>
          </a:xfrm>
          <a:prstGeom prst="rect">
            <a:avLst/>
          </a:prstGeom>
          <a:noFill/>
          <a:ln>
            <a:noFill/>
          </a:ln>
        </p:spPr>
        <p:txBody>
          <a:bodyPr wrap="none" lIns="0" tIns="0" rIns="0" bIns="0" anchor="t">
            <a:normAutofit/>
          </a:bodyPr>
          <a:lstStyle/>
          <a:p>
            <a:pPr algn="l">
              <a:lnSpc>
                <a:spcPts val="1470"/>
              </a:lnSpc>
            </a:pPr>
            <a:r>
              <a:rPr sz="1050" b="1" i="0" u="none">
                <a:solidFill>
                  <a:schemeClr val="tx2"/>
                </a:solidFill>
                <a:latin typeface="+mn-lt"/>
                <a:ea typeface="+mn-ea"/>
              </a:rPr>
              <a:t>AWS Cloud</a:t>
            </a:r>
          </a:p>
        </p:txBody>
      </p:sp>
      <p:sp>
        <p:nvSpPr>
          <p:cNvPr id="6" name="shape s10.4"/>
          <p:cNvSpPr/>
          <p:nvPr/>
        </p:nvSpPr>
        <p:spPr>
          <a:xfrm>
            <a:off x="1600200" y="1809750"/>
            <a:ext cx="9867900" cy="3143250"/>
          </a:xfrm>
          <a:prstGeom prst="rect">
            <a:avLst/>
          </a:prstGeom>
          <a:noFill/>
          <a:ln w="9525">
            <a:solidFill>
              <a:schemeClr val="accent6"/>
            </a:solidFill>
            <a:prstDash val="dash"/>
          </a:ln>
        </p:spPr>
        <p:txBody>
          <a:bodyPr wrap="square" lIns="0" tIns="0" rIns="0" bIns="0" anchor="t">
            <a:normAutofit/>
          </a:bodyPr>
          <a:lstStyle/>
          <a:p/>
        </p:txBody>
      </p:sp>
      <p:sp>
        <p:nvSpPr>
          <p:cNvPr id="7" name="text s10.5"/>
          <p:cNvSpPr txBox="1"/>
          <p:nvPr/>
        </p:nvSpPr>
        <p:spPr>
          <a:xfrm>
            <a:off x="1714500" y="1847850"/>
            <a:ext cx="462111"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Region</a:t>
            </a:r>
          </a:p>
        </p:txBody>
      </p:sp>
      <p:sp>
        <p:nvSpPr>
          <p:cNvPr id="8" name="shape s10.6"/>
          <p:cNvSpPr/>
          <p:nvPr/>
        </p:nvSpPr>
        <p:spPr>
          <a:xfrm>
            <a:off x="2476500" y="2038350"/>
            <a:ext cx="6572250" cy="2819400"/>
          </a:xfrm>
          <a:prstGeom prst="rect">
            <a:avLst/>
          </a:prstGeom>
          <a:noFill/>
          <a:ln w="19050">
            <a:solidFill>
              <a:schemeClr val="accent4"/>
            </a:solidFill>
            <a:prstDash val="solid"/>
          </a:ln>
        </p:spPr>
        <p:txBody>
          <a:bodyPr wrap="square" lIns="0" tIns="0" rIns="0" bIns="0" anchor="t">
            <a:normAutofit/>
          </a:bodyPr>
          <a:lstStyle/>
          <a:p/>
        </p:txBody>
      </p:sp>
      <p:sp>
        <p:nvSpPr>
          <p:cNvPr id="9" name="text s10.7"/>
          <p:cNvSpPr txBox="1"/>
          <p:nvPr/>
        </p:nvSpPr>
        <p:spPr>
          <a:xfrm>
            <a:off x="2590800" y="2076450"/>
            <a:ext cx="980926" cy="186630"/>
          </a:xfrm>
          <a:prstGeom prst="rect">
            <a:avLst/>
          </a:prstGeom>
          <a:noFill/>
          <a:ln>
            <a:noFill/>
          </a:ln>
        </p:spPr>
        <p:txBody>
          <a:bodyPr wrap="none" lIns="0" tIns="0" rIns="0" bIns="0" anchor="t">
            <a:normAutofit/>
          </a:bodyPr>
          <a:lstStyle/>
          <a:p>
            <a:pPr algn="l">
              <a:lnSpc>
                <a:spcPts val="1470"/>
              </a:lnSpc>
            </a:pPr>
            <a:r>
              <a:rPr sz="1050" b="1" i="0" u="none">
                <a:solidFill>
                  <a:schemeClr val="accent4"/>
                </a:solidFill>
                <a:latin typeface="+mn-lt"/>
                <a:ea typeface="+mn-ea"/>
              </a:rPr>
              <a:t>VPC</a:t>
            </a:r>
            <a:r>
              <a:rPr sz="1050" b="0">
                <a:solidFill>
                  <a:schemeClr val="accent4"/>
                </a:solidFill>
                <a:latin typeface="+mn-lt"/>
                <a:ea typeface="+mn-ea"/>
              </a:rPr>
              <a:t> 10.0.0.0/16</a:t>
            </a:r>
          </a:p>
        </p:txBody>
      </p:sp>
      <p:sp>
        <p:nvSpPr>
          <p:cNvPr id="10" name="shape s10.8"/>
          <p:cNvSpPr/>
          <p:nvPr/>
        </p:nvSpPr>
        <p:spPr>
          <a:xfrm>
            <a:off x="3429000" y="232410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1" name="text s10.9"/>
          <p:cNvSpPr txBox="1"/>
          <p:nvPr/>
        </p:nvSpPr>
        <p:spPr>
          <a:xfrm>
            <a:off x="8572500" y="2343150"/>
            <a:ext cx="296019"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A</a:t>
            </a:r>
          </a:p>
        </p:txBody>
      </p:sp>
      <p:sp>
        <p:nvSpPr>
          <p:cNvPr id="12" name="shape s10.10"/>
          <p:cNvSpPr/>
          <p:nvPr/>
        </p:nvSpPr>
        <p:spPr>
          <a:xfrm>
            <a:off x="3429000" y="360045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3" name="text s10.11"/>
          <p:cNvSpPr txBox="1"/>
          <p:nvPr/>
        </p:nvSpPr>
        <p:spPr>
          <a:xfrm>
            <a:off x="8572500" y="3619500"/>
            <a:ext cx="293638"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B</a:t>
            </a:r>
          </a:p>
        </p:txBody>
      </p:sp>
      <p:sp>
        <p:nvSpPr>
          <p:cNvPr id="14" name="shape s10.12"/>
          <p:cNvSpPr/>
          <p:nvPr/>
        </p:nvSpPr>
        <p:spPr>
          <a:xfrm>
            <a:off x="3524250" y="251460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5" name="text s10.13"/>
          <p:cNvSpPr txBox="1"/>
          <p:nvPr/>
        </p:nvSpPr>
        <p:spPr>
          <a:xfrm>
            <a:off x="3600450" y="255270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6" name="shape s10.14"/>
          <p:cNvSpPr/>
          <p:nvPr/>
        </p:nvSpPr>
        <p:spPr>
          <a:xfrm>
            <a:off x="3524250" y="379095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7" name="text s10.15"/>
          <p:cNvSpPr txBox="1"/>
          <p:nvPr/>
        </p:nvSpPr>
        <p:spPr>
          <a:xfrm>
            <a:off x="3600450" y="382905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8" name="shape s10.16"/>
          <p:cNvSpPr/>
          <p:nvPr/>
        </p:nvSpPr>
        <p:spPr>
          <a:xfrm>
            <a:off x="5524500" y="251460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19" name="shape s10.17"/>
          <p:cNvSpPr/>
          <p:nvPr/>
        </p:nvSpPr>
        <p:spPr>
          <a:xfrm>
            <a:off x="5524500" y="379095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20" name="shape s10.18"/>
          <p:cNvSpPr/>
          <p:nvPr/>
        </p:nvSpPr>
        <p:spPr>
          <a:xfrm>
            <a:off x="5657850" y="2457450"/>
            <a:ext cx="2819400" cy="2095500"/>
          </a:xfrm>
          <a:prstGeom prst="rect">
            <a:avLst/>
          </a:prstGeom>
          <a:noFill/>
          <a:ln w="19050">
            <a:solidFill>
              <a:schemeClr val="accent1"/>
            </a:solidFill>
            <a:prstDash val="dash"/>
          </a:ln>
        </p:spPr>
        <p:txBody>
          <a:bodyPr wrap="square" lIns="0" tIns="0" rIns="0" bIns="0" anchor="t">
            <a:normAutofit/>
          </a:bodyPr>
          <a:lstStyle/>
          <a:p/>
        </p:txBody>
      </p:sp>
      <p:sp>
        <p:nvSpPr>
          <p:cNvPr id="21" name="text s10.19"/>
          <p:cNvSpPr txBox="1"/>
          <p:nvPr/>
        </p:nvSpPr>
        <p:spPr>
          <a:xfrm>
            <a:off x="5753100" y="2495550"/>
            <a:ext cx="1262211" cy="186630"/>
          </a:xfrm>
          <a:prstGeom prst="rect">
            <a:avLst/>
          </a:prstGeom>
          <a:noFill/>
          <a:ln>
            <a:noFill/>
          </a:ln>
        </p:spPr>
        <p:txBody>
          <a:bodyPr wrap="none" lIns="0" tIns="0" rIns="0" bIns="0" anchor="t">
            <a:normAutofit/>
          </a:bodyPr>
          <a:lstStyle/>
          <a:p>
            <a:pPr algn="l">
              <a:lnSpc>
                <a:spcPts val="1470"/>
              </a:lnSpc>
            </a:pPr>
            <a:r>
              <a:rPr sz="1050" b="1" i="0" u="none">
                <a:solidFill>
                  <a:schemeClr val="accent1"/>
                </a:solidFill>
                <a:latin typeface="+mn-lt"/>
                <a:ea typeface="+mn-ea"/>
              </a:rPr>
              <a:t>Auto Scaling group</a:t>
            </a:r>
          </a:p>
        </p:txBody>
      </p:sp>
      <p:sp>
        <p:nvSpPr>
          <p:cNvPr id="22" name="shape s10.20"/>
          <p:cNvSpPr/>
          <p:nvPr/>
        </p:nvSpPr>
        <p:spPr>
          <a:xfrm>
            <a:off x="609600" y="3086100"/>
            <a:ext cx="495300" cy="495300"/>
          </a:xfrm>
          <a:prstGeom prst="roundRect">
            <a:avLst>
              <a:gd name="adj" fmla="val 11538"/>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Users</a:t>
            </a:r>
          </a:p>
        </p:txBody>
      </p:sp>
      <p:sp>
        <p:nvSpPr>
          <p:cNvPr id="23" name="shape s10.21"/>
          <p:cNvSpPr/>
          <p:nvPr/>
        </p:nvSpPr>
        <p:spPr>
          <a:xfrm>
            <a:off x="2247900" y="3105150"/>
            <a:ext cx="457200" cy="457200"/>
          </a:xfrm>
          <a:prstGeom prst="roundRect">
            <a:avLst>
              <a:gd name="adj" fmla="val 12500"/>
            </a:avLst>
          </a:prstGeom>
          <a:solidFill>
            <a:schemeClr val="accent4"/>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IGW</a:t>
            </a:r>
          </a:p>
        </p:txBody>
      </p:sp>
      <p:sp>
        <p:nvSpPr>
          <p:cNvPr id="24" name="shape s10.22"/>
          <p:cNvSpPr/>
          <p:nvPr/>
        </p:nvSpPr>
        <p:spPr>
          <a:xfrm>
            <a:off x="4229100" y="3048000"/>
            <a:ext cx="571500" cy="571500"/>
          </a:xfrm>
          <a:prstGeom prst="roundRect">
            <a:avLst>
              <a:gd name="adj" fmla="val 10000"/>
            </a:avLst>
          </a:prstGeom>
          <a:solidFill>
            <a:schemeClr val="accent4"/>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ALB</a:t>
            </a:r>
          </a:p>
        </p:txBody>
      </p:sp>
      <p:sp>
        <p:nvSpPr>
          <p:cNvPr id="25" name="shape s10.23"/>
          <p:cNvSpPr/>
          <p:nvPr/>
        </p:nvSpPr>
        <p:spPr>
          <a:xfrm>
            <a:off x="4914900" y="276225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6" name="shape s10.24"/>
          <p:cNvSpPr/>
          <p:nvPr/>
        </p:nvSpPr>
        <p:spPr>
          <a:xfrm>
            <a:off x="4914900" y="430530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7" name="shape s10.25"/>
          <p:cNvSpPr/>
          <p:nvPr/>
        </p:nvSpPr>
        <p:spPr>
          <a:xfrm>
            <a:off x="59436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web-1</a:t>
            </a:r>
          </a:p>
        </p:txBody>
      </p:sp>
      <p:sp>
        <p:nvSpPr>
          <p:cNvPr id="28" name="shape s10.26"/>
          <p:cNvSpPr/>
          <p:nvPr/>
        </p:nvSpPr>
        <p:spPr>
          <a:xfrm>
            <a:off x="73914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web-2</a:t>
            </a:r>
          </a:p>
        </p:txBody>
      </p:sp>
      <p:sp>
        <p:nvSpPr>
          <p:cNvPr id="29" name="shape s10.27"/>
          <p:cNvSpPr/>
          <p:nvPr/>
        </p:nvSpPr>
        <p:spPr>
          <a:xfrm>
            <a:off x="59436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web-3</a:t>
            </a:r>
          </a:p>
        </p:txBody>
      </p:sp>
      <p:sp>
        <p:nvSpPr>
          <p:cNvPr id="30" name="shape s10.28"/>
          <p:cNvSpPr/>
          <p:nvPr/>
        </p:nvSpPr>
        <p:spPr>
          <a:xfrm>
            <a:off x="73914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web-4</a:t>
            </a:r>
          </a:p>
        </p:txBody>
      </p:sp>
      <p:sp>
        <p:nvSpPr>
          <p:cNvPr id="31" name="shape s10.29"/>
          <p:cNvSpPr/>
          <p:nvPr/>
        </p:nvSpPr>
        <p:spPr>
          <a:xfrm>
            <a:off x="9906000" y="2286000"/>
            <a:ext cx="533400" cy="533400"/>
          </a:xfrm>
          <a:prstGeom prst="roundRect">
            <a:avLst>
              <a:gd name="adj" fmla="val 10714"/>
            </a:avLst>
          </a:prstGeom>
          <a:solidFill>
            <a:schemeClr val="accent5"/>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Watch</a:t>
            </a:r>
          </a:p>
        </p:txBody>
      </p:sp>
      <p:sp>
        <p:nvSpPr>
          <p:cNvPr id="32" name="text s10.30"/>
          <p:cNvSpPr txBox="1"/>
          <p:nvPr/>
        </p:nvSpPr>
        <p:spPr>
          <a:xfrm>
            <a:off x="10496550" y="245745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CloudWatch</a:t>
            </a:r>
          </a:p>
        </p:txBody>
      </p:sp>
      <p:sp>
        <p:nvSpPr>
          <p:cNvPr id="33" name="shape s10.31"/>
          <p:cNvSpPr/>
          <p:nvPr/>
        </p:nvSpPr>
        <p:spPr>
          <a:xfrm>
            <a:off x="9906000" y="3714750"/>
            <a:ext cx="533400" cy="533400"/>
          </a:xfrm>
          <a:prstGeom prst="roundRect">
            <a:avLst>
              <a:gd name="adj" fmla="val 10714"/>
            </a:avLst>
          </a:prstGeom>
          <a:solidFill>
            <a:schemeClr val="accent1"/>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Scale</a:t>
            </a:r>
          </a:p>
        </p:txBody>
      </p:sp>
      <p:sp>
        <p:nvSpPr>
          <p:cNvPr id="34" name="text s10.32"/>
          <p:cNvSpPr txBox="1"/>
          <p:nvPr/>
        </p:nvSpPr>
        <p:spPr>
          <a:xfrm>
            <a:off x="10496550" y="388620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Auto Scaling</a:t>
            </a:r>
          </a:p>
        </p:txBody>
      </p:sp>
      <p:sp>
        <p:nvSpPr>
          <p:cNvPr id="35" name="shape s10.40"/>
          <p:cNvSpPr/>
          <p:nvPr/>
        </p:nvSpPr>
        <p:spPr>
          <a:xfrm>
            <a:off x="1866900" y="295275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1</a:t>
            </a:r>
          </a:p>
        </p:txBody>
      </p:sp>
      <p:sp>
        <p:nvSpPr>
          <p:cNvPr id="36" name="shape s10.41"/>
          <p:cNvSpPr/>
          <p:nvPr/>
        </p:nvSpPr>
        <p:spPr>
          <a:xfrm>
            <a:off x="4762500" y="29718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2</a:t>
            </a:r>
          </a:p>
        </p:txBody>
      </p:sp>
      <p:sp>
        <p:nvSpPr>
          <p:cNvPr id="37" name="shape s10.42"/>
          <p:cNvSpPr/>
          <p:nvPr/>
        </p:nvSpPr>
        <p:spPr>
          <a:xfrm>
            <a:off x="8248650" y="25146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3</a:t>
            </a:r>
          </a:p>
        </p:txBody>
      </p:sp>
      <p:sp>
        <p:nvSpPr>
          <p:cNvPr id="38" name="shape s10.43"/>
          <p:cNvSpPr/>
          <p:nvPr/>
        </p:nvSpPr>
        <p:spPr>
          <a:xfrm>
            <a:off x="11010900" y="3276600"/>
            <a:ext cx="228600" cy="228600"/>
          </a:xfrm>
          <a:prstGeom prst="ellipse">
            <a:avLst/>
          </a:prstGeom>
          <a:solidFill>
            <a:schemeClr val="accent5"/>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4</a:t>
            </a:r>
          </a:p>
        </p:txBody>
      </p:sp>
      <p:sp>
        <p:nvSpPr>
          <p:cNvPr id="39" name="shape s10.44.0.0"/>
          <p:cNvSpPr/>
          <p:nvPr/>
        </p:nvSpPr>
        <p:spPr>
          <a:xfrm>
            <a:off x="60960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1</a:t>
            </a:r>
          </a:p>
        </p:txBody>
      </p:sp>
      <p:sp>
        <p:nvSpPr>
          <p:cNvPr id="40" name="h3 s10.44.0.1.0"/>
          <p:cNvSpPr txBox="1"/>
          <p:nvPr/>
        </p:nvSpPr>
        <p:spPr>
          <a:xfrm>
            <a:off x="99060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Edge</a:t>
            </a:r>
          </a:p>
        </p:txBody>
      </p:sp>
      <p:sp>
        <p:nvSpPr>
          <p:cNvPr id="41" name="text s10.44.0.1.1"/>
          <p:cNvSpPr txBox="1"/>
          <p:nvPr/>
        </p:nvSpPr>
        <p:spPr>
          <a:xfrm>
            <a:off x="99060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Only the gateway and ALB face the internet.</a:t>
            </a:r>
          </a:p>
        </p:txBody>
      </p:sp>
      <p:sp>
        <p:nvSpPr>
          <p:cNvPr id="42" name="shape s10.44.1.0"/>
          <p:cNvSpPr/>
          <p:nvPr/>
        </p:nvSpPr>
        <p:spPr>
          <a:xfrm>
            <a:off x="3438525"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2</a:t>
            </a:r>
          </a:p>
        </p:txBody>
      </p:sp>
      <p:sp>
        <p:nvSpPr>
          <p:cNvPr id="43" name="h3 s10.44.1.1.0"/>
          <p:cNvSpPr txBox="1"/>
          <p:nvPr/>
        </p:nvSpPr>
        <p:spPr>
          <a:xfrm>
            <a:off x="381952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Load balancing</a:t>
            </a:r>
          </a:p>
        </p:txBody>
      </p:sp>
      <p:sp>
        <p:nvSpPr>
          <p:cNvPr id="44" name="text s10.44.1.1.1"/>
          <p:cNvSpPr txBox="1"/>
          <p:nvPr/>
        </p:nvSpPr>
        <p:spPr>
          <a:xfrm>
            <a:off x="381952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The ALB health-checks targets across AZs.</a:t>
            </a:r>
          </a:p>
        </p:txBody>
      </p:sp>
      <p:sp>
        <p:nvSpPr>
          <p:cNvPr id="45" name="shape s10.44.2.0"/>
          <p:cNvSpPr/>
          <p:nvPr/>
        </p:nvSpPr>
        <p:spPr>
          <a:xfrm>
            <a:off x="626745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3</a:t>
            </a:r>
          </a:p>
        </p:txBody>
      </p:sp>
      <p:sp>
        <p:nvSpPr>
          <p:cNvPr id="46" name="h3 s10.44.2.1.0"/>
          <p:cNvSpPr txBox="1"/>
          <p:nvPr/>
        </p:nvSpPr>
        <p:spPr>
          <a:xfrm>
            <a:off x="664845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Private instances</a:t>
            </a:r>
          </a:p>
        </p:txBody>
      </p:sp>
      <p:sp>
        <p:nvSpPr>
          <p:cNvPr id="47" name="text s10.44.2.1.1"/>
          <p:cNvSpPr txBox="1"/>
          <p:nvPr/>
        </p:nvSpPr>
        <p:spPr>
          <a:xfrm>
            <a:off x="664845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No public IPs; outbound through NAT.</a:t>
            </a:r>
          </a:p>
        </p:txBody>
      </p:sp>
      <p:sp>
        <p:nvSpPr>
          <p:cNvPr id="48" name="shape s10.44.3.0"/>
          <p:cNvSpPr/>
          <p:nvPr/>
        </p:nvSpPr>
        <p:spPr>
          <a:xfrm>
            <a:off x="9096375" y="5257800"/>
            <a:ext cx="266700" cy="266700"/>
          </a:xfrm>
          <a:prstGeom prst="ellipse">
            <a:avLst/>
          </a:prstGeom>
          <a:solidFill>
            <a:schemeClr val="accent5"/>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4</a:t>
            </a:r>
          </a:p>
        </p:txBody>
      </p:sp>
      <p:sp>
        <p:nvSpPr>
          <p:cNvPr id="49" name="h3 s10.44.3.1.0"/>
          <p:cNvSpPr txBox="1"/>
          <p:nvPr/>
        </p:nvSpPr>
        <p:spPr>
          <a:xfrm>
            <a:off x="947737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Self-healing</a:t>
            </a:r>
          </a:p>
        </p:txBody>
      </p:sp>
      <p:sp>
        <p:nvSpPr>
          <p:cNvPr id="50" name="text s10.44.3.1.1"/>
          <p:cNvSpPr txBox="1"/>
          <p:nvPr/>
        </p:nvSpPr>
        <p:spPr>
          <a:xfrm>
            <a:off x="947737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Alarms scale out and replace instances.</a:t>
            </a:r>
          </a:p>
        </p:txBody>
      </p:sp>
      <p:cxnSp>
        <p:nvCxnSpPr>
          <p:cNvPr id="51" name="connector s10.33"/>
          <p:cNvCxnSpPr>
            <a:stCxn id="22" idx="3"/>
            <a:endCxn id="23" idx="1"/>
          </p:cNvCxnSpPr>
          <p:nvPr/>
        </p:nvCxnSpPr>
        <p:spPr>
          <a:xfrm>
            <a:off x="1104900" y="3333750"/>
            <a:ext cx="1143000" cy="0"/>
          </a:xfrm>
          <a:prstGeom prst="straightConnector1">
            <a:avLst/>
          </a:prstGeom>
          <a:ln w="19050">
            <a:solidFill>
              <a:schemeClr val="tx2"/>
            </a:solidFill>
            <a:prstDash val="dash"/>
            <a:headEnd type="none"/>
            <a:tailEnd type="triangle" w="lg" len="lg"/>
          </a:ln>
        </p:spPr>
      </p:cxnSp>
      <p:cxnSp>
        <p:nvCxnSpPr>
          <p:cNvPr id="52" name="connector s10.34"/>
          <p:cNvCxnSpPr>
            <a:stCxn id="23" idx="3"/>
            <a:endCxn id="24" idx="1"/>
          </p:cNvCxnSpPr>
          <p:nvPr/>
        </p:nvCxnSpPr>
        <p:spPr>
          <a:xfrm>
            <a:off x="2705100" y="3333750"/>
            <a:ext cx="1524000" cy="0"/>
          </a:xfrm>
          <a:prstGeom prst="straightConnector1">
            <a:avLst/>
          </a:prstGeom>
          <a:ln w="19050">
            <a:solidFill>
              <a:schemeClr val="tx2"/>
            </a:solidFill>
            <a:prstDash val="dash"/>
            <a:headEnd type="none"/>
            <a:tailEnd type="triangle" w="lg" len="lg"/>
          </a:ln>
        </p:spPr>
      </p:cxnSp>
      <p:cxnSp>
        <p:nvCxnSpPr>
          <p:cNvPr id="53" name="connector s10.35"/>
          <p:cNvCxnSpPr>
            <a:stCxn id="24" idx="3"/>
            <a:endCxn id="27" idx="1"/>
          </p:cNvCxnSpPr>
          <p:nvPr/>
        </p:nvCxnSpPr>
        <p:spPr>
          <a:xfrm flipV="1">
            <a:off x="4800600" y="3009900"/>
            <a:ext cx="1143000" cy="323850"/>
          </a:xfrm>
          <a:prstGeom prst="curvedConnector3">
            <a:avLst/>
          </a:prstGeom>
          <a:ln w="19050">
            <a:solidFill>
              <a:schemeClr val="tx2"/>
            </a:solidFill>
            <a:prstDash val="dash"/>
            <a:headEnd type="none"/>
            <a:tailEnd type="triangle" w="lg" len="lg"/>
          </a:ln>
        </p:spPr>
      </p:cxnSp>
      <p:cxnSp>
        <p:nvCxnSpPr>
          <p:cNvPr id="54" name="connector s10.36"/>
          <p:cNvCxnSpPr>
            <a:stCxn id="24" idx="3"/>
            <a:endCxn id="29" idx="1"/>
          </p:cNvCxnSpPr>
          <p:nvPr/>
        </p:nvCxnSpPr>
        <p:spPr>
          <a:xfrm>
            <a:off x="4800600" y="3333750"/>
            <a:ext cx="1143000" cy="914400"/>
          </a:xfrm>
          <a:prstGeom prst="curvedConnector3">
            <a:avLst/>
          </a:prstGeom>
          <a:ln w="19050">
            <a:solidFill>
              <a:schemeClr val="tx2"/>
            </a:solidFill>
            <a:prstDash val="dash"/>
            <a:headEnd type="none"/>
            <a:tailEnd type="triangle" w="lg" len="lg"/>
          </a:ln>
        </p:spPr>
      </p:cxnSp>
      <p:cxnSp>
        <p:nvCxnSpPr>
          <p:cNvPr id="55" name="connector s10.37"/>
          <p:cNvCxnSpPr>
            <a:stCxn id="28" idx="3"/>
            <a:endCxn id="31" idx="1"/>
          </p:cNvCxnSpPr>
          <p:nvPr/>
        </p:nvCxnSpPr>
        <p:spPr>
          <a:xfrm flipV="1">
            <a:off x="8382000" y="2552700"/>
            <a:ext cx="1524000" cy="457200"/>
          </a:xfrm>
          <a:prstGeom prst="curvedConnector3">
            <a:avLst/>
          </a:prstGeom>
          <a:ln w="19050">
            <a:solidFill>
              <a:schemeClr val="accent5"/>
            </a:solidFill>
            <a:prstDash val="dash"/>
            <a:headEnd type="none"/>
            <a:tailEnd type="triangle" w="lg" len="lg"/>
          </a:ln>
        </p:spPr>
      </p:cxnSp>
      <p:cxnSp>
        <p:nvCxnSpPr>
          <p:cNvPr id="56" name="connector s10.38"/>
          <p:cNvCxnSpPr>
            <a:stCxn id="31" idx="2"/>
            <a:endCxn id="33" idx="0"/>
          </p:cNvCxnSpPr>
          <p:nvPr/>
        </p:nvCxnSpPr>
        <p:spPr>
          <a:xfrm>
            <a:off x="10172700" y="2819400"/>
            <a:ext cx="0" cy="895350"/>
          </a:xfrm>
          <a:prstGeom prst="straightConnector1">
            <a:avLst/>
          </a:prstGeom>
          <a:ln w="19050">
            <a:solidFill>
              <a:schemeClr val="accent5"/>
            </a:solidFill>
            <a:prstDash val="dash"/>
            <a:headEnd type="none"/>
            <a:tailEnd type="triangle" w="lg" len="lg"/>
          </a:ln>
        </p:spPr>
      </p:cxnSp>
      <p:cxnSp>
        <p:nvCxnSpPr>
          <p:cNvPr id="57" name="connector s10.39"/>
          <p:cNvCxnSpPr>
            <a:stCxn id="33" idx="1"/>
            <a:endCxn id="30" idx="3"/>
          </p:cNvCxnSpPr>
          <p:nvPr/>
        </p:nvCxnSpPr>
        <p:spPr>
          <a:xfrm flipH="1">
            <a:off x="8382000" y="3981450"/>
            <a:ext cx="1524000" cy="266700"/>
          </a:xfrm>
          <a:prstGeom prst="curvedConnector3">
            <a:avLst/>
          </a:prstGeom>
          <a:ln w="19050">
            <a:solidFill>
              <a:schemeClr val="accent5"/>
            </a:solidFill>
            <a:prstDash val="dash"/>
            <a:headEnd type="none"/>
            <a:tailEnd type="triangle" w="lg" len="lg"/>
          </a:ln>
        </p:spPr>
      </p:cxnSp>
      <p:sp>
        <p:nvSpPr>
          <p:cNvPr id="58" name="connector-label s10.38"/>
          <p:cNvSpPr txBox="1"/>
          <p:nvPr/>
        </p:nvSpPr>
        <p:spPr>
          <a:xfrm>
            <a:off x="10229850" y="3147120"/>
            <a:ext cx="46776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alarm</a:t>
            </a:r>
          </a:p>
        </p:txBody>
      </p:sp>
      <p:sp>
        <p:nvSpPr>
          <p:cNvPr id="5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6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11</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15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600"/>
                                        <p:tgtEl>
                                          <p:spTgt spid="24"/>
                                        </p:tgtEl>
                                      </p:cBhvr>
                                    </p:animEffect>
                                    <p:anim calcmode="lin" valueType="num">
                                      <p:cBhvr>
                                        <p:cTn id="8" dur="600" decel="100000" fill="hold"/>
                                        <p:tgtEl>
                                          <p:spTgt spid="24"/>
                                        </p:tgtEl>
                                        <p:attrNameLst>
                                          <p:attrName>ppt_w</p:attrName>
                                        </p:attrNameLst>
                                      </p:cBhvr>
                                      <p:tavLst>
                                        <p:tav tm="0">
                                          <p:val>
                                            <p:strVal val="#ppt_w*0.9"/>
                                          </p:val>
                                        </p:tav>
                                        <p:tav tm="100000">
                                          <p:val>
                                            <p:strVal val="#ppt_w"/>
                                          </p:val>
                                        </p:tav>
                                      </p:tavLst>
                                    </p:anim>
                                    <p:anim calcmode="lin" valueType="num">
                                      <p:cBhvr>
                                        <p:cTn id="9" dur="600" decel="100000" fill="hold"/>
                                        <p:tgtEl>
                                          <p:spTgt spid="24"/>
                                        </p:tgtEl>
                                        <p:attrNameLst>
                                          <p:attrName>ppt_h</p:attrName>
                                        </p:attrNameLst>
                                      </p:cBhvr>
                                      <p:tavLst>
                                        <p:tav tm="0">
                                          <p:val>
                                            <p:strVal val="#ppt_h*0.9"/>
                                          </p:val>
                                        </p:tav>
                                        <p:tav tm="100000">
                                          <p:val>
                                            <p:strVal val="#ppt_h"/>
                                          </p:val>
                                        </p:tav>
                                      </p:tavLst>
                                    </p:anim>
                                  </p:childTnLst>
                                </p:cTn>
                              </p:par>
                              <p:par>
                                <p:cTn id="10" presetID="22" presetClass="entr" presetSubtype="8" fill="hold" grpId="0" nodeType="withEffect">
                                  <p:stCondLst>
                                    <p:cond delay="24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600"/>
                                        <p:tgtEl>
                                          <p:spTgt spid="51"/>
                                        </p:tgtEl>
                                      </p:cBhvr>
                                    </p:animEffect>
                                  </p:childTnLst>
                                </p:cTn>
                              </p:par>
                              <p:par>
                                <p:cTn id="13" presetID="22" presetClass="entr" presetSubtype="8" fill="hold" grpId="0" nodeType="withEffect">
                                  <p:stCondLst>
                                    <p:cond delay="330"/>
                                  </p:stCondLst>
                                  <p:childTnLst>
                                    <p:set>
                                      <p:cBhvr>
                                        <p:cTn id="14" dur="1" fill="hold">
                                          <p:stCondLst>
                                            <p:cond delay="0"/>
                                          </p:stCondLst>
                                        </p:cTn>
                                        <p:tgtEl>
                                          <p:spTgt spid="52"/>
                                        </p:tgtEl>
                                        <p:attrNameLst>
                                          <p:attrName>style.visibility</p:attrName>
                                        </p:attrNameLst>
                                      </p:cBhvr>
                                      <p:to>
                                        <p:strVal val="visible"/>
                                      </p:to>
                                    </p:set>
                                    <p:animEffect transition="in" filter="wipe(left)">
                                      <p:cBhvr>
                                        <p:cTn id="15" dur="600"/>
                                        <p:tgtEl>
                                          <p:spTgt spid="52"/>
                                        </p:tgtEl>
                                      </p:cBhvr>
                                    </p:animEffect>
                                  </p:childTnLst>
                                </p:cTn>
                              </p:par>
                              <p:par>
                                <p:cTn id="16" presetID="22" presetClass="entr" presetSubtype="8" fill="hold" grpId="0" nodeType="withEffect">
                                  <p:stCondLst>
                                    <p:cond delay="420"/>
                                  </p:stCondLst>
                                  <p:childTnLst>
                                    <p:set>
                                      <p:cBhvr>
                                        <p:cTn id="17" dur="1" fill="hold">
                                          <p:stCondLst>
                                            <p:cond delay="0"/>
                                          </p:stCondLst>
                                        </p:cTn>
                                        <p:tgtEl>
                                          <p:spTgt spid="53"/>
                                        </p:tgtEl>
                                        <p:attrNameLst>
                                          <p:attrName>style.visibility</p:attrName>
                                        </p:attrNameLst>
                                      </p:cBhvr>
                                      <p:to>
                                        <p:strVal val="visible"/>
                                      </p:to>
                                    </p:set>
                                    <p:animEffect transition="in" filter="wipe(left)">
                                      <p:cBhvr>
                                        <p:cTn id="18" dur="600"/>
                                        <p:tgtEl>
                                          <p:spTgt spid="53"/>
                                        </p:tgtEl>
                                      </p:cBhvr>
                                    </p:animEffect>
                                  </p:childTnLst>
                                </p:cTn>
                              </p:par>
                              <p:par>
                                <p:cTn id="19" presetID="22" presetClass="entr" presetSubtype="8" fill="hold" grpId="0" nodeType="withEffect">
                                  <p:stCondLst>
                                    <p:cond delay="510"/>
                                  </p:stCondLst>
                                  <p:childTnLst>
                                    <p:set>
                                      <p:cBhvr>
                                        <p:cTn id="20" dur="1" fill="hold">
                                          <p:stCondLst>
                                            <p:cond delay="0"/>
                                          </p:stCondLst>
                                        </p:cTn>
                                        <p:tgtEl>
                                          <p:spTgt spid="54"/>
                                        </p:tgtEl>
                                        <p:attrNameLst>
                                          <p:attrName>style.visibility</p:attrName>
                                        </p:attrNameLst>
                                      </p:cBhvr>
                                      <p:to>
                                        <p:strVal val="visible"/>
                                      </p:to>
                                    </p:set>
                                    <p:animEffect transition="in" filter="wipe(left)">
                                      <p:cBhvr>
                                        <p:cTn id="21" dur="600"/>
                                        <p:tgtEl>
                                          <p:spTgt spid="54"/>
                                        </p:tgtEl>
                                      </p:cBhvr>
                                    </p:animEffect>
                                  </p:childTnLst>
                                </p:cTn>
                              </p:par>
                              <p:par>
                                <p:cTn id="22" presetID="22" presetClass="entr" presetSubtype="8" fill="hold" grpId="0" nodeType="withEffect">
                                  <p:stCondLst>
                                    <p:cond delay="600"/>
                                  </p:stCondLst>
                                  <p:childTnLst>
                                    <p:set>
                                      <p:cBhvr>
                                        <p:cTn id="23" dur="1" fill="hold">
                                          <p:stCondLst>
                                            <p:cond delay="0"/>
                                          </p:stCondLst>
                                        </p:cTn>
                                        <p:tgtEl>
                                          <p:spTgt spid="55"/>
                                        </p:tgtEl>
                                        <p:attrNameLst>
                                          <p:attrName>style.visibility</p:attrName>
                                        </p:attrNameLst>
                                      </p:cBhvr>
                                      <p:to>
                                        <p:strVal val="visible"/>
                                      </p:to>
                                    </p:set>
                                    <p:animEffect transition="in" filter="wipe(left)">
                                      <p:cBhvr>
                                        <p:cTn id="24" dur="600"/>
                                        <p:tgtEl>
                                          <p:spTgt spid="55"/>
                                        </p:tgtEl>
                                      </p:cBhvr>
                                    </p:animEffect>
                                  </p:childTnLst>
                                </p:cTn>
                              </p:par>
                              <p:par>
                                <p:cTn id="25" presetID="22" presetClass="entr" presetSubtype="1" fill="hold" grpId="0" nodeType="withEffect">
                                  <p:stCondLst>
                                    <p:cond delay="690"/>
                                  </p:stCondLst>
                                  <p:childTnLst>
                                    <p:set>
                                      <p:cBhvr>
                                        <p:cTn id="26" dur="1" fill="hold">
                                          <p:stCondLst>
                                            <p:cond delay="0"/>
                                          </p:stCondLst>
                                        </p:cTn>
                                        <p:tgtEl>
                                          <p:spTgt spid="56"/>
                                        </p:tgtEl>
                                        <p:attrNameLst>
                                          <p:attrName>style.visibility</p:attrName>
                                        </p:attrNameLst>
                                      </p:cBhvr>
                                      <p:to>
                                        <p:strVal val="visible"/>
                                      </p:to>
                                    </p:set>
                                    <p:animEffect transition="in" filter="wipe(up)">
                                      <p:cBhvr>
                                        <p:cTn id="27" dur="600"/>
                                        <p:tgtEl>
                                          <p:spTgt spid="56"/>
                                        </p:tgtEl>
                                      </p:cBhvr>
                                    </p:animEffect>
                                  </p:childTnLst>
                                </p:cTn>
                              </p:par>
                              <p:par>
                                <p:cTn id="28" presetID="10" presetClass="entr" presetSubtype="0" fill="hold" grpId="0" nodeType="withEffect">
                                  <p:stCondLst>
                                    <p:cond delay="690"/>
                                  </p:stCondLst>
                                  <p:childTnLst>
                                    <p:set>
                                      <p:cBhvr>
                                        <p:cTn id="29" dur="1" fill="hold">
                                          <p:stCondLst>
                                            <p:cond delay="0"/>
                                          </p:stCondLst>
                                        </p:cTn>
                                        <p:tgtEl>
                                          <p:spTgt spid="58"/>
                                        </p:tgtEl>
                                        <p:attrNameLst>
                                          <p:attrName>style.visibility</p:attrName>
                                        </p:attrNameLst>
                                      </p:cBhvr>
                                      <p:to>
                                        <p:strVal val="visible"/>
                                      </p:to>
                                    </p:set>
                                    <p:animEffect transition="in" filter="fade">
                                      <p:cBhvr>
                                        <p:cTn id="30" dur="600"/>
                                        <p:tgtEl>
                                          <p:spTgt spid="58"/>
                                        </p:tgtEl>
                                      </p:cBhvr>
                                    </p:animEffect>
                                  </p:childTnLst>
                                </p:cTn>
                              </p:par>
                              <p:par>
                                <p:cTn id="31" presetID="22" presetClass="entr" presetSubtype="2" fill="hold" grpId="0" nodeType="withEffect">
                                  <p:stCondLst>
                                    <p:cond delay="780"/>
                                  </p:stCondLst>
                                  <p:childTnLst>
                                    <p:set>
                                      <p:cBhvr>
                                        <p:cTn id="32" dur="1" fill="hold">
                                          <p:stCondLst>
                                            <p:cond delay="0"/>
                                          </p:stCondLst>
                                        </p:cTn>
                                        <p:tgtEl>
                                          <p:spTgt spid="57"/>
                                        </p:tgtEl>
                                        <p:attrNameLst>
                                          <p:attrName>style.visibility</p:attrName>
                                        </p:attrNameLst>
                                      </p:cBhvr>
                                      <p:to>
                                        <p:strVal val="visible"/>
                                      </p:to>
                                    </p:set>
                                    <p:animEffect transition="in" filter="wipe(right)">
                                      <p:cBhvr>
                                        <p:cTn id="33" dur="600"/>
                                        <p:tgtEl>
                                          <p:spTgt spid="57"/>
                                        </p:tgtEl>
                                      </p:cBhvr>
                                    </p:animEffect>
                                  </p:childTnLst>
                                </p:cTn>
                              </p:par>
                              <p:par>
                                <p:cTn id="34" presetID="42" presetClass="entr" presetSubtype="0" fill="hold" grpId="0" nodeType="withEffect">
                                  <p:stCondLst>
                                    <p:cond delay="870"/>
                                  </p:stCondLst>
                                  <p:childTnLst>
                                    <p:set>
                                      <p:cBhvr>
                                        <p:cTn id="35" dur="1" fill="hold">
                                          <p:stCondLst>
                                            <p:cond delay="0"/>
                                          </p:stCondLst>
                                        </p:cTn>
                                        <p:tgtEl>
                                          <p:spTgt spid="39"/>
                                        </p:tgtEl>
                                        <p:attrNameLst>
                                          <p:attrName>style.visibility</p:attrName>
                                        </p:attrNameLst>
                                      </p:cBhvr>
                                      <p:to>
                                        <p:strVal val="visible"/>
                                      </p:to>
                                    </p:set>
                                    <p:animEffect transition="in" filter="fade">
                                      <p:cBhvr>
                                        <p:cTn id="36" dur="600"/>
                                        <p:tgtEl>
                                          <p:spTgt spid="39"/>
                                        </p:tgtEl>
                                      </p:cBhvr>
                                    </p:animEffect>
                                    <p:anim calcmode="lin" valueType="num">
                                      <p:cBhvr>
                                        <p:cTn id="37" dur="600" decel="100000" fill="hold"/>
                                        <p:tgtEl>
                                          <p:spTgt spid="39"/>
                                        </p:tgtEl>
                                        <p:attrNameLst>
                                          <p:attrName>ppt_x</p:attrName>
                                        </p:attrNameLst>
                                      </p:cBhvr>
                                      <p:tavLst>
                                        <p:tav tm="0">
                                          <p:val>
                                            <p:strVal val="#ppt_x"/>
                                          </p:val>
                                        </p:tav>
                                        <p:tav tm="100000">
                                          <p:val>
                                            <p:strVal val="#ppt_x"/>
                                          </p:val>
                                        </p:tav>
                                      </p:tavLst>
                                    </p:anim>
                                    <p:anim calcmode="lin" valueType="num">
                                      <p:cBhvr>
                                        <p:cTn id="38" dur="600" decel="100000" fill="hold"/>
                                        <p:tgtEl>
                                          <p:spTgt spid="39"/>
                                        </p:tgtEl>
                                        <p:attrNameLst>
                                          <p:attrName>ppt_y</p:attrName>
                                        </p:attrNameLst>
                                      </p:cBhvr>
                                      <p:tavLst>
                                        <p:tav tm="0">
                                          <p:val>
                                            <p:strVal val="#ppt_y+0.0333"/>
                                          </p:val>
                                        </p:tav>
                                        <p:tav tm="100000">
                                          <p:val>
                                            <p:strVal val="#ppt_y"/>
                                          </p:val>
                                        </p:tav>
                                      </p:tavLst>
                                    </p:anim>
                                  </p:childTnLst>
                                </p:cTn>
                              </p:par>
                              <p:par>
                                <p:cTn id="39" presetID="42" presetClass="entr" presetSubtype="0" fill="hold" grpId="0" nodeType="withEffect">
                                  <p:stCondLst>
                                    <p:cond delay="87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600"/>
                                        <p:tgtEl>
                                          <p:spTgt spid="40"/>
                                        </p:tgtEl>
                                      </p:cBhvr>
                                    </p:animEffect>
                                    <p:anim calcmode="lin" valueType="num">
                                      <p:cBhvr>
                                        <p:cTn id="42" dur="600" decel="100000" fill="hold"/>
                                        <p:tgtEl>
                                          <p:spTgt spid="40"/>
                                        </p:tgtEl>
                                        <p:attrNameLst>
                                          <p:attrName>ppt_x</p:attrName>
                                        </p:attrNameLst>
                                      </p:cBhvr>
                                      <p:tavLst>
                                        <p:tav tm="0">
                                          <p:val>
                                            <p:strVal val="#ppt_x"/>
                                          </p:val>
                                        </p:tav>
                                        <p:tav tm="100000">
                                          <p:val>
                                            <p:strVal val="#ppt_x"/>
                                          </p:val>
                                        </p:tav>
                                      </p:tavLst>
                                    </p:anim>
                                    <p:anim calcmode="lin" valueType="num">
                                      <p:cBhvr>
                                        <p:cTn id="43" dur="600" decel="100000" fill="hold"/>
                                        <p:tgtEl>
                                          <p:spTgt spid="40"/>
                                        </p:tgtEl>
                                        <p:attrNameLst>
                                          <p:attrName>ppt_y</p:attrName>
                                        </p:attrNameLst>
                                      </p:cBhvr>
                                      <p:tavLst>
                                        <p:tav tm="0">
                                          <p:val>
                                            <p:strVal val="#ppt_y+0.0333"/>
                                          </p:val>
                                        </p:tav>
                                        <p:tav tm="100000">
                                          <p:val>
                                            <p:strVal val="#ppt_y"/>
                                          </p:val>
                                        </p:tav>
                                      </p:tavLst>
                                    </p:anim>
                                  </p:childTnLst>
                                </p:cTn>
                              </p:par>
                              <p:par>
                                <p:cTn id="44" presetID="42" presetClass="entr" presetSubtype="0" fill="hold" grpId="0" nodeType="withEffect">
                                  <p:stCondLst>
                                    <p:cond delay="870"/>
                                  </p:stCondLst>
                                  <p:childTnLst>
                                    <p:set>
                                      <p:cBhvr>
                                        <p:cTn id="45" dur="1" fill="hold">
                                          <p:stCondLst>
                                            <p:cond delay="0"/>
                                          </p:stCondLst>
                                        </p:cTn>
                                        <p:tgtEl>
                                          <p:spTgt spid="41"/>
                                        </p:tgtEl>
                                        <p:attrNameLst>
                                          <p:attrName>style.visibility</p:attrName>
                                        </p:attrNameLst>
                                      </p:cBhvr>
                                      <p:to>
                                        <p:strVal val="visible"/>
                                      </p:to>
                                    </p:set>
                                    <p:animEffect transition="in" filter="fade">
                                      <p:cBhvr>
                                        <p:cTn id="46" dur="600"/>
                                        <p:tgtEl>
                                          <p:spTgt spid="41"/>
                                        </p:tgtEl>
                                      </p:cBhvr>
                                    </p:animEffect>
                                    <p:anim calcmode="lin" valueType="num">
                                      <p:cBhvr>
                                        <p:cTn id="47" dur="600" decel="100000" fill="hold"/>
                                        <p:tgtEl>
                                          <p:spTgt spid="41"/>
                                        </p:tgtEl>
                                        <p:attrNameLst>
                                          <p:attrName>ppt_x</p:attrName>
                                        </p:attrNameLst>
                                      </p:cBhvr>
                                      <p:tavLst>
                                        <p:tav tm="0">
                                          <p:val>
                                            <p:strVal val="#ppt_x"/>
                                          </p:val>
                                        </p:tav>
                                        <p:tav tm="100000">
                                          <p:val>
                                            <p:strVal val="#ppt_x"/>
                                          </p:val>
                                        </p:tav>
                                      </p:tavLst>
                                    </p:anim>
                                    <p:anim calcmode="lin" valueType="num">
                                      <p:cBhvr>
                                        <p:cTn id="48" dur="600" decel="100000" fill="hold"/>
                                        <p:tgtEl>
                                          <p:spTgt spid="41"/>
                                        </p:tgtEl>
                                        <p:attrNameLst>
                                          <p:attrName>ppt_y</p:attrName>
                                        </p:attrNameLst>
                                      </p:cBhvr>
                                      <p:tavLst>
                                        <p:tav tm="0">
                                          <p:val>
                                            <p:strVal val="#ppt_y+0.0333"/>
                                          </p:val>
                                        </p:tav>
                                        <p:tav tm="100000">
                                          <p:val>
                                            <p:strVal val="#ppt_y"/>
                                          </p:val>
                                        </p:tav>
                                      </p:tavLst>
                                    </p:anim>
                                  </p:childTnLst>
                                </p:cTn>
                              </p:par>
                              <p:par>
                                <p:cTn id="49" presetID="42" presetClass="entr" presetSubtype="0" fill="hold" grpId="0" nodeType="withEffect">
                                  <p:stCondLst>
                                    <p:cond delay="960"/>
                                  </p:stCondLst>
                                  <p:childTnLst>
                                    <p:set>
                                      <p:cBhvr>
                                        <p:cTn id="50" dur="1" fill="hold">
                                          <p:stCondLst>
                                            <p:cond delay="0"/>
                                          </p:stCondLst>
                                        </p:cTn>
                                        <p:tgtEl>
                                          <p:spTgt spid="42"/>
                                        </p:tgtEl>
                                        <p:attrNameLst>
                                          <p:attrName>style.visibility</p:attrName>
                                        </p:attrNameLst>
                                      </p:cBhvr>
                                      <p:to>
                                        <p:strVal val="visible"/>
                                      </p:to>
                                    </p:set>
                                    <p:animEffect transition="in" filter="fade">
                                      <p:cBhvr>
                                        <p:cTn id="51" dur="600"/>
                                        <p:tgtEl>
                                          <p:spTgt spid="42"/>
                                        </p:tgtEl>
                                      </p:cBhvr>
                                    </p:animEffect>
                                    <p:anim calcmode="lin" valueType="num">
                                      <p:cBhvr>
                                        <p:cTn id="52" dur="600" decel="100000" fill="hold"/>
                                        <p:tgtEl>
                                          <p:spTgt spid="42"/>
                                        </p:tgtEl>
                                        <p:attrNameLst>
                                          <p:attrName>ppt_x</p:attrName>
                                        </p:attrNameLst>
                                      </p:cBhvr>
                                      <p:tavLst>
                                        <p:tav tm="0">
                                          <p:val>
                                            <p:strVal val="#ppt_x"/>
                                          </p:val>
                                        </p:tav>
                                        <p:tav tm="100000">
                                          <p:val>
                                            <p:strVal val="#ppt_x"/>
                                          </p:val>
                                        </p:tav>
                                      </p:tavLst>
                                    </p:anim>
                                    <p:anim calcmode="lin" valueType="num">
                                      <p:cBhvr>
                                        <p:cTn id="53" dur="600" decel="100000" fill="hold"/>
                                        <p:tgtEl>
                                          <p:spTgt spid="42"/>
                                        </p:tgtEl>
                                        <p:attrNameLst>
                                          <p:attrName>ppt_y</p:attrName>
                                        </p:attrNameLst>
                                      </p:cBhvr>
                                      <p:tavLst>
                                        <p:tav tm="0">
                                          <p:val>
                                            <p:strVal val="#ppt_y+0.0333"/>
                                          </p:val>
                                        </p:tav>
                                        <p:tav tm="100000">
                                          <p:val>
                                            <p:strVal val="#ppt_y"/>
                                          </p:val>
                                        </p:tav>
                                      </p:tavLst>
                                    </p:anim>
                                  </p:childTnLst>
                                </p:cTn>
                              </p:par>
                              <p:par>
                                <p:cTn id="54" presetID="42" presetClass="entr" presetSubtype="0" fill="hold" grpId="0" nodeType="withEffect">
                                  <p:stCondLst>
                                    <p:cond delay="960"/>
                                  </p:stCondLst>
                                  <p:childTnLst>
                                    <p:set>
                                      <p:cBhvr>
                                        <p:cTn id="55" dur="1" fill="hold">
                                          <p:stCondLst>
                                            <p:cond delay="0"/>
                                          </p:stCondLst>
                                        </p:cTn>
                                        <p:tgtEl>
                                          <p:spTgt spid="43"/>
                                        </p:tgtEl>
                                        <p:attrNameLst>
                                          <p:attrName>style.visibility</p:attrName>
                                        </p:attrNameLst>
                                      </p:cBhvr>
                                      <p:to>
                                        <p:strVal val="visible"/>
                                      </p:to>
                                    </p:set>
                                    <p:animEffect transition="in" filter="fade">
                                      <p:cBhvr>
                                        <p:cTn id="56" dur="600"/>
                                        <p:tgtEl>
                                          <p:spTgt spid="43"/>
                                        </p:tgtEl>
                                      </p:cBhvr>
                                    </p:animEffect>
                                    <p:anim calcmode="lin" valueType="num">
                                      <p:cBhvr>
                                        <p:cTn id="57" dur="600" decel="100000" fill="hold"/>
                                        <p:tgtEl>
                                          <p:spTgt spid="43"/>
                                        </p:tgtEl>
                                        <p:attrNameLst>
                                          <p:attrName>ppt_x</p:attrName>
                                        </p:attrNameLst>
                                      </p:cBhvr>
                                      <p:tavLst>
                                        <p:tav tm="0">
                                          <p:val>
                                            <p:strVal val="#ppt_x"/>
                                          </p:val>
                                        </p:tav>
                                        <p:tav tm="100000">
                                          <p:val>
                                            <p:strVal val="#ppt_x"/>
                                          </p:val>
                                        </p:tav>
                                      </p:tavLst>
                                    </p:anim>
                                    <p:anim calcmode="lin" valueType="num">
                                      <p:cBhvr>
                                        <p:cTn id="58" dur="600" decel="100000" fill="hold"/>
                                        <p:tgtEl>
                                          <p:spTgt spid="43"/>
                                        </p:tgtEl>
                                        <p:attrNameLst>
                                          <p:attrName>ppt_y</p:attrName>
                                        </p:attrNameLst>
                                      </p:cBhvr>
                                      <p:tavLst>
                                        <p:tav tm="0">
                                          <p:val>
                                            <p:strVal val="#ppt_y+0.0333"/>
                                          </p:val>
                                        </p:tav>
                                        <p:tav tm="100000">
                                          <p:val>
                                            <p:strVal val="#ppt_y"/>
                                          </p:val>
                                        </p:tav>
                                      </p:tavLst>
                                    </p:anim>
                                  </p:childTnLst>
                                </p:cTn>
                              </p:par>
                              <p:par>
                                <p:cTn id="59" presetID="42" presetClass="entr" presetSubtype="0" fill="hold" grpId="0" nodeType="withEffect">
                                  <p:stCondLst>
                                    <p:cond delay="96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600"/>
                                        <p:tgtEl>
                                          <p:spTgt spid="44"/>
                                        </p:tgtEl>
                                      </p:cBhvr>
                                    </p:animEffect>
                                    <p:anim calcmode="lin" valueType="num">
                                      <p:cBhvr>
                                        <p:cTn id="62" dur="600" decel="100000" fill="hold"/>
                                        <p:tgtEl>
                                          <p:spTgt spid="44"/>
                                        </p:tgtEl>
                                        <p:attrNameLst>
                                          <p:attrName>ppt_x</p:attrName>
                                        </p:attrNameLst>
                                      </p:cBhvr>
                                      <p:tavLst>
                                        <p:tav tm="0">
                                          <p:val>
                                            <p:strVal val="#ppt_x"/>
                                          </p:val>
                                        </p:tav>
                                        <p:tav tm="100000">
                                          <p:val>
                                            <p:strVal val="#ppt_x"/>
                                          </p:val>
                                        </p:tav>
                                      </p:tavLst>
                                    </p:anim>
                                    <p:anim calcmode="lin" valueType="num">
                                      <p:cBhvr>
                                        <p:cTn id="63" dur="600" decel="100000" fill="hold"/>
                                        <p:tgtEl>
                                          <p:spTgt spid="44"/>
                                        </p:tgtEl>
                                        <p:attrNameLst>
                                          <p:attrName>ppt_y</p:attrName>
                                        </p:attrNameLst>
                                      </p:cBhvr>
                                      <p:tavLst>
                                        <p:tav tm="0">
                                          <p:val>
                                            <p:strVal val="#ppt_y+0.0333"/>
                                          </p:val>
                                        </p:tav>
                                        <p:tav tm="100000">
                                          <p:val>
                                            <p:strVal val="#ppt_y"/>
                                          </p:val>
                                        </p:tav>
                                      </p:tavLst>
                                    </p:anim>
                                  </p:childTnLst>
                                </p:cTn>
                              </p:par>
                              <p:par>
                                <p:cTn id="64" presetID="42" presetClass="entr" presetSubtype="0" fill="hold" grpId="0" nodeType="withEffect">
                                  <p:stCondLst>
                                    <p:cond delay="105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600"/>
                                        <p:tgtEl>
                                          <p:spTgt spid="45"/>
                                        </p:tgtEl>
                                      </p:cBhvr>
                                    </p:animEffect>
                                    <p:anim calcmode="lin" valueType="num">
                                      <p:cBhvr>
                                        <p:cTn id="67" dur="600" decel="100000" fill="hold"/>
                                        <p:tgtEl>
                                          <p:spTgt spid="45"/>
                                        </p:tgtEl>
                                        <p:attrNameLst>
                                          <p:attrName>ppt_x</p:attrName>
                                        </p:attrNameLst>
                                      </p:cBhvr>
                                      <p:tavLst>
                                        <p:tav tm="0">
                                          <p:val>
                                            <p:strVal val="#ppt_x"/>
                                          </p:val>
                                        </p:tav>
                                        <p:tav tm="100000">
                                          <p:val>
                                            <p:strVal val="#ppt_x"/>
                                          </p:val>
                                        </p:tav>
                                      </p:tavLst>
                                    </p:anim>
                                    <p:anim calcmode="lin" valueType="num">
                                      <p:cBhvr>
                                        <p:cTn id="68" dur="600" decel="100000" fill="hold"/>
                                        <p:tgtEl>
                                          <p:spTgt spid="45"/>
                                        </p:tgtEl>
                                        <p:attrNameLst>
                                          <p:attrName>ppt_y</p:attrName>
                                        </p:attrNameLst>
                                      </p:cBhvr>
                                      <p:tavLst>
                                        <p:tav tm="0">
                                          <p:val>
                                            <p:strVal val="#ppt_y+0.0333"/>
                                          </p:val>
                                        </p:tav>
                                        <p:tav tm="100000">
                                          <p:val>
                                            <p:strVal val="#ppt_y"/>
                                          </p:val>
                                        </p:tav>
                                      </p:tavLst>
                                    </p:anim>
                                  </p:childTnLst>
                                </p:cTn>
                              </p:par>
                              <p:par>
                                <p:cTn id="69" presetID="42" presetClass="entr" presetSubtype="0" fill="hold" grpId="0" nodeType="withEffect">
                                  <p:stCondLst>
                                    <p:cond delay="105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600"/>
                                        <p:tgtEl>
                                          <p:spTgt spid="46"/>
                                        </p:tgtEl>
                                      </p:cBhvr>
                                    </p:animEffect>
                                    <p:anim calcmode="lin" valueType="num">
                                      <p:cBhvr>
                                        <p:cTn id="72" dur="600" decel="100000" fill="hold"/>
                                        <p:tgtEl>
                                          <p:spTgt spid="46"/>
                                        </p:tgtEl>
                                        <p:attrNameLst>
                                          <p:attrName>ppt_x</p:attrName>
                                        </p:attrNameLst>
                                      </p:cBhvr>
                                      <p:tavLst>
                                        <p:tav tm="0">
                                          <p:val>
                                            <p:strVal val="#ppt_x"/>
                                          </p:val>
                                        </p:tav>
                                        <p:tav tm="100000">
                                          <p:val>
                                            <p:strVal val="#ppt_x"/>
                                          </p:val>
                                        </p:tav>
                                      </p:tavLst>
                                    </p:anim>
                                    <p:anim calcmode="lin" valueType="num">
                                      <p:cBhvr>
                                        <p:cTn id="73" dur="600" decel="100000" fill="hold"/>
                                        <p:tgtEl>
                                          <p:spTgt spid="46"/>
                                        </p:tgtEl>
                                        <p:attrNameLst>
                                          <p:attrName>ppt_y</p:attrName>
                                        </p:attrNameLst>
                                      </p:cBhvr>
                                      <p:tavLst>
                                        <p:tav tm="0">
                                          <p:val>
                                            <p:strVal val="#ppt_y+0.0333"/>
                                          </p:val>
                                        </p:tav>
                                        <p:tav tm="100000">
                                          <p:val>
                                            <p:strVal val="#ppt_y"/>
                                          </p:val>
                                        </p:tav>
                                      </p:tavLst>
                                    </p:anim>
                                  </p:childTnLst>
                                </p:cTn>
                              </p:par>
                              <p:par>
                                <p:cTn id="74" presetID="42" presetClass="entr" presetSubtype="0" fill="hold" grpId="0" nodeType="withEffect">
                                  <p:stCondLst>
                                    <p:cond delay="1050"/>
                                  </p:stCondLst>
                                  <p:childTnLst>
                                    <p:set>
                                      <p:cBhvr>
                                        <p:cTn id="75" dur="1" fill="hold">
                                          <p:stCondLst>
                                            <p:cond delay="0"/>
                                          </p:stCondLst>
                                        </p:cTn>
                                        <p:tgtEl>
                                          <p:spTgt spid="47"/>
                                        </p:tgtEl>
                                        <p:attrNameLst>
                                          <p:attrName>style.visibility</p:attrName>
                                        </p:attrNameLst>
                                      </p:cBhvr>
                                      <p:to>
                                        <p:strVal val="visible"/>
                                      </p:to>
                                    </p:set>
                                    <p:animEffect transition="in" filter="fade">
                                      <p:cBhvr>
                                        <p:cTn id="76" dur="600"/>
                                        <p:tgtEl>
                                          <p:spTgt spid="47"/>
                                        </p:tgtEl>
                                      </p:cBhvr>
                                    </p:animEffect>
                                    <p:anim calcmode="lin" valueType="num">
                                      <p:cBhvr>
                                        <p:cTn id="77" dur="600" decel="100000" fill="hold"/>
                                        <p:tgtEl>
                                          <p:spTgt spid="47"/>
                                        </p:tgtEl>
                                        <p:attrNameLst>
                                          <p:attrName>ppt_x</p:attrName>
                                        </p:attrNameLst>
                                      </p:cBhvr>
                                      <p:tavLst>
                                        <p:tav tm="0">
                                          <p:val>
                                            <p:strVal val="#ppt_x"/>
                                          </p:val>
                                        </p:tav>
                                        <p:tav tm="100000">
                                          <p:val>
                                            <p:strVal val="#ppt_x"/>
                                          </p:val>
                                        </p:tav>
                                      </p:tavLst>
                                    </p:anim>
                                    <p:anim calcmode="lin" valueType="num">
                                      <p:cBhvr>
                                        <p:cTn id="78" dur="600" decel="100000" fill="hold"/>
                                        <p:tgtEl>
                                          <p:spTgt spid="47"/>
                                        </p:tgtEl>
                                        <p:attrNameLst>
                                          <p:attrName>ppt_y</p:attrName>
                                        </p:attrNameLst>
                                      </p:cBhvr>
                                      <p:tavLst>
                                        <p:tav tm="0">
                                          <p:val>
                                            <p:strVal val="#ppt_y+0.0333"/>
                                          </p:val>
                                        </p:tav>
                                        <p:tav tm="100000">
                                          <p:val>
                                            <p:strVal val="#ppt_y"/>
                                          </p:val>
                                        </p:tav>
                                      </p:tavLst>
                                    </p:anim>
                                  </p:childTnLst>
                                </p:cTn>
                              </p:par>
                              <p:par>
                                <p:cTn id="79" presetID="42" presetClass="entr" presetSubtype="0" fill="hold" grpId="0" nodeType="withEffect">
                                  <p:stCondLst>
                                    <p:cond delay="1140"/>
                                  </p:stCondLst>
                                  <p:childTnLst>
                                    <p:set>
                                      <p:cBhvr>
                                        <p:cTn id="80" dur="1" fill="hold">
                                          <p:stCondLst>
                                            <p:cond delay="0"/>
                                          </p:stCondLst>
                                        </p:cTn>
                                        <p:tgtEl>
                                          <p:spTgt spid="48"/>
                                        </p:tgtEl>
                                        <p:attrNameLst>
                                          <p:attrName>style.visibility</p:attrName>
                                        </p:attrNameLst>
                                      </p:cBhvr>
                                      <p:to>
                                        <p:strVal val="visible"/>
                                      </p:to>
                                    </p:set>
                                    <p:animEffect transition="in" filter="fade">
                                      <p:cBhvr>
                                        <p:cTn id="81" dur="600"/>
                                        <p:tgtEl>
                                          <p:spTgt spid="48"/>
                                        </p:tgtEl>
                                      </p:cBhvr>
                                    </p:animEffect>
                                    <p:anim calcmode="lin" valueType="num">
                                      <p:cBhvr>
                                        <p:cTn id="82" dur="600" decel="100000" fill="hold"/>
                                        <p:tgtEl>
                                          <p:spTgt spid="48"/>
                                        </p:tgtEl>
                                        <p:attrNameLst>
                                          <p:attrName>ppt_x</p:attrName>
                                        </p:attrNameLst>
                                      </p:cBhvr>
                                      <p:tavLst>
                                        <p:tav tm="0">
                                          <p:val>
                                            <p:strVal val="#ppt_x"/>
                                          </p:val>
                                        </p:tav>
                                        <p:tav tm="100000">
                                          <p:val>
                                            <p:strVal val="#ppt_x"/>
                                          </p:val>
                                        </p:tav>
                                      </p:tavLst>
                                    </p:anim>
                                    <p:anim calcmode="lin" valueType="num">
                                      <p:cBhvr>
                                        <p:cTn id="83" dur="600" decel="100000" fill="hold"/>
                                        <p:tgtEl>
                                          <p:spTgt spid="48"/>
                                        </p:tgtEl>
                                        <p:attrNameLst>
                                          <p:attrName>ppt_y</p:attrName>
                                        </p:attrNameLst>
                                      </p:cBhvr>
                                      <p:tavLst>
                                        <p:tav tm="0">
                                          <p:val>
                                            <p:strVal val="#ppt_y+0.0333"/>
                                          </p:val>
                                        </p:tav>
                                        <p:tav tm="100000">
                                          <p:val>
                                            <p:strVal val="#ppt_y"/>
                                          </p:val>
                                        </p:tav>
                                      </p:tavLst>
                                    </p:anim>
                                  </p:childTnLst>
                                </p:cTn>
                              </p:par>
                              <p:par>
                                <p:cTn id="84" presetID="42" presetClass="entr" presetSubtype="0" fill="hold" grpId="0" nodeType="withEffect">
                                  <p:stCondLst>
                                    <p:cond delay="114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600"/>
                                        <p:tgtEl>
                                          <p:spTgt spid="49"/>
                                        </p:tgtEl>
                                      </p:cBhvr>
                                    </p:animEffect>
                                    <p:anim calcmode="lin" valueType="num">
                                      <p:cBhvr>
                                        <p:cTn id="87" dur="600" decel="100000" fill="hold"/>
                                        <p:tgtEl>
                                          <p:spTgt spid="49"/>
                                        </p:tgtEl>
                                        <p:attrNameLst>
                                          <p:attrName>ppt_x</p:attrName>
                                        </p:attrNameLst>
                                      </p:cBhvr>
                                      <p:tavLst>
                                        <p:tav tm="0">
                                          <p:val>
                                            <p:strVal val="#ppt_x"/>
                                          </p:val>
                                        </p:tav>
                                        <p:tav tm="100000">
                                          <p:val>
                                            <p:strVal val="#ppt_x"/>
                                          </p:val>
                                        </p:tav>
                                      </p:tavLst>
                                    </p:anim>
                                    <p:anim calcmode="lin" valueType="num">
                                      <p:cBhvr>
                                        <p:cTn id="88" dur="600" decel="100000" fill="hold"/>
                                        <p:tgtEl>
                                          <p:spTgt spid="49"/>
                                        </p:tgtEl>
                                        <p:attrNameLst>
                                          <p:attrName>ppt_y</p:attrName>
                                        </p:attrNameLst>
                                      </p:cBhvr>
                                      <p:tavLst>
                                        <p:tav tm="0">
                                          <p:val>
                                            <p:strVal val="#ppt_y+0.0333"/>
                                          </p:val>
                                        </p:tav>
                                        <p:tav tm="100000">
                                          <p:val>
                                            <p:strVal val="#ppt_y"/>
                                          </p:val>
                                        </p:tav>
                                      </p:tavLst>
                                    </p:anim>
                                  </p:childTnLst>
                                </p:cTn>
                              </p:par>
                              <p:par>
                                <p:cTn id="89" presetID="42" presetClass="entr" presetSubtype="0" fill="hold" grpId="0" nodeType="withEffect">
                                  <p:stCondLst>
                                    <p:cond delay="1140"/>
                                  </p:stCondLst>
                                  <p:childTnLst>
                                    <p:set>
                                      <p:cBhvr>
                                        <p:cTn id="90" dur="1" fill="hold">
                                          <p:stCondLst>
                                            <p:cond delay="0"/>
                                          </p:stCondLst>
                                        </p:cTn>
                                        <p:tgtEl>
                                          <p:spTgt spid="50"/>
                                        </p:tgtEl>
                                        <p:attrNameLst>
                                          <p:attrName>style.visibility</p:attrName>
                                        </p:attrNameLst>
                                      </p:cBhvr>
                                      <p:to>
                                        <p:strVal val="visible"/>
                                      </p:to>
                                    </p:set>
                                    <p:animEffect transition="in" filter="fade">
                                      <p:cBhvr>
                                        <p:cTn id="91" dur="600"/>
                                        <p:tgtEl>
                                          <p:spTgt spid="50"/>
                                        </p:tgtEl>
                                      </p:cBhvr>
                                    </p:animEffect>
                                    <p:anim calcmode="lin" valueType="num">
                                      <p:cBhvr>
                                        <p:cTn id="92" dur="600" decel="100000" fill="hold"/>
                                        <p:tgtEl>
                                          <p:spTgt spid="50"/>
                                        </p:tgtEl>
                                        <p:attrNameLst>
                                          <p:attrName>ppt_x</p:attrName>
                                        </p:attrNameLst>
                                      </p:cBhvr>
                                      <p:tavLst>
                                        <p:tav tm="0">
                                          <p:val>
                                            <p:strVal val="#ppt_x"/>
                                          </p:val>
                                        </p:tav>
                                        <p:tav tm="100000">
                                          <p:val>
                                            <p:strVal val="#ppt_x"/>
                                          </p:val>
                                        </p:tav>
                                      </p:tavLst>
                                    </p:anim>
                                    <p:anim calcmode="lin" valueType="num">
                                      <p:cBhvr>
                                        <p:cTn id="93"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5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text s11.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05 · Your first launch</a:t>
            </a:r>
          </a:p>
        </p:txBody>
      </p:sp>
      <p:sp>
        <p:nvSpPr>
          <p:cNvPr id="3" name="h2 s11.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Five decisions, one command</a:t>
            </a:r>
          </a:p>
        </p:txBody>
      </p:sp>
      <p:sp>
        <p:nvSpPr>
          <p:cNvPr id="4" name="shape s11.2.0.0"/>
          <p:cNvSpPr/>
          <p:nvPr/>
        </p:nvSpPr>
        <p:spPr>
          <a:xfrm>
            <a:off x="1253430"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1"/>
                </a:solidFill>
                <a:latin typeface="+mn-lt"/>
                <a:ea typeface="+mn-ea"/>
              </a:rPr>
              <a:t>1</a:t>
            </a:r>
          </a:p>
        </p:txBody>
      </p:sp>
      <p:sp>
        <p:nvSpPr>
          <p:cNvPr id="5" name="h3 s11.2.0.1"/>
          <p:cNvSpPr txBox="1"/>
          <p:nvPr/>
        </p:nvSpPr>
        <p:spPr>
          <a:xfrm>
            <a:off x="908298" y="2493615"/>
            <a:ext cx="141416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Choose an AMI</a:t>
            </a:r>
          </a:p>
        </p:txBody>
      </p:sp>
      <p:sp>
        <p:nvSpPr>
          <p:cNvPr id="6" name="text s11.2.0.2"/>
          <p:cNvSpPr txBox="1"/>
          <p:nvPr/>
        </p:nvSpPr>
        <p:spPr>
          <a:xfrm>
            <a:off x="609600" y="2798415"/>
            <a:ext cx="2011561"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Amazon Linux, Ubuntu, Windows</a:t>
            </a:r>
          </a:p>
        </p:txBody>
      </p:sp>
      <p:sp>
        <p:nvSpPr>
          <p:cNvPr id="7" name="shape s11.2.1.0"/>
          <p:cNvSpPr/>
          <p:nvPr/>
        </p:nvSpPr>
        <p:spPr>
          <a:xfrm>
            <a:off x="349359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2"/>
                </a:solidFill>
                <a:latin typeface="+mn-lt"/>
                <a:ea typeface="+mn-ea"/>
              </a:rPr>
              <a:t>2</a:t>
            </a:r>
          </a:p>
        </p:txBody>
      </p:sp>
      <p:sp>
        <p:nvSpPr>
          <p:cNvPr id="8" name="h3 s11.2.1.1"/>
          <p:cNvSpPr txBox="1"/>
          <p:nvPr/>
        </p:nvSpPr>
        <p:spPr>
          <a:xfrm>
            <a:off x="3339405" y="2493615"/>
            <a:ext cx="1032272"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Pick a type</a:t>
            </a:r>
          </a:p>
        </p:txBody>
      </p:sp>
      <p:sp>
        <p:nvSpPr>
          <p:cNvPr id="9" name="text s11.2.1.2"/>
          <p:cNvSpPr txBox="1"/>
          <p:nvPr/>
        </p:nvSpPr>
        <p:spPr>
          <a:xfrm>
            <a:off x="284976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Start small; right-size later</a:t>
            </a:r>
          </a:p>
        </p:txBody>
      </p:sp>
      <p:sp>
        <p:nvSpPr>
          <p:cNvPr id="10" name="shape s11.2.2.0"/>
          <p:cNvSpPr/>
          <p:nvPr/>
        </p:nvSpPr>
        <p:spPr>
          <a:xfrm>
            <a:off x="573390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4"/>
                </a:solidFill>
                <a:latin typeface="+mn-lt"/>
                <a:ea typeface="+mn-ea"/>
              </a:rPr>
              <a:t>3</a:t>
            </a:r>
          </a:p>
        </p:txBody>
      </p:sp>
      <p:sp>
        <p:nvSpPr>
          <p:cNvPr id="11" name="h3 s11.2.2.1"/>
          <p:cNvSpPr txBox="1"/>
          <p:nvPr/>
        </p:nvSpPr>
        <p:spPr>
          <a:xfrm>
            <a:off x="5174010" y="2493615"/>
            <a:ext cx="1843683"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Network &amp; security</a:t>
            </a:r>
          </a:p>
        </p:txBody>
      </p:sp>
      <p:sp>
        <p:nvSpPr>
          <p:cNvPr id="12" name="text s11.2.2.2"/>
          <p:cNvSpPr txBox="1"/>
          <p:nvPr/>
        </p:nvSpPr>
        <p:spPr>
          <a:xfrm>
            <a:off x="509007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Subnet + least-privilege SG</a:t>
            </a:r>
          </a:p>
        </p:txBody>
      </p:sp>
      <p:sp>
        <p:nvSpPr>
          <p:cNvPr id="13" name="shape s11.2.3.0"/>
          <p:cNvSpPr/>
          <p:nvPr/>
        </p:nvSpPr>
        <p:spPr>
          <a:xfrm>
            <a:off x="797421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3"/>
                </a:solidFill>
                <a:latin typeface="+mn-lt"/>
                <a:ea typeface="+mn-ea"/>
              </a:rPr>
              <a:t>4</a:t>
            </a:r>
          </a:p>
        </p:txBody>
      </p:sp>
      <p:sp>
        <p:nvSpPr>
          <p:cNvPr id="14" name="h3 s11.2.3.1"/>
          <p:cNvSpPr txBox="1"/>
          <p:nvPr/>
        </p:nvSpPr>
        <p:spPr>
          <a:xfrm>
            <a:off x="7761982" y="2493615"/>
            <a:ext cx="1148358"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Add storage</a:t>
            </a:r>
          </a:p>
        </p:txBody>
      </p:sp>
      <p:sp>
        <p:nvSpPr>
          <p:cNvPr id="15" name="text s11.2.3.2"/>
          <p:cNvSpPr txBox="1"/>
          <p:nvPr/>
        </p:nvSpPr>
        <p:spPr>
          <a:xfrm>
            <a:off x="7330380"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gp3 root volume, encrypted</a:t>
            </a:r>
          </a:p>
        </p:txBody>
      </p:sp>
      <p:sp>
        <p:nvSpPr>
          <p:cNvPr id="16" name="shape s11.2.4.0"/>
          <p:cNvSpPr/>
          <p:nvPr/>
        </p:nvSpPr>
        <p:spPr>
          <a:xfrm>
            <a:off x="1021452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5"/>
                </a:solidFill>
                <a:latin typeface="+mn-lt"/>
                <a:ea typeface="+mn-ea"/>
              </a:rPr>
              <a:t>5</a:t>
            </a:r>
          </a:p>
        </p:txBody>
      </p:sp>
      <p:sp>
        <p:nvSpPr>
          <p:cNvPr id="17" name="h3 s11.2.4.1"/>
          <p:cNvSpPr txBox="1"/>
          <p:nvPr/>
        </p:nvSpPr>
        <p:spPr>
          <a:xfrm>
            <a:off x="9727704" y="2493615"/>
            <a:ext cx="169738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Launch &amp; connect</a:t>
            </a:r>
          </a:p>
        </p:txBody>
      </p:sp>
      <p:sp>
        <p:nvSpPr>
          <p:cNvPr id="18" name="text s11.2.4.2"/>
          <p:cNvSpPr txBox="1"/>
          <p:nvPr/>
        </p:nvSpPr>
        <p:spPr>
          <a:xfrm>
            <a:off x="9664601" y="2798415"/>
            <a:ext cx="1823740"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Tag it; connect via SSM</a:t>
            </a:r>
          </a:p>
        </p:txBody>
      </p:sp>
      <p:sp>
        <p:nvSpPr>
          <p:cNvPr id="19" name="shape s11.7"/>
          <p:cNvSpPr/>
          <p:nvPr/>
        </p:nvSpPr>
        <p:spPr>
          <a:xfrm>
            <a:off x="609600" y="3506837"/>
            <a:ext cx="10972800" cy="2741563"/>
          </a:xfrm>
          <a:prstGeom prst="roundRect">
            <a:avLst>
              <a:gd name="adj" fmla="val 4169"/>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0" name="shape s11.7.0.0.0"/>
          <p:cNvSpPr/>
          <p:nvPr/>
        </p:nvSpPr>
        <p:spPr>
          <a:xfrm>
            <a:off x="871538" y="3811637"/>
            <a:ext cx="114300" cy="114300"/>
          </a:xfrm>
          <a:prstGeom prst="ellipse">
            <a:avLst/>
          </a:prstGeom>
          <a:solidFill>
            <a:schemeClr val="accent5"/>
          </a:solidFill>
          <a:ln>
            <a:noFill/>
          </a:ln>
        </p:spPr>
        <p:txBody>
          <a:bodyPr wrap="square" lIns="0" tIns="0" rIns="0" bIns="0" anchor="t">
            <a:normAutofit/>
          </a:bodyPr>
          <a:lstStyle/>
          <a:p/>
        </p:txBody>
      </p:sp>
      <p:sp>
        <p:nvSpPr>
          <p:cNvPr id="21" name="shape s11.7.0.0.1"/>
          <p:cNvSpPr/>
          <p:nvPr/>
        </p:nvSpPr>
        <p:spPr>
          <a:xfrm>
            <a:off x="1042988" y="3811637"/>
            <a:ext cx="114300" cy="114300"/>
          </a:xfrm>
          <a:prstGeom prst="ellipse">
            <a:avLst/>
          </a:prstGeom>
          <a:solidFill>
            <a:schemeClr val="accent1"/>
          </a:solidFill>
          <a:ln>
            <a:noFill/>
          </a:ln>
        </p:spPr>
        <p:txBody>
          <a:bodyPr wrap="square" lIns="0" tIns="0" rIns="0" bIns="0" anchor="t">
            <a:normAutofit/>
          </a:bodyPr>
          <a:lstStyle/>
          <a:p/>
        </p:txBody>
      </p:sp>
      <p:sp>
        <p:nvSpPr>
          <p:cNvPr id="22" name="shape s11.7.0.0.2"/>
          <p:cNvSpPr/>
          <p:nvPr/>
        </p:nvSpPr>
        <p:spPr>
          <a:xfrm>
            <a:off x="1214438" y="3811637"/>
            <a:ext cx="114300" cy="114300"/>
          </a:xfrm>
          <a:prstGeom prst="ellipse">
            <a:avLst/>
          </a:prstGeom>
          <a:solidFill>
            <a:schemeClr val="accent3"/>
          </a:solidFill>
          <a:ln>
            <a:noFill/>
          </a:ln>
        </p:spPr>
        <p:txBody>
          <a:bodyPr wrap="square" lIns="0" tIns="0" rIns="0" bIns="0" anchor="t">
            <a:normAutofit/>
          </a:bodyPr>
          <a:lstStyle/>
          <a:p/>
        </p:txBody>
      </p:sp>
      <p:sp>
        <p:nvSpPr>
          <p:cNvPr id="23" name="text s11.7.0.0.3"/>
          <p:cNvSpPr txBox="1"/>
          <p:nvPr/>
        </p:nvSpPr>
        <p:spPr>
          <a:xfrm>
            <a:off x="1385888" y="3768775"/>
            <a:ext cx="1200150" cy="200025"/>
          </a:xfrm>
          <a:prstGeom prst="rect">
            <a:avLst/>
          </a:prstGeom>
          <a:noFill/>
          <a:ln>
            <a:noFill/>
          </a:ln>
        </p:spPr>
        <p:txBody>
          <a:bodyPr wrap="none" lIns="0" tIns="0" rIns="0" bIns="0" anchor="t">
            <a:normAutofit/>
          </a:bodyPr>
          <a:lstStyle/>
          <a:p>
            <a:pPr algn="l">
              <a:lnSpc>
                <a:spcPts val="1575"/>
              </a:lnSpc>
            </a:pPr>
            <a:r>
              <a:rPr sz="1050" b="0">
                <a:solidFill>
                  <a:schemeClr val="tx2"/>
                </a:solidFill>
                <a:latin typeface="Noto Sans Mono"/>
                <a:ea typeface="Noto Sans Mono CJK KR"/>
              </a:rPr>
              <a:t>~/ — aws cli v2</a:t>
            </a:r>
          </a:p>
        </p:txBody>
      </p:sp>
      <p:sp>
        <p:nvSpPr>
          <p:cNvPr id="24" name="pre s11.7.0.1"/>
          <p:cNvSpPr txBox="1"/>
          <p:nvPr/>
        </p:nvSpPr>
        <p:spPr>
          <a:xfrm>
            <a:off x="871538" y="4083100"/>
            <a:ext cx="10448925" cy="1457325"/>
          </a:xfrm>
          <a:prstGeom prst="rect">
            <a:avLst/>
          </a:prstGeom>
          <a:noFill/>
          <a:ln>
            <a:noFill/>
          </a:ln>
        </p:spPr>
        <p:txBody>
          <a:bodyPr wrap="none" lIns="0" tIns="0" rIns="0" bIns="0" anchor="t">
            <a:noAutofit/>
          </a:bodyPr>
          <a:lstStyle/>
          <a:p>
            <a:pPr algn="l">
              <a:lnSpc>
                <a:spcPts val="1913"/>
              </a:lnSpc>
            </a:pPr>
            <a:r>
              <a:rPr sz="1275" b="0">
                <a:solidFill>
                  <a:schemeClr val="bg1"/>
                </a:solidFill>
                <a:latin typeface="Noto Sans Mono"/>
                <a:ea typeface="Noto Sans Mono CJK KR"/>
              </a:rPr>
              <a:t>aws ec2 run-instances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--image-id resolve:ssm:/aws/service/ami-amazon-linux-latest/al2023-ami-kernel-default-arm64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--instance-type m7g.large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--subnet-id subnet-0abc1234 --security-group-ids sg-0abc1234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--block-device-mappings </a:t>
            </a:r>
            <a:r>
              <a:rPr sz="1275" b="0" i="0" u="none">
                <a:solidFill>
                  <a:schemeClr val="accent3"/>
                </a:solidFill>
                <a:latin typeface="Noto Sans Mono"/>
                <a:ea typeface="Noto Sans Mono CJK KR"/>
              </a:rPr>
              <a:t>'DeviceName=/dev/xvda,Ebs={VolumeSize=20,VolumeType=gp3}'</a:t>
            </a:r>
            <a:r>
              <a:rPr sz="1275" b="0">
                <a:solidFill>
                  <a:schemeClr val="bg1"/>
                </a:solidFill>
                <a:latin typeface="Noto Sans Mono"/>
                <a:ea typeface="Noto Sans Mono CJK KR"/>
              </a:rPr>
              <a:t>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--iam-instance-profile </a:t>
            </a:r>
            <a:r>
              <a:rPr sz="1275" b="0" i="0" u="none">
                <a:solidFill>
                  <a:schemeClr val="accent1"/>
                </a:solidFill>
                <a:latin typeface="Noto Sans Mono"/>
                <a:ea typeface="Noto Sans Mono CJK KR"/>
              </a:rPr>
              <a:t>Name</a:t>
            </a:r>
            <a:r>
              <a:rPr sz="1275" b="0">
                <a:solidFill>
                  <a:schemeClr val="bg1"/>
                </a:solidFill>
                <a:latin typeface="Noto Sans Mono"/>
                <a:ea typeface="Noto Sans Mono CJK KR"/>
              </a:rPr>
              <a:t>=SSMInstanceProfile</a:t>
            </a:r>
          </a:p>
        </p:txBody>
      </p:sp>
      <p:cxnSp>
        <p:nvCxnSpPr>
          <p:cNvPr id="25" name="connector s11.3"/>
          <p:cNvCxnSpPr>
            <a:stCxn id="4" idx="6"/>
            <a:endCxn id="7" idx="2"/>
          </p:cNvCxnSpPr>
          <p:nvPr/>
        </p:nvCxnSpPr>
        <p:spPr>
          <a:xfrm>
            <a:off x="1977330" y="2074515"/>
            <a:ext cx="1516261" cy="0"/>
          </a:xfrm>
          <a:prstGeom prst="straightConnector1">
            <a:avLst/>
          </a:prstGeom>
          <a:ln w="19050">
            <a:solidFill>
              <a:schemeClr val="tx2"/>
            </a:solidFill>
            <a:prstDash val="dash"/>
            <a:headEnd type="none"/>
            <a:tailEnd type="none"/>
          </a:ln>
        </p:spPr>
      </p:cxnSp>
      <p:cxnSp>
        <p:nvCxnSpPr>
          <p:cNvPr id="26" name="connector s11.4"/>
          <p:cNvCxnSpPr>
            <a:stCxn id="7" idx="6"/>
            <a:endCxn id="10" idx="2"/>
          </p:cNvCxnSpPr>
          <p:nvPr/>
        </p:nvCxnSpPr>
        <p:spPr>
          <a:xfrm>
            <a:off x="4217491" y="2074515"/>
            <a:ext cx="1516410" cy="0"/>
          </a:xfrm>
          <a:prstGeom prst="straightConnector1">
            <a:avLst/>
          </a:prstGeom>
          <a:ln w="19050">
            <a:solidFill>
              <a:schemeClr val="tx2"/>
            </a:solidFill>
            <a:prstDash val="dash"/>
            <a:headEnd type="none"/>
            <a:tailEnd type="none"/>
          </a:ln>
        </p:spPr>
      </p:cxnSp>
      <p:cxnSp>
        <p:nvCxnSpPr>
          <p:cNvPr id="27" name="connector s11.5"/>
          <p:cNvCxnSpPr>
            <a:stCxn id="10" idx="6"/>
            <a:endCxn id="13" idx="2"/>
          </p:cNvCxnSpPr>
          <p:nvPr/>
        </p:nvCxnSpPr>
        <p:spPr>
          <a:xfrm>
            <a:off x="6457801" y="2074515"/>
            <a:ext cx="1516410" cy="0"/>
          </a:xfrm>
          <a:prstGeom prst="straightConnector1">
            <a:avLst/>
          </a:prstGeom>
          <a:ln w="19050">
            <a:solidFill>
              <a:schemeClr val="tx2"/>
            </a:solidFill>
            <a:prstDash val="dash"/>
            <a:headEnd type="none"/>
            <a:tailEnd type="none"/>
          </a:ln>
        </p:spPr>
      </p:cxnSp>
      <p:cxnSp>
        <p:nvCxnSpPr>
          <p:cNvPr id="28" name="connector s11.6"/>
          <p:cNvCxnSpPr>
            <a:stCxn id="13" idx="6"/>
            <a:endCxn id="16" idx="2"/>
          </p:cNvCxnSpPr>
          <p:nvPr/>
        </p:nvCxnSpPr>
        <p:spPr>
          <a:xfrm>
            <a:off x="8698111" y="2074515"/>
            <a:ext cx="1516410" cy="0"/>
          </a:xfrm>
          <a:prstGeom prst="straightConnector1">
            <a:avLst/>
          </a:prstGeom>
          <a:ln w="19050">
            <a:solidFill>
              <a:schemeClr val="tx2"/>
            </a:solidFill>
            <a:prstDash val="dash"/>
            <a:headEnd type="none"/>
            <a:tailEnd type="none"/>
          </a:ln>
        </p:spPr>
      </p:cxn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22" presetClass="entr" presetSubtype="8" fill="hold" grpId="0" nodeType="withEffect">
                                  <p:stCondLst>
                                    <p:cond delay="42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600"/>
                                        <p:tgtEl>
                                          <p:spTgt spid="25"/>
                                        </p:tgtEl>
                                      </p:cBhvr>
                                    </p:animEffect>
                                  </p:childTnLst>
                                </p:cTn>
                              </p:par>
                              <p:par>
                                <p:cTn id="93" presetID="22" presetClass="entr" presetSubtype="8" fill="hold" grpId="0" nodeType="withEffect">
                                  <p:stCondLst>
                                    <p:cond delay="51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600"/>
                                        <p:tgtEl>
                                          <p:spTgt spid="26"/>
                                        </p:tgtEl>
                                      </p:cBhvr>
                                    </p:animEffect>
                                  </p:childTnLst>
                                </p:cTn>
                              </p:par>
                              <p:par>
                                <p:cTn id="96" presetID="22" presetClass="entr" presetSubtype="8" fill="hold" grpId="0" nodeType="withEffect">
                                  <p:stCondLst>
                                    <p:cond delay="60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600"/>
                                        <p:tgtEl>
                                          <p:spTgt spid="27"/>
                                        </p:tgtEl>
                                      </p:cBhvr>
                                    </p:animEffect>
                                  </p:childTnLst>
                                </p:cTn>
                              </p:par>
                              <p:par>
                                <p:cTn id="99" presetID="22" presetClass="entr" presetSubtype="8" fill="hold" grpId="0" nodeType="withEffect">
                                  <p:stCondLst>
                                    <p:cond delay="690"/>
                                  </p:stCondLst>
                                  <p:childTnLst>
                                    <p:set>
                                      <p:cBhvr>
                                        <p:cTn id="100" dur="1" fill="hold">
                                          <p:stCondLst>
                                            <p:cond delay="0"/>
                                          </p:stCondLst>
                                        </p:cTn>
                                        <p:tgtEl>
                                          <p:spTgt spid="28"/>
                                        </p:tgtEl>
                                        <p:attrNameLst>
                                          <p:attrName>style.visibility</p:attrName>
                                        </p:attrNameLst>
                                      </p:cBhvr>
                                      <p:to>
                                        <p:strVal val="visible"/>
                                      </p:to>
                                    </p:set>
                                    <p:animEffect transition="in" filter="wipe(left)">
                                      <p:cBhvr>
                                        <p:cTn id="101" dur="600"/>
                                        <p:tgtEl>
                                          <p:spTgt spid="28"/>
                                        </p:tgtEl>
                                      </p:cBhvr>
                                    </p:animEffect>
                                  </p:childTnLst>
                                </p:cTn>
                              </p:par>
                              <p:par>
                                <p:cTn id="102" presetID="42" presetClass="entr" presetSubtype="0" fill="hold" grpId="0" nodeType="withEffect">
                                  <p:stCondLst>
                                    <p:cond delay="780"/>
                                  </p:stCondLst>
                                  <p:childTnLst>
                                    <p:set>
                                      <p:cBhvr>
                                        <p:cTn id="103" dur="1" fill="hold">
                                          <p:stCondLst>
                                            <p:cond delay="0"/>
                                          </p:stCondLst>
                                        </p:cTn>
                                        <p:tgtEl>
                                          <p:spTgt spid="19"/>
                                        </p:tgtEl>
                                        <p:attrNameLst>
                                          <p:attrName>style.visibility</p:attrName>
                                        </p:attrNameLst>
                                      </p:cBhvr>
                                      <p:to>
                                        <p:strVal val="visible"/>
                                      </p:to>
                                    </p:set>
                                    <p:animEffect transition="in" filter="fade">
                                      <p:cBhvr>
                                        <p:cTn id="104" dur="600"/>
                                        <p:tgtEl>
                                          <p:spTgt spid="19"/>
                                        </p:tgtEl>
                                      </p:cBhvr>
                                    </p:animEffect>
                                    <p:anim calcmode="lin" valueType="num">
                                      <p:cBhvr>
                                        <p:cTn id="105" dur="600" decel="100000" fill="hold"/>
                                        <p:tgtEl>
                                          <p:spTgt spid="19"/>
                                        </p:tgtEl>
                                        <p:attrNameLst>
                                          <p:attrName>ppt_x</p:attrName>
                                        </p:attrNameLst>
                                      </p:cBhvr>
                                      <p:tavLst>
                                        <p:tav tm="0">
                                          <p:val>
                                            <p:strVal val="#ppt_x"/>
                                          </p:val>
                                        </p:tav>
                                        <p:tav tm="100000">
                                          <p:val>
                                            <p:strVal val="#ppt_x"/>
                                          </p:val>
                                        </p:tav>
                                      </p:tavLst>
                                    </p:anim>
                                    <p:anim calcmode="lin" valueType="num">
                                      <p:cBhvr>
                                        <p:cTn id="106" dur="600" decel="100000" fill="hold"/>
                                        <p:tgtEl>
                                          <p:spTgt spid="19"/>
                                        </p:tgtEl>
                                        <p:attrNameLst>
                                          <p:attrName>ppt_y</p:attrName>
                                        </p:attrNameLst>
                                      </p:cBhvr>
                                      <p:tavLst>
                                        <p:tav tm="0">
                                          <p:val>
                                            <p:strVal val="#ppt_y+0.0333"/>
                                          </p:val>
                                        </p:tav>
                                        <p:tav tm="100000">
                                          <p:val>
                                            <p:strVal val="#ppt_y"/>
                                          </p:val>
                                        </p:tav>
                                      </p:tavLst>
                                    </p:anim>
                                  </p:childTnLst>
                                </p:cTn>
                              </p:par>
                              <p:par>
                                <p:cTn id="107" presetID="42" presetClass="entr" presetSubtype="0" fill="hold" grpId="0" nodeType="withEffect">
                                  <p:stCondLst>
                                    <p:cond delay="780"/>
                                  </p:stCondLst>
                                  <p:childTnLst>
                                    <p:set>
                                      <p:cBhvr>
                                        <p:cTn id="108" dur="1" fill="hold">
                                          <p:stCondLst>
                                            <p:cond delay="0"/>
                                          </p:stCondLst>
                                        </p:cTn>
                                        <p:tgtEl>
                                          <p:spTgt spid="20"/>
                                        </p:tgtEl>
                                        <p:attrNameLst>
                                          <p:attrName>style.visibility</p:attrName>
                                        </p:attrNameLst>
                                      </p:cBhvr>
                                      <p:to>
                                        <p:strVal val="visible"/>
                                      </p:to>
                                    </p:set>
                                    <p:animEffect transition="in" filter="fade">
                                      <p:cBhvr>
                                        <p:cTn id="109" dur="600"/>
                                        <p:tgtEl>
                                          <p:spTgt spid="20"/>
                                        </p:tgtEl>
                                      </p:cBhvr>
                                    </p:animEffect>
                                    <p:anim calcmode="lin" valueType="num">
                                      <p:cBhvr>
                                        <p:cTn id="110" dur="600" decel="100000" fill="hold"/>
                                        <p:tgtEl>
                                          <p:spTgt spid="20"/>
                                        </p:tgtEl>
                                        <p:attrNameLst>
                                          <p:attrName>ppt_x</p:attrName>
                                        </p:attrNameLst>
                                      </p:cBhvr>
                                      <p:tavLst>
                                        <p:tav tm="0">
                                          <p:val>
                                            <p:strVal val="#ppt_x"/>
                                          </p:val>
                                        </p:tav>
                                        <p:tav tm="100000">
                                          <p:val>
                                            <p:strVal val="#ppt_x"/>
                                          </p:val>
                                        </p:tav>
                                      </p:tavLst>
                                    </p:anim>
                                    <p:anim calcmode="lin" valueType="num">
                                      <p:cBhvr>
                                        <p:cTn id="111" dur="600" decel="100000" fill="hold"/>
                                        <p:tgtEl>
                                          <p:spTgt spid="20"/>
                                        </p:tgtEl>
                                        <p:attrNameLst>
                                          <p:attrName>ppt_y</p:attrName>
                                        </p:attrNameLst>
                                      </p:cBhvr>
                                      <p:tavLst>
                                        <p:tav tm="0">
                                          <p:val>
                                            <p:strVal val="#ppt_y+0.0333"/>
                                          </p:val>
                                        </p:tav>
                                        <p:tav tm="100000">
                                          <p:val>
                                            <p:strVal val="#ppt_y"/>
                                          </p:val>
                                        </p:tav>
                                      </p:tavLst>
                                    </p:anim>
                                  </p:childTnLst>
                                </p:cTn>
                              </p:par>
                              <p:par>
                                <p:cTn id="112" presetID="42" presetClass="entr" presetSubtype="0" fill="hold" grpId="0" nodeType="withEffect">
                                  <p:stCondLst>
                                    <p:cond delay="780"/>
                                  </p:stCondLst>
                                  <p:childTnLst>
                                    <p:set>
                                      <p:cBhvr>
                                        <p:cTn id="113" dur="1" fill="hold">
                                          <p:stCondLst>
                                            <p:cond delay="0"/>
                                          </p:stCondLst>
                                        </p:cTn>
                                        <p:tgtEl>
                                          <p:spTgt spid="21"/>
                                        </p:tgtEl>
                                        <p:attrNameLst>
                                          <p:attrName>style.visibility</p:attrName>
                                        </p:attrNameLst>
                                      </p:cBhvr>
                                      <p:to>
                                        <p:strVal val="visible"/>
                                      </p:to>
                                    </p:set>
                                    <p:animEffect transition="in" filter="fade">
                                      <p:cBhvr>
                                        <p:cTn id="114" dur="600"/>
                                        <p:tgtEl>
                                          <p:spTgt spid="21"/>
                                        </p:tgtEl>
                                      </p:cBhvr>
                                    </p:animEffect>
                                    <p:anim calcmode="lin" valueType="num">
                                      <p:cBhvr>
                                        <p:cTn id="115" dur="600" decel="100000" fill="hold"/>
                                        <p:tgtEl>
                                          <p:spTgt spid="21"/>
                                        </p:tgtEl>
                                        <p:attrNameLst>
                                          <p:attrName>ppt_x</p:attrName>
                                        </p:attrNameLst>
                                      </p:cBhvr>
                                      <p:tavLst>
                                        <p:tav tm="0">
                                          <p:val>
                                            <p:strVal val="#ppt_x"/>
                                          </p:val>
                                        </p:tav>
                                        <p:tav tm="100000">
                                          <p:val>
                                            <p:strVal val="#ppt_x"/>
                                          </p:val>
                                        </p:tav>
                                      </p:tavLst>
                                    </p:anim>
                                    <p:anim calcmode="lin" valueType="num">
                                      <p:cBhvr>
                                        <p:cTn id="116" dur="600" decel="100000" fill="hold"/>
                                        <p:tgtEl>
                                          <p:spTgt spid="21"/>
                                        </p:tgtEl>
                                        <p:attrNameLst>
                                          <p:attrName>ppt_y</p:attrName>
                                        </p:attrNameLst>
                                      </p:cBhvr>
                                      <p:tavLst>
                                        <p:tav tm="0">
                                          <p:val>
                                            <p:strVal val="#ppt_y+0.0333"/>
                                          </p:val>
                                        </p:tav>
                                        <p:tav tm="100000">
                                          <p:val>
                                            <p:strVal val="#ppt_y"/>
                                          </p:val>
                                        </p:tav>
                                      </p:tavLst>
                                    </p:anim>
                                  </p:childTnLst>
                                </p:cTn>
                              </p:par>
                              <p:par>
                                <p:cTn id="117" presetID="42" presetClass="entr" presetSubtype="0" fill="hold" grpId="0" nodeType="withEffect">
                                  <p:stCondLst>
                                    <p:cond delay="780"/>
                                  </p:stCondLst>
                                  <p:childTnLst>
                                    <p:set>
                                      <p:cBhvr>
                                        <p:cTn id="118" dur="1" fill="hold">
                                          <p:stCondLst>
                                            <p:cond delay="0"/>
                                          </p:stCondLst>
                                        </p:cTn>
                                        <p:tgtEl>
                                          <p:spTgt spid="22"/>
                                        </p:tgtEl>
                                        <p:attrNameLst>
                                          <p:attrName>style.visibility</p:attrName>
                                        </p:attrNameLst>
                                      </p:cBhvr>
                                      <p:to>
                                        <p:strVal val="visible"/>
                                      </p:to>
                                    </p:set>
                                    <p:animEffect transition="in" filter="fade">
                                      <p:cBhvr>
                                        <p:cTn id="119" dur="600"/>
                                        <p:tgtEl>
                                          <p:spTgt spid="22"/>
                                        </p:tgtEl>
                                      </p:cBhvr>
                                    </p:animEffect>
                                    <p:anim calcmode="lin" valueType="num">
                                      <p:cBhvr>
                                        <p:cTn id="120" dur="600" decel="100000" fill="hold"/>
                                        <p:tgtEl>
                                          <p:spTgt spid="22"/>
                                        </p:tgtEl>
                                        <p:attrNameLst>
                                          <p:attrName>ppt_x</p:attrName>
                                        </p:attrNameLst>
                                      </p:cBhvr>
                                      <p:tavLst>
                                        <p:tav tm="0">
                                          <p:val>
                                            <p:strVal val="#ppt_x"/>
                                          </p:val>
                                        </p:tav>
                                        <p:tav tm="100000">
                                          <p:val>
                                            <p:strVal val="#ppt_x"/>
                                          </p:val>
                                        </p:tav>
                                      </p:tavLst>
                                    </p:anim>
                                    <p:anim calcmode="lin" valueType="num">
                                      <p:cBhvr>
                                        <p:cTn id="121" dur="600" decel="100000" fill="hold"/>
                                        <p:tgtEl>
                                          <p:spTgt spid="22"/>
                                        </p:tgtEl>
                                        <p:attrNameLst>
                                          <p:attrName>ppt_y</p:attrName>
                                        </p:attrNameLst>
                                      </p:cBhvr>
                                      <p:tavLst>
                                        <p:tav tm="0">
                                          <p:val>
                                            <p:strVal val="#ppt_y+0.0333"/>
                                          </p:val>
                                        </p:tav>
                                        <p:tav tm="100000">
                                          <p:val>
                                            <p:strVal val="#ppt_y"/>
                                          </p:val>
                                        </p:tav>
                                      </p:tavLst>
                                    </p:anim>
                                  </p:childTnLst>
                                </p:cTn>
                              </p:par>
                              <p:par>
                                <p:cTn id="122" presetID="42" presetClass="entr" presetSubtype="0" fill="hold" grpId="0" nodeType="withEffect">
                                  <p:stCondLst>
                                    <p:cond delay="780"/>
                                  </p:stCondLst>
                                  <p:childTnLst>
                                    <p:set>
                                      <p:cBhvr>
                                        <p:cTn id="123" dur="1" fill="hold">
                                          <p:stCondLst>
                                            <p:cond delay="0"/>
                                          </p:stCondLst>
                                        </p:cTn>
                                        <p:tgtEl>
                                          <p:spTgt spid="23"/>
                                        </p:tgtEl>
                                        <p:attrNameLst>
                                          <p:attrName>style.visibility</p:attrName>
                                        </p:attrNameLst>
                                      </p:cBhvr>
                                      <p:to>
                                        <p:strVal val="visible"/>
                                      </p:to>
                                    </p:set>
                                    <p:animEffect transition="in" filter="fade">
                                      <p:cBhvr>
                                        <p:cTn id="124" dur="600"/>
                                        <p:tgtEl>
                                          <p:spTgt spid="23"/>
                                        </p:tgtEl>
                                      </p:cBhvr>
                                    </p:animEffect>
                                    <p:anim calcmode="lin" valueType="num">
                                      <p:cBhvr>
                                        <p:cTn id="125" dur="600" decel="100000" fill="hold"/>
                                        <p:tgtEl>
                                          <p:spTgt spid="23"/>
                                        </p:tgtEl>
                                        <p:attrNameLst>
                                          <p:attrName>ppt_x</p:attrName>
                                        </p:attrNameLst>
                                      </p:cBhvr>
                                      <p:tavLst>
                                        <p:tav tm="0">
                                          <p:val>
                                            <p:strVal val="#ppt_x"/>
                                          </p:val>
                                        </p:tav>
                                        <p:tav tm="100000">
                                          <p:val>
                                            <p:strVal val="#ppt_x"/>
                                          </p:val>
                                        </p:tav>
                                      </p:tavLst>
                                    </p:anim>
                                    <p:anim calcmode="lin" valueType="num">
                                      <p:cBhvr>
                                        <p:cTn id="126" dur="600" decel="100000" fill="hold"/>
                                        <p:tgtEl>
                                          <p:spTgt spid="23"/>
                                        </p:tgtEl>
                                        <p:attrNameLst>
                                          <p:attrName>ppt_y</p:attrName>
                                        </p:attrNameLst>
                                      </p:cBhvr>
                                      <p:tavLst>
                                        <p:tav tm="0">
                                          <p:val>
                                            <p:strVal val="#ppt_y+0.0333"/>
                                          </p:val>
                                        </p:tav>
                                        <p:tav tm="100000">
                                          <p:val>
                                            <p:strVal val="#ppt_y"/>
                                          </p:val>
                                        </p:tav>
                                      </p:tavLst>
                                    </p:anim>
                                  </p:childTnLst>
                                </p:cTn>
                              </p:par>
                              <p:par>
                                <p:cTn id="127" presetID="42" presetClass="entr" presetSubtype="0" fill="hold" grpId="0" nodeType="withEffect">
                                  <p:stCondLst>
                                    <p:cond delay="780"/>
                                  </p:stCondLst>
                                  <p:childTnLst>
                                    <p:set>
                                      <p:cBhvr>
                                        <p:cTn id="128" dur="1" fill="hold">
                                          <p:stCondLst>
                                            <p:cond delay="0"/>
                                          </p:stCondLst>
                                        </p:cTn>
                                        <p:tgtEl>
                                          <p:spTgt spid="24"/>
                                        </p:tgtEl>
                                        <p:attrNameLst>
                                          <p:attrName>style.visibility</p:attrName>
                                        </p:attrNameLst>
                                      </p:cBhvr>
                                      <p:to>
                                        <p:strVal val="visible"/>
                                      </p:to>
                                    </p:set>
                                    <p:animEffect transition="in" filter="fade">
                                      <p:cBhvr>
                                        <p:cTn id="129" dur="600"/>
                                        <p:tgtEl>
                                          <p:spTgt spid="24"/>
                                        </p:tgtEl>
                                      </p:cBhvr>
                                    </p:animEffect>
                                    <p:anim calcmode="lin" valueType="num">
                                      <p:cBhvr>
                                        <p:cTn id="130" dur="600" decel="100000" fill="hold"/>
                                        <p:tgtEl>
                                          <p:spTgt spid="24"/>
                                        </p:tgtEl>
                                        <p:attrNameLst>
                                          <p:attrName>ppt_x</p:attrName>
                                        </p:attrNameLst>
                                      </p:cBhvr>
                                      <p:tavLst>
                                        <p:tav tm="0">
                                          <p:val>
                                            <p:strVal val="#ppt_x"/>
                                          </p:val>
                                        </p:tav>
                                        <p:tav tm="100000">
                                          <p:val>
                                            <p:strVal val="#ppt_x"/>
                                          </p:val>
                                        </p:tav>
                                      </p:tavLst>
                                    </p:anim>
                                    <p:anim calcmode="lin" valueType="num">
                                      <p:cBhvr>
                                        <p:cTn id="131" dur="600" decel="100000" fill="hold"/>
                                        <p:tgtEl>
                                          <p:spTgt spid="2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text s12.0.0.0"/>
          <p:cNvSpPr txBox="1"/>
          <p:nvPr/>
        </p:nvSpPr>
        <p:spPr>
          <a:xfrm>
            <a:off x="609600" y="2197447"/>
            <a:ext cx="70866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Key takeaways</a:t>
            </a:r>
          </a:p>
        </p:txBody>
      </p:sp>
      <p:sp>
        <p:nvSpPr>
          <p:cNvPr id="3" name="h1 s12.0.0.1"/>
          <p:cNvSpPr txBox="1"/>
          <p:nvPr/>
        </p:nvSpPr>
        <p:spPr>
          <a:xfrm>
            <a:off x="609600" y="2626072"/>
            <a:ext cx="7086600" cy="548580"/>
          </a:xfrm>
          <a:prstGeom prst="rect">
            <a:avLst/>
          </a:prstGeom>
          <a:noFill/>
          <a:ln>
            <a:noFill/>
          </a:ln>
        </p:spPr>
        <p:txBody>
          <a:bodyPr wrap="square" lIns="0" tIns="0" rIns="0" bIns="0" anchor="t">
            <a:normAutofit/>
          </a:bodyPr>
          <a:lstStyle/>
          <a:p>
            <a:pPr algn="l">
              <a:lnSpc>
                <a:spcPts val="4320"/>
              </a:lnSpc>
            </a:pPr>
            <a:r>
              <a:rPr sz="3600" b="1">
                <a:solidFill>
                  <a:schemeClr val="tx1"/>
                </a:solidFill>
                <a:latin typeface="+mj-lt"/>
                <a:ea typeface="+mj-ea"/>
              </a:rPr>
              <a:t>EC2 in four sentences</a:t>
            </a:r>
          </a:p>
        </p:txBody>
      </p:sp>
      <p:sp>
        <p:nvSpPr>
          <p:cNvPr id="4" name="ul s12.0.0.2"/>
          <p:cNvSpPr txBox="1"/>
          <p:nvPr/>
        </p:nvSpPr>
        <p:spPr>
          <a:xfrm>
            <a:off x="609600" y="3403253"/>
            <a:ext cx="7086600" cy="1257300"/>
          </a:xfrm>
          <a:prstGeom prst="rect">
            <a:avLst/>
          </a:prstGeom>
          <a:noFill/>
          <a:ln>
            <a:noFill/>
          </a:ln>
        </p:spPr>
        <p:txBody>
          <a:bodyPr wrap="square" lIns="0" tIns="0" rIns="0" bIns="0" anchor="t">
            <a:normAutofit/>
          </a:bodyPr>
          <a:lstStyle/>
          <a:p>
            <a:pPr marL="342900" indent="-342900" algn="l">
              <a:lnSpc>
                <a:spcPts val="2475"/>
              </a:lnSpc>
              <a:buFont typeface="+mn-lt"/>
              <a:buChar char="•"/>
            </a:pPr>
            <a:r>
              <a:rPr sz="1650" b="1" i="0" u="none">
                <a:solidFill>
                  <a:schemeClr val="tx1"/>
                </a:solidFill>
                <a:latin typeface="+mn-lt"/>
                <a:ea typeface="+mn-ea"/>
              </a:rPr>
              <a:t>Elastic:</a:t>
            </a:r>
            <a:r>
              <a:rPr sz="1650" b="0">
                <a:solidFill>
                  <a:schemeClr val="tx1"/>
                </a:solidFill>
                <a:latin typeface="+mn-lt"/>
                <a:ea typeface="+mn-ea"/>
              </a:rPr>
              <a:t> capacity follows demand in minutes, billed per second.</a:t>
            </a:r>
          </a:p>
          <a:p>
            <a:pPr marL="342900" indent="-342900" algn="l">
              <a:lnSpc>
                <a:spcPts val="2475"/>
              </a:lnSpc>
              <a:buFont typeface="+mn-lt"/>
              <a:buChar char="•"/>
            </a:pPr>
            <a:r>
              <a:rPr sz="1650" b="1" i="0" u="none">
                <a:solidFill>
                  <a:schemeClr val="tx1"/>
                </a:solidFill>
                <a:latin typeface="+mn-lt"/>
                <a:ea typeface="+mn-ea"/>
              </a:rPr>
              <a:t>Composable:</a:t>
            </a:r>
            <a:r>
              <a:rPr sz="1650" b="0">
                <a:solidFill>
                  <a:schemeClr val="tx1"/>
                </a:solidFill>
                <a:latin typeface="+mn-lt"/>
                <a:ea typeface="+mn-ea"/>
              </a:rPr>
              <a:t> AMI + type + storage + network + identity, on Nitro.</a:t>
            </a:r>
          </a:p>
          <a:p>
            <a:pPr marL="342900" indent="-342900" algn="l">
              <a:lnSpc>
                <a:spcPts val="2475"/>
              </a:lnSpc>
              <a:buFont typeface="+mn-lt"/>
              <a:buChar char="•"/>
            </a:pPr>
            <a:r>
              <a:rPr sz="1650" b="1" i="0" u="none">
                <a:solidFill>
                  <a:schemeClr val="tx1"/>
                </a:solidFill>
                <a:latin typeface="+mn-lt"/>
                <a:ea typeface="+mn-ea"/>
              </a:rPr>
              <a:t>Purpose-built:</a:t>
            </a:r>
            <a:r>
              <a:rPr sz="1650" b="0">
                <a:solidFill>
                  <a:schemeClr val="tx1"/>
                </a:solidFill>
                <a:latin typeface="+mn-lt"/>
                <a:ea typeface="+mn-ea"/>
              </a:rPr>
              <a:t> choose a family by bottleneck; the name is the spec.</a:t>
            </a:r>
          </a:p>
          <a:p>
            <a:pPr marL="342900" indent="-342900" algn="l">
              <a:lnSpc>
                <a:spcPts val="2475"/>
              </a:lnSpc>
              <a:buFont typeface="+mn-lt"/>
              <a:buChar char="•"/>
            </a:pPr>
            <a:r>
              <a:rPr sz="1650" b="1" i="0" u="none">
                <a:solidFill>
                  <a:schemeClr val="tx1"/>
                </a:solidFill>
                <a:latin typeface="+mn-lt"/>
                <a:ea typeface="+mn-ea"/>
              </a:rPr>
              <a:t>Cost-aware:</a:t>
            </a:r>
            <a:r>
              <a:rPr sz="1650" b="0">
                <a:solidFill>
                  <a:schemeClr val="tx1"/>
                </a:solidFill>
                <a:latin typeface="+mn-lt"/>
                <a:ea typeface="+mn-ea"/>
              </a:rPr>
              <a:t> blend Savings Plans, On-Demand and Spot across AZs.</a:t>
            </a:r>
          </a:p>
        </p:txBody>
      </p:sp>
      <p:sp>
        <p:nvSpPr>
          <p:cNvPr id="5" name="text s12.0.1.0"/>
          <p:cNvSpPr txBox="1"/>
          <p:nvPr/>
        </p:nvSpPr>
        <p:spPr>
          <a:xfrm>
            <a:off x="8153400" y="2648843"/>
            <a:ext cx="34290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Thank you</a:t>
            </a:r>
          </a:p>
        </p:txBody>
      </p:sp>
      <p:sp>
        <p:nvSpPr>
          <p:cNvPr id="6" name="text s12.0.1.1"/>
          <p:cNvSpPr txBox="1"/>
          <p:nvPr/>
        </p:nvSpPr>
        <p:spPr>
          <a:xfrm>
            <a:off x="8153400" y="3494633"/>
            <a:ext cx="3429000" cy="3429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Questions?</a:t>
            </a:r>
          </a:p>
        </p:txBody>
      </p:sp>
      <p:sp>
        <p:nvSpPr>
          <p:cNvPr id="7" name="text s12.0.1.2"/>
          <p:cNvSpPr txBox="1"/>
          <p:nvPr/>
        </p:nvSpPr>
        <p:spPr>
          <a:xfrm>
            <a:off x="8153400" y="3951833"/>
            <a:ext cx="3429000" cy="257175"/>
          </a:xfrm>
          <a:prstGeom prst="rect">
            <a:avLst/>
          </a:prstGeom>
          <a:noFill/>
          <a:ln>
            <a:noFill/>
          </a:ln>
        </p:spPr>
        <p:txBody>
          <a:bodyPr wrap="square" lIns="0" tIns="0" rIns="0" bIns="0" anchor="t">
            <a:normAutofit/>
          </a:bodyPr>
          <a:lstStyle/>
          <a:p>
            <a:pPr algn="l">
              <a:lnSpc>
                <a:spcPts val="2025"/>
              </a:lnSpc>
            </a:pPr>
            <a:r>
              <a:rPr sz="1350" b="0">
                <a:solidFill>
                  <a:schemeClr val="accent1"/>
                </a:solidFill>
                <a:latin typeface="Noto Sans Mono"/>
                <a:ea typeface="Noto Sans Mono CJK KR"/>
              </a:rPr>
              <a:t>aws.amazon.com/ec2</a:t>
            </a:r>
          </a:p>
        </p:txBody>
      </p:sp>
      <p:sp>
        <p:nvSpPr>
          <p:cNvPr id="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9"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13</a:t>
            </a:fld>
            <a:r>
              <a:rPr sz="1350" b="0">
                <a:solidFill>
                  <a:schemeClr val="tx2"/>
                </a:solidFill>
                <a:latin typeface="+mn-lt"/>
                <a:ea typeface="+mn-ea"/>
              </a:rPr>
              <a:t> / 13</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15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15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15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theme/theme1.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balpyo</Application>
  <Slides>13</Slide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is Amazon EC2?</dc:title>
  <dc:creator>balpyo</dc:creator>
  <cp:lastModifiedBy>balpyo</cp:lastModifiedBy>
  <cp:revision>1</cp:revision>
</cp:coreProperties>
</file>