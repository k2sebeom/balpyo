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686300"/>
            <a:ext cx="5486400" cy="37719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30초. 오늘 다룰 세 가지: 지표, 학습, 계획 — 그리고 결정 하나.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앞의 셋은 돌아보기, 마지막 하나가 오늘 결정할 것이다.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k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매출은 목표 대비 108%. 평점 상승은 결제 오류 수정 이후다. 사용자 증가의 절반 이상이 추천 채널에서 왔다.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디스플레이 광고 예산은 Q4에 추천 보상으로 옮긴다 — 다음 장들의 근거다.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같은 돈으로 네 배. 이것이 Q4 계획의 근거다.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refer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추천은 광고가 아니라 친구의 말이다. 그래서 전환율이 높고, 보상만 있으면 비용이 낮다.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오늘 결정할 것은 오른쪽 첫 줄 하나다.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결정 하나를 다시 말하고 끝낸다.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author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lef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ight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media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8006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>
        <a:defRPr sz="4400"/>
      </a:lvl1pPr>
    </p:titleStyle>
    <p:bodyStyle>
      <a:lvl1pPr>
        <a:defRPr sz="2400"/>
      </a:lvl1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0.0"/>
          <p:cNvSpPr txBox="1">
            <a:spLocks noGrp="1"/>
          </p:cNvSpPr>
          <p:nvPr>
            <p:ph type="body" idx="2"/>
          </p:nvPr>
        </p:nvSpPr>
        <p:spPr>
          <a:xfrm>
            <a:off x="4867126" y="1451670"/>
            <a:ext cx="245759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accent1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3" name="h1 s0.1"/>
          <p:cNvSpPr txBox="1">
            <a:spLocks noGrp="1"/>
          </p:cNvSpPr>
          <p:nvPr>
            <p:ph type="ctrTitle"/>
          </p:nvPr>
        </p:nvSpPr>
        <p:spPr>
          <a:xfrm>
            <a:off x="3273475" y="1937445"/>
            <a:ext cx="5645051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7200"/>
              </a:lnSpc>
            </a:pPr>
            <a:r>
              <a:rPr sz="6000" b="1" i="0" u="none"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0" scaled="1"/>
                </a:gradFill>
                <a:latin typeface="+mj-lt"/>
                <a:ea typeface="+mj-ea"/>
              </a:rPr>
              <a:t>Q3</a:t>
            </a:r>
            <a:r>
              <a:rPr sz="6000" b="1">
                <a:solidFill>
                  <a:schemeClr val="tx1"/>
                </a:solidFill>
                <a:latin typeface="+mj-lt"/>
                <a:ea typeface="+mj-ea"/>
              </a:rPr>
              <a:t> 비즈니스 리뷰</a:t>
            </a:r>
          </a:p>
        </p:txBody>
      </p:sp>
      <p:sp>
        <p:nvSpPr>
          <p:cNvPr id="4" name="text s0.2"/>
          <p:cNvSpPr txBox="1">
            <a:spLocks noGrp="1"/>
          </p:cNvSpPr>
          <p:nvPr>
            <p:ph type="subTitle" idx="1"/>
          </p:nvPr>
        </p:nvSpPr>
        <p:spPr>
          <a:xfrm>
            <a:off x="4568875" y="3080445"/>
            <a:ext cx="3054102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925"/>
              </a:lnSpc>
            </a:pPr>
            <a:r>
              <a:rPr sz="2250" b="1">
                <a:solidFill>
                  <a:schemeClr val="tx2"/>
                </a:solidFill>
                <a:latin typeface="+mj-lt"/>
                <a:ea typeface="+mj-ea"/>
              </a:rPr>
              <a:t>성장 지표 회고와 Q4 계획</a:t>
            </a:r>
          </a:p>
        </p:txBody>
      </p:sp>
      <p:sp>
        <p:nvSpPr>
          <p:cNvPr id="5" name="text s0.3"/>
          <p:cNvSpPr txBox="1">
            <a:spLocks noGrp="1"/>
          </p:cNvSpPr>
          <p:nvPr>
            <p:ph type="body" idx="3"/>
          </p:nvPr>
        </p:nvSpPr>
        <p:spPr>
          <a:xfrm>
            <a:off x="5378500" y="4594920"/>
            <a:ext cx="14350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Growth Team</a:t>
            </a:r>
          </a:p>
        </p:txBody>
      </p:sp>
      <p:sp>
        <p:nvSpPr>
          <p:cNvPr id="6" name="text s0.4"/>
          <p:cNvSpPr txBox="1">
            <a:spLocks noGrp="1"/>
          </p:cNvSpPr>
          <p:nvPr>
            <p:ph type="body" idx="4"/>
          </p:nvPr>
        </p:nvSpPr>
        <p:spPr>
          <a:xfrm>
            <a:off x="5036344" y="5166420"/>
            <a:ext cx="2119164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2026년 10월 · 분기 경영 회의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1.0"/>
          <p:cNvSpPr txBox="1"/>
          <p:nvPr/>
        </p:nvSpPr>
        <p:spPr>
          <a:xfrm>
            <a:off x="609600" y="1628775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accent1"/>
                </a:solidFill>
                <a:latin typeface="+mn-lt"/>
                <a:ea typeface="+mn-ea"/>
              </a:rPr>
              <a:t>오늘의 아젠다</a:t>
            </a:r>
          </a:p>
        </p:txBody>
      </p:sp>
      <p:sp>
        <p:nvSpPr>
          <p:cNvPr id="3" name="h2 s1.1"/>
          <p:cNvSpPr txBox="1"/>
          <p:nvPr/>
        </p:nvSpPr>
        <p:spPr>
          <a:xfrm>
            <a:off x="609600" y="211455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돌아보기 셋, 결정 하나</a:t>
            </a:r>
          </a:p>
        </p:txBody>
      </p:sp>
      <p:sp>
        <p:nvSpPr>
          <p:cNvPr id="4" name="shape s1.3.0.0"/>
          <p:cNvSpPr/>
          <p:nvPr/>
        </p:nvSpPr>
        <p:spPr>
          <a:xfrm>
            <a:off x="1323975" y="3246090"/>
            <a:ext cx="1143000" cy="1143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3960"/>
              </a:lnSpc>
            </a:pPr>
            <a:r>
              <a:rPr sz="3300" b="1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5" name="text s1.3.0.1"/>
          <p:cNvSpPr txBox="1"/>
          <p:nvPr/>
        </p:nvSpPr>
        <p:spPr>
          <a:xfrm>
            <a:off x="1332458" y="4503390"/>
            <a:ext cx="112588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2925"/>
              </a:lnSpc>
            </a:pPr>
            <a:r>
              <a:rPr sz="2250" b="1">
                <a:solidFill>
                  <a:schemeClr val="tx1"/>
                </a:solidFill>
                <a:latin typeface="+mj-lt"/>
                <a:ea typeface="+mj-ea"/>
              </a:rPr>
              <a:t>핵심 지표</a:t>
            </a:r>
          </a:p>
        </p:txBody>
      </p:sp>
      <p:sp>
        <p:nvSpPr>
          <p:cNvPr id="6" name="text s1.3.0.2"/>
          <p:cNvSpPr txBox="1"/>
          <p:nvPr/>
        </p:nvSpPr>
        <p:spPr>
          <a:xfrm>
            <a:off x="1208187" y="4989165"/>
            <a:ext cx="1374428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사용자 · 매출 · 평점</a:t>
            </a:r>
          </a:p>
        </p:txBody>
      </p:sp>
      <p:sp>
        <p:nvSpPr>
          <p:cNvPr id="7" name="shape s1.3.1.0"/>
          <p:cNvSpPr/>
          <p:nvPr/>
        </p:nvSpPr>
        <p:spPr>
          <a:xfrm>
            <a:off x="4124325" y="3246090"/>
            <a:ext cx="1143000" cy="1143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3960"/>
              </a:lnSpc>
            </a:pPr>
            <a:r>
              <a:rPr sz="3300" b="1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8" name="text s1.3.1.1"/>
          <p:cNvSpPr txBox="1"/>
          <p:nvPr/>
        </p:nvSpPr>
        <p:spPr>
          <a:xfrm>
            <a:off x="4001393" y="4503390"/>
            <a:ext cx="1388864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2925"/>
              </a:lnSpc>
            </a:pPr>
            <a:r>
              <a:rPr sz="2250" b="1">
                <a:solidFill>
                  <a:schemeClr val="tx1"/>
                </a:solidFill>
                <a:latin typeface="+mj-lt"/>
                <a:ea typeface="+mj-ea"/>
              </a:rPr>
              <a:t>채널별 성과</a:t>
            </a:r>
          </a:p>
        </p:txBody>
      </p:sp>
      <p:sp>
        <p:nvSpPr>
          <p:cNvPr id="9" name="text s1.3.1.2"/>
          <p:cNvSpPr txBox="1"/>
          <p:nvPr/>
        </p:nvSpPr>
        <p:spPr>
          <a:xfrm>
            <a:off x="4020294" y="4989165"/>
            <a:ext cx="1351062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전환율과 획득 비용</a:t>
            </a:r>
          </a:p>
        </p:txBody>
      </p:sp>
      <p:sp>
        <p:nvSpPr>
          <p:cNvPr id="10" name="shape s1.3.2.0"/>
          <p:cNvSpPr/>
          <p:nvPr/>
        </p:nvSpPr>
        <p:spPr>
          <a:xfrm>
            <a:off x="6924675" y="3246090"/>
            <a:ext cx="1143000" cy="1143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3960"/>
              </a:lnSpc>
            </a:pPr>
            <a:r>
              <a:rPr sz="3300" b="1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11" name="text s1.3.2.1"/>
          <p:cNvSpPr txBox="1"/>
          <p:nvPr/>
        </p:nvSpPr>
        <p:spPr>
          <a:xfrm>
            <a:off x="6764536" y="4503390"/>
            <a:ext cx="1463129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2925"/>
              </a:lnSpc>
            </a:pPr>
            <a:r>
              <a:rPr sz="2250" b="1">
                <a:solidFill>
                  <a:schemeClr val="tx1"/>
                </a:solidFill>
                <a:latin typeface="+mj-lt"/>
                <a:ea typeface="+mj-ea"/>
              </a:rPr>
              <a:t>가장 큰 학습</a:t>
            </a:r>
          </a:p>
        </p:txBody>
      </p:sp>
      <p:sp>
        <p:nvSpPr>
          <p:cNvPr id="12" name="text s1.3.2.2"/>
          <p:cNvSpPr txBox="1"/>
          <p:nvPr/>
        </p:nvSpPr>
        <p:spPr>
          <a:xfrm>
            <a:off x="6895802" y="4989165"/>
            <a:ext cx="1200745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추천 채널의 CAC</a:t>
            </a:r>
          </a:p>
        </p:txBody>
      </p:sp>
      <p:sp>
        <p:nvSpPr>
          <p:cNvPr id="13" name="shape s1.3.3.0"/>
          <p:cNvSpPr/>
          <p:nvPr/>
        </p:nvSpPr>
        <p:spPr>
          <a:xfrm>
            <a:off x="9725025" y="3246090"/>
            <a:ext cx="1143000" cy="1143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2700000" scaled="1"/>
          </a:gradFill>
          <a:ln>
            <a:noFill/>
          </a:ln>
          <a:effectLst>
            <a:outerShdw blurRad="152400" dist="38100" dir="5400000">
              <a:schemeClr val="tx1">
                <a:alpha val="15000"/>
              </a:schemeClr>
            </a:outerShdw>
          </a:effectLst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3960"/>
              </a:lnSpc>
            </a:pPr>
            <a:r>
              <a:rPr sz="3300" b="1">
                <a:solidFill>
                  <a:schemeClr val="bg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14" name="text s1.3.3.1"/>
          <p:cNvSpPr txBox="1"/>
          <p:nvPr/>
        </p:nvSpPr>
        <p:spPr>
          <a:xfrm>
            <a:off x="9800927" y="4503390"/>
            <a:ext cx="991046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2925"/>
              </a:lnSpc>
            </a:pPr>
            <a:r>
              <a:rPr sz="2250" b="1">
                <a:solidFill>
                  <a:schemeClr val="accent1"/>
                </a:solidFill>
                <a:latin typeface="+mj-lt"/>
                <a:ea typeface="+mj-ea"/>
              </a:rPr>
              <a:t>Q4 계획</a:t>
            </a:r>
          </a:p>
        </p:txBody>
      </p:sp>
      <p:sp>
        <p:nvSpPr>
          <p:cNvPr id="15" name="text s1.3.3.2"/>
          <p:cNvSpPr txBox="1"/>
          <p:nvPr/>
        </p:nvSpPr>
        <p:spPr>
          <a:xfrm>
            <a:off x="9778603" y="4989165"/>
            <a:ext cx="1035695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오늘 결정할 것</a:t>
            </a:r>
          </a:p>
        </p:txBody>
      </p:sp>
      <p:cxnSp>
        <p:nvCxnSpPr>
          <p:cNvPr id="16" name="connector s1.4"/>
          <p:cNvCxnSpPr>
            <a:stCxn id="4" idx="6"/>
            <a:endCxn id="7" idx="2"/>
          </p:cNvCxnSpPr>
          <p:nvPr/>
        </p:nvCxnSpPr>
        <p:spPr>
          <a:xfrm>
            <a:off x="2466975" y="3817590"/>
            <a:ext cx="1657350" cy="0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headEnd type="none"/>
            <a:tailEnd type="none"/>
          </a:ln>
        </p:spPr>
      </p:cxnSp>
      <p:cxnSp>
        <p:nvCxnSpPr>
          <p:cNvPr id="17" name="connector s1.5"/>
          <p:cNvCxnSpPr>
            <a:stCxn id="7" idx="6"/>
            <a:endCxn id="10" idx="2"/>
          </p:cNvCxnSpPr>
          <p:nvPr/>
        </p:nvCxnSpPr>
        <p:spPr>
          <a:xfrm>
            <a:off x="5267325" y="3817590"/>
            <a:ext cx="1657350" cy="0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headEnd type="none"/>
            <a:tailEnd type="none"/>
          </a:ln>
        </p:spPr>
      </p:cxnSp>
      <p:cxnSp>
        <p:nvCxnSpPr>
          <p:cNvPr id="18" name="connector s1.6"/>
          <p:cNvCxnSpPr>
            <a:stCxn id="10" idx="6"/>
            <a:endCxn id="13" idx="2"/>
          </p:cNvCxnSpPr>
          <p:nvPr/>
        </p:nvCxnSpPr>
        <p:spPr>
          <a:xfrm>
            <a:off x="8067675" y="3817590"/>
            <a:ext cx="1657350" cy="0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headEnd type="none"/>
            <a:tailEnd type="triangle" w="lg" len="lg"/>
          </a:ln>
        </p:spPr>
      </p:cxnSp>
      <p:sp>
        <p:nvSpPr>
          <p:cNvPr id="19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20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2</a:t>
            </a:fld>
            <a:endParaRPr sz="1350" b="0">
              <a:solidFill>
                <a:schemeClr val="tx2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2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accent1"/>
                </a:solidFill>
                <a:latin typeface="+mn-lt"/>
                <a:ea typeface="+mn-ea"/>
              </a:rPr>
              <a:t>01 · 핵심 지표</a:t>
            </a:r>
          </a:p>
        </p:txBody>
      </p:sp>
      <p:sp>
        <p:nvSpPr>
          <p:cNvPr id="3" name="h2 s2.1"/>
          <p:cNvSpPr txBox="1"/>
          <p:nvPr/>
        </p:nvSpPr>
        <p:spPr>
          <a:xfrm>
            <a:off x="609600" y="1095375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세 지표 모두 목표를 넘겼다</a:t>
            </a:r>
          </a:p>
        </p:txBody>
      </p:sp>
      <p:sp>
        <p:nvSpPr>
          <p:cNvPr id="4" name="shape s2.2.0"/>
          <p:cNvSpPr/>
          <p:nvPr/>
        </p:nvSpPr>
        <p:spPr>
          <a:xfrm>
            <a:off x="609600" y="1769715"/>
            <a:ext cx="3429000" cy="4478685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>
              <a:schemeClr val="tx1">
                <a:alpha val="15000"/>
              </a:schemeClr>
            </a:outerShdw>
          </a:effectLst>
        </p:spPr>
        <p:txBody>
          <a:bodyPr wrap="square" lIns="342900" tIns="342900" rIns="342900" bIns="342900" anchor="t">
            <a:normAutofit/>
          </a:bodyPr>
          <a:lstStyle/>
          <a:p>
            <a:endParaRPr/>
          </a:p>
        </p:txBody>
      </p:sp>
      <p:sp>
        <p:nvSpPr>
          <p:cNvPr id="5" name="text s2.2.0.0.0"/>
          <p:cNvSpPr txBox="1"/>
          <p:nvPr/>
        </p:nvSpPr>
        <p:spPr>
          <a:xfrm>
            <a:off x="1019324" y="2179439"/>
            <a:ext cx="26095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tx2"/>
                </a:solidFill>
                <a:latin typeface="+mn-lt"/>
                <a:ea typeface="+mn-ea"/>
              </a:rPr>
              <a:t>월간 활성 사용자</a:t>
            </a:r>
          </a:p>
        </p:txBody>
      </p:sp>
      <p:sp>
        <p:nvSpPr>
          <p:cNvPr id="6" name="text s2.2.0.0.1.0"/>
          <p:cNvSpPr txBox="1"/>
          <p:nvPr/>
        </p:nvSpPr>
        <p:spPr>
          <a:xfrm>
            <a:off x="1019324" y="3027164"/>
            <a:ext cx="260955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200"/>
              </a:lnSpc>
            </a:pPr>
            <a:r>
              <a:rPr sz="6000" b="1">
                <a:solidFill>
                  <a:schemeClr val="accent1"/>
                </a:solidFill>
                <a:latin typeface="+mj-lt"/>
                <a:ea typeface="+mj-ea"/>
              </a:rPr>
              <a:t>+38</a:t>
            </a:r>
            <a:r>
              <a:rPr sz="3000" b="1" i="0" u="none">
                <a:solidFill>
                  <a:schemeClr val="accent1"/>
                </a:solidFill>
                <a:latin typeface="+mj-lt"/>
                <a:ea typeface="+mj-ea"/>
              </a:rPr>
              <a:t>%</a:t>
            </a:r>
          </a:p>
        </p:txBody>
      </p:sp>
      <p:sp>
        <p:nvSpPr>
          <p:cNvPr id="7" name="shape s2.2.0.0.1.1.0"/>
          <p:cNvSpPr/>
          <p:nvPr/>
        </p:nvSpPr>
        <p:spPr>
          <a:xfrm>
            <a:off x="1019324" y="4055864"/>
            <a:ext cx="2609552" cy="609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88000"/>
                </a:moveTo>
                <a:cubicBezTo>
                  <a:pt x="20000" y="82000"/>
                  <a:pt x="30000" y="78000"/>
                  <a:pt x="45000" y="66000"/>
                </a:cubicBezTo>
                <a:cubicBezTo>
                  <a:pt x="60000" y="54000"/>
                  <a:pt x="72000" y="40000"/>
                  <a:pt x="100000" y="8000"/>
                </a:cubicBez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8" name="shape s2.2.0.0.1.1.1"/>
          <p:cNvSpPr/>
          <p:nvPr/>
        </p:nvSpPr>
        <p:spPr>
          <a:xfrm>
            <a:off x="1019324" y="4055864"/>
            <a:ext cx="2609552" cy="609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88000"/>
                </a:moveTo>
                <a:cubicBezTo>
                  <a:pt x="20000" y="82000"/>
                  <a:pt x="30000" y="78000"/>
                  <a:pt x="45000" y="66000"/>
                </a:cubicBezTo>
                <a:cubicBezTo>
                  <a:pt x="60000" y="54000"/>
                  <a:pt x="72000" y="40000"/>
                  <a:pt x="100000" y="8000"/>
                </a:cubicBezTo>
              </a:path>
            </a:pathLst>
          </a:custGeom>
          <a:noFill/>
          <a:ln w="28575">
            <a:solidFill>
              <a:schemeClr val="accent1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9" name="p s2.2.0.0.2.0"/>
          <p:cNvSpPr txBox="1"/>
          <p:nvPr/>
        </p:nvSpPr>
        <p:spPr>
          <a:xfrm>
            <a:off x="1019324" y="5255865"/>
            <a:ext cx="26095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2.1M → 2.9M</a:t>
            </a:r>
          </a:p>
        </p:txBody>
      </p:sp>
      <p:sp>
        <p:nvSpPr>
          <p:cNvPr id="10" name="text s2.2.0.0.2.1"/>
          <p:cNvSpPr txBox="1"/>
          <p:nvPr/>
        </p:nvSpPr>
        <p:spPr>
          <a:xfrm>
            <a:off x="1019324" y="5598765"/>
            <a:ext cx="26095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Q2 대비 · 목표 +30%</a:t>
            </a:r>
          </a:p>
        </p:txBody>
      </p:sp>
      <p:sp>
        <p:nvSpPr>
          <p:cNvPr id="11" name="shape s2.2.1"/>
          <p:cNvSpPr/>
          <p:nvPr/>
        </p:nvSpPr>
        <p:spPr>
          <a:xfrm>
            <a:off x="4381500" y="1769715"/>
            <a:ext cx="3429000" cy="4478685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>
              <a:schemeClr val="tx1">
                <a:alpha val="15000"/>
              </a:schemeClr>
            </a:outerShdw>
          </a:effectLst>
        </p:spPr>
        <p:txBody>
          <a:bodyPr wrap="square" lIns="342900" tIns="342900" rIns="342900" bIns="342900" anchor="t">
            <a:normAutofit/>
          </a:bodyPr>
          <a:lstStyle/>
          <a:p>
            <a:endParaRPr/>
          </a:p>
        </p:txBody>
      </p:sp>
      <p:sp>
        <p:nvSpPr>
          <p:cNvPr id="12" name="text s2.2.1.0.0"/>
          <p:cNvSpPr txBox="1"/>
          <p:nvPr/>
        </p:nvSpPr>
        <p:spPr>
          <a:xfrm>
            <a:off x="4791224" y="2179439"/>
            <a:ext cx="26095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tx2"/>
                </a:solidFill>
                <a:latin typeface="+mn-lt"/>
                <a:ea typeface="+mn-ea"/>
              </a:rPr>
              <a:t>분기 매출</a:t>
            </a:r>
          </a:p>
        </p:txBody>
      </p:sp>
      <p:sp>
        <p:nvSpPr>
          <p:cNvPr id="13" name="text s2.2.1.0.1.0"/>
          <p:cNvSpPr txBox="1"/>
          <p:nvPr/>
        </p:nvSpPr>
        <p:spPr>
          <a:xfrm>
            <a:off x="4791224" y="3027164"/>
            <a:ext cx="260955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200"/>
              </a:lnSpc>
            </a:pPr>
            <a:r>
              <a:rPr sz="6000" b="1">
                <a:solidFill>
                  <a:schemeClr val="accent2"/>
                </a:solidFill>
                <a:latin typeface="+mj-lt"/>
                <a:ea typeface="+mj-ea"/>
              </a:rPr>
              <a:t>1.2</a:t>
            </a:r>
            <a:r>
              <a:rPr sz="3000" b="1" i="0" u="none">
                <a:solidFill>
                  <a:schemeClr val="accent2"/>
                </a:solidFill>
                <a:latin typeface="+mj-lt"/>
                <a:ea typeface="+mj-ea"/>
              </a:rPr>
              <a:t>B</a:t>
            </a:r>
          </a:p>
        </p:txBody>
      </p:sp>
      <p:sp>
        <p:nvSpPr>
          <p:cNvPr id="14" name="shape s2.2.1.0.1.1.0"/>
          <p:cNvSpPr/>
          <p:nvPr/>
        </p:nvSpPr>
        <p:spPr>
          <a:xfrm>
            <a:off x="4791224" y="4379714"/>
            <a:ext cx="476101" cy="285750"/>
          </a:xfrm>
          <a:prstGeom prst="rect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5" name="shape s2.2.1.0.1.1.1"/>
          <p:cNvSpPr/>
          <p:nvPr/>
        </p:nvSpPr>
        <p:spPr>
          <a:xfrm>
            <a:off x="5324475" y="4322564"/>
            <a:ext cx="476250" cy="342900"/>
          </a:xfrm>
          <a:prstGeom prst="rect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6" name="shape s2.2.1.0.1.1.2"/>
          <p:cNvSpPr/>
          <p:nvPr/>
        </p:nvSpPr>
        <p:spPr>
          <a:xfrm>
            <a:off x="5857875" y="4265414"/>
            <a:ext cx="476101" cy="400050"/>
          </a:xfrm>
          <a:prstGeom prst="rect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7" name="shape s2.2.1.0.1.1.3"/>
          <p:cNvSpPr/>
          <p:nvPr/>
        </p:nvSpPr>
        <p:spPr>
          <a:xfrm>
            <a:off x="6391126" y="4189214"/>
            <a:ext cx="476250" cy="476250"/>
          </a:xfrm>
          <a:prstGeom prst="rect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8" name="shape s2.2.1.0.1.1.4"/>
          <p:cNvSpPr/>
          <p:nvPr/>
        </p:nvSpPr>
        <p:spPr>
          <a:xfrm>
            <a:off x="6924526" y="4055864"/>
            <a:ext cx="476250" cy="60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9" name="p s2.2.1.0.2.0"/>
          <p:cNvSpPr txBox="1"/>
          <p:nvPr/>
        </p:nvSpPr>
        <p:spPr>
          <a:xfrm>
            <a:off x="4791224" y="5255865"/>
            <a:ext cx="26095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목표 대비 108%</a:t>
            </a:r>
          </a:p>
        </p:txBody>
      </p:sp>
      <p:sp>
        <p:nvSpPr>
          <p:cNvPr id="20" name="text s2.2.1.0.2.1"/>
          <p:cNvSpPr txBox="1"/>
          <p:nvPr/>
        </p:nvSpPr>
        <p:spPr>
          <a:xfrm>
            <a:off x="4791224" y="5598765"/>
            <a:ext cx="26095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원 · 구독 74% · 광고 26%</a:t>
            </a:r>
          </a:p>
        </p:txBody>
      </p:sp>
      <p:sp>
        <p:nvSpPr>
          <p:cNvPr id="21" name="shape s2.2.2"/>
          <p:cNvSpPr/>
          <p:nvPr/>
        </p:nvSpPr>
        <p:spPr>
          <a:xfrm>
            <a:off x="8153400" y="1769715"/>
            <a:ext cx="3429000" cy="4478685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>
              <a:schemeClr val="tx1">
                <a:alpha val="15000"/>
              </a:schemeClr>
            </a:outerShdw>
          </a:effectLst>
        </p:spPr>
        <p:txBody>
          <a:bodyPr wrap="square" lIns="342900" tIns="342900" rIns="342900" bIns="342900" anchor="t">
            <a:normAutofit/>
          </a:bodyPr>
          <a:lstStyle/>
          <a:p>
            <a:endParaRPr/>
          </a:p>
        </p:txBody>
      </p:sp>
      <p:sp>
        <p:nvSpPr>
          <p:cNvPr id="22" name="text s2.2.2.0.0"/>
          <p:cNvSpPr txBox="1"/>
          <p:nvPr/>
        </p:nvSpPr>
        <p:spPr>
          <a:xfrm>
            <a:off x="8563124" y="2179439"/>
            <a:ext cx="26095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tx2"/>
                </a:solidFill>
                <a:latin typeface="+mn-lt"/>
                <a:ea typeface="+mn-ea"/>
              </a:rPr>
              <a:t>앱스토어 평점</a:t>
            </a:r>
          </a:p>
        </p:txBody>
      </p:sp>
      <p:sp>
        <p:nvSpPr>
          <p:cNvPr id="23" name="text s2.2.2.0.1.0"/>
          <p:cNvSpPr txBox="1"/>
          <p:nvPr/>
        </p:nvSpPr>
        <p:spPr>
          <a:xfrm>
            <a:off x="8563124" y="3027164"/>
            <a:ext cx="260955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200"/>
              </a:lnSpc>
            </a:pPr>
            <a:r>
              <a:rPr sz="6000" b="1">
                <a:solidFill>
                  <a:schemeClr val="accent4"/>
                </a:solidFill>
                <a:latin typeface="+mj-lt"/>
                <a:ea typeface="+mj-ea"/>
              </a:rPr>
              <a:t>4.6</a:t>
            </a:r>
          </a:p>
        </p:txBody>
      </p:sp>
      <p:sp>
        <p:nvSpPr>
          <p:cNvPr id="24" name="shape s2.2.2.0.1.1.0"/>
          <p:cNvSpPr/>
          <p:nvPr/>
        </p:nvSpPr>
        <p:spPr>
          <a:xfrm>
            <a:off x="8563124" y="4151114"/>
            <a:ext cx="419100" cy="41910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25" name="shape s2.2.2.0.1.1.1"/>
          <p:cNvSpPr/>
          <p:nvPr/>
        </p:nvSpPr>
        <p:spPr>
          <a:xfrm>
            <a:off x="9039374" y="4151114"/>
            <a:ext cx="419100" cy="41910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26" name="shape s2.2.2.0.1.1.2"/>
          <p:cNvSpPr/>
          <p:nvPr/>
        </p:nvSpPr>
        <p:spPr>
          <a:xfrm>
            <a:off x="9515624" y="4151114"/>
            <a:ext cx="419100" cy="41910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27" name="shape s2.2.2.0.1.1.3"/>
          <p:cNvSpPr/>
          <p:nvPr/>
        </p:nvSpPr>
        <p:spPr>
          <a:xfrm>
            <a:off x="9991874" y="4151114"/>
            <a:ext cx="419100" cy="41910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28" name="shape s2.2.2.0.1.1.4"/>
          <p:cNvSpPr/>
          <p:nvPr/>
        </p:nvSpPr>
        <p:spPr>
          <a:xfrm>
            <a:off x="10468124" y="4151114"/>
            <a:ext cx="419100" cy="419100"/>
          </a:xfrm>
          <a:prstGeom prst="star5">
            <a:avLst/>
          </a:prstGeom>
          <a:solidFill>
            <a:schemeClr val="accent4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29" name="p s2.2.2.0.2.0"/>
          <p:cNvSpPr txBox="1"/>
          <p:nvPr/>
        </p:nvSpPr>
        <p:spPr>
          <a:xfrm>
            <a:off x="8563124" y="5255865"/>
            <a:ext cx="26095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리뷰 18,400건</a:t>
            </a:r>
          </a:p>
        </p:txBody>
      </p:sp>
      <p:sp>
        <p:nvSpPr>
          <p:cNvPr id="30" name="text s2.2.2.0.2.1"/>
          <p:cNvSpPr txBox="1"/>
          <p:nvPr/>
        </p:nvSpPr>
        <p:spPr>
          <a:xfrm>
            <a:off x="8563124" y="5598765"/>
            <a:ext cx="26095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Q2 4.3 · 1점 리뷰 −41%</a:t>
            </a:r>
          </a:p>
        </p:txBody>
      </p:sp>
      <p:sp>
        <p:nvSpPr>
          <p:cNvPr id="31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32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3</a:t>
            </a:fld>
            <a:endParaRPr sz="1350" b="0">
              <a:solidFill>
                <a:schemeClr val="tx2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3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accent1"/>
                </a:solidFill>
                <a:latin typeface="+mn-lt"/>
                <a:ea typeface="+mn-ea"/>
              </a:rPr>
              <a:t>02 · 채널별 성과</a:t>
            </a:r>
          </a:p>
        </p:txBody>
      </p:sp>
      <p:sp>
        <p:nvSpPr>
          <p:cNvPr id="3" name="h2 s3.1"/>
          <p:cNvSpPr txBox="1"/>
          <p:nvPr/>
        </p:nvSpPr>
        <p:spPr>
          <a:xfrm>
            <a:off x="609600" y="1095375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추천은 싸고, 디스플레이는 비싸다</a:t>
            </a:r>
          </a:p>
        </p:txBody>
      </p:sp>
      <p:graphicFrame>
        <p:nvGraphicFramePr>
          <p:cNvPr id="4" name="table s3.2.0"/>
          <p:cNvGraphicFramePr/>
          <p:nvPr/>
        </p:nvGraphicFramePr>
        <p:xfrm>
          <a:off x="609600" y="1769715"/>
          <a:ext cx="6377880" cy="401017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216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6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채널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신규 사용자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전환율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CAC (원)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검색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312K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4.2%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12,000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추천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268K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accent3"/>
                          </a:solidFill>
                          <a:latin typeface="+mn-lt"/>
                          <a:ea typeface="+mn-ea"/>
                        </a:rPr>
                        <a:t>7.8%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accent3"/>
                          </a:solidFill>
                          <a:latin typeface="+mn-lt"/>
                          <a:ea typeface="+mn-ea"/>
                        </a:rPr>
                        <a:t>3,200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소셜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141K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2.9%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9,400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제휴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63K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3.5%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7,100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디스플레이 광고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38K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1.1%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accent5"/>
                          </a:solidFill>
                          <a:latin typeface="+mn-lt"/>
                          <a:ea typeface="+mn-ea"/>
                        </a:rPr>
                        <a:t>21,500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411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합계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822K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4.6%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8,900</a:t>
                      </a:r>
                    </a:p>
                  </a:txBody>
                  <a:tcPr marL="114300" marR="114300" marT="76200" marB="76200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s3.2.1"/>
          <p:cNvSpPr/>
          <p:nvPr/>
        </p:nvSpPr>
        <p:spPr>
          <a:xfrm>
            <a:off x="7330380" y="1769715"/>
            <a:ext cx="4251871" cy="4010174"/>
          </a:xfrm>
          <a:prstGeom prst="roundRect">
            <a:avLst>
              <a:gd name="adj" fmla="val 5701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>
            <a:endParaRPr/>
          </a:p>
        </p:txBody>
      </p:sp>
      <p:sp>
        <p:nvSpPr>
          <p:cNvPr id="6" name="text s3.2.1.0.0"/>
          <p:cNvSpPr txBox="1"/>
          <p:nvPr/>
        </p:nvSpPr>
        <p:spPr>
          <a:xfrm>
            <a:off x="7625804" y="2065139"/>
            <a:ext cx="3661023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tx2"/>
                </a:solidFill>
                <a:latin typeface="+mn-lt"/>
                <a:ea typeface="+mn-ea"/>
              </a:rPr>
              <a:t>CAC · 천 원</a:t>
            </a:r>
          </a:p>
        </p:txBody>
      </p:sp>
      <p:sp>
        <p:nvSpPr>
          <p:cNvPr id="7" name="shape s3.2.1.0.1" descr="채널별 CAC — 검색 12.0, 추천 3.2, 소셜 9.4, 제휴 7.1, 디스플레이 광고 21.5 (천 원)"/>
          <p:cNvSpPr/>
          <p:nvPr/>
        </p:nvSpPr>
        <p:spPr>
          <a:xfrm>
            <a:off x="7625804" y="2436614"/>
            <a:ext cx="3661023" cy="30478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8" name="text s3.2.1.0.1.0.0.0.0.1"/>
          <p:cNvSpPr txBox="1"/>
          <p:nvPr/>
        </p:nvSpPr>
        <p:spPr>
          <a:xfrm>
            <a:off x="7625804" y="3715941"/>
            <a:ext cx="732086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12.0</a:t>
            </a:r>
          </a:p>
        </p:txBody>
      </p:sp>
      <p:sp>
        <p:nvSpPr>
          <p:cNvPr id="9" name="shape s3.2.1.0.1.0.0.0.0.2"/>
          <p:cNvSpPr/>
          <p:nvPr/>
        </p:nvSpPr>
        <p:spPr>
          <a:xfrm>
            <a:off x="7735639" y="4013002"/>
            <a:ext cx="512415" cy="1222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0" name="shape s3.2.1.0.1.0.0.0.1"/>
          <p:cNvSpPr/>
          <p:nvPr/>
        </p:nvSpPr>
        <p:spPr>
          <a:xfrm>
            <a:off x="7625804" y="5235029"/>
            <a:ext cx="732086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1" name="text s3.2.1.0.1.0.0.1.0.1"/>
          <p:cNvSpPr txBox="1"/>
          <p:nvPr/>
        </p:nvSpPr>
        <p:spPr>
          <a:xfrm>
            <a:off x="8357890" y="4612184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3.2</a:t>
            </a:r>
          </a:p>
        </p:txBody>
      </p:sp>
      <p:sp>
        <p:nvSpPr>
          <p:cNvPr id="12" name="shape s3.2.1.0.1.0.0.1.0.2"/>
          <p:cNvSpPr/>
          <p:nvPr/>
        </p:nvSpPr>
        <p:spPr>
          <a:xfrm>
            <a:off x="8467725" y="4909245"/>
            <a:ext cx="512564" cy="32578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3" name="shape s3.2.1.0.1.0.0.1.1"/>
          <p:cNvSpPr/>
          <p:nvPr/>
        </p:nvSpPr>
        <p:spPr>
          <a:xfrm>
            <a:off x="8357890" y="5235029"/>
            <a:ext cx="732234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4" name="text s3.2.1.0.1.0.0.2.0.1"/>
          <p:cNvSpPr txBox="1"/>
          <p:nvPr/>
        </p:nvSpPr>
        <p:spPr>
          <a:xfrm>
            <a:off x="9090124" y="3980557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9.4</a:t>
            </a:r>
          </a:p>
        </p:txBody>
      </p:sp>
      <p:sp>
        <p:nvSpPr>
          <p:cNvPr id="15" name="shape s3.2.1.0.1.0.0.2.0.2"/>
          <p:cNvSpPr/>
          <p:nvPr/>
        </p:nvSpPr>
        <p:spPr>
          <a:xfrm>
            <a:off x="9199959" y="4277618"/>
            <a:ext cx="512564" cy="9574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6" name="shape s3.2.1.0.1.0.0.2.1"/>
          <p:cNvSpPr/>
          <p:nvPr/>
        </p:nvSpPr>
        <p:spPr>
          <a:xfrm>
            <a:off x="9090124" y="5235029"/>
            <a:ext cx="732234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7" name="text s3.2.1.0.1.0.0.3.0.1"/>
          <p:cNvSpPr txBox="1"/>
          <p:nvPr/>
        </p:nvSpPr>
        <p:spPr>
          <a:xfrm>
            <a:off x="9822359" y="4215110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7.1</a:t>
            </a:r>
          </a:p>
        </p:txBody>
      </p:sp>
      <p:sp>
        <p:nvSpPr>
          <p:cNvPr id="18" name="shape s3.2.1.0.1.0.0.3.0.2"/>
          <p:cNvSpPr/>
          <p:nvPr/>
        </p:nvSpPr>
        <p:spPr>
          <a:xfrm>
            <a:off x="9932194" y="4512171"/>
            <a:ext cx="512564" cy="7228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9" name="shape s3.2.1.0.1.0.0.3.1"/>
          <p:cNvSpPr/>
          <p:nvPr/>
        </p:nvSpPr>
        <p:spPr>
          <a:xfrm>
            <a:off x="9822359" y="5235029"/>
            <a:ext cx="732234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20" name="text s3.2.1.0.1.0.0.4.0.1"/>
          <p:cNvSpPr txBox="1"/>
          <p:nvPr/>
        </p:nvSpPr>
        <p:spPr>
          <a:xfrm>
            <a:off x="10554593" y="2748409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accent5"/>
                </a:solidFill>
                <a:latin typeface="+mn-lt"/>
                <a:ea typeface="+mn-ea"/>
              </a:rPr>
              <a:t>21.5</a:t>
            </a:r>
          </a:p>
        </p:txBody>
      </p:sp>
      <p:sp>
        <p:nvSpPr>
          <p:cNvPr id="21" name="shape s3.2.1.0.1.0.0.4.0.2"/>
          <p:cNvSpPr/>
          <p:nvPr/>
        </p:nvSpPr>
        <p:spPr>
          <a:xfrm>
            <a:off x="10664428" y="3045470"/>
            <a:ext cx="512564" cy="21895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22" name="shape s3.2.1.0.1.0.0.4.1"/>
          <p:cNvSpPr/>
          <p:nvPr/>
        </p:nvSpPr>
        <p:spPr>
          <a:xfrm>
            <a:off x="10554593" y="5235029"/>
            <a:ext cx="732234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23" name="text s3.2.1.0.1.0.1.0"/>
          <p:cNvSpPr txBox="1"/>
          <p:nvPr/>
        </p:nvSpPr>
        <p:spPr>
          <a:xfrm>
            <a:off x="7625804" y="5244554"/>
            <a:ext cx="732086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검색</a:t>
            </a:r>
          </a:p>
        </p:txBody>
      </p:sp>
      <p:sp>
        <p:nvSpPr>
          <p:cNvPr id="24" name="text s3.2.1.0.1.0.1.1"/>
          <p:cNvSpPr txBox="1"/>
          <p:nvPr/>
        </p:nvSpPr>
        <p:spPr>
          <a:xfrm>
            <a:off x="8357890" y="5244554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추천</a:t>
            </a:r>
          </a:p>
        </p:txBody>
      </p:sp>
      <p:sp>
        <p:nvSpPr>
          <p:cNvPr id="25" name="text s3.2.1.0.1.0.1.2"/>
          <p:cNvSpPr txBox="1"/>
          <p:nvPr/>
        </p:nvSpPr>
        <p:spPr>
          <a:xfrm>
            <a:off x="9090124" y="5244554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소셜</a:t>
            </a:r>
          </a:p>
        </p:txBody>
      </p:sp>
      <p:sp>
        <p:nvSpPr>
          <p:cNvPr id="26" name="text s3.2.1.0.1.0.1.3"/>
          <p:cNvSpPr txBox="1"/>
          <p:nvPr/>
        </p:nvSpPr>
        <p:spPr>
          <a:xfrm>
            <a:off x="9822359" y="5244554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제휴</a:t>
            </a:r>
          </a:p>
        </p:txBody>
      </p:sp>
      <p:sp>
        <p:nvSpPr>
          <p:cNvPr id="27" name="text s3.2.1.0.1.0.1.4"/>
          <p:cNvSpPr txBox="1"/>
          <p:nvPr/>
        </p:nvSpPr>
        <p:spPr>
          <a:xfrm>
            <a:off x="10554593" y="5244554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accent5"/>
                </a:solidFill>
                <a:latin typeface="+mn-lt"/>
                <a:ea typeface="+mn-ea"/>
              </a:rPr>
              <a:t>광고</a:t>
            </a:r>
          </a:p>
        </p:txBody>
      </p:sp>
      <p:sp>
        <p:nvSpPr>
          <p:cNvPr id="28" name="text s3.3"/>
          <p:cNvSpPr txBox="1"/>
          <p:nvPr/>
        </p:nvSpPr>
        <p:spPr>
          <a:xfrm>
            <a:off x="609600" y="6008489"/>
            <a:ext cx="109728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CAC = 채널 비용 ÷ 신규 사용자. 합계 행의 전환율과 CAC는 가중 평균이다.</a:t>
            </a:r>
          </a:p>
        </p:txBody>
      </p:sp>
      <p:sp>
        <p:nvSpPr>
          <p:cNvPr id="29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30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4</a:t>
            </a:fld>
            <a:endParaRPr sz="1350" b="0">
              <a:solidFill>
                <a:schemeClr val="tx2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4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accent1"/>
                </a:solidFill>
                <a:latin typeface="+mn-lt"/>
                <a:ea typeface="+mn-ea"/>
              </a:rPr>
              <a:t>03 · 가장 큰 학습</a:t>
            </a:r>
          </a:p>
        </p:txBody>
      </p:sp>
      <p:sp>
        <p:nvSpPr>
          <p:cNvPr id="3" name="shape s4.1.0"/>
          <p:cNvSpPr/>
          <p:nvPr/>
        </p:nvSpPr>
        <p:spPr>
          <a:xfrm>
            <a:off x="609600" y="1095375"/>
            <a:ext cx="10972800" cy="3830687"/>
          </a:xfrm>
          <a:prstGeom prst="roundRect">
            <a:avLst>
              <a:gd name="adj" fmla="val 5968"/>
            </a:avLst>
          </a:pr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1800000" scaled="1"/>
          </a:gradFill>
          <a:ln>
            <a:noFill/>
          </a:ln>
          <a:effectLst>
            <a:outerShdw blurRad="152400" dist="38100" dir="5400000">
              <a:schemeClr val="tx1">
                <a:alpha val="15000"/>
              </a:schemeClr>
            </a:outerShdw>
          </a:effectLst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4" name="shape s4.1.1"/>
          <p:cNvSpPr/>
          <p:nvPr/>
        </p:nvSpPr>
        <p:spPr>
          <a:xfrm>
            <a:off x="609600" y="1095375"/>
            <a:ext cx="10972800" cy="3830687"/>
          </a:xfrm>
          <a:prstGeom prst="roundRect">
            <a:avLst>
              <a:gd name="adj" fmla="val 5968"/>
            </a:avLst>
          </a:prstGeom>
          <a:gradFill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5" name="text s4.1.2.0"/>
          <p:cNvSpPr txBox="1"/>
          <p:nvPr/>
        </p:nvSpPr>
        <p:spPr>
          <a:xfrm>
            <a:off x="2450902" y="2437358"/>
            <a:ext cx="7290048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5400"/>
              </a:lnSpc>
            </a:pPr>
            <a:r>
              <a:rPr sz="4500" b="1">
                <a:solidFill>
                  <a:schemeClr val="bg1"/>
                </a:solidFill>
                <a:latin typeface="+mj-lt"/>
                <a:ea typeface="+mj-ea"/>
              </a:rPr>
              <a:t>추천 채널이 CAC를 4배 낮췄다</a:t>
            </a:r>
          </a:p>
        </p:txBody>
      </p:sp>
      <p:sp>
        <p:nvSpPr>
          <p:cNvPr id="6" name="text s4.1.2.1"/>
          <p:cNvSpPr txBox="1"/>
          <p:nvPr/>
        </p:nvSpPr>
        <p:spPr>
          <a:xfrm>
            <a:off x="2450902" y="3237458"/>
            <a:ext cx="7290048" cy="346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730"/>
              </a:lnSpc>
            </a:pPr>
            <a:r>
              <a:rPr sz="2100" b="1">
                <a:solidFill>
                  <a:schemeClr val="bg1"/>
                </a:solidFill>
                <a:latin typeface="+mj-lt"/>
                <a:ea typeface="+mj-ea"/>
              </a:rPr>
              <a:t>같은 예산이면 사용자가 네 배 온다</a:t>
            </a:r>
          </a:p>
        </p:txBody>
      </p:sp>
      <p:sp>
        <p:nvSpPr>
          <p:cNvPr id="7" name="shape s4.1.3"/>
          <p:cNvSpPr/>
          <p:nvPr/>
        </p:nvSpPr>
        <p:spPr>
          <a:xfrm>
            <a:off x="10210800" y="1323975"/>
            <a:ext cx="1143000" cy="4191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accent1"/>
                </a:solidFill>
                <a:latin typeface="+mn-lt"/>
                <a:ea typeface="+mn-ea"/>
              </a:rPr>
              <a:t>NEW</a:t>
            </a:r>
          </a:p>
        </p:txBody>
      </p:sp>
      <p:sp>
        <p:nvSpPr>
          <p:cNvPr id="8" name="shape s4.2.0"/>
          <p:cNvSpPr/>
          <p:nvPr/>
        </p:nvSpPr>
        <p:spPr>
          <a:xfrm>
            <a:off x="609600" y="5154662"/>
            <a:ext cx="4000500" cy="1093738"/>
          </a:xfrm>
          <a:prstGeom prst="roundRect">
            <a:avLst>
              <a:gd name="adj" fmla="val 20901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>
            <a:endParaRPr/>
          </a:p>
        </p:txBody>
      </p:sp>
      <p:sp>
        <p:nvSpPr>
          <p:cNvPr id="9" name="text s4.2.0.0.0"/>
          <p:cNvSpPr txBox="1"/>
          <p:nvPr/>
        </p:nvSpPr>
        <p:spPr>
          <a:xfrm>
            <a:off x="905024" y="5530007"/>
            <a:ext cx="91053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검색 CAC</a:t>
            </a:r>
          </a:p>
        </p:txBody>
      </p:sp>
      <p:sp>
        <p:nvSpPr>
          <p:cNvPr id="10" name="text s4.2.0.0.1"/>
          <p:cNvSpPr txBox="1"/>
          <p:nvPr/>
        </p:nvSpPr>
        <p:spPr>
          <a:xfrm>
            <a:off x="2610892" y="5450086"/>
            <a:ext cx="1703784" cy="502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960"/>
              </a:lnSpc>
            </a:pPr>
            <a:r>
              <a:rPr sz="3300" b="1">
                <a:solidFill>
                  <a:schemeClr val="tx2"/>
                </a:solidFill>
                <a:latin typeface="+mj-lt"/>
                <a:ea typeface="+mj-ea"/>
              </a:rPr>
              <a:t>12,000원</a:t>
            </a:r>
          </a:p>
        </p:txBody>
      </p:sp>
      <p:sp>
        <p:nvSpPr>
          <p:cNvPr id="11" name="shape s4.2.2"/>
          <p:cNvSpPr/>
          <p:nvPr/>
        </p:nvSpPr>
        <p:spPr>
          <a:xfrm>
            <a:off x="7581900" y="5154662"/>
            <a:ext cx="4000500" cy="1093738"/>
          </a:xfrm>
          <a:prstGeom prst="roundRect">
            <a:avLst>
              <a:gd name="adj" fmla="val 20901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>
            <a:endParaRPr/>
          </a:p>
        </p:txBody>
      </p:sp>
      <p:sp>
        <p:nvSpPr>
          <p:cNvPr id="12" name="text s4.2.2.0.0"/>
          <p:cNvSpPr txBox="1"/>
          <p:nvPr/>
        </p:nvSpPr>
        <p:spPr>
          <a:xfrm>
            <a:off x="7877324" y="5530007"/>
            <a:ext cx="91053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추천 CAC</a:t>
            </a:r>
          </a:p>
        </p:txBody>
      </p:sp>
      <p:sp>
        <p:nvSpPr>
          <p:cNvPr id="13" name="text s4.2.2.0.1"/>
          <p:cNvSpPr txBox="1"/>
          <p:nvPr/>
        </p:nvSpPr>
        <p:spPr>
          <a:xfrm>
            <a:off x="9822954" y="5450086"/>
            <a:ext cx="1464022" cy="502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960"/>
              </a:lnSpc>
            </a:pPr>
            <a:r>
              <a:rPr sz="3300" b="1">
                <a:solidFill>
                  <a:schemeClr val="accent3"/>
                </a:solidFill>
                <a:latin typeface="+mj-lt"/>
                <a:ea typeface="+mj-ea"/>
              </a:rPr>
              <a:t>3,200원</a:t>
            </a:r>
          </a:p>
        </p:txBody>
      </p:sp>
      <p:cxnSp>
        <p:nvCxnSpPr>
          <p:cNvPr id="14" name="connector s4.3"/>
          <p:cNvCxnSpPr>
            <a:stCxn id="8" idx="3"/>
            <a:endCxn id="11" idx="1"/>
          </p:cNvCxnSpPr>
          <p:nvPr/>
        </p:nvCxnSpPr>
        <p:spPr>
          <a:xfrm>
            <a:off x="4610100" y="5701531"/>
            <a:ext cx="2971800" cy="0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headEnd type="none"/>
            <a:tailEnd type="triangle" w="lg" len="lg"/>
          </a:ln>
        </p:spPr>
      </p:cxnSp>
      <p:sp>
        <p:nvSpPr>
          <p:cNvPr id="15" name="connector-label s4.3"/>
          <p:cNvSpPr txBox="1"/>
          <p:nvPr/>
        </p:nvSpPr>
        <p:spPr>
          <a:xfrm>
            <a:off x="5854526" y="5404470"/>
            <a:ext cx="482947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÷ 3.75</a:t>
            </a:r>
          </a:p>
        </p:txBody>
      </p:sp>
      <p:sp>
        <p:nvSpPr>
          <p:cNvPr id="16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17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5</a:t>
            </a:fld>
            <a:endParaRPr sz="1350" b="0">
              <a:solidFill>
                <a:schemeClr val="tx2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 s5.0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추천은 친구의 화면에서 시작한다</a:t>
            </a:r>
          </a:p>
        </p:txBody>
      </p:sp>
      <p:pic>
        <p:nvPicPr>
          <p:cNvPr id="3" name="image s5.1" descr="카페에서 휴대폰 화면을 함께 보며 웃는 두 사람"/>
          <p:cNvPicPr>
            <a:picLocks noGrp="1"/>
          </p:cNvPicPr>
          <p:nvPr>
            <p:ph type="pic" idx="1"/>
          </p:nvPr>
        </p:nvPicPr>
        <p:blipFill>
          <a:blip r:embed="rId3"/>
          <a:srcRect t="7518" b="7518"/>
          <a:stretch>
            <a:fillRect/>
          </a:stretch>
        </p:blipFill>
        <p:spPr>
          <a:xfrm>
            <a:off x="609600" y="1861096"/>
            <a:ext cx="5372100" cy="3810000"/>
          </a:xfrm>
          <a:prstGeom prst="roundRect">
            <a:avLst>
              <a:gd name="adj" fmla="val 3000"/>
            </a:avLst>
          </a:prstGeom>
          <a:ln w="9525">
            <a:solidFill>
              <a:schemeClr val="tx2"/>
            </a:solidFill>
            <a:prstDash val="solid"/>
          </a:ln>
          <a:effectLst>
            <a:outerShdw blurRad="152400" dist="38100" dir="5400000">
              <a:schemeClr val="tx1">
                <a:alpha val="15000"/>
              </a:schemeClr>
            </a:outerShdw>
          </a:effectLst>
        </p:spPr>
      </p:pic>
      <p:sp>
        <p:nvSpPr>
          <p:cNvPr id="4" name="text s5.2.0.0"/>
          <p:cNvSpPr txBox="1"/>
          <p:nvPr/>
        </p:nvSpPr>
        <p:spPr>
          <a:xfrm>
            <a:off x="6210300" y="2531864"/>
            <a:ext cx="1428750" cy="594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680"/>
              </a:lnSpc>
            </a:pPr>
            <a:r>
              <a:rPr sz="3900" b="1">
                <a:solidFill>
                  <a:schemeClr val="accent1"/>
                </a:solidFill>
                <a:latin typeface="+mj-lt"/>
                <a:ea typeface="+mj-ea"/>
              </a:rPr>
              <a:t>38%</a:t>
            </a:r>
          </a:p>
        </p:txBody>
      </p:sp>
      <p:sp>
        <p:nvSpPr>
          <p:cNvPr id="5" name="text s5.2.0.1.0"/>
          <p:cNvSpPr txBox="1"/>
          <p:nvPr/>
        </p:nvSpPr>
        <p:spPr>
          <a:xfrm>
            <a:off x="7867650" y="2560439"/>
            <a:ext cx="371475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초대 링크를 연다</a:t>
            </a:r>
          </a:p>
        </p:txBody>
      </p:sp>
      <p:sp>
        <p:nvSpPr>
          <p:cNvPr id="6" name="text s5.2.0.1.1"/>
          <p:cNvSpPr txBox="1"/>
          <p:nvPr/>
        </p:nvSpPr>
        <p:spPr>
          <a:xfrm>
            <a:off x="7867650" y="2857500"/>
            <a:ext cx="371475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공유된 링크 1,000개 중 380개</a:t>
            </a:r>
          </a:p>
        </p:txBody>
      </p:sp>
      <p:sp>
        <p:nvSpPr>
          <p:cNvPr id="7" name="text s5.2.1.0"/>
          <p:cNvSpPr txBox="1"/>
          <p:nvPr/>
        </p:nvSpPr>
        <p:spPr>
          <a:xfrm>
            <a:off x="6210300" y="3469035"/>
            <a:ext cx="1428750" cy="594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680"/>
              </a:lnSpc>
            </a:pPr>
            <a:r>
              <a:rPr sz="3900" b="1">
                <a:solidFill>
                  <a:schemeClr val="accent1"/>
                </a:solidFill>
                <a:latin typeface="+mj-lt"/>
                <a:ea typeface="+mj-ea"/>
              </a:rPr>
              <a:t>21%</a:t>
            </a:r>
          </a:p>
        </p:txBody>
      </p:sp>
      <p:sp>
        <p:nvSpPr>
          <p:cNvPr id="8" name="text s5.2.1.1.0"/>
          <p:cNvSpPr txBox="1"/>
          <p:nvPr/>
        </p:nvSpPr>
        <p:spPr>
          <a:xfrm>
            <a:off x="7867650" y="3497610"/>
            <a:ext cx="371475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가입한다</a:t>
            </a:r>
          </a:p>
        </p:txBody>
      </p:sp>
      <p:sp>
        <p:nvSpPr>
          <p:cNvPr id="9" name="text s5.2.1.1.1"/>
          <p:cNvSpPr txBox="1"/>
          <p:nvPr/>
        </p:nvSpPr>
        <p:spPr>
          <a:xfrm>
            <a:off x="7867650" y="3794671"/>
            <a:ext cx="371475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연 사람의 다섯 중 하나 — 검색의 세 배</a:t>
            </a:r>
          </a:p>
        </p:txBody>
      </p:sp>
      <p:sp>
        <p:nvSpPr>
          <p:cNvPr id="10" name="text s5.2.2.0"/>
          <p:cNvSpPr txBox="1"/>
          <p:nvPr/>
        </p:nvSpPr>
        <p:spPr>
          <a:xfrm>
            <a:off x="6210300" y="4406205"/>
            <a:ext cx="1428750" cy="594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680"/>
              </a:lnSpc>
            </a:pPr>
            <a:r>
              <a:rPr sz="3900" b="1">
                <a:solidFill>
                  <a:schemeClr val="accent3"/>
                </a:solidFill>
                <a:latin typeface="+mj-lt"/>
                <a:ea typeface="+mj-ea"/>
              </a:rPr>
              <a:t>7.8%</a:t>
            </a:r>
          </a:p>
        </p:txBody>
      </p:sp>
      <p:sp>
        <p:nvSpPr>
          <p:cNvPr id="11" name="text s5.2.2.1.0"/>
          <p:cNvSpPr txBox="1"/>
          <p:nvPr/>
        </p:nvSpPr>
        <p:spPr>
          <a:xfrm>
            <a:off x="7867650" y="4434780"/>
            <a:ext cx="371475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첫 결제까지 간다</a:t>
            </a:r>
          </a:p>
        </p:txBody>
      </p:sp>
      <p:sp>
        <p:nvSpPr>
          <p:cNvPr id="12" name="text s5.2.2.1.1"/>
          <p:cNvSpPr txBox="1"/>
          <p:nvPr/>
        </p:nvSpPr>
        <p:spPr>
          <a:xfrm>
            <a:off x="7867650" y="4731841"/>
            <a:ext cx="371475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모든 채널 중 전환율 1위</a:t>
            </a:r>
          </a:p>
        </p:txBody>
      </p:sp>
      <p:sp>
        <p:nvSpPr>
          <p:cNvPr id="13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14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6</a:t>
            </a:fld>
            <a:endParaRPr sz="1350" b="0">
              <a:solidFill>
                <a:schemeClr val="tx2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 s6.0"/>
          <p:cNvSpPr txBox="1">
            <a:spLocks noGrp="1"/>
          </p:cNvSpPr>
          <p:nvPr>
            <p:ph type="title"/>
          </p:nvPr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Q4 목표와 필요한 투자</a:t>
            </a:r>
          </a:p>
        </p:txBody>
      </p:sp>
      <p:sp>
        <p:nvSpPr>
          <p:cNvPr id="3" name="shape s6.1.0"/>
          <p:cNvSpPr/>
          <p:nvPr/>
        </p:nvSpPr>
        <p:spPr>
          <a:xfrm>
            <a:off x="609600" y="1283940"/>
            <a:ext cx="5372100" cy="4964460"/>
          </a:xfrm>
          <a:prstGeom prst="roundRect">
            <a:avLst>
              <a:gd name="adj" fmla="val 46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>
            <a:endParaRPr/>
          </a:p>
        </p:txBody>
      </p:sp>
      <p:sp>
        <p:nvSpPr>
          <p:cNvPr id="4" name="text s6.1.0.0.0"/>
          <p:cNvSpPr txBox="1"/>
          <p:nvPr/>
        </p:nvSpPr>
        <p:spPr>
          <a:xfrm>
            <a:off x="1019324" y="1693664"/>
            <a:ext cx="45526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accent1"/>
                </a:solidFill>
                <a:latin typeface="+mn-lt"/>
                <a:ea typeface="+mn-ea"/>
              </a:rPr>
              <a:t>목표</a:t>
            </a:r>
          </a:p>
        </p:txBody>
      </p:sp>
      <p:sp>
        <p:nvSpPr>
          <p:cNvPr id="5" name="text s6.1.0.0.1.0.0"/>
          <p:cNvSpPr txBox="1"/>
          <p:nvPr/>
        </p:nvSpPr>
        <p:spPr>
          <a:xfrm>
            <a:off x="1019324" y="2505224"/>
            <a:ext cx="159112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월간 활성 사용자</a:t>
            </a:r>
          </a:p>
        </p:txBody>
      </p:sp>
      <p:sp>
        <p:nvSpPr>
          <p:cNvPr id="6" name="text s6.1.0.0.1.0.1"/>
          <p:cNvSpPr txBox="1"/>
          <p:nvPr/>
        </p:nvSpPr>
        <p:spPr>
          <a:xfrm>
            <a:off x="4668143" y="2390924"/>
            <a:ext cx="90383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chemeClr val="accent1"/>
                </a:solidFill>
                <a:latin typeface="+mj-lt"/>
                <a:ea typeface="+mj-ea"/>
              </a:rPr>
              <a:t>3.4M</a:t>
            </a:r>
          </a:p>
        </p:txBody>
      </p:sp>
      <p:sp>
        <p:nvSpPr>
          <p:cNvPr id="7" name="shape s6.1.0.0.1.1.0"/>
          <p:cNvSpPr/>
          <p:nvPr/>
        </p:nvSpPr>
        <p:spPr>
          <a:xfrm>
            <a:off x="1019324" y="2905274"/>
            <a:ext cx="3883075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8" name="shape s6.1.0.0.1.1.1"/>
          <p:cNvSpPr/>
          <p:nvPr/>
        </p:nvSpPr>
        <p:spPr>
          <a:xfrm>
            <a:off x="4902398" y="2905274"/>
            <a:ext cx="669578" cy="95250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9" name="text s6.1.0.0.1.2"/>
          <p:cNvSpPr txBox="1"/>
          <p:nvPr/>
        </p:nvSpPr>
        <p:spPr>
          <a:xfrm>
            <a:off x="1019324" y="3057674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Q3 2.9M · 85% 왔다</a:t>
            </a:r>
          </a:p>
        </p:txBody>
      </p:sp>
      <p:sp>
        <p:nvSpPr>
          <p:cNvPr id="10" name="text s6.1.0.0.2.0.0"/>
          <p:cNvSpPr txBox="1"/>
          <p:nvPr/>
        </p:nvSpPr>
        <p:spPr>
          <a:xfrm>
            <a:off x="1019324" y="3851970"/>
            <a:ext cx="90070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분기 매출</a:t>
            </a:r>
          </a:p>
        </p:txBody>
      </p:sp>
      <p:sp>
        <p:nvSpPr>
          <p:cNvPr id="11" name="text s6.1.0.0.2.0.1"/>
          <p:cNvSpPr txBox="1"/>
          <p:nvPr/>
        </p:nvSpPr>
        <p:spPr>
          <a:xfrm>
            <a:off x="4771430" y="3737670"/>
            <a:ext cx="80054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chemeClr val="accent2"/>
                </a:solidFill>
                <a:latin typeface="+mj-lt"/>
                <a:ea typeface="+mj-ea"/>
              </a:rPr>
              <a:t>1.4B</a:t>
            </a:r>
          </a:p>
        </p:txBody>
      </p:sp>
      <p:sp>
        <p:nvSpPr>
          <p:cNvPr id="12" name="shape s6.1.0.0.2.1.0"/>
          <p:cNvSpPr/>
          <p:nvPr/>
        </p:nvSpPr>
        <p:spPr>
          <a:xfrm>
            <a:off x="1019324" y="4252020"/>
            <a:ext cx="3902273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3" name="shape s6.1.0.0.2.1.1"/>
          <p:cNvSpPr/>
          <p:nvPr/>
        </p:nvSpPr>
        <p:spPr>
          <a:xfrm>
            <a:off x="4921597" y="4252020"/>
            <a:ext cx="650379" cy="95250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endParaRPr/>
          </a:p>
        </p:txBody>
      </p:sp>
      <p:sp>
        <p:nvSpPr>
          <p:cNvPr id="14" name="text s6.1.0.0.2.2"/>
          <p:cNvSpPr txBox="1"/>
          <p:nvPr/>
        </p:nvSpPr>
        <p:spPr>
          <a:xfrm>
            <a:off x="1019324" y="4404420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Q3 1.2B원 · 86% 왔다</a:t>
            </a:r>
          </a:p>
        </p:txBody>
      </p:sp>
      <p:sp>
        <p:nvSpPr>
          <p:cNvPr id="15" name="text s6.1.0.0.3.0.0"/>
          <p:cNvSpPr txBox="1"/>
          <p:nvPr/>
        </p:nvSpPr>
        <p:spPr>
          <a:xfrm>
            <a:off x="1019324" y="5198715"/>
            <a:ext cx="91053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평균 CAC</a:t>
            </a:r>
          </a:p>
        </p:txBody>
      </p:sp>
      <p:sp>
        <p:nvSpPr>
          <p:cNvPr id="16" name="text s6.1.0.0.3.0.1"/>
          <p:cNvSpPr txBox="1"/>
          <p:nvPr/>
        </p:nvSpPr>
        <p:spPr>
          <a:xfrm>
            <a:off x="4591645" y="5084415"/>
            <a:ext cx="98033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chemeClr val="accent3"/>
                </a:solidFill>
                <a:latin typeface="+mj-lt"/>
                <a:ea typeface="+mj-ea"/>
              </a:rPr>
              <a:t>7,000</a:t>
            </a:r>
          </a:p>
        </p:txBody>
      </p:sp>
      <p:sp>
        <p:nvSpPr>
          <p:cNvPr id="17" name="text s6.1.0.0.3.1"/>
          <p:cNvSpPr txBox="1"/>
          <p:nvPr/>
        </p:nvSpPr>
        <p:spPr>
          <a:xfrm>
            <a:off x="1019324" y="5598765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Q3 8,900원 → −21% · 추천 비중이 오를수록 내려간다</a:t>
            </a:r>
          </a:p>
        </p:txBody>
      </p:sp>
      <p:sp>
        <p:nvSpPr>
          <p:cNvPr id="18" name="shape s6.2.0"/>
          <p:cNvSpPr/>
          <p:nvPr/>
        </p:nvSpPr>
        <p:spPr>
          <a:xfrm>
            <a:off x="6210300" y="1283940"/>
            <a:ext cx="5372100" cy="4964460"/>
          </a:xfrm>
          <a:prstGeom prst="roundRect">
            <a:avLst>
              <a:gd name="adj" fmla="val 46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>
            <a:endParaRPr/>
          </a:p>
        </p:txBody>
      </p:sp>
      <p:sp>
        <p:nvSpPr>
          <p:cNvPr id="19" name="text s6.2.0.0.0"/>
          <p:cNvSpPr txBox="1"/>
          <p:nvPr/>
        </p:nvSpPr>
        <p:spPr>
          <a:xfrm>
            <a:off x="6620024" y="1693664"/>
            <a:ext cx="45526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cap="all" spc="135">
                <a:solidFill>
                  <a:schemeClr val="accent1"/>
                </a:solidFill>
                <a:latin typeface="+mn-lt"/>
                <a:ea typeface="+mn-ea"/>
              </a:rPr>
              <a:t>투자</a:t>
            </a:r>
          </a:p>
        </p:txBody>
      </p:sp>
      <p:sp>
        <p:nvSpPr>
          <p:cNvPr id="20" name="text s6.2.0.0.1.0"/>
          <p:cNvSpPr txBox="1"/>
          <p:nvPr/>
        </p:nvSpPr>
        <p:spPr>
          <a:xfrm>
            <a:off x="6620024" y="2370534"/>
            <a:ext cx="4552652" cy="3219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tx1"/>
                </a:solidFill>
                <a:latin typeface="+mj-lt"/>
                <a:ea typeface="+mj-ea"/>
              </a:rPr>
              <a:t>추천 보상 예산 2배</a:t>
            </a:r>
          </a:p>
        </p:txBody>
      </p:sp>
      <p:sp>
        <p:nvSpPr>
          <p:cNvPr id="21" name="text s6.2.0.0.1.1"/>
          <p:cNvSpPr txBox="1"/>
          <p:nvPr/>
        </p:nvSpPr>
        <p:spPr>
          <a:xfrm>
            <a:off x="6620024" y="2692450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디스플레이 광고 예산에서 옮긴다</a:t>
            </a:r>
          </a:p>
        </p:txBody>
      </p:sp>
      <p:sp>
        <p:nvSpPr>
          <p:cNvPr id="22" name="text s6.2.0.0.2.0"/>
          <p:cNvSpPr txBox="1"/>
          <p:nvPr/>
        </p:nvSpPr>
        <p:spPr>
          <a:xfrm>
            <a:off x="6620024" y="3351907"/>
            <a:ext cx="4552652" cy="3219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tx1"/>
                </a:solidFill>
                <a:latin typeface="+mj-lt"/>
                <a:ea typeface="+mj-ea"/>
              </a:rPr>
              <a:t>온보딩 개선 · 엔지니어 2명</a:t>
            </a:r>
          </a:p>
        </p:txBody>
      </p:sp>
      <p:sp>
        <p:nvSpPr>
          <p:cNvPr id="23" name="text s6.2.0.0.2.1"/>
          <p:cNvSpPr txBox="1"/>
          <p:nvPr/>
        </p:nvSpPr>
        <p:spPr>
          <a:xfrm>
            <a:off x="6620024" y="3673822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첫 주 이탈률 31% → 24%</a:t>
            </a:r>
          </a:p>
        </p:txBody>
      </p:sp>
      <p:sp>
        <p:nvSpPr>
          <p:cNvPr id="24" name="text s6.2.0.0.3.0"/>
          <p:cNvSpPr txBox="1"/>
          <p:nvPr/>
        </p:nvSpPr>
        <p:spPr>
          <a:xfrm>
            <a:off x="6620024" y="4333429"/>
            <a:ext cx="4552652" cy="3219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tx1"/>
                </a:solidFill>
                <a:latin typeface="+mj-lt"/>
                <a:ea typeface="+mj-ea"/>
              </a:rPr>
              <a:t>추천 어트리뷰션 정비</a:t>
            </a:r>
          </a:p>
        </p:txBody>
      </p:sp>
      <p:sp>
        <p:nvSpPr>
          <p:cNvPr id="25" name="text s6.2.0.0.3.1"/>
          <p:cNvSpPr txBox="1"/>
          <p:nvPr/>
        </p:nvSpPr>
        <p:spPr>
          <a:xfrm>
            <a:off x="6620024" y="4655344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링크 경유 가입의 18%가 미집계</a:t>
            </a:r>
          </a:p>
        </p:txBody>
      </p:sp>
      <p:sp>
        <p:nvSpPr>
          <p:cNvPr id="26" name="shape s6.2.0.0.4"/>
          <p:cNvSpPr/>
          <p:nvPr/>
        </p:nvSpPr>
        <p:spPr>
          <a:xfrm>
            <a:off x="6620024" y="5314801"/>
            <a:ext cx="4552652" cy="523875"/>
          </a:xfrm>
          <a:prstGeom prst="roundRect">
            <a:avLst>
              <a:gd name="adj" fmla="val 21818"/>
            </a:avLst>
          </a:prstGeom>
          <a:solidFill>
            <a:schemeClr val="accent3">
              <a:alpha val="14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28600" tIns="57150" rIns="228600" bIns="5715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chemeClr val="accent3"/>
                </a:solidFill>
                <a:latin typeface="+mn-lt"/>
                <a:ea typeface="+mn-ea"/>
              </a:rPr>
              <a:t>추가 예산 0원 — 재배치만 한다</a:t>
            </a:r>
          </a:p>
        </p:txBody>
      </p:sp>
      <p:sp>
        <p:nvSpPr>
          <p:cNvPr id="27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28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7</a:t>
            </a:fld>
            <a:endParaRPr sz="1350" b="0">
              <a:solidFill>
                <a:schemeClr val="tx2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7.0"/>
          <p:cNvSpPr txBox="1"/>
          <p:nvPr/>
        </p:nvSpPr>
        <p:spPr>
          <a:xfrm>
            <a:off x="609600" y="2274391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7200"/>
              </a:lnSpc>
            </a:pPr>
            <a:r>
              <a:rPr sz="6000" b="1" i="0" u="none"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0" scaled="1"/>
                </a:gradFill>
                <a:latin typeface="+mj-lt"/>
                <a:ea typeface="+mj-ea"/>
              </a:rPr>
              <a:t>감사합니다</a:t>
            </a:r>
          </a:p>
        </p:txBody>
      </p:sp>
      <p:sp>
        <p:nvSpPr>
          <p:cNvPr id="3" name="text s7.1"/>
          <p:cNvSpPr txBox="1"/>
          <p:nvPr/>
        </p:nvSpPr>
        <p:spPr>
          <a:xfrm>
            <a:off x="609600" y="3417391"/>
            <a:ext cx="10972800" cy="346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730"/>
              </a:lnSpc>
            </a:pPr>
            <a:r>
              <a:rPr sz="2100" b="1">
                <a:solidFill>
                  <a:schemeClr val="tx2"/>
                </a:solidFill>
                <a:latin typeface="+mj-lt"/>
                <a:ea typeface="+mj-ea"/>
              </a:rPr>
              <a:t>질문은 #growth 채널로</a:t>
            </a:r>
          </a:p>
        </p:txBody>
      </p:sp>
      <p:sp>
        <p:nvSpPr>
          <p:cNvPr id="4" name="shape s7.2"/>
          <p:cNvSpPr/>
          <p:nvPr/>
        </p:nvSpPr>
        <p:spPr>
          <a:xfrm>
            <a:off x="3664446" y="3992612"/>
            <a:ext cx="4863108" cy="590848"/>
          </a:xfrm>
          <a:prstGeom prst="roundRect">
            <a:avLst>
              <a:gd name="adj" fmla="val 3869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228600" tIns="57150" rIns="228600" bIns="57150" anchor="t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오늘 결정: 디스플레이 예산 → 추천 보상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65F9"/>
      </a:accent1>
      <a:accent2>
        <a:srgbClr val="0E8174"/>
      </a:accent2>
      <a:accent3>
        <a:srgbClr val="15803D"/>
      </a:accent3>
      <a:accent4>
        <a:srgbClr val="B45309"/>
      </a:accent4>
      <a:accent5>
        <a:srgbClr val="DC2626"/>
      </a:accent5>
      <a:accent6>
        <a:srgbClr val="9333EA"/>
      </a:accent6>
      <a:hlink>
        <a:srgbClr val="0F65F9"/>
      </a:hlink>
      <a:folHlink>
        <a:srgbClr val="0F65F9"/>
      </a:folHlink>
    </a:clrScheme>
    <a:fontScheme name="minimal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65F9"/>
      </a:accent1>
      <a:accent2>
        <a:srgbClr val="0E8174"/>
      </a:accent2>
      <a:accent3>
        <a:srgbClr val="15803D"/>
      </a:accent3>
      <a:accent4>
        <a:srgbClr val="B45309"/>
      </a:accent4>
      <a:accent5>
        <a:srgbClr val="DC2626"/>
      </a:accent5>
      <a:accent6>
        <a:srgbClr val="9333EA"/>
      </a:accent6>
      <a:hlink>
        <a:srgbClr val="0F65F9"/>
      </a:hlink>
      <a:folHlink>
        <a:srgbClr val="0F65F9"/>
      </a:folHlink>
    </a:clrScheme>
    <a:fontScheme name="minimal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Macintosh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Noto Sans</vt:lpstr>
      <vt:lpstr>minimal</vt:lpstr>
      <vt:lpstr>Q3 비즈니스 리뷰</vt:lpstr>
      <vt:lpstr>PowerPoint Presentation</vt:lpstr>
      <vt:lpstr>PowerPoint Presentation</vt:lpstr>
      <vt:lpstr>PowerPoint Presentation</vt:lpstr>
      <vt:lpstr>PowerPoint Presentation</vt:lpstr>
      <vt:lpstr>추천은 친구의 화면에서 시작한다</vt:lpstr>
      <vt:lpstr>Q4 목표와 필요한 투자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비즈니스 리뷰</dc:title>
  <dc:creator>Growth Team</dc:creator>
  <cp:lastModifiedBy>Lee, SeBeom</cp:lastModifiedBy>
  <cp:revision>2</cp:revision>
  <dcterms:modified xsi:type="dcterms:W3CDTF">2026-10-11T15:49:45Z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2026-10-11T15:49:45Z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319bb8d0-581c-4b27-9b79-474db0be86cf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