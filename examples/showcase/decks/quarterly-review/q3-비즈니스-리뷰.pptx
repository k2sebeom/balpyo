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theme" Target="theme/theme1.xml"/>
  <Relationship Id="rId10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1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인사 30초. 오늘 다룰 세 가지: 지표, 학습, 계획.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앞의 셋은 돌아보기, 마지막 하나가 오늘 결정할 것이다.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k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매출은 목표 대비 108%. 평점 상승은 결제 오류 수정 이후다.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디스플레이 광고 예산은 Q4에 추천 보상으로 옮긴다 — 다음 장의 근거다.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오늘 결정할 것은 오른쪽 첫 줄 하나다.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/>
        </p:nvSpPr>
        <p:spPr>
          <a:xfrm>
            <a:off x="609600" y="249569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3" name="text s0.1"/>
          <p:cNvSpPr txBox="1"/>
          <p:nvPr/>
        </p:nvSpPr>
        <p:spPr>
          <a:xfrm>
            <a:off x="609600" y="2964210"/>
            <a:ext cx="10972800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6480"/>
              </a:lnSpc>
            </a:pPr>
            <a:r>
              <a:rPr sz="5400" b="1">
                <a:gradFill>
                  <a:gsLst>
                    <a:gs pos="0">
                      <a:srgbClr val="0F65F9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+mj-lt"/>
                <a:ea typeface="+mj-ea"/>
              </a:rPr>
              <a:t>Q3 비즈니스 리뷰</a:t>
            </a:r>
          </a:p>
        </p:txBody>
      </p:sp>
      <p:sp>
        <p:nvSpPr>
          <p:cNvPr id="4" name="text s0.2"/>
          <p:cNvSpPr txBox="1"/>
          <p:nvPr/>
        </p:nvSpPr>
        <p:spPr>
          <a:xfrm>
            <a:off x="609600" y="4015680"/>
            <a:ext cx="10972800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성장 지표 회고와 Q4 계획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1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오늘의 아젠다</a:t>
            </a:r>
          </a:p>
        </p:txBody>
      </p:sp>
      <p:sp>
        <p:nvSpPr>
          <p:cNvPr id="3" name="shape s1.1.0"/>
          <p:cNvSpPr/>
          <p:nvPr/>
        </p:nvSpPr>
        <p:spPr>
          <a:xfrm>
            <a:off x="609600" y="1283940"/>
            <a:ext cx="2571750" cy="49644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1.1.0.0.0"/>
          <p:cNvSpPr txBox="1"/>
          <p:nvPr/>
        </p:nvSpPr>
        <p:spPr>
          <a:xfrm>
            <a:off x="1019324" y="1693664"/>
            <a:ext cx="1752302" cy="731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760"/>
              </a:lnSpc>
            </a:pPr>
            <a:r>
              <a:rPr sz="4800" b="1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5" name="text s1.1.0.0.1.0"/>
          <p:cNvSpPr txBox="1"/>
          <p:nvPr/>
        </p:nvSpPr>
        <p:spPr>
          <a:xfrm>
            <a:off x="1019324" y="5194995"/>
            <a:ext cx="175230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핵심 지표</a:t>
            </a:r>
          </a:p>
        </p:txBody>
      </p:sp>
      <p:sp>
        <p:nvSpPr>
          <p:cNvPr id="6" name="text s1.1.0.0.1.1"/>
          <p:cNvSpPr txBox="1"/>
          <p:nvPr/>
        </p:nvSpPr>
        <p:spPr>
          <a:xfrm>
            <a:off x="1019324" y="5598765"/>
            <a:ext cx="175230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사용자 · 매출 · 평점</a:t>
            </a:r>
          </a:p>
        </p:txBody>
      </p:sp>
      <p:sp>
        <p:nvSpPr>
          <p:cNvPr id="7" name="shape s1.1.1"/>
          <p:cNvSpPr/>
          <p:nvPr/>
        </p:nvSpPr>
        <p:spPr>
          <a:xfrm>
            <a:off x="3409950" y="1283940"/>
            <a:ext cx="2571750" cy="49644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1.1.1.0.0"/>
          <p:cNvSpPr txBox="1"/>
          <p:nvPr/>
        </p:nvSpPr>
        <p:spPr>
          <a:xfrm>
            <a:off x="3819674" y="1693664"/>
            <a:ext cx="1752302" cy="731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760"/>
              </a:lnSpc>
            </a:pPr>
            <a:r>
              <a:rPr sz="4800" b="1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9" name="text s1.1.1.0.1.0"/>
          <p:cNvSpPr txBox="1"/>
          <p:nvPr/>
        </p:nvSpPr>
        <p:spPr>
          <a:xfrm>
            <a:off x="3819674" y="5194995"/>
            <a:ext cx="175230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채널별 성과</a:t>
            </a:r>
          </a:p>
        </p:txBody>
      </p:sp>
      <p:sp>
        <p:nvSpPr>
          <p:cNvPr id="10" name="text s1.1.1.0.1.1"/>
          <p:cNvSpPr txBox="1"/>
          <p:nvPr/>
        </p:nvSpPr>
        <p:spPr>
          <a:xfrm>
            <a:off x="3819674" y="5598765"/>
            <a:ext cx="175230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전환율과 획득 비용</a:t>
            </a:r>
          </a:p>
        </p:txBody>
      </p:sp>
      <p:sp>
        <p:nvSpPr>
          <p:cNvPr id="11" name="shape s1.1.2"/>
          <p:cNvSpPr/>
          <p:nvPr/>
        </p:nvSpPr>
        <p:spPr>
          <a:xfrm>
            <a:off x="6210300" y="1283940"/>
            <a:ext cx="2571750" cy="49644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1.1.2.0.0"/>
          <p:cNvSpPr txBox="1"/>
          <p:nvPr/>
        </p:nvSpPr>
        <p:spPr>
          <a:xfrm>
            <a:off x="6620024" y="1693664"/>
            <a:ext cx="1752302" cy="731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760"/>
              </a:lnSpc>
            </a:pPr>
            <a:r>
              <a:rPr sz="4800" b="1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13" name="text s1.1.2.0.1.0"/>
          <p:cNvSpPr txBox="1"/>
          <p:nvPr/>
        </p:nvSpPr>
        <p:spPr>
          <a:xfrm>
            <a:off x="6620024" y="5194995"/>
            <a:ext cx="175230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가장 큰 학습</a:t>
            </a:r>
          </a:p>
        </p:txBody>
      </p:sp>
      <p:sp>
        <p:nvSpPr>
          <p:cNvPr id="14" name="text s1.1.2.0.1.1"/>
          <p:cNvSpPr txBox="1"/>
          <p:nvPr/>
        </p:nvSpPr>
        <p:spPr>
          <a:xfrm>
            <a:off x="6620024" y="5598765"/>
            <a:ext cx="175230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추천 채널의 CAC</a:t>
            </a:r>
          </a:p>
        </p:txBody>
      </p:sp>
      <p:sp>
        <p:nvSpPr>
          <p:cNvPr id="15" name="shape s1.1.3"/>
          <p:cNvSpPr/>
          <p:nvPr/>
        </p:nvSpPr>
        <p:spPr>
          <a:xfrm>
            <a:off x="9010650" y="1283940"/>
            <a:ext cx="2571750" cy="49644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6" name="text s1.1.3.0.0"/>
          <p:cNvSpPr txBox="1"/>
          <p:nvPr/>
        </p:nvSpPr>
        <p:spPr>
          <a:xfrm>
            <a:off x="9420374" y="1693664"/>
            <a:ext cx="1752302" cy="731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760"/>
              </a:lnSpc>
            </a:pPr>
            <a:r>
              <a:rPr sz="4800" b="1">
                <a:solidFill>
                  <a:schemeClr val="bg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17" name="text s1.1.3.0.1.0"/>
          <p:cNvSpPr txBox="1"/>
          <p:nvPr/>
        </p:nvSpPr>
        <p:spPr>
          <a:xfrm>
            <a:off x="9420374" y="5194995"/>
            <a:ext cx="175230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bg1"/>
                </a:solidFill>
                <a:latin typeface="+mj-lt"/>
                <a:ea typeface="+mj-ea"/>
              </a:rPr>
              <a:t>Q4 계획</a:t>
            </a:r>
          </a:p>
        </p:txBody>
      </p:sp>
      <p:sp>
        <p:nvSpPr>
          <p:cNvPr id="18" name="text s1.1.3.0.1.1"/>
          <p:cNvSpPr txBox="1"/>
          <p:nvPr/>
        </p:nvSpPr>
        <p:spPr>
          <a:xfrm>
            <a:off x="9420374" y="5598765"/>
            <a:ext cx="175230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bg1"/>
                </a:solidFill>
                <a:latin typeface="+mn-lt"/>
                <a:ea typeface="+mn-ea"/>
              </a:rPr>
              <a:t>목표와 필요한 투자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k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2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핵심 지표</a:t>
            </a:r>
          </a:p>
        </p:txBody>
      </p:sp>
      <p:sp>
        <p:nvSpPr>
          <p:cNvPr id="3" name="shape s2.1.0"/>
          <p:cNvSpPr/>
          <p:nvPr/>
        </p:nvSpPr>
        <p:spPr>
          <a:xfrm>
            <a:off x="609600" y="1283940"/>
            <a:ext cx="3429000" cy="4495949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2.1.0.0.0"/>
          <p:cNvSpPr txBox="1"/>
          <p:nvPr/>
        </p:nvSpPr>
        <p:spPr>
          <a:xfrm>
            <a:off x="1019324" y="1693664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월간 활성 사용자</a:t>
            </a:r>
          </a:p>
        </p:txBody>
      </p:sp>
      <p:sp>
        <p:nvSpPr>
          <p:cNvPr id="5" name="text s2.1.0.0.1"/>
          <p:cNvSpPr txBox="1"/>
          <p:nvPr/>
        </p:nvSpPr>
        <p:spPr>
          <a:xfrm>
            <a:off x="1019324" y="2837706"/>
            <a:ext cx="2609552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accent1"/>
                </a:solidFill>
                <a:latin typeface="+mj-lt"/>
                <a:ea typeface="+mj-ea"/>
              </a:rPr>
              <a:t>+38%</a:t>
            </a:r>
          </a:p>
        </p:txBody>
      </p:sp>
      <p:sp>
        <p:nvSpPr>
          <p:cNvPr id="6" name="p s2.1.0.0.2.0"/>
          <p:cNvSpPr txBox="1"/>
          <p:nvPr/>
        </p:nvSpPr>
        <p:spPr>
          <a:xfrm>
            <a:off x="1019324" y="4730204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2.1M → 2.9M</a:t>
            </a:r>
          </a:p>
        </p:txBody>
      </p:sp>
      <p:sp>
        <p:nvSpPr>
          <p:cNvPr id="7" name="text s2.1.0.0.2.1"/>
          <p:cNvSpPr txBox="1"/>
          <p:nvPr/>
        </p:nvSpPr>
        <p:spPr>
          <a:xfrm>
            <a:off x="1019324" y="5130254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Q2 대비 · 목표 +30%</a:t>
            </a:r>
          </a:p>
        </p:txBody>
      </p:sp>
      <p:sp>
        <p:nvSpPr>
          <p:cNvPr id="8" name="shape s2.1.1"/>
          <p:cNvSpPr/>
          <p:nvPr/>
        </p:nvSpPr>
        <p:spPr>
          <a:xfrm>
            <a:off x="4381500" y="1283940"/>
            <a:ext cx="3429000" cy="4495949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9" name="text s2.1.1.0.0"/>
          <p:cNvSpPr txBox="1"/>
          <p:nvPr/>
        </p:nvSpPr>
        <p:spPr>
          <a:xfrm>
            <a:off x="4791224" y="1693664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분기 매출</a:t>
            </a:r>
          </a:p>
        </p:txBody>
      </p:sp>
      <p:sp>
        <p:nvSpPr>
          <p:cNvPr id="10" name="text s2.1.1.0.1"/>
          <p:cNvSpPr txBox="1"/>
          <p:nvPr/>
        </p:nvSpPr>
        <p:spPr>
          <a:xfrm>
            <a:off x="4791224" y="2837706"/>
            <a:ext cx="2609552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accent1"/>
                </a:solidFill>
                <a:latin typeface="+mj-lt"/>
                <a:ea typeface="+mj-ea"/>
              </a:rPr>
              <a:t>1.2B</a:t>
            </a:r>
          </a:p>
        </p:txBody>
      </p:sp>
      <p:sp>
        <p:nvSpPr>
          <p:cNvPr id="11" name="p s2.1.1.0.2.0"/>
          <p:cNvSpPr txBox="1"/>
          <p:nvPr/>
        </p:nvSpPr>
        <p:spPr>
          <a:xfrm>
            <a:off x="4791224" y="4730204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목표 대비 108%</a:t>
            </a:r>
          </a:p>
        </p:txBody>
      </p:sp>
      <p:sp>
        <p:nvSpPr>
          <p:cNvPr id="12" name="text s2.1.1.0.2.1"/>
          <p:cNvSpPr txBox="1"/>
          <p:nvPr/>
        </p:nvSpPr>
        <p:spPr>
          <a:xfrm>
            <a:off x="4791224" y="5130254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원 · 구독 74% · 광고 26%</a:t>
            </a:r>
          </a:p>
        </p:txBody>
      </p:sp>
      <p:sp>
        <p:nvSpPr>
          <p:cNvPr id="13" name="shape s2.1.2"/>
          <p:cNvSpPr/>
          <p:nvPr/>
        </p:nvSpPr>
        <p:spPr>
          <a:xfrm>
            <a:off x="8153400" y="1283940"/>
            <a:ext cx="3429000" cy="4495949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4" name="text s2.1.2.0.0"/>
          <p:cNvSpPr txBox="1"/>
          <p:nvPr/>
        </p:nvSpPr>
        <p:spPr>
          <a:xfrm>
            <a:off x="8563124" y="1693664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앱스토어 평점</a:t>
            </a:r>
          </a:p>
        </p:txBody>
      </p:sp>
      <p:sp>
        <p:nvSpPr>
          <p:cNvPr id="15" name="text s2.1.2.0.1"/>
          <p:cNvSpPr txBox="1"/>
          <p:nvPr/>
        </p:nvSpPr>
        <p:spPr>
          <a:xfrm>
            <a:off x="8563124" y="2837706"/>
            <a:ext cx="2609552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accent1"/>
                </a:solidFill>
                <a:latin typeface="+mj-lt"/>
                <a:ea typeface="+mj-ea"/>
              </a:rPr>
              <a:t>4.6</a:t>
            </a:r>
          </a:p>
        </p:txBody>
      </p:sp>
      <p:sp>
        <p:nvSpPr>
          <p:cNvPr id="16" name="p s2.1.2.0.2.0"/>
          <p:cNvSpPr txBox="1"/>
          <p:nvPr/>
        </p:nvSpPr>
        <p:spPr>
          <a:xfrm>
            <a:off x="8563124" y="4730204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리뷰 18,400건</a:t>
            </a:r>
          </a:p>
        </p:txBody>
      </p:sp>
      <p:sp>
        <p:nvSpPr>
          <p:cNvPr id="17" name="text s2.1.2.0.2.1"/>
          <p:cNvSpPr txBox="1"/>
          <p:nvPr/>
        </p:nvSpPr>
        <p:spPr>
          <a:xfrm>
            <a:off x="8563124" y="5130254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Q2 4.3 · 1점 리뷰 −41%</a:t>
            </a:r>
          </a:p>
        </p:txBody>
      </p:sp>
      <p:sp>
        <p:nvSpPr>
          <p:cNvPr id="18" name="text s2.2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세 지표 모두 목표를 넘겼다. 사용자 증가의 절반 이상이 추천 채널에서 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3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채널별 성과</a:t>
            </a:r>
          </a:p>
        </p:txBody>
      </p:sp>
      <p:graphicFrame>
        <p:nvGraphicFramePr>
          <p:cNvPr id="3" name="table s3.1.0"/>
          <p:cNvGraphicFramePr/>
          <p:nvPr/>
        </p:nvGraphicFramePr>
        <p:xfrm>
          <a:off x="609600" y="1283940"/>
          <a:ext cx="7086600" cy="4495949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462808"/>
                <a:gridCol w="1873746"/>
                <a:gridCol w="1207145"/>
                <a:gridCol w="1542901"/>
              </a:tblGrid>
              <a:tr h="645616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채널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신규 사용자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전환율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CAC (원)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64085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검색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312K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4.2%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12,000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64085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추천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268K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7.8%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3,200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64085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소셜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141K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2.9%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9,400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64085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제휴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63K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3.5%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7,100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64085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디스플레이 광고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38K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1.1%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21,500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646063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합계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822K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4.6%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8,900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shape s3.1.1"/>
          <p:cNvSpPr/>
          <p:nvPr/>
        </p:nvSpPr>
        <p:spPr>
          <a:xfrm>
            <a:off x="8039100" y="1283940"/>
            <a:ext cx="3543300" cy="4495949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5" name="text s3.1.1.0.0.0"/>
          <p:cNvSpPr txBox="1"/>
          <p:nvPr/>
        </p:nvSpPr>
        <p:spPr>
          <a:xfrm>
            <a:off x="8448824" y="1693664"/>
            <a:ext cx="27238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읽는 법</a:t>
            </a:r>
          </a:p>
        </p:txBody>
      </p:sp>
      <p:sp>
        <p:nvSpPr>
          <p:cNvPr id="6" name="ul s3.1.1.0.0.1"/>
          <p:cNvSpPr txBox="1"/>
          <p:nvPr/>
        </p:nvSpPr>
        <p:spPr>
          <a:xfrm>
            <a:off x="8448824" y="2179439"/>
            <a:ext cx="2723852" cy="1885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1" i="0" u="none">
                <a:solidFill>
                  <a:schemeClr val="tx1"/>
                </a:solidFill>
                <a:latin typeface="+mn-lt"/>
                <a:ea typeface="+mn-ea"/>
              </a:rPr>
              <a:t>추천</a:t>
            </a: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은 전환율 1위, CAC 최저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1" i="0" u="none">
                <a:solidFill>
                  <a:schemeClr val="tx1"/>
                </a:solidFill>
                <a:latin typeface="+mn-lt"/>
                <a:ea typeface="+mn-ea"/>
              </a:rPr>
              <a:t>검색</a:t>
            </a: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은 규모 1위지만 CAC가 추천의 4배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1" i="0" u="none">
                <a:solidFill>
                  <a:schemeClr val="tx1"/>
                </a:solidFill>
                <a:latin typeface="+mn-lt"/>
                <a:ea typeface="+mn-ea"/>
              </a:rPr>
              <a:t>디스플레이</a:t>
            </a: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는 CAC가 평균의 2.4배</a:t>
            </a:r>
          </a:p>
        </p:txBody>
      </p:sp>
      <p:sp>
        <p:nvSpPr>
          <p:cNvPr id="7" name="text s3.1.1.0.1"/>
          <p:cNvSpPr txBox="1"/>
          <p:nvPr/>
        </p:nvSpPr>
        <p:spPr>
          <a:xfrm>
            <a:off x="8448824" y="4726335"/>
            <a:ext cx="2723852" cy="6438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accent1"/>
                </a:solidFill>
                <a:latin typeface="+mj-lt"/>
                <a:ea typeface="+mj-ea"/>
              </a:rPr>
              <a:t>→ 디스플레이 예산을 추천으로</a:t>
            </a:r>
          </a:p>
        </p:txBody>
      </p:sp>
      <p:sp>
        <p:nvSpPr>
          <p:cNvPr id="8" name="text s3.2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CAC = 채널 비용 ÷ 신규 사용자. 합계 행의 전환율과 CAC는 가중 평균이다.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4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가장 큰 학습</a:t>
            </a:r>
          </a:p>
        </p:txBody>
      </p:sp>
      <p:sp>
        <p:nvSpPr>
          <p:cNvPr id="3" name="shape s4.1.0"/>
          <p:cNvSpPr/>
          <p:nvPr/>
        </p:nvSpPr>
        <p:spPr>
          <a:xfrm>
            <a:off x="609600" y="1283940"/>
            <a:ext cx="10972800" cy="3642122"/>
          </a:xfrm>
          <a:prstGeom prst="roundRect">
            <a:avLst>
              <a:gd name="adj" fmla="val 6277"/>
            </a:avLst>
          </a:prstGeom>
          <a:gradFill>
            <a:gsLst>
              <a:gs pos="0">
                <a:srgbClr val="0F65F9"/>
              </a:gs>
              <a:gs pos="100000">
                <a:srgbClr val="7C3AED"/>
              </a:gs>
            </a:gsLst>
            <a:lin ang="18900000" scaled="1"/>
          </a:gra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text s4.1.1.0"/>
          <p:cNvSpPr txBox="1"/>
          <p:nvPr/>
        </p:nvSpPr>
        <p:spPr>
          <a:xfrm>
            <a:off x="2936825" y="2589758"/>
            <a:ext cx="6318200" cy="5942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4680"/>
              </a:lnSpc>
            </a:pPr>
            <a:r>
              <a:rPr sz="3900" b="1">
                <a:solidFill>
                  <a:schemeClr val="bg1"/>
                </a:solidFill>
                <a:latin typeface="+mj-lt"/>
                <a:ea typeface="+mj-ea"/>
              </a:rPr>
              <a:t>추천 채널이 CAC를 4배 낮췄다</a:t>
            </a:r>
          </a:p>
        </p:txBody>
      </p:sp>
      <p:sp>
        <p:nvSpPr>
          <p:cNvPr id="5" name="text s4.1.1.1"/>
          <p:cNvSpPr txBox="1"/>
          <p:nvPr/>
        </p:nvSpPr>
        <p:spPr>
          <a:xfrm>
            <a:off x="2936825" y="3298329"/>
            <a:ext cx="6318200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535"/>
              </a:lnSpc>
            </a:pPr>
            <a:r>
              <a:rPr sz="1950" b="1">
                <a:solidFill>
                  <a:schemeClr val="bg1"/>
                </a:solidFill>
                <a:latin typeface="+mj-lt"/>
                <a:ea typeface="+mj-ea"/>
              </a:rPr>
              <a:t>같은 예산이면 사용자가 네 배 온다</a:t>
            </a:r>
          </a:p>
        </p:txBody>
      </p:sp>
      <p:sp>
        <p:nvSpPr>
          <p:cNvPr id="6" name="shape s4.1.2"/>
          <p:cNvSpPr/>
          <p:nvPr/>
        </p:nvSpPr>
        <p:spPr>
          <a:xfrm>
            <a:off x="10439400" y="1283940"/>
            <a:ext cx="1143000" cy="4191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accent1"/>
                </a:solidFill>
                <a:latin typeface="+mn-lt"/>
                <a:ea typeface="+mn-ea"/>
              </a:rPr>
              <a:t>NEW</a:t>
            </a:r>
          </a:p>
        </p:txBody>
      </p:sp>
      <p:sp>
        <p:nvSpPr>
          <p:cNvPr id="7" name="shape s4.2.0"/>
          <p:cNvSpPr/>
          <p:nvPr/>
        </p:nvSpPr>
        <p:spPr>
          <a:xfrm>
            <a:off x="609600" y="5154662"/>
            <a:ext cx="5314950" cy="1093738"/>
          </a:xfrm>
          <a:prstGeom prst="roundRect">
            <a:avLst>
              <a:gd name="adj" fmla="val 20901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8" name="text s4.2.0.0.0"/>
          <p:cNvSpPr txBox="1"/>
          <p:nvPr/>
        </p:nvSpPr>
        <p:spPr>
          <a:xfrm>
            <a:off x="905024" y="5530007"/>
            <a:ext cx="910530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검색 CAC</a:t>
            </a:r>
          </a:p>
        </p:txBody>
      </p:sp>
      <p:sp>
        <p:nvSpPr>
          <p:cNvPr id="9" name="text s4.2.0.0.1"/>
          <p:cNvSpPr txBox="1"/>
          <p:nvPr/>
        </p:nvSpPr>
        <p:spPr>
          <a:xfrm>
            <a:off x="3925342" y="5450086"/>
            <a:ext cx="1703784" cy="5028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12,000원</a:t>
            </a:r>
          </a:p>
        </p:txBody>
      </p:sp>
      <p:sp>
        <p:nvSpPr>
          <p:cNvPr id="10" name="shape s4.2.1"/>
          <p:cNvSpPr/>
          <p:nvPr/>
        </p:nvSpPr>
        <p:spPr>
          <a:xfrm>
            <a:off x="6267450" y="5154662"/>
            <a:ext cx="5314950" cy="1093738"/>
          </a:xfrm>
          <a:prstGeom prst="roundRect">
            <a:avLst>
              <a:gd name="adj" fmla="val 20901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1" name="text s4.2.1.0.0"/>
          <p:cNvSpPr txBox="1"/>
          <p:nvPr/>
        </p:nvSpPr>
        <p:spPr>
          <a:xfrm>
            <a:off x="6562874" y="5530007"/>
            <a:ext cx="910530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추천 CAC</a:t>
            </a:r>
          </a:p>
        </p:txBody>
      </p:sp>
      <p:sp>
        <p:nvSpPr>
          <p:cNvPr id="12" name="text s4.2.1.0.1"/>
          <p:cNvSpPr txBox="1"/>
          <p:nvPr/>
        </p:nvSpPr>
        <p:spPr>
          <a:xfrm>
            <a:off x="9822954" y="5450086"/>
            <a:ext cx="1464022" cy="5028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accent1"/>
                </a:solidFill>
                <a:latin typeface="+mj-lt"/>
                <a:ea typeface="+mj-ea"/>
              </a:rPr>
              <a:t>3,200원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5.0"/>
          <p:cNvSpPr txBox="1"/>
          <p:nvPr>
            <p:ph type="title"/>
          </p:nvPr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Q4 목표와 필요한 투자</a:t>
            </a:r>
          </a:p>
        </p:txBody>
      </p:sp>
      <p:sp>
        <p:nvSpPr>
          <p:cNvPr id="3" name="shape s5.1.0"/>
          <p:cNvSpPr/>
          <p:nvPr/>
        </p:nvSpPr>
        <p:spPr>
          <a:xfrm>
            <a:off x="6096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5.1.0.0.0"/>
          <p:cNvSpPr txBox="1"/>
          <p:nvPr/>
        </p:nvSpPr>
        <p:spPr>
          <a:xfrm>
            <a:off x="1019324" y="1693664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목표</a:t>
            </a:r>
          </a:p>
        </p:txBody>
      </p:sp>
      <p:sp>
        <p:nvSpPr>
          <p:cNvPr id="5" name="text s5.1.0.0.1.0.0"/>
          <p:cNvSpPr txBox="1"/>
          <p:nvPr/>
        </p:nvSpPr>
        <p:spPr>
          <a:xfrm>
            <a:off x="1019324" y="2606873"/>
            <a:ext cx="1591121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월간 활성 사용자</a:t>
            </a:r>
          </a:p>
        </p:txBody>
      </p:sp>
      <p:sp>
        <p:nvSpPr>
          <p:cNvPr id="6" name="text s5.1.0.0.1.0.1"/>
          <p:cNvSpPr txBox="1"/>
          <p:nvPr/>
        </p:nvSpPr>
        <p:spPr>
          <a:xfrm>
            <a:off x="1019324" y="3006923"/>
            <a:ext cx="159112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2.9M</a:t>
            </a:r>
          </a:p>
        </p:txBody>
      </p:sp>
      <p:sp>
        <p:nvSpPr>
          <p:cNvPr id="7" name="text s5.1.0.0.1.1"/>
          <p:cNvSpPr txBox="1"/>
          <p:nvPr/>
        </p:nvSpPr>
        <p:spPr>
          <a:xfrm>
            <a:off x="4487466" y="2652564"/>
            <a:ext cx="1084511" cy="548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1"/>
                </a:solidFill>
                <a:latin typeface="+mj-lt"/>
                <a:ea typeface="+mj-ea"/>
              </a:rPr>
              <a:t>3.4M</a:t>
            </a:r>
          </a:p>
        </p:txBody>
      </p:sp>
      <p:sp>
        <p:nvSpPr>
          <p:cNvPr id="8" name="text s5.1.0.0.2.0.0"/>
          <p:cNvSpPr txBox="1"/>
          <p:nvPr/>
        </p:nvSpPr>
        <p:spPr>
          <a:xfrm>
            <a:off x="1019324" y="3902720"/>
            <a:ext cx="900708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분기 매출</a:t>
            </a:r>
          </a:p>
        </p:txBody>
      </p:sp>
      <p:sp>
        <p:nvSpPr>
          <p:cNvPr id="9" name="text s5.1.0.0.2.0.1"/>
          <p:cNvSpPr txBox="1"/>
          <p:nvPr/>
        </p:nvSpPr>
        <p:spPr>
          <a:xfrm>
            <a:off x="1019324" y="4302770"/>
            <a:ext cx="90070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1.2B원</a:t>
            </a:r>
          </a:p>
        </p:txBody>
      </p:sp>
      <p:sp>
        <p:nvSpPr>
          <p:cNvPr id="10" name="text s5.1.0.0.2.1"/>
          <p:cNvSpPr txBox="1"/>
          <p:nvPr/>
        </p:nvSpPr>
        <p:spPr>
          <a:xfrm>
            <a:off x="4611291" y="3948410"/>
            <a:ext cx="960686" cy="548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1"/>
                </a:solidFill>
                <a:latin typeface="+mj-lt"/>
                <a:ea typeface="+mj-ea"/>
              </a:rPr>
              <a:t>1.4B</a:t>
            </a:r>
          </a:p>
        </p:txBody>
      </p:sp>
      <p:sp>
        <p:nvSpPr>
          <p:cNvPr id="11" name="text s5.1.0.0.3.0.0"/>
          <p:cNvSpPr txBox="1"/>
          <p:nvPr/>
        </p:nvSpPr>
        <p:spPr>
          <a:xfrm>
            <a:off x="1019324" y="5198715"/>
            <a:ext cx="910530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평균 CAC</a:t>
            </a:r>
          </a:p>
        </p:txBody>
      </p:sp>
      <p:sp>
        <p:nvSpPr>
          <p:cNvPr id="12" name="text s5.1.0.0.3.0.1"/>
          <p:cNvSpPr txBox="1"/>
          <p:nvPr/>
        </p:nvSpPr>
        <p:spPr>
          <a:xfrm>
            <a:off x="1019324" y="5598765"/>
            <a:ext cx="91053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8,900원</a:t>
            </a:r>
          </a:p>
        </p:txBody>
      </p:sp>
      <p:sp>
        <p:nvSpPr>
          <p:cNvPr id="13" name="text s5.1.0.0.3.1"/>
          <p:cNvSpPr txBox="1"/>
          <p:nvPr/>
        </p:nvSpPr>
        <p:spPr>
          <a:xfrm>
            <a:off x="4395490" y="5244405"/>
            <a:ext cx="1176486" cy="548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1"/>
                </a:solidFill>
                <a:latin typeface="+mj-lt"/>
                <a:ea typeface="+mj-ea"/>
              </a:rPr>
              <a:t>7,000</a:t>
            </a:r>
          </a:p>
        </p:txBody>
      </p:sp>
      <p:sp>
        <p:nvSpPr>
          <p:cNvPr id="14" name="shape s5.2.0"/>
          <p:cNvSpPr/>
          <p:nvPr/>
        </p:nvSpPr>
        <p:spPr>
          <a:xfrm>
            <a:off x="62103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5" name="text s5.2.0.0.0"/>
          <p:cNvSpPr txBox="1"/>
          <p:nvPr/>
        </p:nvSpPr>
        <p:spPr>
          <a:xfrm>
            <a:off x="6620024" y="1693664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투자</a:t>
            </a:r>
          </a:p>
        </p:txBody>
      </p:sp>
      <p:sp>
        <p:nvSpPr>
          <p:cNvPr id="16" name="text s5.2.0.0.1.0"/>
          <p:cNvSpPr txBox="1"/>
          <p:nvPr/>
        </p:nvSpPr>
        <p:spPr>
          <a:xfrm>
            <a:off x="6620024" y="2354312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추천 보상 예산 2배</a:t>
            </a:r>
          </a:p>
        </p:txBody>
      </p:sp>
      <p:sp>
        <p:nvSpPr>
          <p:cNvPr id="17" name="text s5.2.0.0.1.1"/>
          <p:cNvSpPr txBox="1"/>
          <p:nvPr/>
        </p:nvSpPr>
        <p:spPr>
          <a:xfrm>
            <a:off x="6620024" y="2758083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디스플레이 광고 예산에서 옮긴다</a:t>
            </a:r>
          </a:p>
        </p:txBody>
      </p:sp>
      <p:sp>
        <p:nvSpPr>
          <p:cNvPr id="18" name="text s5.2.0.0.2.0"/>
          <p:cNvSpPr txBox="1"/>
          <p:nvPr/>
        </p:nvSpPr>
        <p:spPr>
          <a:xfrm>
            <a:off x="6620024" y="3401467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온보딩 개선 · 엔지니어 2명</a:t>
            </a:r>
          </a:p>
        </p:txBody>
      </p:sp>
      <p:sp>
        <p:nvSpPr>
          <p:cNvPr id="19" name="text s5.2.0.0.2.1"/>
          <p:cNvSpPr txBox="1"/>
          <p:nvPr/>
        </p:nvSpPr>
        <p:spPr>
          <a:xfrm>
            <a:off x="6620024" y="3805238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첫 주 이탈률 31% → 24%</a:t>
            </a:r>
          </a:p>
        </p:txBody>
      </p:sp>
      <p:sp>
        <p:nvSpPr>
          <p:cNvPr id="20" name="text s5.2.0.0.3.0"/>
          <p:cNvSpPr txBox="1"/>
          <p:nvPr/>
        </p:nvSpPr>
        <p:spPr>
          <a:xfrm>
            <a:off x="6620024" y="4448621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추천 어트리뷰션 정비</a:t>
            </a:r>
          </a:p>
        </p:txBody>
      </p:sp>
      <p:sp>
        <p:nvSpPr>
          <p:cNvPr id="21" name="text s5.2.0.0.3.1"/>
          <p:cNvSpPr txBox="1"/>
          <p:nvPr/>
        </p:nvSpPr>
        <p:spPr>
          <a:xfrm>
            <a:off x="6620024" y="4852392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링크 경유 가입의 18%가 미집계</a:t>
            </a:r>
          </a:p>
        </p:txBody>
      </p:sp>
      <p:sp>
        <p:nvSpPr>
          <p:cNvPr id="22" name="text s5.2.0.0.4"/>
          <p:cNvSpPr txBox="1"/>
          <p:nvPr/>
        </p:nvSpPr>
        <p:spPr>
          <a:xfrm>
            <a:off x="6620024" y="5495776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accent1"/>
                </a:solidFill>
                <a:latin typeface="+mn-lt"/>
                <a:ea typeface="+mn-ea"/>
              </a:rPr>
              <a:t>추가 예산 0원 — 재배치만 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6.0"/>
          <p:cNvSpPr txBox="1"/>
          <p:nvPr/>
        </p:nvSpPr>
        <p:spPr>
          <a:xfrm>
            <a:off x="609600" y="2729954"/>
            <a:ext cx="10972800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6480"/>
              </a:lnSpc>
            </a:pPr>
            <a:r>
              <a:rPr sz="5400" b="1">
                <a:solidFill>
                  <a:schemeClr val="tx1"/>
                </a:solidFill>
                <a:latin typeface="+mj-lt"/>
                <a:ea typeface="+mj-ea"/>
              </a:rPr>
              <a:t>감사합니다</a:t>
            </a:r>
          </a:p>
        </p:txBody>
      </p:sp>
      <p:sp>
        <p:nvSpPr>
          <p:cNvPr id="3" name="text s6.1"/>
          <p:cNvSpPr txBox="1"/>
          <p:nvPr/>
        </p:nvSpPr>
        <p:spPr>
          <a:xfrm>
            <a:off x="609600" y="3781425"/>
            <a:ext cx="10972800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질문은 #growth 채널로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7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비즈니스 리뷰</dc:title>
  <dc:creator>Growth Team</dc:creator>
  <cp:lastModifiedBy>balpyo</cp:lastModifiedBy>
  <cp:revision>1</cp:revision>
</cp:coreProperties>
</file>