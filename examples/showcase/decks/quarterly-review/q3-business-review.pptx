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theme" Target="theme/theme1.xml"/>
  <Relationship Id="rId11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defPPr>
      <a:defRPr lang="en-US"/>
    </a:defPPr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Thirty seconds of hello. Three things today: the metrics, what we learned, the plan — and one decision.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first three look back; the last one is what we decide today.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Revenue landed at 108% of target. The rating climbed after we fixed the payment errors. More than half of the user growth came from referrals.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 Q4 the display ad budget moves to referral rewards — the next slides make the case.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times as much for the same money. That is the basis of the Q4 plan.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refer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referral isn't an ad, it's a friend talking. That's why conversion is high — and with a reward in place, the cost stays low.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one thing to decide today is the first line on the right.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Restate the one decision and close.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image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media"/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bod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  <Relationship Id="rId5" Type="http://schemas.openxmlformats.org/officeDocument/2006/relationships/slideLayout" Target="../slideLayouts/slideLayout4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</p:sldLayoutIdLst>
  <p:txStyles>
    <p:titleStyle>
      <a:defPPr>
        <a:defRPr lang="en-US"/>
      </a:defPPr>
      <a:lvl1pPr algn="l">
        <a:defRPr sz="4400"/>
      </a:lvl1pPr>
    </p:titleStyle>
    <p:bodyStyle>
      <a:defPPr>
        <a:defRPr lang="en-US"/>
      </a:defPPr>
      <a:lvl1pPr>
        <a:defRPr sz="24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  <Relationship Id="rId2" Type="http://schemas.openxmlformats.org/officeDocument/2006/relationships/notesSlide" Target="../notesSlides/notesSlide6.xml"/>
  <Relationship Id="rId3" Type="http://schemas.openxmlformats.org/officeDocument/2006/relationships/image" Target="../media/image1.jpg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867126" y="1451670"/>
            <a:ext cx="2457599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" name="h1 s0.1"/>
          <p:cNvSpPr txBox="1"/>
          <p:nvPr>
            <p:ph type="ctrTitle"/>
          </p:nvPr>
        </p:nvSpPr>
        <p:spPr>
          <a:xfrm>
            <a:off x="2364730" y="1937445"/>
            <a:ext cx="7462391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0"/>
                </a:gradFill>
                <a:latin typeface="+mj-lt"/>
                <a:ea typeface="+mj-ea"/>
              </a:rPr>
              <a:t>Q3</a:t>
            </a: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 Business Review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2856012" y="3080445"/>
            <a:ext cx="6479977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Growth metrics in review, and the plan for Q4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378500" y="4594920"/>
            <a:ext cx="1435001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Growth Team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4366022" y="5166420"/>
            <a:ext cx="3459807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October 2026 · Quarterly business meeting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.0"/>
          <p:cNvSpPr txBox="1"/>
          <p:nvPr/>
        </p:nvSpPr>
        <p:spPr>
          <a:xfrm>
            <a:off x="609600" y="1628775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Today's agenda</a:t>
            </a:r>
          </a:p>
        </p:txBody>
      </p:sp>
      <p:sp>
        <p:nvSpPr>
          <p:cNvPr id="3" name="h2 s1.1"/>
          <p:cNvSpPr txBox="1"/>
          <p:nvPr/>
        </p:nvSpPr>
        <p:spPr>
          <a:xfrm>
            <a:off x="609600" y="211455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Three looks back, one decision</a:t>
            </a:r>
          </a:p>
        </p:txBody>
      </p:sp>
      <p:sp>
        <p:nvSpPr>
          <p:cNvPr id="4" name="shape s1.3.0.0"/>
          <p:cNvSpPr/>
          <p:nvPr/>
        </p:nvSpPr>
        <p:spPr>
          <a:xfrm>
            <a:off x="1323975" y="3246090"/>
            <a:ext cx="1143000" cy="1143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3960"/>
              </a:lnSpc>
            </a:pPr>
            <a:r>
              <a:rPr sz="3300" b="1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5" name="text s1.3.0.1"/>
          <p:cNvSpPr txBox="1"/>
          <p:nvPr/>
        </p:nvSpPr>
        <p:spPr>
          <a:xfrm>
            <a:off x="1060847" y="4503390"/>
            <a:ext cx="1669107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Key metrics</a:t>
            </a:r>
          </a:p>
        </p:txBody>
      </p:sp>
      <p:sp>
        <p:nvSpPr>
          <p:cNvPr id="6" name="text s1.3.0.2"/>
          <p:cNvSpPr txBox="1"/>
          <p:nvPr/>
        </p:nvSpPr>
        <p:spPr>
          <a:xfrm>
            <a:off x="964704" y="4989165"/>
            <a:ext cx="1861542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Users · revenue · rating</a:t>
            </a:r>
          </a:p>
        </p:txBody>
      </p:sp>
      <p:sp>
        <p:nvSpPr>
          <p:cNvPr id="7" name="shape s1.3.1.0"/>
          <p:cNvSpPr/>
          <p:nvPr/>
        </p:nvSpPr>
        <p:spPr>
          <a:xfrm>
            <a:off x="4124325" y="3246090"/>
            <a:ext cx="1143000" cy="1143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3960"/>
              </a:lnSpc>
            </a:pPr>
            <a:r>
              <a:rPr sz="3300" b="1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8" name="text s1.3.1.1"/>
          <p:cNvSpPr txBox="1"/>
          <p:nvPr/>
        </p:nvSpPr>
        <p:spPr>
          <a:xfrm>
            <a:off x="3911947" y="4503390"/>
            <a:ext cx="1567755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By channel</a:t>
            </a:r>
          </a:p>
        </p:txBody>
      </p:sp>
      <p:sp>
        <p:nvSpPr>
          <p:cNvPr id="9" name="text s1.3.1.2"/>
          <p:cNvSpPr txBox="1"/>
          <p:nvPr/>
        </p:nvSpPr>
        <p:spPr>
          <a:xfrm>
            <a:off x="3417540" y="4989165"/>
            <a:ext cx="2556421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Conversion and acquisition cost</a:t>
            </a:r>
          </a:p>
        </p:txBody>
      </p:sp>
      <p:sp>
        <p:nvSpPr>
          <p:cNvPr id="10" name="shape s1.3.2.0"/>
          <p:cNvSpPr/>
          <p:nvPr/>
        </p:nvSpPr>
        <p:spPr>
          <a:xfrm>
            <a:off x="6924675" y="3246090"/>
            <a:ext cx="1143000" cy="1143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3960"/>
              </a:lnSpc>
            </a:pPr>
            <a:r>
              <a:rPr sz="3300" b="1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11" name="text s1.3.2.1"/>
          <p:cNvSpPr txBox="1"/>
          <p:nvPr/>
        </p:nvSpPr>
        <p:spPr>
          <a:xfrm>
            <a:off x="6468666" y="4503390"/>
            <a:ext cx="2054870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Biggest lesson</a:t>
            </a:r>
          </a:p>
        </p:txBody>
      </p:sp>
      <p:sp>
        <p:nvSpPr>
          <p:cNvPr id="12" name="text s1.3.2.2"/>
          <p:cNvSpPr txBox="1"/>
          <p:nvPr/>
        </p:nvSpPr>
        <p:spPr>
          <a:xfrm>
            <a:off x="6993582" y="4989165"/>
            <a:ext cx="1005036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Referral CAC</a:t>
            </a:r>
          </a:p>
        </p:txBody>
      </p:sp>
      <p:sp>
        <p:nvSpPr>
          <p:cNvPr id="13" name="shape s1.3.3.0"/>
          <p:cNvSpPr/>
          <p:nvPr/>
        </p:nvSpPr>
        <p:spPr>
          <a:xfrm>
            <a:off x="9725025" y="3246090"/>
            <a:ext cx="1143000" cy="114300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6"/>
              </a:gs>
            </a:gsLst>
            <a:lin ang="2700000" scaled="1"/>
          </a:gra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3960"/>
              </a:lnSpc>
            </a:pPr>
            <a:r>
              <a:rPr sz="3300" b="1">
                <a:solidFill>
                  <a:schemeClr val="bg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14" name="text s1.3.3.1"/>
          <p:cNvSpPr txBox="1"/>
          <p:nvPr/>
        </p:nvSpPr>
        <p:spPr>
          <a:xfrm>
            <a:off x="9749730" y="4503390"/>
            <a:ext cx="1093589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accent1"/>
                </a:solidFill>
                <a:latin typeface="+mj-lt"/>
                <a:ea typeface="+mj-ea"/>
              </a:rPr>
              <a:t>Q4 plan</a:t>
            </a:r>
          </a:p>
        </p:txBody>
      </p:sp>
      <p:sp>
        <p:nvSpPr>
          <p:cNvPr id="15" name="text s1.3.3.2"/>
          <p:cNvSpPr txBox="1"/>
          <p:nvPr/>
        </p:nvSpPr>
        <p:spPr>
          <a:xfrm>
            <a:off x="9409361" y="4989165"/>
            <a:ext cx="177418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What we decide today</a:t>
            </a:r>
          </a:p>
        </p:txBody>
      </p:sp>
      <p:cxnSp>
        <p:nvCxnSpPr>
          <p:cNvPr id="16" name="connector s1.4"/>
          <p:cNvCxnSpPr>
            <a:stCxn id="4" idx="6"/>
            <a:endCxn id="7" idx="2"/>
          </p:cNvCxnSpPr>
          <p:nvPr/>
        </p:nvCxnSpPr>
        <p:spPr>
          <a:xfrm>
            <a:off x="2466975" y="3817590"/>
            <a:ext cx="1657350" cy="0"/>
          </a:xfrm>
          <a:prstGeom prst="straightConnector1">
            <a:avLst/>
          </a:prstGeom>
          <a:ln w="19050">
            <a:solidFill>
              <a:schemeClr val="tx2"/>
            </a:solidFill>
            <a:prstDash val="dash"/>
            <a:headEnd type="none"/>
            <a:tailEnd type="none"/>
          </a:ln>
        </p:spPr>
      </p:cxnSp>
      <p:cxnSp>
        <p:nvCxnSpPr>
          <p:cNvPr id="17" name="connector s1.5"/>
          <p:cNvCxnSpPr>
            <a:stCxn id="7" idx="6"/>
            <a:endCxn id="10" idx="2"/>
          </p:cNvCxnSpPr>
          <p:nvPr/>
        </p:nvCxnSpPr>
        <p:spPr>
          <a:xfrm>
            <a:off x="5267325" y="3817590"/>
            <a:ext cx="1657350" cy="0"/>
          </a:xfrm>
          <a:prstGeom prst="straightConnector1">
            <a:avLst/>
          </a:prstGeom>
          <a:ln w="19050">
            <a:solidFill>
              <a:schemeClr val="tx2"/>
            </a:solidFill>
            <a:prstDash val="dash"/>
            <a:headEnd type="none"/>
            <a:tailEnd type="none"/>
          </a:ln>
        </p:spPr>
      </p:cxnSp>
      <p:cxnSp>
        <p:nvCxnSpPr>
          <p:cNvPr id="18" name="connector s1.6"/>
          <p:cNvCxnSpPr>
            <a:stCxn id="10" idx="6"/>
            <a:endCxn id="13" idx="2"/>
          </p:cNvCxnSpPr>
          <p:nvPr/>
        </p:nvCxnSpPr>
        <p:spPr>
          <a:xfrm>
            <a:off x="8067675" y="3817590"/>
            <a:ext cx="1657350" cy="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sp>
        <p:nvSpPr>
          <p:cNvPr id="19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20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2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01 · Key metrics</a:t>
            </a:r>
          </a:p>
        </p:txBody>
      </p:sp>
      <p:sp>
        <p:nvSpPr>
          <p:cNvPr id="3" name="h2 s2.1"/>
          <p:cNvSpPr txBox="1"/>
          <p:nvPr/>
        </p:nvSpPr>
        <p:spPr>
          <a:xfrm>
            <a:off x="609600" y="1095375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All three metrics beat their targets</a:t>
            </a:r>
          </a:p>
        </p:txBody>
      </p:sp>
      <p:sp>
        <p:nvSpPr>
          <p:cNvPr id="4" name="shape s2.2.0"/>
          <p:cNvSpPr/>
          <p:nvPr/>
        </p:nvSpPr>
        <p:spPr>
          <a:xfrm>
            <a:off x="609600" y="1769715"/>
            <a:ext cx="3429000" cy="4478685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2.2.0.0.0"/>
          <p:cNvSpPr txBox="1"/>
          <p:nvPr/>
        </p:nvSpPr>
        <p:spPr>
          <a:xfrm>
            <a:off x="1019324" y="2179439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Monthly active users</a:t>
            </a:r>
          </a:p>
        </p:txBody>
      </p:sp>
      <p:sp>
        <p:nvSpPr>
          <p:cNvPr id="6" name="text s2.2.0.0.1.0"/>
          <p:cNvSpPr txBox="1"/>
          <p:nvPr/>
        </p:nvSpPr>
        <p:spPr>
          <a:xfrm>
            <a:off x="1019324" y="3027164"/>
            <a:ext cx="260955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accent1"/>
                </a:solidFill>
                <a:latin typeface="+mj-lt"/>
                <a:ea typeface="+mj-ea"/>
              </a:rPr>
              <a:t>+38</a:t>
            </a:r>
            <a:r>
              <a:rPr sz="3000" b="1" i="0" u="none">
                <a:solidFill>
                  <a:schemeClr val="accent1"/>
                </a:solidFill>
                <a:latin typeface="+mj-lt"/>
                <a:ea typeface="+mj-ea"/>
              </a:rPr>
              <a:t>%</a:t>
            </a:r>
          </a:p>
        </p:txBody>
      </p:sp>
      <p:sp>
        <p:nvSpPr>
          <p:cNvPr id="7" name="shape s2.2.0.0.1.1.0"/>
          <p:cNvSpPr/>
          <p:nvPr/>
        </p:nvSpPr>
        <p:spPr>
          <a:xfrm>
            <a:off x="1019324" y="4055864"/>
            <a:ext cx="2609552" cy="609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88000"/>
                </a:moveTo>
                <a:cubicBezTo>
                  <a:pt x="20000" y="82000"/>
                  <a:pt x="30000" y="78000"/>
                  <a:pt x="45000" y="66000"/>
                </a:cubicBezTo>
                <a:cubicBezTo>
                  <a:pt x="60000" y="54000"/>
                  <a:pt x="72000" y="40000"/>
                  <a:pt x="100000" y="8000"/>
                </a:cubicBez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2.2.0.0.1.1.1"/>
          <p:cNvSpPr/>
          <p:nvPr/>
        </p:nvSpPr>
        <p:spPr>
          <a:xfrm>
            <a:off x="1019324" y="4055864"/>
            <a:ext cx="2609552" cy="609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88000"/>
                </a:moveTo>
                <a:cubicBezTo>
                  <a:pt x="20000" y="82000"/>
                  <a:pt x="30000" y="78000"/>
                  <a:pt x="45000" y="66000"/>
                </a:cubicBezTo>
                <a:cubicBezTo>
                  <a:pt x="60000" y="54000"/>
                  <a:pt x="72000" y="40000"/>
                  <a:pt x="100000" y="8000"/>
                </a:cubicBezTo>
              </a:path>
            </a:pathLst>
          </a:custGeom>
          <a:noFill/>
          <a:ln w="28575">
            <a:solidFill>
              <a:schemeClr val="accent1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p s2.2.0.0.2.0"/>
          <p:cNvSpPr txBox="1"/>
          <p:nvPr/>
        </p:nvSpPr>
        <p:spPr>
          <a:xfrm>
            <a:off x="1019324" y="5255865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2.1M → 2.9M</a:t>
            </a:r>
          </a:p>
        </p:txBody>
      </p:sp>
      <p:sp>
        <p:nvSpPr>
          <p:cNvPr id="10" name="text s2.2.0.0.2.1"/>
          <p:cNvSpPr txBox="1"/>
          <p:nvPr/>
        </p:nvSpPr>
        <p:spPr>
          <a:xfrm>
            <a:off x="1019324" y="5598765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vs. Q2 · target +30%</a:t>
            </a:r>
          </a:p>
        </p:txBody>
      </p:sp>
      <p:sp>
        <p:nvSpPr>
          <p:cNvPr id="11" name="shape s2.2.1"/>
          <p:cNvSpPr/>
          <p:nvPr/>
        </p:nvSpPr>
        <p:spPr>
          <a:xfrm>
            <a:off x="4381500" y="1769715"/>
            <a:ext cx="3429000" cy="4478685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2.2.1.0.0"/>
          <p:cNvSpPr txBox="1"/>
          <p:nvPr/>
        </p:nvSpPr>
        <p:spPr>
          <a:xfrm>
            <a:off x="4791224" y="2179439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Quarterly revenue</a:t>
            </a:r>
          </a:p>
        </p:txBody>
      </p:sp>
      <p:sp>
        <p:nvSpPr>
          <p:cNvPr id="13" name="text s2.2.1.0.1.0"/>
          <p:cNvSpPr txBox="1"/>
          <p:nvPr/>
        </p:nvSpPr>
        <p:spPr>
          <a:xfrm>
            <a:off x="4791224" y="3027164"/>
            <a:ext cx="260955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accent2"/>
                </a:solidFill>
                <a:latin typeface="+mj-lt"/>
                <a:ea typeface="+mj-ea"/>
              </a:rPr>
              <a:t>₩1.2</a:t>
            </a:r>
            <a:r>
              <a:rPr sz="3000" b="1" i="0" u="none">
                <a:solidFill>
                  <a:schemeClr val="accent2"/>
                </a:solidFill>
                <a:latin typeface="+mj-lt"/>
                <a:ea typeface="+mj-ea"/>
              </a:rPr>
              <a:t>B</a:t>
            </a:r>
          </a:p>
        </p:txBody>
      </p:sp>
      <p:sp>
        <p:nvSpPr>
          <p:cNvPr id="14" name="shape s2.2.1.0.1.1.0"/>
          <p:cNvSpPr/>
          <p:nvPr/>
        </p:nvSpPr>
        <p:spPr>
          <a:xfrm>
            <a:off x="4791224" y="4379714"/>
            <a:ext cx="476101" cy="285750"/>
          </a:xfrm>
          <a:prstGeom prst="rect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5" name="shape s2.2.1.0.1.1.1"/>
          <p:cNvSpPr/>
          <p:nvPr/>
        </p:nvSpPr>
        <p:spPr>
          <a:xfrm>
            <a:off x="5324475" y="4322564"/>
            <a:ext cx="476250" cy="342900"/>
          </a:xfrm>
          <a:prstGeom prst="rect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6" name="shape s2.2.1.0.1.1.2"/>
          <p:cNvSpPr/>
          <p:nvPr/>
        </p:nvSpPr>
        <p:spPr>
          <a:xfrm>
            <a:off x="5857875" y="4265414"/>
            <a:ext cx="476101" cy="400050"/>
          </a:xfrm>
          <a:prstGeom prst="rect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7" name="shape s2.2.1.0.1.1.3"/>
          <p:cNvSpPr/>
          <p:nvPr/>
        </p:nvSpPr>
        <p:spPr>
          <a:xfrm>
            <a:off x="6391126" y="4189214"/>
            <a:ext cx="476250" cy="476250"/>
          </a:xfrm>
          <a:prstGeom prst="rect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8" name="shape s2.2.1.0.1.1.4"/>
          <p:cNvSpPr/>
          <p:nvPr/>
        </p:nvSpPr>
        <p:spPr>
          <a:xfrm>
            <a:off x="6924526" y="4055864"/>
            <a:ext cx="476250" cy="609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p s2.2.1.0.2.0"/>
          <p:cNvSpPr txBox="1"/>
          <p:nvPr/>
        </p:nvSpPr>
        <p:spPr>
          <a:xfrm>
            <a:off x="4791224" y="5255865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108% of target</a:t>
            </a:r>
          </a:p>
        </p:txBody>
      </p:sp>
      <p:sp>
        <p:nvSpPr>
          <p:cNvPr id="20" name="text s2.2.1.0.2.1"/>
          <p:cNvSpPr txBox="1"/>
          <p:nvPr/>
        </p:nvSpPr>
        <p:spPr>
          <a:xfrm>
            <a:off x="4791224" y="5598765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Subscriptions 74% · ads 26%</a:t>
            </a:r>
          </a:p>
        </p:txBody>
      </p:sp>
      <p:sp>
        <p:nvSpPr>
          <p:cNvPr id="21" name="shape s2.2.2"/>
          <p:cNvSpPr/>
          <p:nvPr/>
        </p:nvSpPr>
        <p:spPr>
          <a:xfrm>
            <a:off x="8153400" y="1769715"/>
            <a:ext cx="3429000" cy="4478685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22" name="text s2.2.2.0.0"/>
          <p:cNvSpPr txBox="1"/>
          <p:nvPr/>
        </p:nvSpPr>
        <p:spPr>
          <a:xfrm>
            <a:off x="8563124" y="2179439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App Store rating</a:t>
            </a:r>
          </a:p>
        </p:txBody>
      </p:sp>
      <p:sp>
        <p:nvSpPr>
          <p:cNvPr id="23" name="text s2.2.2.0.1.0"/>
          <p:cNvSpPr txBox="1"/>
          <p:nvPr/>
        </p:nvSpPr>
        <p:spPr>
          <a:xfrm>
            <a:off x="8563124" y="3027164"/>
            <a:ext cx="260955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accent4"/>
                </a:solidFill>
                <a:latin typeface="+mj-lt"/>
                <a:ea typeface="+mj-ea"/>
              </a:rPr>
              <a:t>4.6</a:t>
            </a:r>
          </a:p>
        </p:txBody>
      </p:sp>
      <p:sp>
        <p:nvSpPr>
          <p:cNvPr id="24" name="shape s2.2.2.0.1.1.0"/>
          <p:cNvSpPr/>
          <p:nvPr/>
        </p:nvSpPr>
        <p:spPr>
          <a:xfrm>
            <a:off x="8563124" y="4151114"/>
            <a:ext cx="419100" cy="419100"/>
          </a:xfrm>
          <a:prstGeom prst="star5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5" name="shape s2.2.2.0.1.1.1"/>
          <p:cNvSpPr/>
          <p:nvPr/>
        </p:nvSpPr>
        <p:spPr>
          <a:xfrm>
            <a:off x="9039374" y="4151114"/>
            <a:ext cx="419100" cy="419100"/>
          </a:xfrm>
          <a:prstGeom prst="star5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6" name="shape s2.2.2.0.1.1.2"/>
          <p:cNvSpPr/>
          <p:nvPr/>
        </p:nvSpPr>
        <p:spPr>
          <a:xfrm>
            <a:off x="9515624" y="4151114"/>
            <a:ext cx="419100" cy="419100"/>
          </a:xfrm>
          <a:prstGeom prst="star5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7" name="shape s2.2.2.0.1.1.3"/>
          <p:cNvSpPr/>
          <p:nvPr/>
        </p:nvSpPr>
        <p:spPr>
          <a:xfrm>
            <a:off x="9991874" y="4151114"/>
            <a:ext cx="419100" cy="419100"/>
          </a:xfrm>
          <a:prstGeom prst="star5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8" name="shape s2.2.2.0.1.1.4"/>
          <p:cNvSpPr/>
          <p:nvPr/>
        </p:nvSpPr>
        <p:spPr>
          <a:xfrm>
            <a:off x="10468124" y="4151114"/>
            <a:ext cx="419100" cy="419100"/>
          </a:xfrm>
          <a:prstGeom prst="star5">
            <a:avLst/>
          </a:prstGeom>
          <a:solidFill>
            <a:schemeClr val="accent4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9" name="p s2.2.2.0.2.0"/>
          <p:cNvSpPr txBox="1"/>
          <p:nvPr/>
        </p:nvSpPr>
        <p:spPr>
          <a:xfrm>
            <a:off x="8563124" y="5255865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18,400 reviews</a:t>
            </a:r>
          </a:p>
        </p:txBody>
      </p:sp>
      <p:sp>
        <p:nvSpPr>
          <p:cNvPr id="30" name="text s2.2.2.0.2.1"/>
          <p:cNvSpPr txBox="1"/>
          <p:nvPr/>
        </p:nvSpPr>
        <p:spPr>
          <a:xfrm>
            <a:off x="8563124" y="5598765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Q2 4.3 · 1-star reviews −41%</a:t>
            </a:r>
          </a:p>
        </p:txBody>
      </p:sp>
      <p:sp>
        <p:nvSpPr>
          <p:cNvPr id="31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3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3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02 · By channel</a:t>
            </a:r>
          </a:p>
        </p:txBody>
      </p:sp>
      <p:sp>
        <p:nvSpPr>
          <p:cNvPr id="3" name="h2 s3.1"/>
          <p:cNvSpPr txBox="1"/>
          <p:nvPr/>
        </p:nvSpPr>
        <p:spPr>
          <a:xfrm>
            <a:off x="609600" y="1095375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Referral is cheap, display is expensive</a:t>
            </a:r>
          </a:p>
        </p:txBody>
      </p:sp>
      <p:graphicFrame>
        <p:nvGraphicFramePr>
          <p:cNvPr id="4" name="table s3.2.0"/>
          <p:cNvGraphicFramePr/>
          <p:nvPr/>
        </p:nvGraphicFramePr>
        <p:xfrm>
          <a:off x="609600" y="1769715"/>
          <a:ext cx="6377880" cy="4010174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932533"/>
                <a:gridCol w="1888480"/>
                <a:gridCol w="1140917"/>
                <a:gridCol w="1415950"/>
              </a:tblGrid>
              <a:tr h="576263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Channel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New users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Conv.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CAC (₩)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Search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312K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4.2%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12,000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Referral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268K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accent3"/>
                          </a:solidFill>
                          <a:latin typeface="+mn-lt"/>
                          <a:ea typeface="+mn-ea"/>
                        </a:rPr>
                        <a:t>7.8%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accent3"/>
                          </a:solidFill>
                          <a:latin typeface="+mn-lt"/>
                          <a:ea typeface="+mn-ea"/>
                        </a:rPr>
                        <a:t>3,200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Social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141K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2.9%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9,400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Partners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63K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3.5%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7,100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Display ads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accent5"/>
                          </a:solidFill>
                          <a:latin typeface="+mn-lt"/>
                          <a:ea typeface="+mn-ea"/>
                        </a:rPr>
                        <a:t>21,500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76411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Total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822K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4.6%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8,900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shape s3.2.1"/>
          <p:cNvSpPr/>
          <p:nvPr/>
        </p:nvSpPr>
        <p:spPr>
          <a:xfrm>
            <a:off x="7330380" y="1769715"/>
            <a:ext cx="4251871" cy="4010174"/>
          </a:xfrm>
          <a:prstGeom prst="roundRect">
            <a:avLst>
              <a:gd name="adj" fmla="val 570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6" name="text s3.2.1.0.0"/>
          <p:cNvSpPr txBox="1"/>
          <p:nvPr/>
        </p:nvSpPr>
        <p:spPr>
          <a:xfrm>
            <a:off x="7625804" y="2065139"/>
            <a:ext cx="36610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CAC · ₩ thousands</a:t>
            </a:r>
          </a:p>
        </p:txBody>
      </p:sp>
      <p:sp>
        <p:nvSpPr>
          <p:cNvPr id="7" name="shape s3.2.1.0.1" descr="CAC by channel — search 12.0, referral 3.2, social 9.4, partners 7.1, display ads 21.5 (thousands of won)"/>
          <p:cNvSpPr/>
          <p:nvPr/>
        </p:nvSpPr>
        <p:spPr>
          <a:xfrm>
            <a:off x="7625804" y="2436614"/>
            <a:ext cx="3661023" cy="30478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text s3.2.1.0.1.0.0.0.0.1"/>
          <p:cNvSpPr txBox="1"/>
          <p:nvPr/>
        </p:nvSpPr>
        <p:spPr>
          <a:xfrm>
            <a:off x="7625804" y="3715941"/>
            <a:ext cx="732086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12.0</a:t>
            </a:r>
          </a:p>
        </p:txBody>
      </p:sp>
      <p:sp>
        <p:nvSpPr>
          <p:cNvPr id="9" name="shape s3.2.1.0.1.0.0.0.0.2"/>
          <p:cNvSpPr/>
          <p:nvPr/>
        </p:nvSpPr>
        <p:spPr>
          <a:xfrm>
            <a:off x="7735639" y="4013002"/>
            <a:ext cx="512415" cy="122202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shape s3.2.1.0.1.0.0.0.1"/>
          <p:cNvSpPr/>
          <p:nvPr/>
        </p:nvSpPr>
        <p:spPr>
          <a:xfrm>
            <a:off x="7625804" y="5235029"/>
            <a:ext cx="732086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1" name="text s3.2.1.0.1.0.0.1.0.1"/>
          <p:cNvSpPr txBox="1"/>
          <p:nvPr/>
        </p:nvSpPr>
        <p:spPr>
          <a:xfrm>
            <a:off x="8357890" y="461218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3.2</a:t>
            </a:r>
          </a:p>
        </p:txBody>
      </p:sp>
      <p:sp>
        <p:nvSpPr>
          <p:cNvPr id="12" name="shape s3.2.1.0.1.0.0.1.0.2"/>
          <p:cNvSpPr/>
          <p:nvPr/>
        </p:nvSpPr>
        <p:spPr>
          <a:xfrm>
            <a:off x="8467725" y="4909245"/>
            <a:ext cx="512564" cy="32578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3" name="shape s3.2.1.0.1.0.0.1.1"/>
          <p:cNvSpPr/>
          <p:nvPr/>
        </p:nvSpPr>
        <p:spPr>
          <a:xfrm>
            <a:off x="8357890" y="5235029"/>
            <a:ext cx="732234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text s3.2.1.0.1.0.0.2.0.1"/>
          <p:cNvSpPr txBox="1"/>
          <p:nvPr/>
        </p:nvSpPr>
        <p:spPr>
          <a:xfrm>
            <a:off x="9090124" y="3980557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9.4</a:t>
            </a:r>
          </a:p>
        </p:txBody>
      </p:sp>
      <p:sp>
        <p:nvSpPr>
          <p:cNvPr id="15" name="shape s3.2.1.0.1.0.0.2.0.2"/>
          <p:cNvSpPr/>
          <p:nvPr/>
        </p:nvSpPr>
        <p:spPr>
          <a:xfrm>
            <a:off x="9199959" y="4277618"/>
            <a:ext cx="512564" cy="95741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6" name="shape s3.2.1.0.1.0.0.2.1"/>
          <p:cNvSpPr/>
          <p:nvPr/>
        </p:nvSpPr>
        <p:spPr>
          <a:xfrm>
            <a:off x="9090124" y="5235029"/>
            <a:ext cx="732234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7" name="text s3.2.1.0.1.0.0.3.0.1"/>
          <p:cNvSpPr txBox="1"/>
          <p:nvPr/>
        </p:nvSpPr>
        <p:spPr>
          <a:xfrm>
            <a:off x="9822359" y="4215110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7.1</a:t>
            </a:r>
          </a:p>
        </p:txBody>
      </p:sp>
      <p:sp>
        <p:nvSpPr>
          <p:cNvPr id="18" name="shape s3.2.1.0.1.0.0.3.0.2"/>
          <p:cNvSpPr/>
          <p:nvPr/>
        </p:nvSpPr>
        <p:spPr>
          <a:xfrm>
            <a:off x="9932194" y="4512171"/>
            <a:ext cx="512564" cy="72285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shape s3.2.1.0.1.0.0.3.1"/>
          <p:cNvSpPr/>
          <p:nvPr/>
        </p:nvSpPr>
        <p:spPr>
          <a:xfrm>
            <a:off x="9822359" y="5235029"/>
            <a:ext cx="732234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0" name="text s3.2.1.0.1.0.0.4.0.1"/>
          <p:cNvSpPr txBox="1"/>
          <p:nvPr/>
        </p:nvSpPr>
        <p:spPr>
          <a:xfrm>
            <a:off x="10554593" y="2748409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5"/>
                </a:solidFill>
                <a:latin typeface="+mn-lt"/>
                <a:ea typeface="+mn-ea"/>
              </a:rPr>
              <a:t>21.5</a:t>
            </a:r>
          </a:p>
        </p:txBody>
      </p:sp>
      <p:sp>
        <p:nvSpPr>
          <p:cNvPr id="21" name="shape s3.2.1.0.1.0.0.4.0.2"/>
          <p:cNvSpPr/>
          <p:nvPr/>
        </p:nvSpPr>
        <p:spPr>
          <a:xfrm>
            <a:off x="10664428" y="3045470"/>
            <a:ext cx="512564" cy="21895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2" name="shape s3.2.1.0.1.0.0.4.1"/>
          <p:cNvSpPr/>
          <p:nvPr/>
        </p:nvSpPr>
        <p:spPr>
          <a:xfrm>
            <a:off x="10554593" y="5235029"/>
            <a:ext cx="732234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3" name="text s3.2.1.0.1.0.1.0"/>
          <p:cNvSpPr txBox="1"/>
          <p:nvPr/>
        </p:nvSpPr>
        <p:spPr>
          <a:xfrm>
            <a:off x="7625804" y="5244554"/>
            <a:ext cx="732086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Search</a:t>
            </a:r>
          </a:p>
        </p:txBody>
      </p:sp>
      <p:sp>
        <p:nvSpPr>
          <p:cNvPr id="24" name="text s3.2.1.0.1.0.1.1"/>
          <p:cNvSpPr txBox="1"/>
          <p:nvPr/>
        </p:nvSpPr>
        <p:spPr>
          <a:xfrm>
            <a:off x="8357890" y="524455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Referral</a:t>
            </a:r>
          </a:p>
        </p:txBody>
      </p:sp>
      <p:sp>
        <p:nvSpPr>
          <p:cNvPr id="25" name="text s3.2.1.0.1.0.1.2"/>
          <p:cNvSpPr txBox="1"/>
          <p:nvPr/>
        </p:nvSpPr>
        <p:spPr>
          <a:xfrm>
            <a:off x="9090124" y="524455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Social</a:t>
            </a:r>
          </a:p>
        </p:txBody>
      </p:sp>
      <p:sp>
        <p:nvSpPr>
          <p:cNvPr id="26" name="text s3.2.1.0.1.0.1.3"/>
          <p:cNvSpPr txBox="1"/>
          <p:nvPr/>
        </p:nvSpPr>
        <p:spPr>
          <a:xfrm>
            <a:off x="9822359" y="524455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Partners</a:t>
            </a:r>
          </a:p>
        </p:txBody>
      </p:sp>
      <p:sp>
        <p:nvSpPr>
          <p:cNvPr id="27" name="text s3.2.1.0.1.0.1.4"/>
          <p:cNvSpPr txBox="1"/>
          <p:nvPr/>
        </p:nvSpPr>
        <p:spPr>
          <a:xfrm>
            <a:off x="10554593" y="524455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5"/>
                </a:solidFill>
                <a:latin typeface="+mn-lt"/>
                <a:ea typeface="+mn-ea"/>
              </a:rPr>
              <a:t>Display</a:t>
            </a:r>
          </a:p>
        </p:txBody>
      </p:sp>
      <p:sp>
        <p:nvSpPr>
          <p:cNvPr id="28" name="text s3.3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CAC = channel spend ÷ new users. Conversion and CAC in the total row are weighted averages.</a:t>
            </a:r>
          </a:p>
        </p:txBody>
      </p:sp>
      <p:sp>
        <p:nvSpPr>
          <p:cNvPr id="29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0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Graphic spid="4" grpId="0">
        <p:bldAsOne/>
      </p:bldGraphic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4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03 · Biggest lesson</a:t>
            </a:r>
          </a:p>
        </p:txBody>
      </p:sp>
      <p:sp>
        <p:nvSpPr>
          <p:cNvPr id="3" name="shape s4.1.0"/>
          <p:cNvSpPr/>
          <p:nvPr/>
        </p:nvSpPr>
        <p:spPr>
          <a:xfrm>
            <a:off x="609600" y="1095375"/>
            <a:ext cx="10972800" cy="3830687"/>
          </a:xfrm>
          <a:prstGeom prst="roundRect">
            <a:avLst>
              <a:gd name="adj" fmla="val 5968"/>
            </a:avLst>
          </a:prstGeom>
          <a:gradFill>
            <a:gsLst>
              <a:gs pos="0">
                <a:schemeClr val="accent1"/>
              </a:gs>
              <a:gs pos="100000">
                <a:schemeClr val="accent6"/>
              </a:gs>
            </a:gsLst>
            <a:lin ang="1800000" scaled="1"/>
          </a:gra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shape s4.1.1"/>
          <p:cNvSpPr/>
          <p:nvPr/>
        </p:nvSpPr>
        <p:spPr>
          <a:xfrm>
            <a:off x="609600" y="1095375"/>
            <a:ext cx="10972800" cy="3830687"/>
          </a:xfrm>
          <a:prstGeom prst="roundRect">
            <a:avLst>
              <a:gd name="adj" fmla="val 5968"/>
            </a:avLst>
          </a:prstGeom>
          <a:gradFill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text s4.1.2.0"/>
          <p:cNvSpPr txBox="1"/>
          <p:nvPr/>
        </p:nvSpPr>
        <p:spPr>
          <a:xfrm>
            <a:off x="2825800" y="2437358"/>
            <a:ext cx="6540252" cy="685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5400"/>
              </a:lnSpc>
            </a:pPr>
            <a:r>
              <a:rPr sz="4500" b="1">
                <a:solidFill>
                  <a:schemeClr val="bg1"/>
                </a:solidFill>
                <a:latin typeface="+mj-lt"/>
                <a:ea typeface="+mj-ea"/>
              </a:rPr>
              <a:t>Referrals cut CAC by 4x</a:t>
            </a:r>
          </a:p>
        </p:txBody>
      </p:sp>
      <p:sp>
        <p:nvSpPr>
          <p:cNvPr id="6" name="text s4.1.2.1"/>
          <p:cNvSpPr txBox="1"/>
          <p:nvPr/>
        </p:nvSpPr>
        <p:spPr>
          <a:xfrm>
            <a:off x="2825800" y="3237458"/>
            <a:ext cx="6540252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bg1"/>
                </a:solidFill>
                <a:latin typeface="+mj-lt"/>
                <a:ea typeface="+mj-ea"/>
              </a:rPr>
              <a:t>The same budget brings in four times the users</a:t>
            </a:r>
          </a:p>
        </p:txBody>
      </p:sp>
      <p:sp>
        <p:nvSpPr>
          <p:cNvPr id="7" name="shape s4.1.3"/>
          <p:cNvSpPr/>
          <p:nvPr/>
        </p:nvSpPr>
        <p:spPr>
          <a:xfrm>
            <a:off x="10210800" y="1323975"/>
            <a:ext cx="1143000" cy="4191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accent1"/>
                </a:solidFill>
                <a:latin typeface="+mn-lt"/>
                <a:ea typeface="+mn-ea"/>
              </a:rPr>
              <a:t>NEW</a:t>
            </a:r>
          </a:p>
        </p:txBody>
      </p:sp>
      <p:sp>
        <p:nvSpPr>
          <p:cNvPr id="8" name="shape s4.2.0"/>
          <p:cNvSpPr/>
          <p:nvPr/>
        </p:nvSpPr>
        <p:spPr>
          <a:xfrm>
            <a:off x="609600" y="5154662"/>
            <a:ext cx="4000500" cy="1093738"/>
          </a:xfrm>
          <a:prstGeom prst="roundRect">
            <a:avLst>
              <a:gd name="adj" fmla="val 2090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9" name="text s4.2.0.0.0"/>
          <p:cNvSpPr txBox="1"/>
          <p:nvPr/>
        </p:nvSpPr>
        <p:spPr>
          <a:xfrm>
            <a:off x="905024" y="5530007"/>
            <a:ext cx="1213545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Search CAC</a:t>
            </a:r>
          </a:p>
        </p:txBody>
      </p:sp>
      <p:sp>
        <p:nvSpPr>
          <p:cNvPr id="10" name="text s4.2.0.0.1"/>
          <p:cNvSpPr txBox="1"/>
          <p:nvPr/>
        </p:nvSpPr>
        <p:spPr>
          <a:xfrm>
            <a:off x="2687687" y="5450086"/>
            <a:ext cx="1626989" cy="5028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2"/>
                </a:solidFill>
                <a:latin typeface="+mj-lt"/>
                <a:ea typeface="+mj-ea"/>
              </a:rPr>
              <a:t>₩12,000</a:t>
            </a:r>
          </a:p>
        </p:txBody>
      </p:sp>
      <p:sp>
        <p:nvSpPr>
          <p:cNvPr id="11" name="shape s4.2.2"/>
          <p:cNvSpPr/>
          <p:nvPr/>
        </p:nvSpPr>
        <p:spPr>
          <a:xfrm>
            <a:off x="7581900" y="5154662"/>
            <a:ext cx="4000500" cy="1093738"/>
          </a:xfrm>
          <a:prstGeom prst="roundRect">
            <a:avLst>
              <a:gd name="adj" fmla="val 2090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2" name="text s4.2.2.0.0"/>
          <p:cNvSpPr txBox="1"/>
          <p:nvPr/>
        </p:nvSpPr>
        <p:spPr>
          <a:xfrm>
            <a:off x="7877324" y="5530007"/>
            <a:ext cx="1340197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Referral CAC</a:t>
            </a:r>
          </a:p>
        </p:txBody>
      </p:sp>
      <p:sp>
        <p:nvSpPr>
          <p:cNvPr id="13" name="text s4.2.2.0.1"/>
          <p:cNvSpPr txBox="1"/>
          <p:nvPr/>
        </p:nvSpPr>
        <p:spPr>
          <a:xfrm>
            <a:off x="9899749" y="5450086"/>
            <a:ext cx="1387227" cy="5028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accent3"/>
                </a:solidFill>
                <a:latin typeface="+mj-lt"/>
                <a:ea typeface="+mj-ea"/>
              </a:rPr>
              <a:t>₩3,200</a:t>
            </a:r>
          </a:p>
        </p:txBody>
      </p:sp>
      <p:cxnSp>
        <p:nvCxnSpPr>
          <p:cNvPr id="14" name="connector s4.3"/>
          <p:cNvCxnSpPr>
            <a:stCxn id="8" idx="3"/>
            <a:endCxn id="11" idx="1"/>
          </p:cNvCxnSpPr>
          <p:nvPr/>
        </p:nvCxnSpPr>
        <p:spPr>
          <a:xfrm>
            <a:off x="4610100" y="5701531"/>
            <a:ext cx="2971800" cy="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sp>
        <p:nvSpPr>
          <p:cNvPr id="15" name="connector-label s4.3"/>
          <p:cNvSpPr txBox="1"/>
          <p:nvPr/>
        </p:nvSpPr>
        <p:spPr>
          <a:xfrm>
            <a:off x="5854526" y="5404470"/>
            <a:ext cx="482947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÷ 3.75</a:t>
            </a:r>
          </a:p>
        </p:txBody>
      </p:sp>
      <p:sp>
        <p:nvSpPr>
          <p:cNvPr id="16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17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5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er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5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Referrals start on a friend's screen</a:t>
            </a:r>
          </a:p>
        </p:txBody>
      </p:sp>
      <p:pic>
        <p:nvPicPr>
          <p:cNvPr id="3" name="image s5.1" descr="Two people laughing together over a phone screen in a café"/>
          <p:cNvPicPr/>
          <p:nvPr>
            <p:ph type="pic" idx="1"/>
          </p:nvPr>
        </p:nvPicPr>
        <p:blipFill>
          <a:blip r:embed="rId3"/>
          <a:srcRect t="7518" b="7518"/>
          <a:stretch>
            <a:fillRect/>
          </a:stretch>
        </p:blipFill>
        <p:spPr>
          <a:xfrm>
            <a:off x="609600" y="1861096"/>
            <a:ext cx="5372100" cy="3810000"/>
          </a:xfrm>
          <a:prstGeom prst="roundRect">
            <a:avLst>
              <a:gd name="adj" fmla="val 3000"/>
            </a:avLst>
          </a:prstGeom>
          <a:ln w="9525">
            <a:solidFill>
              <a:schemeClr val="tx2"/>
            </a:solidFill>
            <a:prstDash val="solid"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</p:pic>
      <p:sp>
        <p:nvSpPr>
          <p:cNvPr id="4" name="text s5.2.0.0"/>
          <p:cNvSpPr txBox="1"/>
          <p:nvPr/>
        </p:nvSpPr>
        <p:spPr>
          <a:xfrm>
            <a:off x="6210300" y="2531864"/>
            <a:ext cx="1428750" cy="594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680"/>
              </a:lnSpc>
            </a:pPr>
            <a:r>
              <a:rPr sz="3900" b="1">
                <a:solidFill>
                  <a:schemeClr val="accent1"/>
                </a:solidFill>
                <a:latin typeface="+mj-lt"/>
                <a:ea typeface="+mj-ea"/>
              </a:rPr>
              <a:t>38%</a:t>
            </a:r>
          </a:p>
        </p:txBody>
      </p:sp>
      <p:sp>
        <p:nvSpPr>
          <p:cNvPr id="5" name="text s5.2.0.1.0"/>
          <p:cNvSpPr txBox="1"/>
          <p:nvPr/>
        </p:nvSpPr>
        <p:spPr>
          <a:xfrm>
            <a:off x="7867650" y="2560439"/>
            <a:ext cx="37147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Open the invite link</a:t>
            </a:r>
          </a:p>
        </p:txBody>
      </p:sp>
      <p:sp>
        <p:nvSpPr>
          <p:cNvPr id="6" name="text s5.2.0.1.1"/>
          <p:cNvSpPr txBox="1"/>
          <p:nvPr/>
        </p:nvSpPr>
        <p:spPr>
          <a:xfrm>
            <a:off x="7867650" y="2857500"/>
            <a:ext cx="3714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380 of every 1,000 shared links</a:t>
            </a:r>
          </a:p>
        </p:txBody>
      </p:sp>
      <p:sp>
        <p:nvSpPr>
          <p:cNvPr id="7" name="text s5.2.1.0"/>
          <p:cNvSpPr txBox="1"/>
          <p:nvPr/>
        </p:nvSpPr>
        <p:spPr>
          <a:xfrm>
            <a:off x="6210300" y="3469035"/>
            <a:ext cx="1428750" cy="594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680"/>
              </a:lnSpc>
            </a:pPr>
            <a:r>
              <a:rPr sz="3900" b="1">
                <a:solidFill>
                  <a:schemeClr val="accent1"/>
                </a:solidFill>
                <a:latin typeface="+mj-lt"/>
                <a:ea typeface="+mj-ea"/>
              </a:rPr>
              <a:t>21%</a:t>
            </a:r>
          </a:p>
        </p:txBody>
      </p:sp>
      <p:sp>
        <p:nvSpPr>
          <p:cNvPr id="8" name="text s5.2.1.1.0"/>
          <p:cNvSpPr txBox="1"/>
          <p:nvPr/>
        </p:nvSpPr>
        <p:spPr>
          <a:xfrm>
            <a:off x="7867650" y="3497610"/>
            <a:ext cx="37147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Sign up</a:t>
            </a:r>
          </a:p>
        </p:txBody>
      </p:sp>
      <p:sp>
        <p:nvSpPr>
          <p:cNvPr id="9" name="text s5.2.1.1.1"/>
          <p:cNvSpPr txBox="1"/>
          <p:nvPr/>
        </p:nvSpPr>
        <p:spPr>
          <a:xfrm>
            <a:off x="7867650" y="3794671"/>
            <a:ext cx="3714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One in five who open — 3x search</a:t>
            </a:r>
          </a:p>
        </p:txBody>
      </p:sp>
      <p:sp>
        <p:nvSpPr>
          <p:cNvPr id="10" name="text s5.2.2.0"/>
          <p:cNvSpPr txBox="1"/>
          <p:nvPr/>
        </p:nvSpPr>
        <p:spPr>
          <a:xfrm>
            <a:off x="6210300" y="4406205"/>
            <a:ext cx="1428750" cy="594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680"/>
              </a:lnSpc>
            </a:pPr>
            <a:r>
              <a:rPr sz="3900" b="1">
                <a:solidFill>
                  <a:schemeClr val="accent3"/>
                </a:solidFill>
                <a:latin typeface="+mj-lt"/>
                <a:ea typeface="+mj-ea"/>
              </a:rPr>
              <a:t>7.8%</a:t>
            </a:r>
          </a:p>
        </p:txBody>
      </p:sp>
      <p:sp>
        <p:nvSpPr>
          <p:cNvPr id="11" name="text s5.2.2.1.0"/>
          <p:cNvSpPr txBox="1"/>
          <p:nvPr/>
        </p:nvSpPr>
        <p:spPr>
          <a:xfrm>
            <a:off x="7867650" y="4434780"/>
            <a:ext cx="37147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Make a first payment</a:t>
            </a:r>
          </a:p>
        </p:txBody>
      </p:sp>
      <p:sp>
        <p:nvSpPr>
          <p:cNvPr id="12" name="text s5.2.2.1.1"/>
          <p:cNvSpPr txBox="1"/>
          <p:nvPr/>
        </p:nvSpPr>
        <p:spPr>
          <a:xfrm>
            <a:off x="7867650" y="4731841"/>
            <a:ext cx="3714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Highest conversion of any channel</a:t>
            </a:r>
          </a:p>
        </p:txBody>
      </p:sp>
      <p:sp>
        <p:nvSpPr>
          <p:cNvPr id="13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14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6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6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Q4 targets and the investment they need</a:t>
            </a:r>
          </a:p>
        </p:txBody>
      </p:sp>
      <p:sp>
        <p:nvSpPr>
          <p:cNvPr id="3" name="shape s6.1.0"/>
          <p:cNvSpPr/>
          <p:nvPr/>
        </p:nvSpPr>
        <p:spPr>
          <a:xfrm>
            <a:off x="6096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6.1.0.0.0"/>
          <p:cNvSpPr txBox="1"/>
          <p:nvPr/>
        </p:nvSpPr>
        <p:spPr>
          <a:xfrm>
            <a:off x="10193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Targets</a:t>
            </a:r>
          </a:p>
        </p:txBody>
      </p:sp>
      <p:sp>
        <p:nvSpPr>
          <p:cNvPr id="5" name="text s6.1.0.0.1.0.0"/>
          <p:cNvSpPr txBox="1"/>
          <p:nvPr/>
        </p:nvSpPr>
        <p:spPr>
          <a:xfrm>
            <a:off x="1019324" y="2505224"/>
            <a:ext cx="2213372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Monthly active users</a:t>
            </a:r>
          </a:p>
        </p:txBody>
      </p:sp>
      <p:sp>
        <p:nvSpPr>
          <p:cNvPr id="6" name="text s6.1.0.0.1.0.1"/>
          <p:cNvSpPr txBox="1"/>
          <p:nvPr/>
        </p:nvSpPr>
        <p:spPr>
          <a:xfrm>
            <a:off x="4668143" y="2390924"/>
            <a:ext cx="90383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chemeClr val="accent1"/>
                </a:solidFill>
                <a:latin typeface="+mj-lt"/>
                <a:ea typeface="+mj-ea"/>
              </a:rPr>
              <a:t>3.4M</a:t>
            </a:r>
          </a:p>
        </p:txBody>
      </p:sp>
      <p:sp>
        <p:nvSpPr>
          <p:cNvPr id="7" name="shape s6.1.0.0.1.1.0"/>
          <p:cNvSpPr/>
          <p:nvPr/>
        </p:nvSpPr>
        <p:spPr>
          <a:xfrm>
            <a:off x="1019324" y="2905274"/>
            <a:ext cx="3883075" cy="95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6.1.0.0.1.1.1"/>
          <p:cNvSpPr/>
          <p:nvPr/>
        </p:nvSpPr>
        <p:spPr>
          <a:xfrm>
            <a:off x="4902398" y="2905274"/>
            <a:ext cx="669578" cy="95250"/>
          </a:xfrm>
          <a:prstGeom prst="rect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text s6.1.0.0.1.2"/>
          <p:cNvSpPr txBox="1"/>
          <p:nvPr/>
        </p:nvSpPr>
        <p:spPr>
          <a:xfrm>
            <a:off x="1019324" y="305767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2.9M · 85% of the way</a:t>
            </a:r>
          </a:p>
        </p:txBody>
      </p:sp>
      <p:sp>
        <p:nvSpPr>
          <p:cNvPr id="10" name="text s6.1.0.0.2.0.0"/>
          <p:cNvSpPr txBox="1"/>
          <p:nvPr/>
        </p:nvSpPr>
        <p:spPr>
          <a:xfrm>
            <a:off x="1019324" y="3851970"/>
            <a:ext cx="1954113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Quarterly revenue</a:t>
            </a:r>
          </a:p>
        </p:txBody>
      </p:sp>
      <p:sp>
        <p:nvSpPr>
          <p:cNvPr id="11" name="text s6.1.0.0.2.0.1"/>
          <p:cNvSpPr txBox="1"/>
          <p:nvPr/>
        </p:nvSpPr>
        <p:spPr>
          <a:xfrm>
            <a:off x="4490591" y="3737670"/>
            <a:ext cx="1081385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chemeClr val="accent2"/>
                </a:solidFill>
                <a:latin typeface="+mj-lt"/>
                <a:ea typeface="+mj-ea"/>
              </a:rPr>
              <a:t>₩1.4B</a:t>
            </a:r>
          </a:p>
        </p:txBody>
      </p:sp>
      <p:sp>
        <p:nvSpPr>
          <p:cNvPr id="12" name="shape s6.1.0.0.2.1.0"/>
          <p:cNvSpPr/>
          <p:nvPr/>
        </p:nvSpPr>
        <p:spPr>
          <a:xfrm>
            <a:off x="1019324" y="4252020"/>
            <a:ext cx="3902273" cy="952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3" name="shape s6.1.0.0.2.1.1"/>
          <p:cNvSpPr/>
          <p:nvPr/>
        </p:nvSpPr>
        <p:spPr>
          <a:xfrm>
            <a:off x="4921597" y="4252020"/>
            <a:ext cx="650379" cy="95250"/>
          </a:xfrm>
          <a:prstGeom prst="rect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text s6.1.0.0.2.2"/>
          <p:cNvSpPr txBox="1"/>
          <p:nvPr/>
        </p:nvSpPr>
        <p:spPr>
          <a:xfrm>
            <a:off x="1019324" y="4404420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₩1.2B · 86% of the way</a:t>
            </a:r>
          </a:p>
        </p:txBody>
      </p:sp>
      <p:sp>
        <p:nvSpPr>
          <p:cNvPr id="15" name="text s6.1.0.0.3.0.0"/>
          <p:cNvSpPr txBox="1"/>
          <p:nvPr/>
        </p:nvSpPr>
        <p:spPr>
          <a:xfrm>
            <a:off x="1019324" y="5198715"/>
            <a:ext cx="1368772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Average CAC</a:t>
            </a:r>
          </a:p>
        </p:txBody>
      </p:sp>
      <p:sp>
        <p:nvSpPr>
          <p:cNvPr id="16" name="text s6.1.0.0.3.0.1"/>
          <p:cNvSpPr txBox="1"/>
          <p:nvPr/>
        </p:nvSpPr>
        <p:spPr>
          <a:xfrm>
            <a:off x="4310807" y="5084415"/>
            <a:ext cx="126117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chemeClr val="accent3"/>
                </a:solidFill>
                <a:latin typeface="+mj-lt"/>
                <a:ea typeface="+mj-ea"/>
              </a:rPr>
              <a:t>₩7,000</a:t>
            </a:r>
          </a:p>
        </p:txBody>
      </p:sp>
      <p:sp>
        <p:nvSpPr>
          <p:cNvPr id="17" name="text s6.1.0.0.3.1"/>
          <p:cNvSpPr txBox="1"/>
          <p:nvPr/>
        </p:nvSpPr>
        <p:spPr>
          <a:xfrm>
            <a:off x="10193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₩8,900 → −21% · falls as referral share grows</a:t>
            </a:r>
          </a:p>
        </p:txBody>
      </p:sp>
      <p:sp>
        <p:nvSpPr>
          <p:cNvPr id="18" name="shape s6.2.0"/>
          <p:cNvSpPr/>
          <p:nvPr/>
        </p:nvSpPr>
        <p:spPr>
          <a:xfrm>
            <a:off x="62103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9" name="text s6.2.0.0.0"/>
          <p:cNvSpPr txBox="1"/>
          <p:nvPr/>
        </p:nvSpPr>
        <p:spPr>
          <a:xfrm>
            <a:off x="66200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Investment</a:t>
            </a:r>
          </a:p>
        </p:txBody>
      </p:sp>
      <p:sp>
        <p:nvSpPr>
          <p:cNvPr id="20" name="text s6.2.0.0.1.0"/>
          <p:cNvSpPr txBox="1"/>
          <p:nvPr/>
        </p:nvSpPr>
        <p:spPr>
          <a:xfrm>
            <a:off x="6620024" y="2370534"/>
            <a:ext cx="45526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Double the referral rewards</a:t>
            </a:r>
          </a:p>
        </p:txBody>
      </p:sp>
      <p:sp>
        <p:nvSpPr>
          <p:cNvPr id="21" name="text s6.2.0.0.1.1"/>
          <p:cNvSpPr txBox="1"/>
          <p:nvPr/>
        </p:nvSpPr>
        <p:spPr>
          <a:xfrm>
            <a:off x="6620024" y="2692450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Moved from the display ad budget</a:t>
            </a:r>
          </a:p>
        </p:txBody>
      </p:sp>
      <p:sp>
        <p:nvSpPr>
          <p:cNvPr id="22" name="text s6.2.0.0.2.0"/>
          <p:cNvSpPr txBox="1"/>
          <p:nvPr/>
        </p:nvSpPr>
        <p:spPr>
          <a:xfrm>
            <a:off x="6620024" y="3351907"/>
            <a:ext cx="45526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Onboarding fixes · 2 engineers</a:t>
            </a:r>
          </a:p>
        </p:txBody>
      </p:sp>
      <p:sp>
        <p:nvSpPr>
          <p:cNvPr id="23" name="text s6.2.0.0.2.1"/>
          <p:cNvSpPr txBox="1"/>
          <p:nvPr/>
        </p:nvSpPr>
        <p:spPr>
          <a:xfrm>
            <a:off x="6620024" y="3673822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First-week churn 31% → 24%</a:t>
            </a:r>
          </a:p>
        </p:txBody>
      </p:sp>
      <p:sp>
        <p:nvSpPr>
          <p:cNvPr id="24" name="text s6.2.0.0.3.0"/>
          <p:cNvSpPr txBox="1"/>
          <p:nvPr/>
        </p:nvSpPr>
        <p:spPr>
          <a:xfrm>
            <a:off x="6620024" y="4333429"/>
            <a:ext cx="45526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Fix referral attribution</a:t>
            </a:r>
          </a:p>
        </p:txBody>
      </p:sp>
      <p:sp>
        <p:nvSpPr>
          <p:cNvPr id="25" name="text s6.2.0.0.3.1"/>
          <p:cNvSpPr txBox="1"/>
          <p:nvPr/>
        </p:nvSpPr>
        <p:spPr>
          <a:xfrm>
            <a:off x="6620024" y="465534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18% of link sign-ups go uncounted</a:t>
            </a:r>
          </a:p>
        </p:txBody>
      </p:sp>
      <p:sp>
        <p:nvSpPr>
          <p:cNvPr id="26" name="shape s6.2.0.0.4"/>
          <p:cNvSpPr/>
          <p:nvPr/>
        </p:nvSpPr>
        <p:spPr>
          <a:xfrm>
            <a:off x="6620024" y="5314801"/>
            <a:ext cx="4552652" cy="523875"/>
          </a:xfrm>
          <a:prstGeom prst="roundRect">
            <a:avLst>
              <a:gd name="adj" fmla="val 21818"/>
            </a:avLst>
          </a:prstGeom>
          <a:solidFill>
            <a:schemeClr val="accent3">
              <a:alpha val="14000"/>
            </a:schemeClr>
          </a:solidFill>
          <a:ln w="9525">
            <a:solidFill>
              <a:schemeClr val="accent3"/>
            </a:solidFill>
            <a:prstDash val="solid"/>
          </a:ln>
        </p:spPr>
        <p:txBody>
          <a:bodyPr wrap="square" lIns="228600" tIns="57150" rIns="228600" bIns="5715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accent3"/>
                </a:solidFill>
                <a:latin typeface="+mn-lt"/>
                <a:ea typeface="+mn-ea"/>
              </a:rPr>
              <a:t>No new budget — reallocation only</a:t>
            </a:r>
          </a:p>
        </p:txBody>
      </p:sp>
      <p:sp>
        <p:nvSpPr>
          <p:cNvPr id="27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28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7.0"/>
          <p:cNvSpPr txBox="1"/>
          <p:nvPr/>
        </p:nvSpPr>
        <p:spPr>
          <a:xfrm>
            <a:off x="609600" y="2274391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0"/>
                </a:gradFill>
                <a:latin typeface="+mj-lt"/>
                <a:ea typeface="+mj-ea"/>
              </a:rPr>
              <a:t>Thank you</a:t>
            </a:r>
          </a:p>
        </p:txBody>
      </p:sp>
      <p:sp>
        <p:nvSpPr>
          <p:cNvPr id="3" name="text s7.1"/>
          <p:cNvSpPr txBox="1"/>
          <p:nvPr/>
        </p:nvSpPr>
        <p:spPr>
          <a:xfrm>
            <a:off x="609600" y="3417391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Questions to #growth</a:t>
            </a:r>
          </a:p>
        </p:txBody>
      </p:sp>
      <p:sp>
        <p:nvSpPr>
          <p:cNvPr id="4" name="shape s7.2"/>
          <p:cNvSpPr/>
          <p:nvPr/>
        </p:nvSpPr>
        <p:spPr>
          <a:xfrm>
            <a:off x="3041154" y="3992612"/>
            <a:ext cx="6109543" cy="590848"/>
          </a:xfrm>
          <a:prstGeom prst="roundRect">
            <a:avLst>
              <a:gd name="adj" fmla="val 38690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228600" tIns="57150" rIns="22860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Today's decision: display budget → referral rewards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8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Business Review</dc:title>
  <dc:creator>Growth Team</dc:creator>
  <dc:language>en-US</dc:language>
  <cp:lastModifiedBy>balpyo</cp:lastModifiedBy>
  <cp:revision>1</cp:revision>
</cp:coreProperties>
</file>