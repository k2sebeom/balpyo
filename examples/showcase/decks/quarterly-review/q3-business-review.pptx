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theme" Target="theme/theme1.xml"/>
  <Relationship Id="rId11" Type="http://schemas.openxmlformats.org/officeDocument/2006/relationships/notesMaster" Target="notesMasters/notesMaster1.xml"/>
</Relationships>
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686300"/>
            <a:ext cx="5486400" cy="37719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Thirty seconds of hello. Three things today: the metrics, what we learned, the plan — and one decision.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first three look back; the last one is what we decide today.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k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Revenue landed at 108% of target. The rating climbed after we fixed the payment errors. More than half of the user growth came from referrals.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Q4 the display ad budget moves to referral rewards — the next slides make the case.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times as much for the same money. That is the basis of the Q4 plan.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refer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referral isn't an ad, it's a friend talking. That's why conversion is high — and with a reward in place, the cost stays low.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one thing to decide today is the first line on the right.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Restate the one decision and close.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author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date"/>
          <p:cNvSpPr>
            <a:spLocks noGrp="1"/>
          </p:cNvSpPr>
          <p:nvPr>
            <p:ph type="body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image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media"/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  <Relationship Id="rId3" Type="http://schemas.openxmlformats.org/officeDocument/2006/relationships/slideLayout" Target="../slideLayouts/slideLayout2.xml"/>
  <Relationship Id="rId4" Type="http://schemas.openxmlformats.org/officeDocument/2006/relationships/slideLayout" Target="../slideLayouts/slideLayout3.xml"/>
  <Relationship Id="rId5" Type="http://schemas.openxmlformats.org/officeDocument/2006/relationships/slideLayout" Target="../slideLayouts/slideLayout4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7600" cy="1143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8006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</p:sldLayoutIdLst>
  <p:txStyles>
    <p:titleStyle>
      <a:lvl1pPr algn="l">
        <a:defRPr sz="4400"/>
      </a:lvl1pPr>
    </p:titleStyle>
    <p:bodyStyle>
      <a:lvl1pPr>
        <a:defRPr sz="2400"/>
      </a:lvl1pPr>
    </p:bodyStyle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4.xml"/>
  <Relationship Id="rId2" Type="http://schemas.openxmlformats.org/officeDocument/2006/relationships/notesSlide" Target="../notesSlides/notesSlide6.xml"/>
  <Relationship Id="rId3" Type="http://schemas.openxmlformats.org/officeDocument/2006/relationships/image" Target="../media/image1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3.xml"/>
  <Relationship Id="rId2" Type="http://schemas.openxmlformats.org/officeDocument/2006/relationships/notesSlide" Target="../notesSlides/notesSlide7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0.0"/>
          <p:cNvSpPr txBox="1"/>
          <p:nvPr>
            <p:ph type="body" idx="2"/>
          </p:nvPr>
        </p:nvSpPr>
        <p:spPr>
          <a:xfrm>
            <a:off x="4867126" y="1451670"/>
            <a:ext cx="245759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" name="h1 s0.1"/>
          <p:cNvSpPr txBox="1"/>
          <p:nvPr>
            <p:ph type="ctrTitle"/>
          </p:nvPr>
        </p:nvSpPr>
        <p:spPr>
          <a:xfrm>
            <a:off x="2364730" y="1937445"/>
            <a:ext cx="746239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1"/>
                </a:gradFill>
                <a:latin typeface="+mj-lt"/>
                <a:ea typeface="+mj-ea"/>
              </a:rPr>
              <a:t>Q3</a:t>
            </a:r>
            <a:r>
              <a:rPr sz="6000" b="1">
                <a:solidFill>
                  <a:schemeClr val="tx1"/>
                </a:solidFill>
                <a:latin typeface="+mj-lt"/>
                <a:ea typeface="+mj-ea"/>
              </a:rPr>
              <a:t> Business Review</a:t>
            </a:r>
          </a:p>
        </p:txBody>
      </p:sp>
      <p:sp>
        <p:nvSpPr>
          <p:cNvPr id="4" name="text s0.2"/>
          <p:cNvSpPr txBox="1"/>
          <p:nvPr>
            <p:ph type="subTitle" idx="1"/>
          </p:nvPr>
        </p:nvSpPr>
        <p:spPr>
          <a:xfrm>
            <a:off x="2856012" y="3080445"/>
            <a:ext cx="6479977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925"/>
              </a:lnSpc>
            </a:pPr>
            <a:r>
              <a:rPr sz="2250" b="1">
                <a:solidFill>
                  <a:schemeClr val="tx2"/>
                </a:solidFill>
                <a:latin typeface="+mj-lt"/>
                <a:ea typeface="+mj-ea"/>
              </a:rPr>
              <a:t>Growth metrics in review, and the plan for Q4</a:t>
            </a:r>
          </a:p>
        </p:txBody>
      </p:sp>
      <p:sp>
        <p:nvSpPr>
          <p:cNvPr id="5" name="text s0.3"/>
          <p:cNvSpPr txBox="1"/>
          <p:nvPr>
            <p:ph type="body" idx="3"/>
          </p:nvPr>
        </p:nvSpPr>
        <p:spPr>
          <a:xfrm>
            <a:off x="5378500" y="4594920"/>
            <a:ext cx="143500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Growth Team</a:t>
            </a:r>
          </a:p>
        </p:txBody>
      </p:sp>
      <p:sp>
        <p:nvSpPr>
          <p:cNvPr id="6" name="text s0.4"/>
          <p:cNvSpPr txBox="1"/>
          <p:nvPr>
            <p:ph type="body" idx="4"/>
          </p:nvPr>
        </p:nvSpPr>
        <p:spPr>
          <a:xfrm>
            <a:off x="4366022" y="5166420"/>
            <a:ext cx="3459807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October 2026 · Quarterly business meeting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1.0"/>
          <p:cNvSpPr txBox="1"/>
          <p:nvPr/>
        </p:nvSpPr>
        <p:spPr>
          <a:xfrm>
            <a:off x="609600" y="1628775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Today's agenda</a:t>
            </a:r>
          </a:p>
        </p:txBody>
      </p:sp>
      <p:sp>
        <p:nvSpPr>
          <p:cNvPr id="3" name="h2 s1.1"/>
          <p:cNvSpPr txBox="1"/>
          <p:nvPr/>
        </p:nvSpPr>
        <p:spPr>
          <a:xfrm>
            <a:off x="609600" y="211455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Three looks back, one decision</a:t>
            </a:r>
          </a:p>
        </p:txBody>
      </p:sp>
      <p:sp>
        <p:nvSpPr>
          <p:cNvPr id="4" name="shape s1.3.0.0"/>
          <p:cNvSpPr/>
          <p:nvPr/>
        </p:nvSpPr>
        <p:spPr>
          <a:xfrm>
            <a:off x="132397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5" name="text s1.3.0.1"/>
          <p:cNvSpPr txBox="1"/>
          <p:nvPr/>
        </p:nvSpPr>
        <p:spPr>
          <a:xfrm>
            <a:off x="1060847" y="4503390"/>
            <a:ext cx="1669107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Key metrics</a:t>
            </a:r>
          </a:p>
        </p:txBody>
      </p:sp>
      <p:sp>
        <p:nvSpPr>
          <p:cNvPr id="6" name="text s1.3.0.2"/>
          <p:cNvSpPr txBox="1"/>
          <p:nvPr/>
        </p:nvSpPr>
        <p:spPr>
          <a:xfrm>
            <a:off x="964704" y="4989165"/>
            <a:ext cx="1861542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Users · revenue · rating</a:t>
            </a:r>
          </a:p>
        </p:txBody>
      </p:sp>
      <p:sp>
        <p:nvSpPr>
          <p:cNvPr id="7" name="shape s1.3.1.0"/>
          <p:cNvSpPr/>
          <p:nvPr/>
        </p:nvSpPr>
        <p:spPr>
          <a:xfrm>
            <a:off x="412432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8" name="text s1.3.1.1"/>
          <p:cNvSpPr txBox="1"/>
          <p:nvPr/>
        </p:nvSpPr>
        <p:spPr>
          <a:xfrm>
            <a:off x="3911947" y="4503390"/>
            <a:ext cx="156775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By channel</a:t>
            </a:r>
          </a:p>
        </p:txBody>
      </p:sp>
      <p:sp>
        <p:nvSpPr>
          <p:cNvPr id="9" name="text s1.3.1.2"/>
          <p:cNvSpPr txBox="1"/>
          <p:nvPr/>
        </p:nvSpPr>
        <p:spPr>
          <a:xfrm>
            <a:off x="3417540" y="4989165"/>
            <a:ext cx="2556421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Conversion and acquisition cost</a:t>
            </a:r>
          </a:p>
        </p:txBody>
      </p:sp>
      <p:sp>
        <p:nvSpPr>
          <p:cNvPr id="10" name="shape s1.3.2.0"/>
          <p:cNvSpPr/>
          <p:nvPr/>
        </p:nvSpPr>
        <p:spPr>
          <a:xfrm>
            <a:off x="6924675" y="3246090"/>
            <a:ext cx="1143000" cy="1143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11" name="text s1.3.2.1"/>
          <p:cNvSpPr txBox="1"/>
          <p:nvPr/>
        </p:nvSpPr>
        <p:spPr>
          <a:xfrm>
            <a:off x="6468666" y="4503390"/>
            <a:ext cx="205487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tx1"/>
                </a:solidFill>
                <a:latin typeface="+mj-lt"/>
                <a:ea typeface="+mj-ea"/>
              </a:rPr>
              <a:t>Biggest lesson</a:t>
            </a:r>
          </a:p>
        </p:txBody>
      </p:sp>
      <p:sp>
        <p:nvSpPr>
          <p:cNvPr id="12" name="text s1.3.2.2"/>
          <p:cNvSpPr txBox="1"/>
          <p:nvPr/>
        </p:nvSpPr>
        <p:spPr>
          <a:xfrm>
            <a:off x="6993582" y="4989165"/>
            <a:ext cx="1005036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Referral CAC</a:t>
            </a:r>
          </a:p>
        </p:txBody>
      </p:sp>
      <p:sp>
        <p:nvSpPr>
          <p:cNvPr id="13" name="shape s1.3.3.0"/>
          <p:cNvSpPr/>
          <p:nvPr/>
        </p:nvSpPr>
        <p:spPr>
          <a:xfrm>
            <a:off x="9725025" y="3246090"/>
            <a:ext cx="1143000" cy="1143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2700000" scaled="1"/>
          </a:gra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ts val="3960"/>
              </a:lnSpc>
            </a:pPr>
            <a:r>
              <a:rPr sz="3300" b="1">
                <a:solidFill>
                  <a:schemeClr val="bg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14" name="text s1.3.3.1"/>
          <p:cNvSpPr txBox="1"/>
          <p:nvPr/>
        </p:nvSpPr>
        <p:spPr>
          <a:xfrm>
            <a:off x="9749730" y="4503390"/>
            <a:ext cx="1093589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925"/>
              </a:lnSpc>
            </a:pPr>
            <a:r>
              <a:rPr sz="2250" b="1">
                <a:solidFill>
                  <a:schemeClr val="accent1"/>
                </a:solidFill>
                <a:latin typeface="+mj-lt"/>
                <a:ea typeface="+mj-ea"/>
              </a:rPr>
              <a:t>Q4 plan</a:t>
            </a:r>
          </a:p>
        </p:txBody>
      </p:sp>
      <p:sp>
        <p:nvSpPr>
          <p:cNvPr id="15" name="text s1.3.3.2"/>
          <p:cNvSpPr txBox="1"/>
          <p:nvPr/>
        </p:nvSpPr>
        <p:spPr>
          <a:xfrm>
            <a:off x="9409361" y="4989165"/>
            <a:ext cx="1774180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What we decide today</a:t>
            </a:r>
          </a:p>
        </p:txBody>
      </p:sp>
      <p:cxnSp>
        <p:nvCxnSpPr>
          <p:cNvPr id="16" name="connector s1.4"/>
          <p:cNvCxnSpPr>
            <a:stCxn id="4" idx="6"/>
            <a:endCxn id="7" idx="2"/>
          </p:cNvCxnSpPr>
          <p:nvPr/>
        </p:nvCxnSpPr>
        <p:spPr>
          <a:xfrm>
            <a:off x="2466975" y="3817590"/>
            <a:ext cx="1657350" cy="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headEnd type="none"/>
            <a:tailEnd type="none"/>
          </a:ln>
        </p:spPr>
      </p:cxnSp>
      <p:cxnSp>
        <p:nvCxnSpPr>
          <p:cNvPr id="17" name="connector s1.5"/>
          <p:cNvCxnSpPr>
            <a:stCxn id="7" idx="6"/>
            <a:endCxn id="10" idx="2"/>
          </p:cNvCxnSpPr>
          <p:nvPr/>
        </p:nvCxnSpPr>
        <p:spPr>
          <a:xfrm>
            <a:off x="5267325" y="3817590"/>
            <a:ext cx="1657350" cy="0"/>
          </a:xfrm>
          <a:prstGeom prst="straightConnector1">
            <a:avLst/>
          </a:prstGeom>
          <a:ln w="19050">
            <a:solidFill>
              <a:schemeClr val="tx2"/>
            </a:solidFill>
            <a:prstDash val="dash"/>
            <a:headEnd type="none"/>
            <a:tailEnd type="none"/>
          </a:ln>
        </p:spPr>
      </p:cxnSp>
      <p:cxnSp>
        <p:nvCxnSpPr>
          <p:cNvPr id="18" name="connector s1.6"/>
          <p:cNvCxnSpPr>
            <a:stCxn id="10" idx="6"/>
            <a:endCxn id="13" idx="2"/>
          </p:cNvCxnSpPr>
          <p:nvPr/>
        </p:nvCxnSpPr>
        <p:spPr>
          <a:xfrm>
            <a:off x="8067675" y="3817590"/>
            <a:ext cx="165735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sp>
        <p:nvSpPr>
          <p:cNvPr id="19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20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2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51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0.9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2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01 · Key metrics</a:t>
            </a:r>
          </a:p>
        </p:txBody>
      </p:sp>
      <p:sp>
        <p:nvSpPr>
          <p:cNvPr id="3" name="h2 s2.1"/>
          <p:cNvSpPr txBox="1"/>
          <p:nvPr/>
        </p:nvSpPr>
        <p:spPr>
          <a:xfrm>
            <a:off x="609600" y="1095375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All three metrics beat their targets</a:t>
            </a:r>
          </a:p>
        </p:txBody>
      </p:sp>
      <p:sp>
        <p:nvSpPr>
          <p:cNvPr id="4" name="shape s2.2.0"/>
          <p:cNvSpPr/>
          <p:nvPr/>
        </p:nvSpPr>
        <p:spPr>
          <a:xfrm>
            <a:off x="6096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5" name="text s2.2.0.0.0"/>
          <p:cNvSpPr txBox="1"/>
          <p:nvPr/>
        </p:nvSpPr>
        <p:spPr>
          <a:xfrm>
            <a:off x="10193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Monthly active users</a:t>
            </a:r>
          </a:p>
        </p:txBody>
      </p:sp>
      <p:sp>
        <p:nvSpPr>
          <p:cNvPr id="6" name="text s2.2.0.0.1.0"/>
          <p:cNvSpPr txBox="1"/>
          <p:nvPr/>
        </p:nvSpPr>
        <p:spPr>
          <a:xfrm>
            <a:off x="10193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1"/>
                </a:solidFill>
                <a:latin typeface="+mj-lt"/>
                <a:ea typeface="+mj-ea"/>
              </a:rPr>
              <a:t>+38</a:t>
            </a:r>
            <a:r>
              <a:rPr sz="3000" b="1" i="0" u="none">
                <a:solidFill>
                  <a:schemeClr val="accent1"/>
                </a:solidFill>
                <a:latin typeface="+mj-lt"/>
                <a:ea typeface="+mj-ea"/>
              </a:rPr>
              <a:t>%</a:t>
            </a:r>
          </a:p>
        </p:txBody>
      </p:sp>
      <p:sp>
        <p:nvSpPr>
          <p:cNvPr id="7" name="shape s2.2.0.0.1.1.0"/>
          <p:cNvSpPr/>
          <p:nvPr/>
        </p:nvSpPr>
        <p:spPr>
          <a:xfrm>
            <a:off x="1019324" y="4055864"/>
            <a:ext cx="2609552" cy="609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88000"/>
                </a:moveTo>
                <a:cubicBezTo>
                  <a:pt x="20000" y="82000"/>
                  <a:pt x="30000" y="78000"/>
                  <a:pt x="45000" y="66000"/>
                </a:cubicBezTo>
                <a:cubicBezTo>
                  <a:pt x="60000" y="54000"/>
                  <a:pt x="72000" y="40000"/>
                  <a:pt x="100000" y="8000"/>
                </a:cubicBez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chemeClr val="accent1">
              <a:alpha val="18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2.2.0.0.1.1.1"/>
          <p:cNvSpPr/>
          <p:nvPr/>
        </p:nvSpPr>
        <p:spPr>
          <a:xfrm>
            <a:off x="1019324" y="4055864"/>
            <a:ext cx="2609552" cy="6096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88000"/>
                </a:moveTo>
                <a:cubicBezTo>
                  <a:pt x="20000" y="82000"/>
                  <a:pt x="30000" y="78000"/>
                  <a:pt x="45000" y="66000"/>
                </a:cubicBezTo>
                <a:cubicBezTo>
                  <a:pt x="60000" y="54000"/>
                  <a:pt x="72000" y="40000"/>
                  <a:pt x="100000" y="8000"/>
                </a:cubicBezTo>
              </a:path>
            </a:pathLst>
          </a:custGeom>
          <a:noFill/>
          <a:ln w="28575">
            <a:solidFill>
              <a:schemeClr val="accent1"/>
            </a:solidFill>
            <a:prstDash val="solid"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p s2.2.0.0.2.0"/>
          <p:cNvSpPr txBox="1"/>
          <p:nvPr/>
        </p:nvSpPr>
        <p:spPr>
          <a:xfrm>
            <a:off x="10193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2.1M → 2.9M</a:t>
            </a:r>
          </a:p>
        </p:txBody>
      </p:sp>
      <p:sp>
        <p:nvSpPr>
          <p:cNvPr id="10" name="text s2.2.0.0.2.1"/>
          <p:cNvSpPr txBox="1"/>
          <p:nvPr/>
        </p:nvSpPr>
        <p:spPr>
          <a:xfrm>
            <a:off x="10193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vs. Q2 · target +30%</a:t>
            </a:r>
          </a:p>
        </p:txBody>
      </p:sp>
      <p:sp>
        <p:nvSpPr>
          <p:cNvPr id="11" name="shape s2.2.1"/>
          <p:cNvSpPr/>
          <p:nvPr/>
        </p:nvSpPr>
        <p:spPr>
          <a:xfrm>
            <a:off x="43815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2" name="text s2.2.1.0.0"/>
          <p:cNvSpPr txBox="1"/>
          <p:nvPr/>
        </p:nvSpPr>
        <p:spPr>
          <a:xfrm>
            <a:off x="47912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Quarterly revenue</a:t>
            </a:r>
          </a:p>
        </p:txBody>
      </p:sp>
      <p:sp>
        <p:nvSpPr>
          <p:cNvPr id="13" name="text s2.2.1.0.1.0"/>
          <p:cNvSpPr txBox="1"/>
          <p:nvPr/>
        </p:nvSpPr>
        <p:spPr>
          <a:xfrm>
            <a:off x="47912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2"/>
                </a:solidFill>
                <a:latin typeface="+mj-lt"/>
                <a:ea typeface="+mj-ea"/>
              </a:rPr>
              <a:t>₩1.2</a:t>
            </a:r>
            <a:r>
              <a:rPr sz="3000" b="1" i="0" u="none">
                <a:solidFill>
                  <a:schemeClr val="accent2"/>
                </a:solidFill>
                <a:latin typeface="+mj-lt"/>
                <a:ea typeface="+mj-ea"/>
              </a:rPr>
              <a:t>B</a:t>
            </a:r>
          </a:p>
        </p:txBody>
      </p:sp>
      <p:sp>
        <p:nvSpPr>
          <p:cNvPr id="14" name="shape s2.2.1.0.1.1.0"/>
          <p:cNvSpPr/>
          <p:nvPr/>
        </p:nvSpPr>
        <p:spPr>
          <a:xfrm>
            <a:off x="4791224" y="4379714"/>
            <a:ext cx="476101" cy="2857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5" name="shape s2.2.1.0.1.1.1"/>
          <p:cNvSpPr/>
          <p:nvPr/>
        </p:nvSpPr>
        <p:spPr>
          <a:xfrm>
            <a:off x="5324475" y="4322564"/>
            <a:ext cx="476250" cy="34290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6" name="shape s2.2.1.0.1.1.2"/>
          <p:cNvSpPr/>
          <p:nvPr/>
        </p:nvSpPr>
        <p:spPr>
          <a:xfrm>
            <a:off x="5857875" y="4265414"/>
            <a:ext cx="476101" cy="4000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7" name="shape s2.2.1.0.1.1.3"/>
          <p:cNvSpPr/>
          <p:nvPr/>
        </p:nvSpPr>
        <p:spPr>
          <a:xfrm>
            <a:off x="6391126" y="4189214"/>
            <a:ext cx="476250" cy="476250"/>
          </a:xfrm>
          <a:prstGeom prst="rect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8" name="shape s2.2.1.0.1.1.4"/>
          <p:cNvSpPr/>
          <p:nvPr/>
        </p:nvSpPr>
        <p:spPr>
          <a:xfrm>
            <a:off x="6924526" y="4055864"/>
            <a:ext cx="476250" cy="60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p s2.2.1.0.2.0"/>
          <p:cNvSpPr txBox="1"/>
          <p:nvPr/>
        </p:nvSpPr>
        <p:spPr>
          <a:xfrm>
            <a:off x="47912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108% of target</a:t>
            </a:r>
          </a:p>
        </p:txBody>
      </p:sp>
      <p:sp>
        <p:nvSpPr>
          <p:cNvPr id="20" name="text s2.2.1.0.2.1"/>
          <p:cNvSpPr txBox="1"/>
          <p:nvPr/>
        </p:nvSpPr>
        <p:spPr>
          <a:xfrm>
            <a:off x="47912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Subscriptions 74% · ads 26%</a:t>
            </a:r>
          </a:p>
        </p:txBody>
      </p:sp>
      <p:sp>
        <p:nvSpPr>
          <p:cNvPr id="21" name="shape s2.2.2"/>
          <p:cNvSpPr/>
          <p:nvPr/>
        </p:nvSpPr>
        <p:spPr>
          <a:xfrm>
            <a:off x="8153400" y="1769715"/>
            <a:ext cx="3429000" cy="4478685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22" name="text s2.2.2.0.0"/>
          <p:cNvSpPr txBox="1"/>
          <p:nvPr/>
        </p:nvSpPr>
        <p:spPr>
          <a:xfrm>
            <a:off x="8563124" y="2179439"/>
            <a:ext cx="26095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App Store rating</a:t>
            </a:r>
          </a:p>
        </p:txBody>
      </p:sp>
      <p:sp>
        <p:nvSpPr>
          <p:cNvPr id="23" name="text s2.2.2.0.1.0"/>
          <p:cNvSpPr txBox="1"/>
          <p:nvPr/>
        </p:nvSpPr>
        <p:spPr>
          <a:xfrm>
            <a:off x="8563124" y="3027164"/>
            <a:ext cx="260955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7200"/>
              </a:lnSpc>
            </a:pPr>
            <a:r>
              <a:rPr sz="6000" b="1">
                <a:solidFill>
                  <a:schemeClr val="accent4"/>
                </a:solidFill>
                <a:latin typeface="+mj-lt"/>
                <a:ea typeface="+mj-ea"/>
              </a:rPr>
              <a:t>4.6</a:t>
            </a:r>
          </a:p>
        </p:txBody>
      </p:sp>
      <p:sp>
        <p:nvSpPr>
          <p:cNvPr id="24" name="shape s2.2.2.0.1.1.0"/>
          <p:cNvSpPr/>
          <p:nvPr/>
        </p:nvSpPr>
        <p:spPr>
          <a:xfrm>
            <a:off x="856312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5" name="shape s2.2.2.0.1.1.1"/>
          <p:cNvSpPr/>
          <p:nvPr/>
        </p:nvSpPr>
        <p:spPr>
          <a:xfrm>
            <a:off x="903937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6" name="shape s2.2.2.0.1.1.2"/>
          <p:cNvSpPr/>
          <p:nvPr/>
        </p:nvSpPr>
        <p:spPr>
          <a:xfrm>
            <a:off x="951562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7" name="shape s2.2.2.0.1.1.3"/>
          <p:cNvSpPr/>
          <p:nvPr/>
        </p:nvSpPr>
        <p:spPr>
          <a:xfrm>
            <a:off x="9991874" y="4151114"/>
            <a:ext cx="419100" cy="419100"/>
          </a:xfrm>
          <a:prstGeom prst="star5">
            <a:avLst/>
          </a:prstGeom>
          <a:solidFill>
            <a:schemeClr val="accent4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8" name="shape s2.2.2.0.1.1.4"/>
          <p:cNvSpPr/>
          <p:nvPr/>
        </p:nvSpPr>
        <p:spPr>
          <a:xfrm>
            <a:off x="10468124" y="4151114"/>
            <a:ext cx="419100" cy="419100"/>
          </a:xfrm>
          <a:prstGeom prst="star5">
            <a:avLst/>
          </a:prstGeom>
          <a:solidFill>
            <a:schemeClr val="accent4">
              <a:alpha val="35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9" name="p s2.2.2.0.2.0"/>
          <p:cNvSpPr txBox="1"/>
          <p:nvPr/>
        </p:nvSpPr>
        <p:spPr>
          <a:xfrm>
            <a:off x="8563124" y="5255865"/>
            <a:ext cx="260955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18,400 reviews</a:t>
            </a:r>
          </a:p>
        </p:txBody>
      </p:sp>
      <p:sp>
        <p:nvSpPr>
          <p:cNvPr id="30" name="text s2.2.2.0.2.1"/>
          <p:cNvSpPr txBox="1"/>
          <p:nvPr/>
        </p:nvSpPr>
        <p:spPr>
          <a:xfrm>
            <a:off x="8563124" y="5598765"/>
            <a:ext cx="26095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Q2 4.3 · 1-star reviews −41%</a:t>
            </a:r>
          </a:p>
        </p:txBody>
      </p:sp>
      <p:sp>
        <p:nvSpPr>
          <p:cNvPr id="31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2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3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00" decel="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600" decel="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3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02 · By channel</a:t>
            </a:r>
          </a:p>
        </p:txBody>
      </p:sp>
      <p:sp>
        <p:nvSpPr>
          <p:cNvPr id="3" name="h2 s3.1"/>
          <p:cNvSpPr txBox="1"/>
          <p:nvPr/>
        </p:nvSpPr>
        <p:spPr>
          <a:xfrm>
            <a:off x="609600" y="1095375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Referral is cheap, display is expensive</a:t>
            </a:r>
          </a:p>
        </p:txBody>
      </p:sp>
      <p:graphicFrame>
        <p:nvGraphicFramePr>
          <p:cNvPr id="4" name="table s3.2.0"/>
          <p:cNvGraphicFramePr/>
          <p:nvPr/>
        </p:nvGraphicFramePr>
        <p:xfrm>
          <a:off x="609600" y="1769715"/>
          <a:ext cx="6377880" cy="401017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932533"/>
                <a:gridCol w="1888480"/>
                <a:gridCol w="1140917"/>
                <a:gridCol w="1415950"/>
              </a:tblGrid>
              <a:tr h="576263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Channel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New users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Conv.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CAC (₩)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Search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312K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4.2%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12,000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Referral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268K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accent3"/>
                          </a:solidFill>
                          <a:latin typeface="+mn-lt"/>
                          <a:ea typeface="+mn-ea"/>
                        </a:rPr>
                        <a:t>7.8%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accent3"/>
                          </a:solidFill>
                          <a:latin typeface="+mn-lt"/>
                          <a:ea typeface="+mn-ea"/>
                        </a:rPr>
                        <a:t>3,200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Social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141K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2.9%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9,400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Partners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63K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3.5%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7,100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Display ads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38K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1.1%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0">
                          <a:solidFill>
                            <a:schemeClr val="accent5"/>
                          </a:solidFill>
                          <a:latin typeface="+mn-lt"/>
                          <a:ea typeface="+mn-ea"/>
                        </a:rPr>
                        <a:t>21,500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noFill/>
                  </a:tcPr>
                </a:tc>
              </a:tr>
              <a:tr h="576411">
                <a:tc>
                  <a:txBody>
                    <a:bodyPr/>
                    <a:lstStyle/>
                    <a:p>
                      <a:pPr algn="l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Total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822K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4.6%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2700"/>
                        </a:lnSpc>
                      </a:pPr>
                      <a:r>
                        <a:rPr sz="1800" b="1" i="0" u="none">
                          <a:solidFill>
                            <a:schemeClr val="tx1"/>
                          </a:solidFill>
                          <a:latin typeface="+mn-lt"/>
                          <a:ea typeface="+mn-ea"/>
                        </a:rPr>
                        <a:t>8,900</a:t>
                      </a:r>
                    </a:p>
                  </a:txBody>
                  <a:tcPr marL="114300" marR="114300" marT="76200" marB="76200" anchor="t">
                    <a:lnL w="9525">
                      <a:solidFill>
                        <a:schemeClr val="tx2"/>
                      </a:solidFill>
                      <a:prstDash val="solid"/>
                    </a:lnL>
                    <a:lnR w="9525">
                      <a:solidFill>
                        <a:schemeClr val="tx2"/>
                      </a:solidFill>
                      <a:prstDash val="solid"/>
                    </a:lnR>
                    <a:lnT w="9525">
                      <a:solidFill>
                        <a:schemeClr val="tx2"/>
                      </a:solidFill>
                      <a:prstDash val="solid"/>
                    </a:lnT>
                    <a:lnB w="9525">
                      <a:solidFill>
                        <a:schemeClr val="tx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shape s3.2.1"/>
          <p:cNvSpPr/>
          <p:nvPr/>
        </p:nvSpPr>
        <p:spPr>
          <a:xfrm>
            <a:off x="7330380" y="1769715"/>
            <a:ext cx="4251871" cy="4010174"/>
          </a:xfrm>
          <a:prstGeom prst="roundRect">
            <a:avLst>
              <a:gd name="adj" fmla="val 57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6" name="text s3.2.1.0.0"/>
          <p:cNvSpPr txBox="1"/>
          <p:nvPr/>
        </p:nvSpPr>
        <p:spPr>
          <a:xfrm>
            <a:off x="7625804" y="2065139"/>
            <a:ext cx="3661023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tx2"/>
                </a:solidFill>
                <a:latin typeface="+mn-lt"/>
                <a:ea typeface="+mn-ea"/>
              </a:rPr>
              <a:t>CAC · ₩ thousands</a:t>
            </a:r>
          </a:p>
        </p:txBody>
      </p:sp>
      <p:sp>
        <p:nvSpPr>
          <p:cNvPr id="7" name="shape s3.2.1.0.1" descr="CAC by channel — search 12.0, referral 3.2, social 9.4, partners 7.1, display ads 21.5 (thousands of won)"/>
          <p:cNvSpPr/>
          <p:nvPr/>
        </p:nvSpPr>
        <p:spPr>
          <a:xfrm>
            <a:off x="7625804" y="2436614"/>
            <a:ext cx="3661023" cy="304785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text s3.2.1.0.1.0.0.0.0.1"/>
          <p:cNvSpPr txBox="1"/>
          <p:nvPr/>
        </p:nvSpPr>
        <p:spPr>
          <a:xfrm>
            <a:off x="7625804" y="3715941"/>
            <a:ext cx="732086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12.0</a:t>
            </a:r>
          </a:p>
        </p:txBody>
      </p:sp>
      <p:sp>
        <p:nvSpPr>
          <p:cNvPr id="9" name="shape s3.2.1.0.1.0.0.0.0.2"/>
          <p:cNvSpPr/>
          <p:nvPr/>
        </p:nvSpPr>
        <p:spPr>
          <a:xfrm>
            <a:off x="7735639" y="4013002"/>
            <a:ext cx="512415" cy="12220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0" name="shape s3.2.1.0.1.0.0.0.1"/>
          <p:cNvSpPr/>
          <p:nvPr/>
        </p:nvSpPr>
        <p:spPr>
          <a:xfrm>
            <a:off x="7625804" y="5235029"/>
            <a:ext cx="732086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1" name="text s3.2.1.0.1.0.0.1.0.1"/>
          <p:cNvSpPr txBox="1"/>
          <p:nvPr/>
        </p:nvSpPr>
        <p:spPr>
          <a:xfrm>
            <a:off x="8357890" y="461218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3.2</a:t>
            </a:r>
          </a:p>
        </p:txBody>
      </p:sp>
      <p:sp>
        <p:nvSpPr>
          <p:cNvPr id="12" name="shape s3.2.1.0.1.0.0.1.0.2"/>
          <p:cNvSpPr/>
          <p:nvPr/>
        </p:nvSpPr>
        <p:spPr>
          <a:xfrm>
            <a:off x="8467725" y="4909245"/>
            <a:ext cx="512564" cy="32578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3" name="shape s3.2.1.0.1.0.0.1.1"/>
          <p:cNvSpPr/>
          <p:nvPr/>
        </p:nvSpPr>
        <p:spPr>
          <a:xfrm>
            <a:off x="8357890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4" name="text s3.2.1.0.1.0.0.2.0.1"/>
          <p:cNvSpPr txBox="1"/>
          <p:nvPr/>
        </p:nvSpPr>
        <p:spPr>
          <a:xfrm>
            <a:off x="9090124" y="3980557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9.4</a:t>
            </a:r>
          </a:p>
        </p:txBody>
      </p:sp>
      <p:sp>
        <p:nvSpPr>
          <p:cNvPr id="15" name="shape s3.2.1.0.1.0.0.2.0.2"/>
          <p:cNvSpPr/>
          <p:nvPr/>
        </p:nvSpPr>
        <p:spPr>
          <a:xfrm>
            <a:off x="9199959" y="4277618"/>
            <a:ext cx="512564" cy="95741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6" name="shape s3.2.1.0.1.0.0.2.1"/>
          <p:cNvSpPr/>
          <p:nvPr/>
        </p:nvSpPr>
        <p:spPr>
          <a:xfrm>
            <a:off x="9090124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7" name="text s3.2.1.0.1.0.0.3.0.1"/>
          <p:cNvSpPr txBox="1"/>
          <p:nvPr/>
        </p:nvSpPr>
        <p:spPr>
          <a:xfrm>
            <a:off x="9822359" y="4215110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7.1</a:t>
            </a:r>
          </a:p>
        </p:txBody>
      </p:sp>
      <p:sp>
        <p:nvSpPr>
          <p:cNvPr id="18" name="shape s3.2.1.0.1.0.0.3.0.2"/>
          <p:cNvSpPr/>
          <p:nvPr/>
        </p:nvSpPr>
        <p:spPr>
          <a:xfrm>
            <a:off x="9932194" y="4512171"/>
            <a:ext cx="512564" cy="7228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9" name="shape s3.2.1.0.1.0.0.3.1"/>
          <p:cNvSpPr/>
          <p:nvPr/>
        </p:nvSpPr>
        <p:spPr>
          <a:xfrm>
            <a:off x="9822359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0" name="text s3.2.1.0.1.0.0.4.0.1"/>
          <p:cNvSpPr txBox="1"/>
          <p:nvPr/>
        </p:nvSpPr>
        <p:spPr>
          <a:xfrm>
            <a:off x="10554593" y="2748409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5"/>
                </a:solidFill>
                <a:latin typeface="+mn-lt"/>
                <a:ea typeface="+mn-ea"/>
              </a:rPr>
              <a:t>21.5</a:t>
            </a:r>
          </a:p>
        </p:txBody>
      </p:sp>
      <p:sp>
        <p:nvSpPr>
          <p:cNvPr id="21" name="shape s3.2.1.0.1.0.0.4.0.2"/>
          <p:cNvSpPr/>
          <p:nvPr/>
        </p:nvSpPr>
        <p:spPr>
          <a:xfrm>
            <a:off x="10664428" y="3045470"/>
            <a:ext cx="512564" cy="218955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2" name="shape s3.2.1.0.1.0.0.4.1"/>
          <p:cNvSpPr/>
          <p:nvPr/>
        </p:nvSpPr>
        <p:spPr>
          <a:xfrm>
            <a:off x="10554593" y="5235029"/>
            <a:ext cx="732234" cy="95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23" name="text s3.2.1.0.1.0.1.0"/>
          <p:cNvSpPr txBox="1"/>
          <p:nvPr/>
        </p:nvSpPr>
        <p:spPr>
          <a:xfrm>
            <a:off x="7625804" y="5244554"/>
            <a:ext cx="732086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Search</a:t>
            </a:r>
          </a:p>
        </p:txBody>
      </p:sp>
      <p:sp>
        <p:nvSpPr>
          <p:cNvPr id="24" name="text s3.2.1.0.1.0.1.1"/>
          <p:cNvSpPr txBox="1"/>
          <p:nvPr/>
        </p:nvSpPr>
        <p:spPr>
          <a:xfrm>
            <a:off x="8357890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3"/>
                </a:solidFill>
                <a:latin typeface="+mn-lt"/>
                <a:ea typeface="+mn-ea"/>
              </a:rPr>
              <a:t>Referral</a:t>
            </a:r>
          </a:p>
        </p:txBody>
      </p:sp>
      <p:sp>
        <p:nvSpPr>
          <p:cNvPr id="25" name="text s3.2.1.0.1.0.1.2"/>
          <p:cNvSpPr txBox="1"/>
          <p:nvPr/>
        </p:nvSpPr>
        <p:spPr>
          <a:xfrm>
            <a:off x="9090124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Social</a:t>
            </a:r>
          </a:p>
        </p:txBody>
      </p:sp>
      <p:sp>
        <p:nvSpPr>
          <p:cNvPr id="26" name="text s3.2.1.0.1.0.1.3"/>
          <p:cNvSpPr txBox="1"/>
          <p:nvPr/>
        </p:nvSpPr>
        <p:spPr>
          <a:xfrm>
            <a:off x="9822359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Partners</a:t>
            </a:r>
          </a:p>
        </p:txBody>
      </p:sp>
      <p:sp>
        <p:nvSpPr>
          <p:cNvPr id="27" name="text s3.2.1.0.1.0.1.4"/>
          <p:cNvSpPr txBox="1"/>
          <p:nvPr/>
        </p:nvSpPr>
        <p:spPr>
          <a:xfrm>
            <a:off x="10554593" y="5244554"/>
            <a:ext cx="732234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accent5"/>
                </a:solidFill>
                <a:latin typeface="+mn-lt"/>
                <a:ea typeface="+mn-ea"/>
              </a:rPr>
              <a:t>Display</a:t>
            </a:r>
          </a:p>
        </p:txBody>
      </p:sp>
      <p:sp>
        <p:nvSpPr>
          <p:cNvPr id="28" name="text s3.3"/>
          <p:cNvSpPr txBox="1"/>
          <p:nvPr/>
        </p:nvSpPr>
        <p:spPr>
          <a:xfrm>
            <a:off x="609600" y="6008489"/>
            <a:ext cx="1097280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CAC = channel spend ÷ new users. Conversion and CAC in the total row are weighted averages.</a:t>
            </a:r>
          </a:p>
        </p:txBody>
      </p:sp>
      <p:sp>
        <p:nvSpPr>
          <p:cNvPr id="29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30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4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00" decel="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4.0"/>
          <p:cNvSpPr txBox="1"/>
          <p:nvPr/>
        </p:nvSpPr>
        <p:spPr>
          <a:xfrm>
            <a:off x="609600" y="609600"/>
            <a:ext cx="10972800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03 · Biggest lesson</a:t>
            </a:r>
          </a:p>
        </p:txBody>
      </p:sp>
      <p:sp>
        <p:nvSpPr>
          <p:cNvPr id="3" name="shape s4.1.0"/>
          <p:cNvSpPr/>
          <p:nvPr/>
        </p:nvSpPr>
        <p:spPr>
          <a:xfrm>
            <a:off x="609600" y="1095375"/>
            <a:ext cx="10972800" cy="3830687"/>
          </a:xfrm>
          <a:prstGeom prst="roundRect">
            <a:avLst>
              <a:gd name="adj" fmla="val 5968"/>
            </a:avLst>
          </a:prstGeom>
          <a:gradFill>
            <a:gsLst>
              <a:gs pos="0">
                <a:schemeClr val="accent1"/>
              </a:gs>
              <a:gs pos="100000">
                <a:schemeClr val="accent6"/>
              </a:gs>
            </a:gsLst>
            <a:lin ang="1800000" scaled="1"/>
          </a:gradFill>
          <a:ln>
            <a:noFill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4" name="shape s4.1.1"/>
          <p:cNvSpPr/>
          <p:nvPr/>
        </p:nvSpPr>
        <p:spPr>
          <a:xfrm>
            <a:off x="609600" y="1095375"/>
            <a:ext cx="10972800" cy="3830687"/>
          </a:xfrm>
          <a:prstGeom prst="roundRect">
            <a:avLst>
              <a:gd name="adj" fmla="val 5968"/>
            </a:avLst>
          </a:prstGeom>
          <a:gradFill>
            <a:gsLst>
              <a:gs pos="0">
                <a:schemeClr val="bg1"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5" name="text s4.1.2.0"/>
          <p:cNvSpPr txBox="1"/>
          <p:nvPr/>
        </p:nvSpPr>
        <p:spPr>
          <a:xfrm>
            <a:off x="2825800" y="2437358"/>
            <a:ext cx="6540252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5400"/>
              </a:lnSpc>
            </a:pPr>
            <a:r>
              <a:rPr sz="4500" b="1">
                <a:solidFill>
                  <a:schemeClr val="bg1"/>
                </a:solidFill>
                <a:latin typeface="+mj-lt"/>
                <a:ea typeface="+mj-ea"/>
              </a:rPr>
              <a:t>Referrals cut CAC by 4x</a:t>
            </a:r>
          </a:p>
        </p:txBody>
      </p:sp>
      <p:sp>
        <p:nvSpPr>
          <p:cNvPr id="6" name="text s4.1.2.1"/>
          <p:cNvSpPr txBox="1"/>
          <p:nvPr/>
        </p:nvSpPr>
        <p:spPr>
          <a:xfrm>
            <a:off x="2825800" y="3237458"/>
            <a:ext cx="6540252" cy="346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bg1"/>
                </a:solidFill>
                <a:latin typeface="+mj-lt"/>
                <a:ea typeface="+mj-ea"/>
              </a:rPr>
              <a:t>The same budget brings in four times the users</a:t>
            </a:r>
          </a:p>
        </p:txBody>
      </p:sp>
      <p:sp>
        <p:nvSpPr>
          <p:cNvPr id="7" name="shape s4.1.3"/>
          <p:cNvSpPr/>
          <p:nvPr/>
        </p:nvSpPr>
        <p:spPr>
          <a:xfrm>
            <a:off x="10210800" y="1323975"/>
            <a:ext cx="1143000" cy="4191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txBody>
          <a:bodyPr wrap="square" lIns="57150" tIns="57150" rIns="57150" bIns="57150" anchor="ctr">
            <a:normAutofit/>
          </a:bodyPr>
          <a:lstStyle/>
          <a:p>
            <a:pPr algn="ctr">
              <a:lnSpc>
                <a:spcPts val="1890"/>
              </a:lnSpc>
            </a:pPr>
            <a:r>
              <a:rPr sz="1350" b="1" i="0" u="none">
                <a:solidFill>
                  <a:schemeClr val="accent1"/>
                </a:solidFill>
                <a:latin typeface="+mn-lt"/>
                <a:ea typeface="+mn-ea"/>
              </a:rPr>
              <a:t>NEW</a:t>
            </a:r>
          </a:p>
        </p:txBody>
      </p:sp>
      <p:sp>
        <p:nvSpPr>
          <p:cNvPr id="8" name="shape s4.2.0"/>
          <p:cNvSpPr/>
          <p:nvPr/>
        </p:nvSpPr>
        <p:spPr>
          <a:xfrm>
            <a:off x="609600" y="5154662"/>
            <a:ext cx="4000500" cy="1093738"/>
          </a:xfrm>
          <a:prstGeom prst="roundRect">
            <a:avLst>
              <a:gd name="adj" fmla="val 209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9" name="text s4.2.0.0.0"/>
          <p:cNvSpPr txBox="1"/>
          <p:nvPr/>
        </p:nvSpPr>
        <p:spPr>
          <a:xfrm>
            <a:off x="905024" y="5530007"/>
            <a:ext cx="121354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Search CAC</a:t>
            </a:r>
          </a:p>
        </p:txBody>
      </p:sp>
      <p:sp>
        <p:nvSpPr>
          <p:cNvPr id="10" name="text s4.2.0.0.1"/>
          <p:cNvSpPr txBox="1"/>
          <p:nvPr/>
        </p:nvSpPr>
        <p:spPr>
          <a:xfrm>
            <a:off x="2687687" y="5450086"/>
            <a:ext cx="1626989" cy="50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tx2"/>
                </a:solidFill>
                <a:latin typeface="+mj-lt"/>
                <a:ea typeface="+mj-ea"/>
              </a:rPr>
              <a:t>₩12,000</a:t>
            </a:r>
          </a:p>
        </p:txBody>
      </p:sp>
      <p:sp>
        <p:nvSpPr>
          <p:cNvPr id="11" name="shape s4.2.2"/>
          <p:cNvSpPr/>
          <p:nvPr/>
        </p:nvSpPr>
        <p:spPr>
          <a:xfrm>
            <a:off x="7581900" y="5154662"/>
            <a:ext cx="4000500" cy="1093738"/>
          </a:xfrm>
          <a:prstGeom prst="roundRect">
            <a:avLst>
              <a:gd name="adj" fmla="val 20901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228600" tIns="228600" rIns="228600" bIns="228600" anchor="t">
            <a:normAutofit/>
          </a:bodyPr>
          <a:lstStyle/>
          <a:p/>
        </p:txBody>
      </p:sp>
      <p:sp>
        <p:nvSpPr>
          <p:cNvPr id="12" name="text s4.2.2.0.0"/>
          <p:cNvSpPr txBox="1"/>
          <p:nvPr/>
        </p:nvSpPr>
        <p:spPr>
          <a:xfrm>
            <a:off x="7877324" y="5530007"/>
            <a:ext cx="134019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Referral CAC</a:t>
            </a:r>
          </a:p>
        </p:txBody>
      </p:sp>
      <p:sp>
        <p:nvSpPr>
          <p:cNvPr id="13" name="text s4.2.2.0.1"/>
          <p:cNvSpPr txBox="1"/>
          <p:nvPr/>
        </p:nvSpPr>
        <p:spPr>
          <a:xfrm>
            <a:off x="9899749" y="5450086"/>
            <a:ext cx="1387227" cy="50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960"/>
              </a:lnSpc>
            </a:pPr>
            <a:r>
              <a:rPr sz="3300" b="1">
                <a:solidFill>
                  <a:schemeClr val="accent3"/>
                </a:solidFill>
                <a:latin typeface="+mj-lt"/>
                <a:ea typeface="+mj-ea"/>
              </a:rPr>
              <a:t>₩3,200</a:t>
            </a:r>
          </a:p>
        </p:txBody>
      </p:sp>
      <p:cxnSp>
        <p:nvCxnSpPr>
          <p:cNvPr id="14" name="connector s4.3"/>
          <p:cNvCxnSpPr>
            <a:stCxn id="8" idx="3"/>
            <a:endCxn id="11" idx="1"/>
          </p:cNvCxnSpPr>
          <p:nvPr/>
        </p:nvCxnSpPr>
        <p:spPr>
          <a:xfrm>
            <a:off x="4610100" y="5701531"/>
            <a:ext cx="297180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solid"/>
            <a:headEnd type="none"/>
            <a:tailEnd type="triangle" w="lg" len="lg"/>
          </a:ln>
        </p:spPr>
      </p:cxnSp>
      <p:sp>
        <p:nvSpPr>
          <p:cNvPr id="15" name="connector-label s4.3"/>
          <p:cNvSpPr txBox="1"/>
          <p:nvPr/>
        </p:nvSpPr>
        <p:spPr>
          <a:xfrm>
            <a:off x="5854526" y="5404470"/>
            <a:ext cx="482947" cy="239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÷ 3.75</a:t>
            </a:r>
          </a:p>
        </p:txBody>
      </p:sp>
      <p:sp>
        <p:nvSpPr>
          <p:cNvPr id="16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17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5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fer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5.0"/>
          <p:cNvSpPr txBox="1"/>
          <p:nvPr>
            <p:ph type="title"/>
          </p:nvPr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Referrals start on a friend's screen</a:t>
            </a:r>
          </a:p>
        </p:txBody>
      </p:sp>
      <p:pic>
        <p:nvPicPr>
          <p:cNvPr id="3" name="image s5.1" descr="Two people laughing together over a phone screen in a café"/>
          <p:cNvPicPr/>
          <p:nvPr>
            <p:ph type="pic" idx="1"/>
          </p:nvPr>
        </p:nvPicPr>
        <p:blipFill>
          <a:blip r:embed="rId3"/>
          <a:srcRect t="7518" b="7518"/>
          <a:stretch>
            <a:fillRect/>
          </a:stretch>
        </p:blipFill>
        <p:spPr>
          <a:xfrm>
            <a:off x="609600" y="1861096"/>
            <a:ext cx="5372100" cy="3810000"/>
          </a:xfrm>
          <a:prstGeom prst="roundRect">
            <a:avLst>
              <a:gd name="adj" fmla="val 3000"/>
            </a:avLst>
          </a:prstGeom>
          <a:ln w="9525">
            <a:solidFill>
              <a:schemeClr val="tx2"/>
            </a:solidFill>
            <a:prstDash val="solid"/>
          </a:ln>
          <a:effectLst>
            <a:outerShdw blurRad="152400" dist="38100" dir="5400000" rotWithShape="1">
              <a:schemeClr val="tx1">
                <a:alpha val="15000"/>
              </a:schemeClr>
            </a:outerShdw>
          </a:effectLst>
        </p:spPr>
      </p:pic>
      <p:sp>
        <p:nvSpPr>
          <p:cNvPr id="4" name="text s5.2.0.0"/>
          <p:cNvSpPr txBox="1"/>
          <p:nvPr/>
        </p:nvSpPr>
        <p:spPr>
          <a:xfrm>
            <a:off x="6210300" y="2531864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1"/>
                </a:solidFill>
                <a:latin typeface="+mj-lt"/>
                <a:ea typeface="+mj-ea"/>
              </a:rPr>
              <a:t>38%</a:t>
            </a:r>
          </a:p>
        </p:txBody>
      </p:sp>
      <p:sp>
        <p:nvSpPr>
          <p:cNvPr id="5" name="text s5.2.0.1.0"/>
          <p:cNvSpPr txBox="1"/>
          <p:nvPr/>
        </p:nvSpPr>
        <p:spPr>
          <a:xfrm>
            <a:off x="7867650" y="2560439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Open the invite link</a:t>
            </a:r>
          </a:p>
        </p:txBody>
      </p:sp>
      <p:sp>
        <p:nvSpPr>
          <p:cNvPr id="6" name="text s5.2.0.1.1"/>
          <p:cNvSpPr txBox="1"/>
          <p:nvPr/>
        </p:nvSpPr>
        <p:spPr>
          <a:xfrm>
            <a:off x="7867650" y="2857500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380 of every 1,000 shared links</a:t>
            </a:r>
          </a:p>
        </p:txBody>
      </p:sp>
      <p:sp>
        <p:nvSpPr>
          <p:cNvPr id="7" name="text s5.2.1.0"/>
          <p:cNvSpPr txBox="1"/>
          <p:nvPr/>
        </p:nvSpPr>
        <p:spPr>
          <a:xfrm>
            <a:off x="6210300" y="3469035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1"/>
                </a:solidFill>
                <a:latin typeface="+mj-lt"/>
                <a:ea typeface="+mj-ea"/>
              </a:rPr>
              <a:t>21%</a:t>
            </a:r>
          </a:p>
        </p:txBody>
      </p:sp>
      <p:sp>
        <p:nvSpPr>
          <p:cNvPr id="8" name="text s5.2.1.1.0"/>
          <p:cNvSpPr txBox="1"/>
          <p:nvPr/>
        </p:nvSpPr>
        <p:spPr>
          <a:xfrm>
            <a:off x="7867650" y="3497610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Sign up</a:t>
            </a:r>
          </a:p>
        </p:txBody>
      </p:sp>
      <p:sp>
        <p:nvSpPr>
          <p:cNvPr id="9" name="text s5.2.1.1.1"/>
          <p:cNvSpPr txBox="1"/>
          <p:nvPr/>
        </p:nvSpPr>
        <p:spPr>
          <a:xfrm>
            <a:off x="7867650" y="3794671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One in five who open — 3x search</a:t>
            </a:r>
          </a:p>
        </p:txBody>
      </p:sp>
      <p:sp>
        <p:nvSpPr>
          <p:cNvPr id="10" name="text s5.2.2.0"/>
          <p:cNvSpPr txBox="1"/>
          <p:nvPr/>
        </p:nvSpPr>
        <p:spPr>
          <a:xfrm>
            <a:off x="6210300" y="4406205"/>
            <a:ext cx="1428750" cy="59427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4680"/>
              </a:lnSpc>
            </a:pPr>
            <a:r>
              <a:rPr sz="3900" b="1">
                <a:solidFill>
                  <a:schemeClr val="accent3"/>
                </a:solidFill>
                <a:latin typeface="+mj-lt"/>
                <a:ea typeface="+mj-ea"/>
              </a:rPr>
              <a:t>7.8%</a:t>
            </a:r>
          </a:p>
        </p:txBody>
      </p:sp>
      <p:sp>
        <p:nvSpPr>
          <p:cNvPr id="11" name="text s5.2.2.1.0"/>
          <p:cNvSpPr txBox="1"/>
          <p:nvPr/>
        </p:nvSpPr>
        <p:spPr>
          <a:xfrm>
            <a:off x="7867650" y="4434780"/>
            <a:ext cx="3714750" cy="29706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340"/>
              </a:lnSpc>
            </a:pPr>
            <a:r>
              <a:rPr sz="1800" b="1">
                <a:solidFill>
                  <a:schemeClr val="tx1"/>
                </a:solidFill>
                <a:latin typeface="+mj-lt"/>
                <a:ea typeface="+mj-ea"/>
              </a:rPr>
              <a:t>Make a first payment</a:t>
            </a:r>
          </a:p>
        </p:txBody>
      </p:sp>
      <p:sp>
        <p:nvSpPr>
          <p:cNvPr id="12" name="text s5.2.2.1.1"/>
          <p:cNvSpPr txBox="1"/>
          <p:nvPr/>
        </p:nvSpPr>
        <p:spPr>
          <a:xfrm>
            <a:off x="7867650" y="4731841"/>
            <a:ext cx="3714750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Highest conversion of any channel</a:t>
            </a:r>
          </a:p>
        </p:txBody>
      </p:sp>
      <p:sp>
        <p:nvSpPr>
          <p:cNvPr id="13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14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6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2 s6.0"/>
          <p:cNvSpPr txBox="1"/>
          <p:nvPr>
            <p:ph type="title"/>
          </p:nvPr>
        </p:nvSpPr>
        <p:spPr>
          <a:xfrm>
            <a:off x="609600" y="609600"/>
            <a:ext cx="10972800" cy="4457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510"/>
              </a:lnSpc>
            </a:pPr>
            <a:r>
              <a:rPr sz="2700" b="1">
                <a:solidFill>
                  <a:schemeClr val="tx1"/>
                </a:solidFill>
                <a:latin typeface="+mj-lt"/>
                <a:ea typeface="+mj-ea"/>
              </a:rPr>
              <a:t>Q4 targets and the investment they need</a:t>
            </a:r>
          </a:p>
        </p:txBody>
      </p:sp>
      <p:sp>
        <p:nvSpPr>
          <p:cNvPr id="3" name="shape s6.1.0"/>
          <p:cNvSpPr/>
          <p:nvPr/>
        </p:nvSpPr>
        <p:spPr>
          <a:xfrm>
            <a:off x="6096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4" name="text s6.1.0.0.0"/>
          <p:cNvSpPr txBox="1"/>
          <p:nvPr/>
        </p:nvSpPr>
        <p:spPr>
          <a:xfrm>
            <a:off x="1019324" y="1693664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Targets</a:t>
            </a:r>
          </a:p>
        </p:txBody>
      </p:sp>
      <p:sp>
        <p:nvSpPr>
          <p:cNvPr id="5" name="text s6.1.0.0.1.0.0"/>
          <p:cNvSpPr txBox="1"/>
          <p:nvPr/>
        </p:nvSpPr>
        <p:spPr>
          <a:xfrm>
            <a:off x="1019324" y="2505224"/>
            <a:ext cx="221337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Monthly active users</a:t>
            </a:r>
          </a:p>
        </p:txBody>
      </p:sp>
      <p:sp>
        <p:nvSpPr>
          <p:cNvPr id="6" name="text s6.1.0.0.1.0.1"/>
          <p:cNvSpPr txBox="1"/>
          <p:nvPr/>
        </p:nvSpPr>
        <p:spPr>
          <a:xfrm>
            <a:off x="4668143" y="2390924"/>
            <a:ext cx="903833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1"/>
                </a:solidFill>
                <a:latin typeface="+mj-lt"/>
                <a:ea typeface="+mj-ea"/>
              </a:rPr>
              <a:t>3.4M</a:t>
            </a:r>
          </a:p>
        </p:txBody>
      </p:sp>
      <p:sp>
        <p:nvSpPr>
          <p:cNvPr id="7" name="shape s6.1.0.0.1.1.0"/>
          <p:cNvSpPr/>
          <p:nvPr/>
        </p:nvSpPr>
        <p:spPr>
          <a:xfrm>
            <a:off x="1019324" y="2905274"/>
            <a:ext cx="3883075" cy="952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8" name="shape s6.1.0.0.1.1.1"/>
          <p:cNvSpPr/>
          <p:nvPr/>
        </p:nvSpPr>
        <p:spPr>
          <a:xfrm>
            <a:off x="4902398" y="2905274"/>
            <a:ext cx="669578" cy="95250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9" name="text s6.1.0.0.1.2"/>
          <p:cNvSpPr txBox="1"/>
          <p:nvPr/>
        </p:nvSpPr>
        <p:spPr>
          <a:xfrm>
            <a:off x="1019324" y="305767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2.9M · 85% of the way</a:t>
            </a:r>
          </a:p>
        </p:txBody>
      </p:sp>
      <p:sp>
        <p:nvSpPr>
          <p:cNvPr id="10" name="text s6.1.0.0.2.0.0"/>
          <p:cNvSpPr txBox="1"/>
          <p:nvPr/>
        </p:nvSpPr>
        <p:spPr>
          <a:xfrm>
            <a:off x="1019324" y="3851970"/>
            <a:ext cx="195411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Quarterly revenue</a:t>
            </a:r>
          </a:p>
        </p:txBody>
      </p:sp>
      <p:sp>
        <p:nvSpPr>
          <p:cNvPr id="11" name="text s6.1.0.0.2.0.1"/>
          <p:cNvSpPr txBox="1"/>
          <p:nvPr/>
        </p:nvSpPr>
        <p:spPr>
          <a:xfrm>
            <a:off x="4490591" y="3737670"/>
            <a:ext cx="10813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2"/>
                </a:solidFill>
                <a:latin typeface="+mj-lt"/>
                <a:ea typeface="+mj-ea"/>
              </a:rPr>
              <a:t>₩1.4B</a:t>
            </a:r>
          </a:p>
        </p:txBody>
      </p:sp>
      <p:sp>
        <p:nvSpPr>
          <p:cNvPr id="12" name="shape s6.1.0.0.2.1.0"/>
          <p:cNvSpPr/>
          <p:nvPr/>
        </p:nvSpPr>
        <p:spPr>
          <a:xfrm>
            <a:off x="1019324" y="4252020"/>
            <a:ext cx="3902273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3" name="shape s6.1.0.0.2.1.1"/>
          <p:cNvSpPr/>
          <p:nvPr/>
        </p:nvSpPr>
        <p:spPr>
          <a:xfrm>
            <a:off x="4921597" y="4252020"/>
            <a:ext cx="650379" cy="95250"/>
          </a:xfrm>
          <a:prstGeom prst="rect">
            <a:avLst/>
          </a:prstGeom>
          <a:solidFill>
            <a:schemeClr val="tx2">
              <a:alpha val="30000"/>
            </a:schemeClr>
          </a:solidFill>
          <a:ln>
            <a:noFill/>
          </a:ln>
        </p:spPr>
        <p:txBody>
          <a:bodyPr wrap="square" lIns="0" tIns="0" rIns="0" bIns="0" anchor="t">
            <a:normAutofit/>
          </a:bodyPr>
          <a:lstStyle/>
          <a:p/>
        </p:txBody>
      </p:sp>
      <p:sp>
        <p:nvSpPr>
          <p:cNvPr id="14" name="text s6.1.0.0.2.2"/>
          <p:cNvSpPr txBox="1"/>
          <p:nvPr/>
        </p:nvSpPr>
        <p:spPr>
          <a:xfrm>
            <a:off x="1019324" y="4404420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₩1.2B · 86% of the way</a:t>
            </a:r>
          </a:p>
        </p:txBody>
      </p:sp>
      <p:sp>
        <p:nvSpPr>
          <p:cNvPr id="15" name="text s6.1.0.0.3.0.0"/>
          <p:cNvSpPr txBox="1"/>
          <p:nvPr/>
        </p:nvSpPr>
        <p:spPr>
          <a:xfrm>
            <a:off x="1019324" y="5198715"/>
            <a:ext cx="136877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Average CAC</a:t>
            </a:r>
          </a:p>
        </p:txBody>
      </p:sp>
      <p:sp>
        <p:nvSpPr>
          <p:cNvPr id="16" name="text s6.1.0.0.3.0.1"/>
          <p:cNvSpPr txBox="1"/>
          <p:nvPr/>
        </p:nvSpPr>
        <p:spPr>
          <a:xfrm>
            <a:off x="4310807" y="5084415"/>
            <a:ext cx="126117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ts val="3600"/>
              </a:lnSpc>
            </a:pPr>
            <a:r>
              <a:rPr sz="3000" b="1">
                <a:solidFill>
                  <a:schemeClr val="accent3"/>
                </a:solidFill>
                <a:latin typeface="+mj-lt"/>
                <a:ea typeface="+mj-ea"/>
              </a:rPr>
              <a:t>₩7,000</a:t>
            </a:r>
          </a:p>
        </p:txBody>
      </p:sp>
      <p:sp>
        <p:nvSpPr>
          <p:cNvPr id="17" name="text s6.1.0.0.3.1"/>
          <p:cNvSpPr txBox="1"/>
          <p:nvPr/>
        </p:nvSpPr>
        <p:spPr>
          <a:xfrm>
            <a:off x="1019324" y="5598765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Q3 ₩8,900 → −21% · falls as referral share grows</a:t>
            </a:r>
          </a:p>
        </p:txBody>
      </p:sp>
      <p:sp>
        <p:nvSpPr>
          <p:cNvPr id="18" name="shape s6.2.0"/>
          <p:cNvSpPr/>
          <p:nvPr/>
        </p:nvSpPr>
        <p:spPr>
          <a:xfrm>
            <a:off x="6210300" y="1283940"/>
            <a:ext cx="5372100" cy="4964460"/>
          </a:xfrm>
          <a:prstGeom prst="roundRect">
            <a:avLst>
              <a:gd name="adj" fmla="val 4605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  <p:txBody>
          <a:bodyPr wrap="square" lIns="342900" tIns="342900" rIns="342900" bIns="342900" anchor="t">
            <a:normAutofit/>
          </a:bodyPr>
          <a:lstStyle/>
          <a:p/>
        </p:txBody>
      </p:sp>
      <p:sp>
        <p:nvSpPr>
          <p:cNvPr id="19" name="text s6.2.0.0.0"/>
          <p:cNvSpPr txBox="1"/>
          <p:nvPr/>
        </p:nvSpPr>
        <p:spPr>
          <a:xfrm>
            <a:off x="6620024" y="1693664"/>
            <a:ext cx="4552652" cy="2571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025"/>
              </a:lnSpc>
            </a:pPr>
            <a:r>
              <a:rPr sz="1350" b="1" spc="135" cap="all">
                <a:solidFill>
                  <a:schemeClr val="accent1"/>
                </a:solidFill>
                <a:latin typeface="+mn-lt"/>
                <a:ea typeface="+mn-ea"/>
              </a:rPr>
              <a:t>Investment</a:t>
            </a:r>
          </a:p>
        </p:txBody>
      </p:sp>
      <p:sp>
        <p:nvSpPr>
          <p:cNvPr id="20" name="text s6.2.0.0.1.0"/>
          <p:cNvSpPr txBox="1"/>
          <p:nvPr/>
        </p:nvSpPr>
        <p:spPr>
          <a:xfrm>
            <a:off x="6620024" y="2370534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Double the referral rewards</a:t>
            </a:r>
          </a:p>
        </p:txBody>
      </p:sp>
      <p:sp>
        <p:nvSpPr>
          <p:cNvPr id="21" name="text s6.2.0.0.1.1"/>
          <p:cNvSpPr txBox="1"/>
          <p:nvPr/>
        </p:nvSpPr>
        <p:spPr>
          <a:xfrm>
            <a:off x="6620024" y="2692450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Moved from the display ad budget</a:t>
            </a:r>
          </a:p>
        </p:txBody>
      </p:sp>
      <p:sp>
        <p:nvSpPr>
          <p:cNvPr id="22" name="text s6.2.0.0.2.0"/>
          <p:cNvSpPr txBox="1"/>
          <p:nvPr/>
        </p:nvSpPr>
        <p:spPr>
          <a:xfrm>
            <a:off x="6620024" y="3351907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Onboarding fixes · 2 engineers</a:t>
            </a:r>
          </a:p>
        </p:txBody>
      </p:sp>
      <p:sp>
        <p:nvSpPr>
          <p:cNvPr id="23" name="text s6.2.0.0.2.1"/>
          <p:cNvSpPr txBox="1"/>
          <p:nvPr/>
        </p:nvSpPr>
        <p:spPr>
          <a:xfrm>
            <a:off x="6620024" y="3673822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First-week churn 31% → 24%</a:t>
            </a:r>
          </a:p>
        </p:txBody>
      </p:sp>
      <p:sp>
        <p:nvSpPr>
          <p:cNvPr id="24" name="text s6.2.0.0.3.0"/>
          <p:cNvSpPr txBox="1"/>
          <p:nvPr/>
        </p:nvSpPr>
        <p:spPr>
          <a:xfrm>
            <a:off x="6620024" y="4333429"/>
            <a:ext cx="4552652" cy="3219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535"/>
              </a:lnSpc>
            </a:pPr>
            <a:r>
              <a:rPr sz="1950" b="1">
                <a:solidFill>
                  <a:schemeClr val="tx1"/>
                </a:solidFill>
                <a:latin typeface="+mj-lt"/>
                <a:ea typeface="+mj-ea"/>
              </a:rPr>
              <a:t>Fix referral attribution</a:t>
            </a:r>
          </a:p>
        </p:txBody>
      </p:sp>
      <p:sp>
        <p:nvSpPr>
          <p:cNvPr id="25" name="text s6.2.0.0.3.1"/>
          <p:cNvSpPr txBox="1"/>
          <p:nvPr/>
        </p:nvSpPr>
        <p:spPr>
          <a:xfrm>
            <a:off x="6620024" y="4655344"/>
            <a:ext cx="4552652" cy="239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18% of link sign-ups go uncounted</a:t>
            </a:r>
          </a:p>
        </p:txBody>
      </p:sp>
      <p:sp>
        <p:nvSpPr>
          <p:cNvPr id="26" name="shape s6.2.0.0.4"/>
          <p:cNvSpPr/>
          <p:nvPr/>
        </p:nvSpPr>
        <p:spPr>
          <a:xfrm>
            <a:off x="6620024" y="5314801"/>
            <a:ext cx="4552652" cy="523875"/>
          </a:xfrm>
          <a:prstGeom prst="roundRect">
            <a:avLst>
              <a:gd name="adj" fmla="val 21818"/>
            </a:avLst>
          </a:prstGeom>
          <a:solidFill>
            <a:schemeClr val="accent3">
              <a:alpha val="14000"/>
            </a:schemeClr>
          </a:solidFill>
          <a:ln w="9525">
            <a:solidFill>
              <a:schemeClr val="accent3"/>
            </a:solidFill>
            <a:prstDash val="solid"/>
          </a:ln>
        </p:spPr>
        <p:txBody>
          <a:bodyPr wrap="square" lIns="228600" tIns="57150" rIns="228600" bIns="57150" anchor="t">
            <a:norm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chemeClr val="accent3"/>
                </a:solidFill>
                <a:latin typeface="+mn-lt"/>
                <a:ea typeface="+mn-ea"/>
              </a:rPr>
              <a:t>No new budget — reallocation only</a:t>
            </a:r>
          </a:p>
        </p:txBody>
      </p:sp>
      <p:sp>
        <p:nvSpPr>
          <p:cNvPr id="27" name="chrome footer"/>
          <p:cNvSpPr txBox="1"/>
          <p:nvPr/>
        </p:nvSpPr>
        <p:spPr>
          <a:xfrm>
            <a:off x="609600" y="6248400"/>
            <a:ext cx="1880146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90"/>
              </a:lnSpc>
            </a:pPr>
            <a:r>
              <a:rPr sz="1350" b="0">
                <a:solidFill>
                  <a:schemeClr val="tx2"/>
                </a:solidFill>
                <a:latin typeface="+mn-lt"/>
                <a:ea typeface="+mn-ea"/>
              </a:rPr>
              <a:t>Growth Team · 2026 Q3</a:t>
            </a:r>
          </a:p>
        </p:txBody>
      </p:sp>
      <p:sp>
        <p:nvSpPr>
          <p:cNvPr id="28" name="chrome pageNumber"/>
          <p:cNvSpPr txBox="1"/>
          <p:nvPr/>
        </p:nvSpPr>
        <p:spPr>
          <a:xfrm>
            <a:off x="11484322" y="6248400"/>
            <a:ext cx="98078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ts val="1890"/>
              </a:lnSpc>
            </a:pPr>
            <a:fld id="{B9A1C0E4-6F3D-4A5B-8C7E-2D1F0A9B8C7D}" type="slidenum">
              <a:rPr sz="1350" b="0">
                <a:solidFill>
                  <a:schemeClr val="tx2"/>
                </a:solidFill>
                <a:latin typeface="+mn-lt"/>
                <a:ea typeface="+mn-ea"/>
              </a:rPr>
              <a:t>7</a:t>
            </a:fld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00" decel="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00" decel="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600" decel="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00" decel="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00" decel="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00" decel="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6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6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600" decel="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s7.0"/>
          <p:cNvSpPr txBox="1"/>
          <p:nvPr/>
        </p:nvSpPr>
        <p:spPr>
          <a:xfrm>
            <a:off x="609600" y="2274391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7200"/>
              </a:lnSpc>
            </a:pPr>
            <a:r>
              <a:rPr sz="6000" b="1" i="0" u="none">
                <a:gradFill>
                  <a:gsLst>
                    <a:gs pos="0">
                      <a:schemeClr val="accent1"/>
                    </a:gs>
                    <a:gs pos="100000">
                      <a:schemeClr val="accent6"/>
                    </a:gs>
                  </a:gsLst>
                  <a:lin ang="0" scaled="1"/>
                </a:gradFill>
                <a:latin typeface="+mj-lt"/>
                <a:ea typeface="+mj-ea"/>
              </a:rPr>
              <a:t>Thank you</a:t>
            </a:r>
          </a:p>
        </p:txBody>
      </p:sp>
      <p:sp>
        <p:nvSpPr>
          <p:cNvPr id="3" name="text s7.1"/>
          <p:cNvSpPr txBox="1"/>
          <p:nvPr/>
        </p:nvSpPr>
        <p:spPr>
          <a:xfrm>
            <a:off x="609600" y="3417391"/>
            <a:ext cx="10972800" cy="34662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ts val="2730"/>
              </a:lnSpc>
            </a:pPr>
            <a:r>
              <a:rPr sz="2100" b="1">
                <a:solidFill>
                  <a:schemeClr val="tx2"/>
                </a:solidFill>
                <a:latin typeface="+mj-lt"/>
                <a:ea typeface="+mj-ea"/>
              </a:rPr>
              <a:t>Questions to #growth</a:t>
            </a:r>
          </a:p>
        </p:txBody>
      </p:sp>
      <p:sp>
        <p:nvSpPr>
          <p:cNvPr id="4" name="shape s7.2"/>
          <p:cNvSpPr/>
          <p:nvPr/>
        </p:nvSpPr>
        <p:spPr>
          <a:xfrm>
            <a:off x="3041154" y="3992612"/>
            <a:ext cx="6109543" cy="590848"/>
          </a:xfrm>
          <a:prstGeom prst="roundRect">
            <a:avLst>
              <a:gd name="adj" fmla="val 38690"/>
            </a:avLst>
          </a:prstGeom>
          <a:solidFill>
            <a:schemeClr val="bg2"/>
          </a:solidFill>
          <a:ln w="9525">
            <a:solidFill>
              <a:schemeClr val="accent1"/>
            </a:solidFill>
            <a:prstDash val="solid"/>
          </a:ln>
        </p:spPr>
        <p:txBody>
          <a:bodyPr wrap="square" lIns="228600" tIns="57150" rIns="228600" bIns="57150" anchor="t">
            <a:normAutofit/>
          </a:bodyPr>
          <a:lstStyle/>
          <a:p>
            <a:pPr algn="ctr">
              <a:lnSpc>
                <a:spcPts val="2700"/>
              </a:lnSpc>
            </a:pPr>
            <a:r>
              <a:rPr sz="1800" b="0">
                <a:solidFill>
                  <a:schemeClr val="tx1"/>
                </a:solidFill>
                <a:latin typeface="+mn-lt"/>
                <a:ea typeface="+mn-ea"/>
              </a:rPr>
              <a:t>Today's decision: display budget → referral rewards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3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33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minimal">
  <a:themeElements>
    <a:clrScheme name="minimal">
      <a:dk1>
        <a:srgbClr val="1A1A1A"/>
      </a:dk1>
      <a:lt1>
        <a:srgbClr val="FFFFFF"/>
      </a:lt1>
      <a:dk2>
        <a:srgbClr val="6B7280"/>
      </a:dk2>
      <a:lt2>
        <a:srgbClr val="F3F4F6"/>
      </a:lt2>
      <a:accent1>
        <a:srgbClr val="0F65F9"/>
      </a:accent1>
      <a:accent2>
        <a:srgbClr val="0E8174"/>
      </a:accent2>
      <a:accent3>
        <a:srgbClr val="15803D"/>
      </a:accent3>
      <a:accent4>
        <a:srgbClr val="B45309"/>
      </a:accent4>
      <a:accent5>
        <a:srgbClr val="DC2626"/>
      </a:accent5>
      <a:accent6>
        <a:srgbClr val="9333EA"/>
      </a:accent6>
      <a:hlink>
        <a:srgbClr val="0F65F9"/>
      </a:hlink>
      <a:folHlink>
        <a:srgbClr val="0F65F9"/>
      </a:folHlink>
    </a:clrScheme>
    <a:fontScheme name="minimal">
      <a:majorFont>
        <a:latin typeface="Noto Sans"/>
        <a:ea typeface="Noto Sans CJK KR"/>
        <a:cs typeface=""/>
      </a:majorFont>
      <a:minorFont>
        <a:latin typeface="Noto Sans"/>
        <a:ea typeface="Noto Sans CJK KR"/>
        <a:cs typeface=""/>
      </a:minorFont>
    </a:fontScheme>
    <a:fmtScheme name="minim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balpyo</Application>
  <Slides>8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Business Review</dc:title>
  <dc:creator>Growth Team</dc:creator>
  <cp:lastModifiedBy>balpyo</cp:lastModifiedBy>
  <cp:revision>1</cp:revision>
</cp:coreProperties>
</file>