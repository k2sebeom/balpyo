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2번이 여기서 나온다. 축의 거리가 시간이다 — 탐지 구간이 생각보다 길다는 것을 눈으로 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목표까지 네 배 남았다. 다음 회고에서 이 차트에 이번 달을 더한다.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609600" y="145167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5"/>
                </a:solidFill>
                <a:latin typeface="+mn-lt"/>
                <a:ea typeface="+mn-ea"/>
              </a:rPr>
              <a:t>Incident review · INC-2431 · SEV-2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609600" y="1937445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결제 API 5xx, </a:t>
            </a:r>
            <a:r>
              <a:rPr sz="6000" b="1" i="0" u="none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609600" y="3080445"/>
            <a:ext cx="109728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609600" y="459492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609600" y="516642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 · 사람이 아니라 시스템을 본다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한 장 요약</a:t>
            </a:r>
          </a:p>
        </p:txBody>
      </p:sp>
      <p:sp>
        <p:nvSpPr>
          <p:cNvPr id="3" name="h2 s1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47분 동안 결제 열 건 중 한 건이 실패했다</a:t>
            </a:r>
          </a:p>
        </p:txBody>
      </p:sp>
      <p:sp>
        <p:nvSpPr>
          <p:cNvPr id="4" name="shape s1.2.0"/>
          <p:cNvSpPr/>
          <p:nvPr/>
        </p:nvSpPr>
        <p:spPr>
          <a:xfrm>
            <a:off x="609600" y="1744861"/>
            <a:ext cx="3530501" cy="3368278"/>
          </a:xfrm>
          <a:prstGeom prst="roundRect">
            <a:avLst>
              <a:gd name="adj" fmla="val 7918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5" name="text s1.2.0.0.0"/>
          <p:cNvSpPr txBox="1"/>
          <p:nvPr/>
        </p:nvSpPr>
        <p:spPr>
          <a:xfrm>
            <a:off x="992386" y="2444204"/>
            <a:ext cx="2764929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5"/>
                </a:solidFill>
                <a:latin typeface="+mj-lt"/>
                <a:ea typeface="+mj-ea"/>
              </a:rPr>
              <a:t>47</a:t>
            </a:r>
            <a:r>
              <a:rPr sz="3000" b="1" i="0" u="none">
                <a:solidFill>
                  <a:schemeClr val="accent5"/>
                </a:solidFill>
                <a:latin typeface="+mj-lt"/>
                <a:ea typeface="+mj-ea"/>
              </a:rPr>
              <a:t>분</a:t>
            </a:r>
          </a:p>
        </p:txBody>
      </p:sp>
      <p:sp>
        <p:nvSpPr>
          <p:cNvPr id="6" name="text s1.2.0.0.1"/>
          <p:cNvSpPr txBox="1"/>
          <p:nvPr/>
        </p:nvSpPr>
        <p:spPr>
          <a:xfrm>
            <a:off x="992386" y="3545235"/>
            <a:ext cx="276492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7" name="shape s1.2.0.0.2"/>
          <p:cNvSpPr/>
          <p:nvPr/>
        </p:nvSpPr>
        <p:spPr>
          <a:xfrm>
            <a:off x="992386" y="3983385"/>
            <a:ext cx="2764929" cy="952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1.2.0.0.3"/>
          <p:cNvSpPr txBox="1"/>
          <p:nvPr/>
        </p:nvSpPr>
        <p:spPr>
          <a:xfrm>
            <a:off x="992386" y="4173885"/>
            <a:ext cx="2764929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9" name="shape s1.2.1"/>
          <p:cNvSpPr/>
          <p:nvPr/>
        </p:nvSpPr>
        <p:spPr>
          <a:xfrm>
            <a:off x="4330601" y="1744861"/>
            <a:ext cx="3530650" cy="3368278"/>
          </a:xfrm>
          <a:prstGeom prst="roundRect">
            <a:avLst>
              <a:gd name="adj" fmla="val 7918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10" name="text s1.2.1.0.0"/>
          <p:cNvSpPr txBox="1"/>
          <p:nvPr/>
        </p:nvSpPr>
        <p:spPr>
          <a:xfrm>
            <a:off x="4713387" y="2225129"/>
            <a:ext cx="2765078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5"/>
                </a:solidFill>
                <a:latin typeface="+mj-lt"/>
                <a:ea typeface="+mj-ea"/>
              </a:rPr>
              <a:t>8.4</a:t>
            </a:r>
            <a:r>
              <a:rPr sz="3000" b="1" i="0" u="none">
                <a:solidFill>
                  <a:schemeClr val="accent5"/>
                </a:solidFill>
                <a:latin typeface="+mj-lt"/>
                <a:ea typeface="+mj-ea"/>
              </a:rPr>
              <a:t>%</a:t>
            </a:r>
          </a:p>
        </p:txBody>
      </p:sp>
      <p:sp>
        <p:nvSpPr>
          <p:cNvPr id="11" name="text s1.2.1.0.1"/>
          <p:cNvSpPr txBox="1"/>
          <p:nvPr/>
        </p:nvSpPr>
        <p:spPr>
          <a:xfrm>
            <a:off x="4713387" y="3326160"/>
            <a:ext cx="276507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최대 오류율</a:t>
            </a:r>
          </a:p>
        </p:txBody>
      </p:sp>
      <p:sp>
        <p:nvSpPr>
          <p:cNvPr id="12" name="shape s1.2.1.0.2.0"/>
          <p:cNvSpPr/>
          <p:nvPr/>
        </p:nvSpPr>
        <p:spPr>
          <a:xfrm>
            <a:off x="4713387" y="3764310"/>
            <a:ext cx="2765078" cy="5334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96000"/>
                </a:moveTo>
                <a:lnTo>
                  <a:pt x="22000" y="96000"/>
                </a:lnTo>
                <a:cubicBezTo>
                  <a:pt x="30000" y="96000"/>
                  <a:pt x="32000" y="4000"/>
                  <a:pt x="40000" y="4000"/>
                </a:cubicBezTo>
                <a:cubicBezTo>
                  <a:pt x="48000" y="4000"/>
                  <a:pt x="50000" y="60000"/>
                  <a:pt x="62000" y="74000"/>
                </a:cubicBezTo>
                <a:cubicBezTo>
                  <a:pt x="72000" y="86000"/>
                  <a:pt x="80000" y="94000"/>
                  <a:pt x="100000" y="96000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accent5">
              <a:alpha val="2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1.2.1.0.2.1"/>
          <p:cNvSpPr/>
          <p:nvPr/>
        </p:nvSpPr>
        <p:spPr>
          <a:xfrm>
            <a:off x="4713387" y="3764310"/>
            <a:ext cx="2765078" cy="5334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96000"/>
                </a:moveTo>
                <a:lnTo>
                  <a:pt x="22000" y="96000"/>
                </a:lnTo>
                <a:cubicBezTo>
                  <a:pt x="30000" y="96000"/>
                  <a:pt x="32000" y="4000"/>
                  <a:pt x="40000" y="4000"/>
                </a:cubicBezTo>
                <a:cubicBezTo>
                  <a:pt x="48000" y="4000"/>
                  <a:pt x="50000" y="60000"/>
                  <a:pt x="62000" y="74000"/>
                </a:cubicBezTo>
                <a:cubicBezTo>
                  <a:pt x="72000" y="86000"/>
                  <a:pt x="80000" y="94000"/>
                  <a:pt x="100000" y="96000"/>
                </a:cubicBezTo>
              </a:path>
            </a:pathLst>
          </a:custGeom>
          <a:noFill/>
          <a:ln w="19050">
            <a:solidFill>
              <a:schemeClr val="accent5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1.2.1.0.3"/>
          <p:cNvSpPr txBox="1"/>
          <p:nvPr/>
        </p:nvSpPr>
        <p:spPr>
          <a:xfrm>
            <a:off x="4713387" y="4392960"/>
            <a:ext cx="27650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평시 0.02%</a:t>
            </a:r>
          </a:p>
        </p:txBody>
      </p:sp>
      <p:sp>
        <p:nvSpPr>
          <p:cNvPr id="15" name="shape s1.2.2"/>
          <p:cNvSpPr/>
          <p:nvPr/>
        </p:nvSpPr>
        <p:spPr>
          <a:xfrm>
            <a:off x="8051750" y="1744861"/>
            <a:ext cx="3530501" cy="3368278"/>
          </a:xfrm>
          <a:prstGeom prst="roundRect">
            <a:avLst>
              <a:gd name="adj" fmla="val 7918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16" name="text s1.2.2.0.0"/>
          <p:cNvSpPr txBox="1"/>
          <p:nvPr/>
        </p:nvSpPr>
        <p:spPr>
          <a:xfrm>
            <a:off x="8434536" y="2444204"/>
            <a:ext cx="2764929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4"/>
                </a:solidFill>
                <a:latin typeface="+mj-lt"/>
                <a:ea typeface="+mj-ea"/>
              </a:rPr>
              <a:t>12</a:t>
            </a:r>
            <a:r>
              <a:rPr sz="3000" b="1" i="0" u="none">
                <a:solidFill>
                  <a:schemeClr val="accent4"/>
                </a:solidFill>
                <a:latin typeface="+mj-lt"/>
                <a:ea typeface="+mj-ea"/>
              </a:rPr>
              <a:t>분</a:t>
            </a:r>
          </a:p>
        </p:txBody>
      </p:sp>
      <p:sp>
        <p:nvSpPr>
          <p:cNvPr id="17" name="text s1.2.2.0.1"/>
          <p:cNvSpPr txBox="1"/>
          <p:nvPr/>
        </p:nvSpPr>
        <p:spPr>
          <a:xfrm>
            <a:off x="8434536" y="3545235"/>
            <a:ext cx="276492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18" name="shape s1.2.2.0.2.0"/>
          <p:cNvSpPr/>
          <p:nvPr/>
        </p:nvSpPr>
        <p:spPr>
          <a:xfrm>
            <a:off x="8434536" y="3983385"/>
            <a:ext cx="705892" cy="952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1.2.2.0.2.1"/>
          <p:cNvSpPr/>
          <p:nvPr/>
        </p:nvSpPr>
        <p:spPr>
          <a:xfrm>
            <a:off x="9140428" y="3983385"/>
            <a:ext cx="2059037" cy="95250"/>
          </a:xfrm>
          <a:prstGeom prst="rect">
            <a:avLst/>
          </a:prstGeom>
          <a:solidFill>
            <a:schemeClr val="tx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1.2.2.0.3"/>
          <p:cNvSpPr txBox="1"/>
          <p:nvPr/>
        </p:nvSpPr>
        <p:spPr>
          <a:xfrm>
            <a:off x="8434536" y="4173885"/>
            <a:ext cx="2764929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장애의 26% — 경보가 5분 평균이었다</a:t>
            </a:r>
          </a:p>
        </p:txBody>
      </p:sp>
      <p:sp>
        <p:nvSpPr>
          <p:cNvPr id="21" name="text s1.3.0.0"/>
          <p:cNvSpPr txBox="1"/>
          <p:nvPr/>
        </p:nvSpPr>
        <p:spPr>
          <a:xfrm>
            <a:off x="609600" y="5341739"/>
            <a:ext cx="53340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무슨 일</a:t>
            </a:r>
          </a:p>
        </p:txBody>
      </p:sp>
      <p:sp>
        <p:nvSpPr>
          <p:cNvPr id="22" name="p s1.3.0.1"/>
          <p:cNvSpPr txBox="1"/>
          <p:nvPr/>
        </p:nvSpPr>
        <p:spPr>
          <a:xfrm>
            <a:off x="609600" y="5676900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결제 캐시 키 12만 개가 같은 초에 만료되면서 DB로 요청이 쏟아졌다. 읽기 풀이 고갈되고 결제 API가 5xx를 반환했다.</a:t>
            </a:r>
          </a:p>
        </p:txBody>
      </p:sp>
      <p:sp>
        <p:nvSpPr>
          <p:cNvPr id="23" name="text s1.3.1.0"/>
          <p:cNvSpPr txBox="1"/>
          <p:nvPr/>
        </p:nvSpPr>
        <p:spPr>
          <a:xfrm>
            <a:off x="6248400" y="5341739"/>
            <a:ext cx="53340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어떻게 멈췄나</a:t>
            </a:r>
          </a:p>
        </p:txBody>
      </p:sp>
      <p:sp>
        <p:nvSpPr>
          <p:cNvPr id="24" name="p s1.3.1.1"/>
          <p:cNvSpPr txBox="1"/>
          <p:nvPr/>
        </p:nvSpPr>
        <p:spPr>
          <a:xfrm>
            <a:off x="6248400" y="5676900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롤백이 아니라 </a:t>
            </a: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으로 멈췄다. 캐시가 다시 차자 14:49에 오류율이 평시로 돌아왔다.</a:t>
            </a:r>
          </a:p>
        </p:txBody>
      </p:sp>
      <p:sp>
        <p:nvSpPr>
          <p:cNvPr id="25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26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타임라인 · KST</a:t>
            </a:r>
          </a:p>
        </p:txBody>
      </p:sp>
      <p:sp>
        <p:nvSpPr>
          <p:cNvPr id="3" name="h2 s2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탐지에 12분, 멈추는 데 17분, 회복에 18분</a:t>
            </a:r>
          </a:p>
        </p:txBody>
      </p:sp>
      <p:sp>
        <p:nvSpPr>
          <p:cNvPr id="4" name="shape s2.2.0"/>
          <p:cNvSpPr/>
          <p:nvPr/>
        </p:nvSpPr>
        <p:spPr>
          <a:xfrm>
            <a:off x="609600" y="1744861"/>
            <a:ext cx="2762250" cy="381000"/>
          </a:xfrm>
          <a:prstGeom prst="roundRect">
            <a:avLst>
              <a:gd name="adj" fmla="val 20000"/>
            </a:avLst>
          </a:prstGeom>
          <a:pattFill prst="wdUpDiag">
            <a:fgClr>
              <a:schemeClr val="accent4">
                <a:alpha val="45000"/>
              </a:schemeClr>
            </a:fgClr>
            <a:bgClr>
              <a:schemeClr val="bg1">
                <a:alpha val="0"/>
              </a:schemeClr>
            </a:bgClr>
          </a:pattFill>
          <a:ln w="9525">
            <a:solidFill>
              <a:schemeClr val="accent4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tx1"/>
                </a:solidFill>
                <a:latin typeface="+mn-lt"/>
                <a:ea typeface="+mn-ea"/>
              </a:rPr>
              <a:t>탐지 12분</a:t>
            </a:r>
          </a:p>
        </p:txBody>
      </p:sp>
      <p:sp>
        <p:nvSpPr>
          <p:cNvPr id="5" name="shape s2.2.1"/>
          <p:cNvSpPr/>
          <p:nvPr/>
        </p:nvSpPr>
        <p:spPr>
          <a:xfrm>
            <a:off x="3429000" y="1744861"/>
            <a:ext cx="3933825" cy="381000"/>
          </a:xfrm>
          <a:prstGeom prst="roundRect">
            <a:avLst>
              <a:gd name="adj" fmla="val 20000"/>
            </a:avLst>
          </a:prstGeom>
          <a:solidFill>
            <a:schemeClr val="accent3">
              <a:alpha val="18000"/>
            </a:schemeClr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tx1"/>
                </a:solidFill>
                <a:latin typeface="+mn-lt"/>
                <a:ea typeface="+mn-ea"/>
              </a:rPr>
              <a:t>완화 17분</a:t>
            </a:r>
          </a:p>
        </p:txBody>
      </p:sp>
      <p:sp>
        <p:nvSpPr>
          <p:cNvPr id="6" name="shape s2.2.2"/>
          <p:cNvSpPr/>
          <p:nvPr/>
        </p:nvSpPr>
        <p:spPr>
          <a:xfrm>
            <a:off x="7419975" y="1744861"/>
            <a:ext cx="4162425" cy="381000"/>
          </a:xfrm>
          <a:prstGeom prst="roundRect">
            <a:avLst>
              <a:gd name="adj" fmla="val 20000"/>
            </a:avLst>
          </a:prstGeom>
          <a:solidFill>
            <a:schemeClr val="accent3">
              <a:alpha val="35000"/>
            </a:schemeClr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tx1"/>
                </a:solidFill>
                <a:latin typeface="+mn-lt"/>
                <a:ea typeface="+mn-ea"/>
              </a:rPr>
              <a:t>복구 18분</a:t>
            </a:r>
          </a:p>
        </p:txBody>
      </p:sp>
      <p:sp>
        <p:nvSpPr>
          <p:cNvPr id="7" name="shape s2.2.3"/>
          <p:cNvSpPr/>
          <p:nvPr/>
        </p:nvSpPr>
        <p:spPr>
          <a:xfrm>
            <a:off x="609600" y="4240411"/>
            <a:ext cx="10972800" cy="19050"/>
          </a:xfrm>
          <a:prstGeom prst="rect">
            <a:avLst/>
          </a:prstGeom>
          <a:solidFill>
            <a:schemeClr val="tx2">
              <a:alpha val="6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2.4"/>
          <p:cNvSpPr/>
          <p:nvPr/>
        </p:nvSpPr>
        <p:spPr>
          <a:xfrm>
            <a:off x="695325" y="3726061"/>
            <a:ext cx="19050" cy="514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2.2.5"/>
          <p:cNvSpPr/>
          <p:nvPr/>
        </p:nvSpPr>
        <p:spPr>
          <a:xfrm>
            <a:off x="609600" y="4154686"/>
            <a:ext cx="190500" cy="190500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2.2.6"/>
          <p:cNvSpPr/>
          <p:nvPr/>
        </p:nvSpPr>
        <p:spPr>
          <a:xfrm>
            <a:off x="609600" y="243066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1" name="text s2.2.6.0.0"/>
          <p:cNvSpPr txBox="1"/>
          <p:nvPr/>
        </p:nvSpPr>
        <p:spPr>
          <a:xfrm>
            <a:off x="822275" y="254808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accent5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12" name="text s2.2.6.0.1"/>
          <p:cNvSpPr txBox="1"/>
          <p:nvPr/>
        </p:nvSpPr>
        <p:spPr>
          <a:xfrm>
            <a:off x="822275" y="293667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키 동시 만료</a:t>
            </a:r>
          </a:p>
        </p:txBody>
      </p:sp>
      <p:sp>
        <p:nvSpPr>
          <p:cNvPr id="13" name="text s2.2.6.0.2"/>
          <p:cNvSpPr txBox="1"/>
          <p:nvPr/>
        </p:nvSpPr>
        <p:spPr>
          <a:xfrm>
            <a:off x="822275" y="318432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12만 키가 같은 초에</a:t>
            </a:r>
          </a:p>
        </p:txBody>
      </p:sp>
      <p:sp>
        <p:nvSpPr>
          <p:cNvPr id="14" name="shape s2.2.7"/>
          <p:cNvSpPr/>
          <p:nvPr/>
        </p:nvSpPr>
        <p:spPr>
          <a:xfrm>
            <a:off x="3400425" y="4240411"/>
            <a:ext cx="19050" cy="381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shape s2.2.8"/>
          <p:cNvSpPr/>
          <p:nvPr/>
        </p:nvSpPr>
        <p:spPr>
          <a:xfrm>
            <a:off x="3314700" y="4154686"/>
            <a:ext cx="190500" cy="19050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2.2.9"/>
          <p:cNvSpPr/>
          <p:nvPr/>
        </p:nvSpPr>
        <p:spPr>
          <a:xfrm>
            <a:off x="3409950" y="462141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7" name="text s2.2.9.0.0"/>
          <p:cNvSpPr txBox="1"/>
          <p:nvPr/>
        </p:nvSpPr>
        <p:spPr>
          <a:xfrm>
            <a:off x="3622625" y="473883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accent4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8" name="text s2.2.9.0.1"/>
          <p:cNvSpPr txBox="1"/>
          <p:nvPr/>
        </p:nvSpPr>
        <p:spPr>
          <a:xfrm>
            <a:off x="3622625" y="512742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5xx 경보</a:t>
            </a:r>
          </a:p>
        </p:txBody>
      </p:sp>
      <p:sp>
        <p:nvSpPr>
          <p:cNvPr id="19" name="text s2.2.9.0.2"/>
          <p:cNvSpPr txBox="1"/>
          <p:nvPr/>
        </p:nvSpPr>
        <p:spPr>
          <a:xfrm>
            <a:off x="3622625" y="537507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5분 평균이 12분 늦게 울렸다</a:t>
            </a:r>
          </a:p>
        </p:txBody>
      </p:sp>
      <p:sp>
        <p:nvSpPr>
          <p:cNvPr id="20" name="shape s2.2.10"/>
          <p:cNvSpPr/>
          <p:nvPr/>
        </p:nvSpPr>
        <p:spPr>
          <a:xfrm>
            <a:off x="5505450" y="3726061"/>
            <a:ext cx="19050" cy="514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1" name="shape s2.2.11"/>
          <p:cNvSpPr/>
          <p:nvPr/>
        </p:nvSpPr>
        <p:spPr>
          <a:xfrm>
            <a:off x="5419725" y="4154686"/>
            <a:ext cx="190500" cy="19050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2.2.12"/>
          <p:cNvSpPr/>
          <p:nvPr/>
        </p:nvSpPr>
        <p:spPr>
          <a:xfrm>
            <a:off x="5514975" y="243066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23" name="text s2.2.12.0.0"/>
          <p:cNvSpPr txBox="1"/>
          <p:nvPr/>
        </p:nvSpPr>
        <p:spPr>
          <a:xfrm>
            <a:off x="5727650" y="254808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24" name="text s2.2.12.0.1"/>
          <p:cNvSpPr txBox="1"/>
          <p:nvPr/>
        </p:nvSpPr>
        <p:spPr>
          <a:xfrm>
            <a:off x="5727650" y="293667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DB 풀 고갈 확인</a:t>
            </a:r>
          </a:p>
        </p:txBody>
      </p:sp>
      <p:sp>
        <p:nvSpPr>
          <p:cNvPr id="25" name="text s2.2.12.0.2"/>
          <p:cNvSpPr txBox="1"/>
          <p:nvPr/>
        </p:nvSpPr>
        <p:spPr>
          <a:xfrm>
            <a:off x="5727650" y="318432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읽기 풀 40/40 · 대기 1,900</a:t>
            </a:r>
          </a:p>
        </p:txBody>
      </p:sp>
      <p:sp>
        <p:nvSpPr>
          <p:cNvPr id="26" name="shape s2.2.13"/>
          <p:cNvSpPr/>
          <p:nvPr/>
        </p:nvSpPr>
        <p:spPr>
          <a:xfrm>
            <a:off x="7372350" y="4240411"/>
            <a:ext cx="19050" cy="38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shape s2.2.14"/>
          <p:cNvSpPr/>
          <p:nvPr/>
        </p:nvSpPr>
        <p:spPr>
          <a:xfrm>
            <a:off x="7286625" y="4154686"/>
            <a:ext cx="190500" cy="1905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shape s2.2.15"/>
          <p:cNvSpPr/>
          <p:nvPr/>
        </p:nvSpPr>
        <p:spPr>
          <a:xfrm>
            <a:off x="7381875" y="462141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29" name="text s2.2.15.0.0"/>
          <p:cNvSpPr txBox="1"/>
          <p:nvPr/>
        </p:nvSpPr>
        <p:spPr>
          <a:xfrm>
            <a:off x="7594550" y="473883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accent3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30" name="text s2.2.15.0.1"/>
          <p:cNvSpPr txBox="1"/>
          <p:nvPr/>
        </p:nvSpPr>
        <p:spPr>
          <a:xfrm>
            <a:off x="7594550" y="512742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부하 차단 적용</a:t>
            </a:r>
          </a:p>
        </p:txBody>
      </p:sp>
      <p:sp>
        <p:nvSpPr>
          <p:cNvPr id="31" name="text s2.2.15.0.2"/>
          <p:cNvSpPr txBox="1"/>
          <p:nvPr/>
        </p:nvSpPr>
        <p:spPr>
          <a:xfrm>
            <a:off x="7594550" y="5375077"/>
            <a:ext cx="1955899" cy="4265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결제 외 캐시 미스 경로를 끊었다</a:t>
            </a:r>
          </a:p>
        </p:txBody>
      </p:sp>
      <p:sp>
        <p:nvSpPr>
          <p:cNvPr id="32" name="shape s2.2.16"/>
          <p:cNvSpPr/>
          <p:nvPr/>
        </p:nvSpPr>
        <p:spPr>
          <a:xfrm>
            <a:off x="11477625" y="3726061"/>
            <a:ext cx="19050" cy="514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3" name="shape s2.2.17"/>
          <p:cNvSpPr/>
          <p:nvPr/>
        </p:nvSpPr>
        <p:spPr>
          <a:xfrm>
            <a:off x="11391900" y="4154686"/>
            <a:ext cx="190500" cy="1905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4" name="shape s2.2.18"/>
          <p:cNvSpPr/>
          <p:nvPr/>
        </p:nvSpPr>
        <p:spPr>
          <a:xfrm>
            <a:off x="9201150" y="243066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35" name="text s2.2.18.0.0"/>
          <p:cNvSpPr txBox="1"/>
          <p:nvPr/>
        </p:nvSpPr>
        <p:spPr>
          <a:xfrm>
            <a:off x="9413825" y="254808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36" name="text s2.2.18.0.1"/>
          <p:cNvSpPr txBox="1"/>
          <p:nvPr/>
        </p:nvSpPr>
        <p:spPr>
          <a:xfrm>
            <a:off x="9413825" y="293667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오류율 정상</a:t>
            </a:r>
          </a:p>
        </p:txBody>
      </p:sp>
      <p:sp>
        <p:nvSpPr>
          <p:cNvPr id="37" name="text s2.2.18.0.2"/>
          <p:cNvSpPr txBox="1"/>
          <p:nvPr/>
        </p:nvSpPr>
        <p:spPr>
          <a:xfrm>
            <a:off x="9413825" y="318432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캐시 적중률 97%로 회복</a:t>
            </a:r>
          </a:p>
        </p:txBody>
      </p:sp>
      <p:sp>
        <p:nvSpPr>
          <p:cNvPr id="38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39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영향 범위</a:t>
            </a:r>
          </a:p>
        </p:txBody>
      </p:sp>
      <p:sp>
        <p:nvSpPr>
          <p:cNvPr id="3" name="h2 s3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결제가 가장 크게, 정산은 다치지 않았다</a:t>
            </a:r>
          </a:p>
        </p:txBody>
      </p:sp>
      <p:graphicFrame>
        <p:nvGraphicFramePr>
          <p:cNvPr id="4" name="table s3.2"/>
          <p:cNvGraphicFramePr/>
          <p:nvPr/>
        </p:nvGraphicFramePr>
        <p:xfrm>
          <a:off x="609600" y="1744861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5243"/>
                <a:gridCol w="2583061"/>
                <a:gridCol w="2180481"/>
                <a:gridCol w="402401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accent5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장바구니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담기 실패 (드묾)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hape s3.3.0"/>
          <p:cNvSpPr/>
          <p:nvPr/>
        </p:nvSpPr>
        <p:spPr>
          <a:xfrm>
            <a:off x="609600" y="4507111"/>
            <a:ext cx="3200400" cy="1741289"/>
          </a:xfrm>
          <a:prstGeom prst="roundRect">
            <a:avLst>
              <a:gd name="adj" fmla="val 15316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190500" rIns="190500" bIns="190500" anchor="t">
            <a:normAutofit/>
          </a:bodyPr>
          <a:lstStyle/>
          <a:p/>
        </p:txBody>
      </p:sp>
      <p:sp>
        <p:nvSpPr>
          <p:cNvPr id="6" name="text s3.3.0.0.0"/>
          <p:cNvSpPr txBox="1"/>
          <p:nvPr/>
        </p:nvSpPr>
        <p:spPr>
          <a:xfrm>
            <a:off x="878086" y="4983510"/>
            <a:ext cx="266342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7" name="text s3.3.0.0.1"/>
          <p:cNvSpPr txBox="1"/>
          <p:nvPr/>
        </p:nvSpPr>
        <p:spPr>
          <a:xfrm>
            <a:off x="878086" y="5532090"/>
            <a:ext cx="26634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요청</a:t>
            </a:r>
          </a:p>
        </p:txBody>
      </p:sp>
      <p:sp>
        <p:nvSpPr>
          <p:cNvPr id="8" name="shape s3.3.1"/>
          <p:cNvSpPr/>
          <p:nvPr/>
        </p:nvSpPr>
        <p:spPr>
          <a:xfrm>
            <a:off x="4495800" y="4507111"/>
            <a:ext cx="3200400" cy="1741289"/>
          </a:xfrm>
          <a:prstGeom prst="roundRect">
            <a:avLst>
              <a:gd name="adj" fmla="val 15316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190500" rIns="190500" bIns="190500" anchor="t">
            <a:normAutofit/>
          </a:bodyPr>
          <a:lstStyle/>
          <a:p/>
        </p:txBody>
      </p:sp>
      <p:sp>
        <p:nvSpPr>
          <p:cNvPr id="9" name="text s3.3.1.0.0"/>
          <p:cNvSpPr txBox="1"/>
          <p:nvPr/>
        </p:nvSpPr>
        <p:spPr>
          <a:xfrm>
            <a:off x="4764286" y="4983510"/>
            <a:ext cx="266342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10" name="text s3.3.1.0.1"/>
          <p:cNvSpPr txBox="1"/>
          <p:nvPr/>
        </p:nvSpPr>
        <p:spPr>
          <a:xfrm>
            <a:off x="4764286" y="5532090"/>
            <a:ext cx="26634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재시도로 성공 · 96.8%</a:t>
            </a:r>
          </a:p>
        </p:txBody>
      </p:sp>
      <p:sp>
        <p:nvSpPr>
          <p:cNvPr id="11" name="shape s3.3.2"/>
          <p:cNvSpPr/>
          <p:nvPr/>
        </p:nvSpPr>
        <p:spPr>
          <a:xfrm>
            <a:off x="8382000" y="4507111"/>
            <a:ext cx="3200400" cy="1741289"/>
          </a:xfrm>
          <a:prstGeom prst="roundRect">
            <a:avLst>
              <a:gd name="adj" fmla="val 15316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190500" rIns="190500" bIns="190500" anchor="t">
            <a:normAutofit/>
          </a:bodyPr>
          <a:lstStyle/>
          <a:p/>
        </p:txBody>
      </p:sp>
      <p:sp>
        <p:nvSpPr>
          <p:cNvPr id="12" name="text s3.3.2.0.0"/>
          <p:cNvSpPr txBox="1"/>
          <p:nvPr/>
        </p:nvSpPr>
        <p:spPr>
          <a:xfrm>
            <a:off x="8650486" y="4983510"/>
            <a:ext cx="266342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</a:t>
            </a:r>
            <a:r>
              <a:rPr sz="1800" b="1" i="0" u="none">
                <a:solidFill>
                  <a:schemeClr val="accent5"/>
                </a:solidFill>
                <a:latin typeface="+mj-lt"/>
                <a:ea typeface="+mj-ea"/>
              </a:rPr>
              <a:t>건</a:t>
            </a:r>
          </a:p>
        </p:txBody>
      </p:sp>
      <p:sp>
        <p:nvSpPr>
          <p:cNvPr id="13" name="text s3.3.2.0.1"/>
          <p:cNvSpPr txBox="1"/>
          <p:nvPr/>
        </p:nvSpPr>
        <p:spPr>
          <a:xfrm>
            <a:off x="8650486" y="5532090"/>
            <a:ext cx="26634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CS 문의 · 이중 결제 0건</a:t>
            </a:r>
          </a:p>
        </p:txBody>
      </p:sp>
      <p:cxnSp>
        <p:nvCxnSpPr>
          <p:cNvPr id="14" name="connector s3.4"/>
          <p:cNvCxnSpPr>
            <a:stCxn id="5" idx="3"/>
            <a:endCxn id="8" idx="1"/>
          </p:cNvCxnSpPr>
          <p:nvPr/>
        </p:nvCxnSpPr>
        <p:spPr>
          <a:xfrm>
            <a:off x="3810000" y="5377755"/>
            <a:ext cx="685800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15" name="connector s3.5"/>
          <p:cNvCxnSpPr>
            <a:stCxn id="8" idx="3"/>
            <a:endCxn id="11" idx="1"/>
          </p:cNvCxnSpPr>
          <p:nvPr/>
        </p:nvCxnSpPr>
        <p:spPr>
          <a:xfrm>
            <a:off x="7696200" y="5377755"/>
            <a:ext cx="685800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sp>
        <p:nvSpPr>
          <p:cNvPr id="16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근본 원인</a:t>
            </a:r>
          </a:p>
        </p:txBody>
      </p:sp>
      <p:sp>
        <p:nvSpPr>
          <p:cNvPr id="3" name="h2 s4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만료가 한 시각에 몰렸다</a:t>
            </a:r>
          </a:p>
        </p:txBody>
      </p:sp>
      <p:sp>
        <p:nvSpPr>
          <p:cNvPr id="4" name="shape s4.2"/>
          <p:cNvSpPr/>
          <p:nvPr/>
        </p:nvSpPr>
        <p:spPr>
          <a:xfrm>
            <a:off x="609600" y="1744861"/>
            <a:ext cx="10972800" cy="3243263"/>
          </a:xfrm>
          <a:prstGeom prst="roundRect">
            <a:avLst>
              <a:gd name="adj" fmla="val 8223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shape s4.2.0.0"/>
          <p:cNvSpPr/>
          <p:nvPr/>
        </p:nvSpPr>
        <p:spPr>
          <a:xfrm>
            <a:off x="687586" y="1822847"/>
            <a:ext cx="10816828" cy="290513"/>
          </a:xfrm>
          <a:prstGeom prst="rect">
            <a:avLst/>
          </a:prstGeom>
          <a:solidFill>
            <a:schemeClr val="tx1">
              <a:alpha val="6000"/>
            </a:schemeClr>
          </a:solidFill>
          <a:ln>
            <a:noFill/>
          </a:ln>
        </p:spPr>
        <p:txBody>
          <a:bodyPr wrap="square" lIns="190500" tIns="38100" rIns="190500" bIns="38100" anchor="t">
            <a:normAutofit/>
          </a:bodyPr>
          <a:lstStyle/>
          <a:p/>
        </p:txBody>
      </p:sp>
      <p:sp>
        <p:nvSpPr>
          <p:cNvPr id="6" name="shape s4.2.0.0.0.0"/>
          <p:cNvSpPr/>
          <p:nvPr/>
        </p:nvSpPr>
        <p:spPr>
          <a:xfrm>
            <a:off x="878086" y="1910953"/>
            <a:ext cx="114300" cy="114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4.2.0.0.0.1"/>
          <p:cNvSpPr/>
          <p:nvPr/>
        </p:nvSpPr>
        <p:spPr>
          <a:xfrm>
            <a:off x="1030486" y="1910953"/>
            <a:ext cx="114300" cy="1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4.2.0.0.0.2"/>
          <p:cNvSpPr/>
          <p:nvPr/>
        </p:nvSpPr>
        <p:spPr>
          <a:xfrm>
            <a:off x="1182886" y="1910953"/>
            <a:ext cx="114300" cy="114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4.2.0.0.0.3"/>
          <p:cNvSpPr txBox="1"/>
          <p:nvPr/>
        </p:nvSpPr>
        <p:spPr>
          <a:xfrm>
            <a:off x="1335286" y="1860947"/>
            <a:ext cx="3234779" cy="21431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Noto Sans Mono"/>
                <a:ea typeface="Noto Sans Mono CJK KR"/>
              </a:rPr>
              <a:t>payments/cache/warm.go — 배포 훅이 부른다</a:t>
            </a:r>
          </a:p>
        </p:txBody>
      </p:sp>
      <p:sp>
        <p:nvSpPr>
          <p:cNvPr id="10" name="pre s4.2.0.1.0"/>
          <p:cNvSpPr txBox="1"/>
          <p:nvPr/>
        </p:nvSpPr>
        <p:spPr>
          <a:xfrm>
            <a:off x="992386" y="2290167"/>
            <a:ext cx="10207228" cy="24431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5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425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11" name="shape s4.3.0"/>
          <p:cNvSpPr/>
          <p:nvPr/>
        </p:nvSpPr>
        <p:spPr>
          <a:xfrm>
            <a:off x="609600" y="5216723"/>
            <a:ext cx="3200400" cy="1031677"/>
          </a:xfrm>
          <a:prstGeom prst="roundRect">
            <a:avLst>
              <a:gd name="adj" fmla="val 14772"/>
            </a:avLst>
          </a:prstGeom>
          <a:noFill/>
          <a:ln w="9525">
            <a:solidFill>
              <a:schemeClr val="tx2"/>
            </a:solidFill>
            <a:prstDash val="solid"/>
          </a:ln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2" name="text s4.3.0.0.0"/>
          <p:cNvSpPr txBox="1"/>
          <p:nvPr/>
        </p:nvSpPr>
        <p:spPr>
          <a:xfrm>
            <a:off x="844600" y="5356473"/>
            <a:ext cx="2730401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① 일괄 예열</a:t>
            </a:r>
          </a:p>
        </p:txBody>
      </p:sp>
      <p:sp>
        <p:nvSpPr>
          <p:cNvPr id="13" name="text s4.3.0.0.1"/>
          <p:cNvSpPr txBox="1"/>
          <p:nvPr/>
        </p:nvSpPr>
        <p:spPr>
          <a:xfrm>
            <a:off x="844600" y="5628829"/>
            <a:ext cx="273040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배포가 12만 키를 몇 초 안에 채운다</a:t>
            </a:r>
          </a:p>
        </p:txBody>
      </p:sp>
      <p:sp>
        <p:nvSpPr>
          <p:cNvPr id="14" name="shape s4.3.1"/>
          <p:cNvSpPr/>
          <p:nvPr/>
        </p:nvSpPr>
        <p:spPr>
          <a:xfrm>
            <a:off x="4495800" y="5216723"/>
            <a:ext cx="3200400" cy="1031677"/>
          </a:xfrm>
          <a:prstGeom prst="roundRect">
            <a:avLst>
              <a:gd name="adj" fmla="val 14772"/>
            </a:avLst>
          </a:prstGeom>
          <a:noFill/>
          <a:ln w="9525">
            <a:solidFill>
              <a:schemeClr val="tx2"/>
            </a:solidFill>
            <a:prstDash val="solid"/>
          </a:ln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5" name="text s4.3.1.0.0"/>
          <p:cNvSpPr txBox="1"/>
          <p:nvPr/>
        </p:nvSpPr>
        <p:spPr>
          <a:xfrm>
            <a:off x="4730800" y="5356473"/>
            <a:ext cx="2730401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② 고정 TTL 30분</a:t>
            </a:r>
          </a:p>
        </p:txBody>
      </p:sp>
      <p:sp>
        <p:nvSpPr>
          <p:cNvPr id="16" name="text s4.3.1.0.1"/>
          <p:cNvSpPr txBox="1"/>
          <p:nvPr/>
        </p:nvSpPr>
        <p:spPr>
          <a:xfrm>
            <a:off x="4730800" y="5628829"/>
            <a:ext cx="2730401" cy="479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지터가 없어 만료 시각이 하나로 모인다</a:t>
            </a:r>
          </a:p>
        </p:txBody>
      </p:sp>
      <p:sp>
        <p:nvSpPr>
          <p:cNvPr id="17" name="shape s4.3.2"/>
          <p:cNvSpPr/>
          <p:nvPr/>
        </p:nvSpPr>
        <p:spPr>
          <a:xfrm>
            <a:off x="8382000" y="5216723"/>
            <a:ext cx="3200400" cy="1031677"/>
          </a:xfrm>
          <a:prstGeom prst="roundRect">
            <a:avLst>
              <a:gd name="adj" fmla="val 14772"/>
            </a:avLst>
          </a:prstGeom>
          <a:solidFill>
            <a:schemeClr val="accent5">
              <a:alpha val="12000"/>
            </a:schemeClr>
          </a:solidFill>
          <a:ln w="19050">
            <a:solidFill>
              <a:schemeClr val="accent5"/>
            </a:solidFill>
            <a:prstDash val="solid"/>
          </a:ln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8" name="text s4.3.2.0.0"/>
          <p:cNvSpPr txBox="1"/>
          <p:nvPr/>
        </p:nvSpPr>
        <p:spPr>
          <a:xfrm>
            <a:off x="8617000" y="5356473"/>
            <a:ext cx="2730401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accent5"/>
                </a:solidFill>
                <a:latin typeface="+mj-lt"/>
                <a:ea typeface="+mj-ea"/>
              </a:rPr>
              <a:t>③ 같은 초에 전부 미스</a:t>
            </a:r>
          </a:p>
        </p:txBody>
      </p:sp>
      <p:sp>
        <p:nvSpPr>
          <p:cNvPr id="19" name="text s4.3.2.0.1"/>
          <p:cNvSpPr txBox="1"/>
          <p:nvPr/>
        </p:nvSpPr>
        <p:spPr>
          <a:xfrm>
            <a:off x="8617000" y="5628829"/>
            <a:ext cx="273040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DB 질의 하나가 된다</a:t>
            </a:r>
          </a:p>
        </p:txBody>
      </p:sp>
      <p:cxnSp>
        <p:nvCxnSpPr>
          <p:cNvPr id="20" name="connector s4.4"/>
          <p:cNvCxnSpPr>
            <a:stCxn id="11" idx="3"/>
            <a:endCxn id="14" idx="1"/>
          </p:cNvCxnSpPr>
          <p:nvPr/>
        </p:nvCxnSpPr>
        <p:spPr>
          <a:xfrm>
            <a:off x="3810000" y="5732562"/>
            <a:ext cx="685800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1" name="connector s4.5"/>
          <p:cNvCxnSpPr>
            <a:stCxn id="14" idx="3"/>
            <a:endCxn id="17" idx="1"/>
          </p:cNvCxnSpPr>
          <p:nvPr/>
        </p:nvCxnSpPr>
        <p:spPr>
          <a:xfrm>
            <a:off x="7696200" y="5732562"/>
            <a:ext cx="685800" cy="0"/>
          </a:xfrm>
          <a:prstGeom prst="straightConnector1">
            <a:avLst/>
          </a:prstGeom>
          <a:ln w="19050">
            <a:solidFill>
              <a:schemeClr val="accent5"/>
            </a:solidFill>
            <a:prstDash val="solid"/>
            <a:headEnd type="none"/>
            <a:tailEnd type="triangle" w="lg" len="lg"/>
          </a:ln>
        </p:spPr>
      </p:cxnSp>
      <p:sp>
        <p:nvSpPr>
          <p:cNvPr id="22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23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기여 요인</a:t>
            </a:r>
          </a:p>
        </p:txBody>
      </p:sp>
      <p:sp>
        <p:nvSpPr>
          <p:cNvPr id="3" name="h2 s5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넷이 한꺼번에 겹쳤다</a:t>
            </a:r>
          </a:p>
        </p:txBody>
      </p:sp>
      <p:sp>
        <p:nvSpPr>
          <p:cNvPr id="4" name="shape s5.2.0.0"/>
          <p:cNvSpPr/>
          <p:nvPr/>
        </p:nvSpPr>
        <p:spPr>
          <a:xfrm>
            <a:off x="609600" y="1902023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5" name="text s5.2.0.0.0.0.0"/>
          <p:cNvSpPr txBox="1"/>
          <p:nvPr/>
        </p:nvSpPr>
        <p:spPr>
          <a:xfrm>
            <a:off x="878086" y="2075259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고정 TTL</a:t>
            </a:r>
          </a:p>
        </p:txBody>
      </p:sp>
      <p:sp>
        <p:nvSpPr>
          <p:cNvPr id="6" name="text s5.2.0.0.0.0.1"/>
          <p:cNvSpPr txBox="1"/>
          <p:nvPr/>
        </p:nvSpPr>
        <p:spPr>
          <a:xfrm>
            <a:off x="878086" y="2347615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예열이 모든 키에 같은 만료 시각을 준다</a:t>
            </a:r>
          </a:p>
        </p:txBody>
      </p:sp>
      <p:sp>
        <p:nvSpPr>
          <p:cNvPr id="7" name="text s5.2.0.0.0.1"/>
          <p:cNvSpPr txBox="1"/>
          <p:nvPr/>
        </p:nvSpPr>
        <p:spPr>
          <a:xfrm>
            <a:off x="5389364" y="2211437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TTL에 ±10% 지터</a:t>
            </a:r>
          </a:p>
        </p:txBody>
      </p:sp>
      <p:sp>
        <p:nvSpPr>
          <p:cNvPr id="8" name="shape s5.2.0.1"/>
          <p:cNvSpPr/>
          <p:nvPr/>
        </p:nvSpPr>
        <p:spPr>
          <a:xfrm>
            <a:off x="609600" y="2856012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9" name="text s5.2.0.1.0.0.0"/>
          <p:cNvSpPr txBox="1"/>
          <p:nvPr/>
        </p:nvSpPr>
        <p:spPr>
          <a:xfrm>
            <a:off x="878086" y="3029248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단일 비행 없음</a:t>
            </a:r>
          </a:p>
        </p:txBody>
      </p:sp>
      <p:sp>
        <p:nvSpPr>
          <p:cNvPr id="10" name="text s5.2.0.1.0.0.1"/>
          <p:cNvSpPr txBox="1"/>
          <p:nvPr/>
        </p:nvSpPr>
        <p:spPr>
          <a:xfrm>
            <a:off x="878086" y="3301603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캐시 미스가 그대로 DB 질의가 된다</a:t>
            </a:r>
          </a:p>
        </p:txBody>
      </p:sp>
      <p:sp>
        <p:nvSpPr>
          <p:cNvPr id="11" name="text s5.2.0.1.0.1"/>
          <p:cNvSpPr txBox="1"/>
          <p:nvPr/>
        </p:nvSpPr>
        <p:spPr>
          <a:xfrm>
            <a:off x="5389364" y="3165425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미스에 단일 비행 잠금</a:t>
            </a:r>
          </a:p>
        </p:txBody>
      </p:sp>
      <p:sp>
        <p:nvSpPr>
          <p:cNvPr id="12" name="shape s5.2.0.2"/>
          <p:cNvSpPr/>
          <p:nvPr/>
        </p:nvSpPr>
        <p:spPr>
          <a:xfrm>
            <a:off x="609600" y="3810000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3" name="text s5.2.0.2.0.0.0"/>
          <p:cNvSpPr txBox="1"/>
          <p:nvPr/>
        </p:nvSpPr>
        <p:spPr>
          <a:xfrm>
            <a:off x="878086" y="3983236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읽기 풀이 작다</a:t>
            </a:r>
          </a:p>
        </p:txBody>
      </p:sp>
      <p:sp>
        <p:nvSpPr>
          <p:cNvPr id="14" name="text s5.2.0.2.0.0.1"/>
          <p:cNvSpPr txBox="1"/>
          <p:nvPr/>
        </p:nvSpPr>
        <p:spPr>
          <a:xfrm>
            <a:off x="878086" y="4255591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상한 40, 평시 피크 26 — 여유가 14개뿐</a:t>
            </a:r>
          </a:p>
        </p:txBody>
      </p:sp>
      <p:sp>
        <p:nvSpPr>
          <p:cNvPr id="15" name="text s5.2.0.2.0.1"/>
          <p:cNvSpPr txBox="1"/>
          <p:nvPr/>
        </p:nvSpPr>
        <p:spPr>
          <a:xfrm>
            <a:off x="5389364" y="4119414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상한 96, 80%에 경보</a:t>
            </a:r>
          </a:p>
        </p:txBody>
      </p:sp>
      <p:sp>
        <p:nvSpPr>
          <p:cNvPr id="16" name="shape s5.2.0.3"/>
          <p:cNvSpPr/>
          <p:nvPr/>
        </p:nvSpPr>
        <p:spPr>
          <a:xfrm>
            <a:off x="609600" y="4763988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7" name="text s5.2.0.3.0.0.0"/>
          <p:cNvSpPr txBox="1"/>
          <p:nvPr/>
        </p:nvSpPr>
        <p:spPr>
          <a:xfrm>
            <a:off x="878086" y="4937224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경보가 5분 평균</a:t>
            </a:r>
          </a:p>
        </p:txBody>
      </p:sp>
      <p:sp>
        <p:nvSpPr>
          <p:cNvPr id="18" name="text s5.2.0.3.0.0.1"/>
          <p:cNvSpPr txBox="1"/>
          <p:nvPr/>
        </p:nvSpPr>
        <p:spPr>
          <a:xfrm>
            <a:off x="878086" y="5209580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평균이라 급한 스파이크를 늦게 본다</a:t>
            </a:r>
          </a:p>
        </p:txBody>
      </p:sp>
      <p:sp>
        <p:nvSpPr>
          <p:cNvPr id="19" name="text s5.2.0.3.0.1"/>
          <p:cNvSpPr txBox="1"/>
          <p:nvPr/>
        </p:nvSpPr>
        <p:spPr>
          <a:xfrm>
            <a:off x="5389364" y="5073402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1분 p99 경보로</a:t>
            </a:r>
          </a:p>
        </p:txBody>
      </p:sp>
      <p:sp>
        <p:nvSpPr>
          <p:cNvPr id="20" name="shape s5.2.2"/>
          <p:cNvSpPr/>
          <p:nvPr/>
        </p:nvSpPr>
        <p:spPr>
          <a:xfrm>
            <a:off x="9486900" y="2714625"/>
            <a:ext cx="2095500" cy="2095500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1" name="text s5.2.2.0.0"/>
          <p:cNvSpPr txBox="1"/>
          <p:nvPr/>
        </p:nvSpPr>
        <p:spPr>
          <a:xfrm>
            <a:off x="10106769" y="3322439"/>
            <a:ext cx="855762" cy="6399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bg1"/>
                </a:solidFill>
                <a:latin typeface="+mj-lt"/>
                <a:ea typeface="+mj-ea"/>
              </a:rPr>
              <a:t>47</a:t>
            </a:r>
            <a:r>
              <a:rPr sz="2100" b="1" i="0" u="none">
                <a:solidFill>
                  <a:schemeClr val="bg1"/>
                </a:solidFill>
                <a:latin typeface="+mj-lt"/>
                <a:ea typeface="+mj-ea"/>
              </a:rPr>
              <a:t>분</a:t>
            </a:r>
          </a:p>
        </p:txBody>
      </p:sp>
      <p:sp>
        <p:nvSpPr>
          <p:cNvPr id="22" name="text s5.2.2.0.1"/>
          <p:cNvSpPr txBox="1"/>
          <p:nvPr/>
        </p:nvSpPr>
        <p:spPr>
          <a:xfrm>
            <a:off x="10206484" y="3962400"/>
            <a:ext cx="65633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결제 5xx</a:t>
            </a:r>
          </a:p>
        </p:txBody>
      </p:sp>
      <p:sp>
        <p:nvSpPr>
          <p:cNvPr id="23" name="text s5.7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  <p:cxnSp>
        <p:nvCxnSpPr>
          <p:cNvPr id="24" name="connector s5.3"/>
          <p:cNvCxnSpPr>
            <a:stCxn id="4" idx="3"/>
            <a:endCxn id="20" idx="2"/>
          </p:cNvCxnSpPr>
          <p:nvPr/>
        </p:nvCxnSpPr>
        <p:spPr>
          <a:xfrm>
            <a:off x="7848600" y="2331393"/>
            <a:ext cx="1638300" cy="1430982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cxnSp>
        <p:nvCxnSpPr>
          <p:cNvPr id="25" name="connector s5.4"/>
          <p:cNvCxnSpPr>
            <a:stCxn id="8" idx="3"/>
            <a:endCxn id="20" idx="2"/>
          </p:cNvCxnSpPr>
          <p:nvPr/>
        </p:nvCxnSpPr>
        <p:spPr>
          <a:xfrm>
            <a:off x="7848600" y="3285381"/>
            <a:ext cx="1638300" cy="476994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cxnSp>
        <p:nvCxnSpPr>
          <p:cNvPr id="26" name="connector s5.5"/>
          <p:cNvCxnSpPr>
            <a:stCxn id="12" idx="3"/>
            <a:endCxn id="20" idx="2"/>
          </p:cNvCxnSpPr>
          <p:nvPr/>
        </p:nvCxnSpPr>
        <p:spPr>
          <a:xfrm flipV="1">
            <a:off x="7848600" y="3762375"/>
            <a:ext cx="1638300" cy="476994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cxnSp>
        <p:nvCxnSpPr>
          <p:cNvPr id="27" name="connector s5.6"/>
          <p:cNvCxnSpPr>
            <a:stCxn id="16" idx="3"/>
            <a:endCxn id="20" idx="2"/>
          </p:cNvCxnSpPr>
          <p:nvPr/>
        </p:nvCxnSpPr>
        <p:spPr>
          <a:xfrm flipV="1">
            <a:off x="7848600" y="3762375"/>
            <a:ext cx="1638300" cy="1430982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sp>
        <p:nvSpPr>
          <p:cNvPr id="28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29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59086"/>
            <a:ext cx="5372100" cy="4989314"/>
          </a:xfrm>
          <a:prstGeom prst="roundRect">
            <a:avLst>
              <a:gd name="adj" fmla="val 5345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4" name="text s6.1.0.0.0.0"/>
          <p:cNvSpPr txBox="1"/>
          <p:nvPr/>
        </p:nvSpPr>
        <p:spPr>
          <a:xfrm>
            <a:off x="992386" y="1666429"/>
            <a:ext cx="805458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5" name="shape s6.1.0.0.0.1"/>
          <p:cNvSpPr/>
          <p:nvPr/>
        </p:nvSpPr>
        <p:spPr>
          <a:xfrm>
            <a:off x="1893094" y="1641872"/>
            <a:ext cx="667792" cy="3958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  <a:prstDash val="solid"/>
          </a:ln>
        </p:spPr>
        <p:txBody>
          <a:bodyPr wrap="square" lIns="95250" tIns="0" rIns="9525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D+3</a:t>
            </a:r>
          </a:p>
        </p:txBody>
      </p:sp>
      <p:sp>
        <p:nvSpPr>
          <p:cNvPr id="6" name="shape s6.1.0.0.1.0"/>
          <p:cNvSpPr/>
          <p:nvPr/>
        </p:nvSpPr>
        <p:spPr>
          <a:xfrm>
            <a:off x="992386" y="2730847"/>
            <a:ext cx="381000" cy="381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1</a:t>
            </a:r>
          </a:p>
        </p:txBody>
      </p:sp>
      <p:sp>
        <p:nvSpPr>
          <p:cNvPr id="7" name="text s6.1.0.0.1.1.0"/>
          <p:cNvSpPr txBox="1"/>
          <p:nvPr/>
        </p:nvSpPr>
        <p:spPr>
          <a:xfrm>
            <a:off x="1563886" y="2730847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TTL에 ±10% 지터</a:t>
            </a:r>
          </a:p>
        </p:txBody>
      </p:sp>
      <p:sp>
        <p:nvSpPr>
          <p:cNvPr id="8" name="text s6.1.0.0.1.1.1"/>
          <p:cNvSpPr txBox="1"/>
          <p:nvPr/>
        </p:nvSpPr>
        <p:spPr>
          <a:xfrm>
            <a:off x="1563886" y="3073747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캐시 전부 · 고정 TTL을 막는다</a:t>
            </a:r>
          </a:p>
        </p:txBody>
      </p:sp>
      <p:sp>
        <p:nvSpPr>
          <p:cNvPr id="9" name="shape s6.1.0.0.2.0"/>
          <p:cNvSpPr/>
          <p:nvPr/>
        </p:nvSpPr>
        <p:spPr>
          <a:xfrm>
            <a:off x="992386" y="4006900"/>
            <a:ext cx="381000" cy="381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2</a:t>
            </a:r>
          </a:p>
        </p:txBody>
      </p:sp>
      <p:sp>
        <p:nvSpPr>
          <p:cNvPr id="10" name="text s6.1.0.0.2.1.0"/>
          <p:cNvSpPr txBox="1"/>
          <p:nvPr/>
        </p:nvSpPr>
        <p:spPr>
          <a:xfrm>
            <a:off x="1563886" y="4006900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5xx 경보를 1분 p99로</a:t>
            </a:r>
          </a:p>
        </p:txBody>
      </p:sp>
      <p:sp>
        <p:nvSpPr>
          <p:cNvPr id="11" name="text s6.1.0.0.2.1.1"/>
          <p:cNvSpPr txBox="1"/>
          <p:nvPr/>
        </p:nvSpPr>
        <p:spPr>
          <a:xfrm>
            <a:off x="1563886" y="4349800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 → 목표 3분</a:t>
            </a:r>
          </a:p>
        </p:txBody>
      </p:sp>
      <p:sp>
        <p:nvSpPr>
          <p:cNvPr id="12" name="shape s6.1.0.0.3.0"/>
          <p:cNvSpPr/>
          <p:nvPr/>
        </p:nvSpPr>
        <p:spPr>
          <a:xfrm>
            <a:off x="992386" y="5282803"/>
            <a:ext cx="381000" cy="381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3</a:t>
            </a:r>
          </a:p>
        </p:txBody>
      </p:sp>
      <p:sp>
        <p:nvSpPr>
          <p:cNvPr id="13" name="text s6.1.0.0.3.1.0"/>
          <p:cNvSpPr txBox="1"/>
          <p:nvPr/>
        </p:nvSpPr>
        <p:spPr>
          <a:xfrm>
            <a:off x="1563886" y="5282803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읽기 풀 상한 40 → 96</a:t>
            </a:r>
          </a:p>
        </p:txBody>
      </p:sp>
      <p:sp>
        <p:nvSpPr>
          <p:cNvPr id="14" name="text s6.1.0.0.3.1.1"/>
          <p:cNvSpPr txBox="1"/>
          <p:nvPr/>
        </p:nvSpPr>
        <p:spPr>
          <a:xfrm>
            <a:off x="1563886" y="5625703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여유 14개 → 70개 · 80%에 경보</a:t>
            </a:r>
          </a:p>
        </p:txBody>
      </p:sp>
      <p:sp>
        <p:nvSpPr>
          <p:cNvPr id="15" name="shape s6.2.0"/>
          <p:cNvSpPr/>
          <p:nvPr/>
        </p:nvSpPr>
        <p:spPr>
          <a:xfrm>
            <a:off x="6210300" y="1259086"/>
            <a:ext cx="5372100" cy="4989314"/>
          </a:xfrm>
          <a:prstGeom prst="roundRect">
            <a:avLst>
              <a:gd name="adj" fmla="val 5345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16" name="text s6.2.0.0.0.0"/>
          <p:cNvSpPr txBox="1"/>
          <p:nvPr/>
        </p:nvSpPr>
        <p:spPr>
          <a:xfrm>
            <a:off x="6593086" y="1666429"/>
            <a:ext cx="1541562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17" name="shape s6.2.0.0.0.1"/>
          <p:cNvSpPr/>
          <p:nvPr/>
        </p:nvSpPr>
        <p:spPr>
          <a:xfrm>
            <a:off x="8229898" y="1641872"/>
            <a:ext cx="765870" cy="3958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  <a:prstDash val="solid"/>
          </a:ln>
        </p:spPr>
        <p:txBody>
          <a:bodyPr wrap="square" lIns="95250" tIns="0" rIns="9525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D+14</a:t>
            </a:r>
          </a:p>
        </p:txBody>
      </p:sp>
      <p:sp>
        <p:nvSpPr>
          <p:cNvPr id="18" name="shape s6.2.0.0.1.0"/>
          <p:cNvSpPr/>
          <p:nvPr/>
        </p:nvSpPr>
        <p:spPr>
          <a:xfrm>
            <a:off x="6593086" y="2730847"/>
            <a:ext cx="381000" cy="38100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3"/>
                </a:solidFill>
                <a:latin typeface="+mn-lt"/>
                <a:ea typeface="+mn-ea"/>
              </a:rPr>
              <a:t>4</a:t>
            </a:r>
          </a:p>
        </p:txBody>
      </p:sp>
      <p:sp>
        <p:nvSpPr>
          <p:cNvPr id="19" name="text s6.2.0.0.1.1.0"/>
          <p:cNvSpPr txBox="1"/>
          <p:nvPr/>
        </p:nvSpPr>
        <p:spPr>
          <a:xfrm>
            <a:off x="7164586" y="2730847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캐시 미스에 단일 비행 잠금</a:t>
            </a:r>
          </a:p>
        </p:txBody>
      </p:sp>
      <p:sp>
        <p:nvSpPr>
          <p:cNvPr id="20" name="text s6.2.0.0.1.1.1"/>
          <p:cNvSpPr txBox="1"/>
          <p:nvPr/>
        </p:nvSpPr>
        <p:spPr>
          <a:xfrm>
            <a:off x="7164586" y="3073747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질의 하나가 되는 경로를 끊는다</a:t>
            </a:r>
          </a:p>
        </p:txBody>
      </p:sp>
      <p:sp>
        <p:nvSpPr>
          <p:cNvPr id="21" name="shape s6.2.0.0.2.0"/>
          <p:cNvSpPr/>
          <p:nvPr/>
        </p:nvSpPr>
        <p:spPr>
          <a:xfrm>
            <a:off x="6593086" y="4006900"/>
            <a:ext cx="381000" cy="38100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3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22" name="text s6.2.0.0.2.1.0"/>
          <p:cNvSpPr txBox="1"/>
          <p:nvPr/>
        </p:nvSpPr>
        <p:spPr>
          <a:xfrm>
            <a:off x="7164586" y="4006900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부하 차단을 자동으로</a:t>
            </a:r>
          </a:p>
        </p:txBody>
      </p:sp>
      <p:sp>
        <p:nvSpPr>
          <p:cNvPr id="23" name="text s6.2.0.0.2.1.1"/>
          <p:cNvSpPr txBox="1"/>
          <p:nvPr/>
        </p:nvSpPr>
        <p:spPr>
          <a:xfrm>
            <a:off x="7164586" y="4349800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오류율 2%에서 — 사람이 17분 걸린 일</a:t>
            </a:r>
          </a:p>
        </p:txBody>
      </p:sp>
      <p:sp>
        <p:nvSpPr>
          <p:cNvPr id="24" name="shape s6.2.0.0.3.0"/>
          <p:cNvSpPr/>
          <p:nvPr/>
        </p:nvSpPr>
        <p:spPr>
          <a:xfrm>
            <a:off x="6593086" y="5282803"/>
            <a:ext cx="381000" cy="38100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3"/>
                </a:solidFill>
                <a:latin typeface="+mn-lt"/>
                <a:ea typeface="+mn-ea"/>
              </a:rPr>
              <a:t>6</a:t>
            </a:r>
          </a:p>
        </p:txBody>
      </p:sp>
      <p:sp>
        <p:nvSpPr>
          <p:cNvPr id="25" name="text s6.2.0.0.3.1.0"/>
          <p:cNvSpPr txBox="1"/>
          <p:nvPr/>
        </p:nvSpPr>
        <p:spPr>
          <a:xfrm>
            <a:off x="7164586" y="5282803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스탬피드 부하 시험</a:t>
            </a:r>
          </a:p>
        </p:txBody>
      </p:sp>
      <p:sp>
        <p:nvSpPr>
          <p:cNvPr id="26" name="text s6.2.0.0.3.1.1"/>
          <p:cNvSpPr txBox="1"/>
          <p:nvPr/>
        </p:nvSpPr>
        <p:spPr>
          <a:xfrm>
            <a:off x="7164586" y="5625703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배포 게이트에 · 예열 30분 뒤를 재현한다</a:t>
            </a:r>
          </a:p>
        </p:txBody>
      </p:sp>
      <p:sp>
        <p:nvSpPr>
          <p:cNvPr id="27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28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추이</a:t>
            </a:r>
          </a:p>
        </p:txBody>
      </p:sp>
      <p:sp>
        <p:nvSpPr>
          <p:cNvPr id="3" name="h2 s7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탐지와 완화가 줄고 있다 — 아직 느리다</a:t>
            </a:r>
          </a:p>
        </p:txBody>
      </p:sp>
      <p:sp>
        <p:nvSpPr>
          <p:cNvPr id="4" name="shape s7.2.0" descr="월별 평균 탐지 · 완화 시간 — 5월 22분 · 31분에서 이번 장애 12분 · 17분까지"/>
          <p:cNvSpPr/>
          <p:nvPr/>
        </p:nvSpPr>
        <p:spPr>
          <a:xfrm>
            <a:off x="609600" y="1996380"/>
            <a:ext cx="8001000" cy="400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7.2.0.0.0.0.0.0.0.1"/>
          <p:cNvSpPr txBox="1"/>
          <p:nvPr/>
        </p:nvSpPr>
        <p:spPr>
          <a:xfrm>
            <a:off x="849660" y="3185815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6" name="shape s7.2.0.0.0.0.0.0.0.2"/>
          <p:cNvSpPr/>
          <p:nvPr/>
        </p:nvSpPr>
        <p:spPr>
          <a:xfrm>
            <a:off x="849660" y="3463826"/>
            <a:ext cx="560040" cy="19484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2.0.0.0.0.0.0.1.1"/>
          <p:cNvSpPr txBox="1"/>
          <p:nvPr/>
        </p:nvSpPr>
        <p:spPr>
          <a:xfrm>
            <a:off x="1409700" y="2388691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31분</a:t>
            </a:r>
          </a:p>
        </p:txBody>
      </p:sp>
      <p:sp>
        <p:nvSpPr>
          <p:cNvPr id="8" name="shape s7.2.0.0.0.0.0.0.1.2"/>
          <p:cNvSpPr/>
          <p:nvPr/>
        </p:nvSpPr>
        <p:spPr>
          <a:xfrm>
            <a:off x="1409700" y="2666702"/>
            <a:ext cx="560040" cy="27455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7.2.0.0.0.0.0.1"/>
          <p:cNvSpPr/>
          <p:nvPr/>
        </p:nvSpPr>
        <p:spPr>
          <a:xfrm>
            <a:off x="6096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7.2.0.0.0.0.1.0.0.1"/>
          <p:cNvSpPr txBox="1"/>
          <p:nvPr/>
        </p:nvSpPr>
        <p:spPr>
          <a:xfrm>
            <a:off x="2449860" y="3451473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11" name="shape s7.2.0.0.0.0.1.0.0.2"/>
          <p:cNvSpPr/>
          <p:nvPr/>
        </p:nvSpPr>
        <p:spPr>
          <a:xfrm>
            <a:off x="2449860" y="3729484"/>
            <a:ext cx="560040" cy="168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2" name="text s7.2.0.0.0.0.1.0.1.1"/>
          <p:cNvSpPr txBox="1"/>
          <p:nvPr/>
        </p:nvSpPr>
        <p:spPr>
          <a:xfrm>
            <a:off x="3009900" y="2831306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26분</a:t>
            </a:r>
          </a:p>
        </p:txBody>
      </p:sp>
      <p:sp>
        <p:nvSpPr>
          <p:cNvPr id="13" name="shape s7.2.0.0.0.0.1.0.1.2"/>
          <p:cNvSpPr/>
          <p:nvPr/>
        </p:nvSpPr>
        <p:spPr>
          <a:xfrm>
            <a:off x="3009900" y="3109317"/>
            <a:ext cx="560040" cy="230296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2.0.0.0.0.1.1"/>
          <p:cNvSpPr/>
          <p:nvPr/>
        </p:nvSpPr>
        <p:spPr>
          <a:xfrm>
            <a:off x="22098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2.0.0.0.0.2.0.0.1"/>
          <p:cNvSpPr txBox="1"/>
          <p:nvPr/>
        </p:nvSpPr>
        <p:spPr>
          <a:xfrm>
            <a:off x="4050060" y="3805684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6" name="shape s7.2.0.0.0.0.2.0.0.2"/>
          <p:cNvSpPr/>
          <p:nvPr/>
        </p:nvSpPr>
        <p:spPr>
          <a:xfrm>
            <a:off x="4050060" y="4083695"/>
            <a:ext cx="560040" cy="13285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text s7.2.0.0.0.0.2.0.1.1"/>
          <p:cNvSpPr txBox="1"/>
          <p:nvPr/>
        </p:nvSpPr>
        <p:spPr>
          <a:xfrm>
            <a:off x="4610100" y="3008709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24분</a:t>
            </a:r>
          </a:p>
        </p:txBody>
      </p:sp>
      <p:sp>
        <p:nvSpPr>
          <p:cNvPr id="18" name="shape s7.2.0.0.0.0.2.0.1.2"/>
          <p:cNvSpPr/>
          <p:nvPr/>
        </p:nvSpPr>
        <p:spPr>
          <a:xfrm>
            <a:off x="4610100" y="3286720"/>
            <a:ext cx="560040" cy="21255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7.2.0.0.0.0.2.1"/>
          <p:cNvSpPr/>
          <p:nvPr/>
        </p:nvSpPr>
        <p:spPr>
          <a:xfrm>
            <a:off x="38100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7.2.0.0.0.0.3.0.0.1"/>
          <p:cNvSpPr txBox="1"/>
          <p:nvPr/>
        </p:nvSpPr>
        <p:spPr>
          <a:xfrm>
            <a:off x="5650260" y="3982938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21" name="shape s7.2.0.0.0.0.3.0.0.2"/>
          <p:cNvSpPr/>
          <p:nvPr/>
        </p:nvSpPr>
        <p:spPr>
          <a:xfrm>
            <a:off x="5650260" y="4260949"/>
            <a:ext cx="560040" cy="115133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text s7.2.0.0.0.0.3.0.1.1"/>
          <p:cNvSpPr txBox="1"/>
          <p:nvPr/>
        </p:nvSpPr>
        <p:spPr>
          <a:xfrm>
            <a:off x="6210300" y="3363069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20분</a:t>
            </a:r>
          </a:p>
        </p:txBody>
      </p:sp>
      <p:sp>
        <p:nvSpPr>
          <p:cNvPr id="23" name="shape s7.2.0.0.0.0.3.0.1.2"/>
          <p:cNvSpPr/>
          <p:nvPr/>
        </p:nvSpPr>
        <p:spPr>
          <a:xfrm>
            <a:off x="6210300" y="3641080"/>
            <a:ext cx="560040" cy="17712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7.2.0.0.0.0.3.1"/>
          <p:cNvSpPr/>
          <p:nvPr/>
        </p:nvSpPr>
        <p:spPr>
          <a:xfrm>
            <a:off x="54102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5" name="text s7.2.0.0.0.0.4.0.0.1"/>
          <p:cNvSpPr txBox="1"/>
          <p:nvPr/>
        </p:nvSpPr>
        <p:spPr>
          <a:xfrm>
            <a:off x="7250460" y="4071342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26" name="shape s7.2.0.0.0.0.4.0.0.2"/>
          <p:cNvSpPr/>
          <p:nvPr/>
        </p:nvSpPr>
        <p:spPr>
          <a:xfrm>
            <a:off x="7250460" y="4349353"/>
            <a:ext cx="560040" cy="1062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text s7.2.0.0.0.0.4.0.1.1"/>
          <p:cNvSpPr txBox="1"/>
          <p:nvPr/>
        </p:nvSpPr>
        <p:spPr>
          <a:xfrm>
            <a:off x="7810500" y="3628727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17분</a:t>
            </a:r>
          </a:p>
        </p:txBody>
      </p:sp>
      <p:sp>
        <p:nvSpPr>
          <p:cNvPr id="28" name="shape s7.2.0.0.0.0.4.0.1.2"/>
          <p:cNvSpPr/>
          <p:nvPr/>
        </p:nvSpPr>
        <p:spPr>
          <a:xfrm>
            <a:off x="7810500" y="3906738"/>
            <a:ext cx="560040" cy="15055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9" name="shape s7.2.0.0.0.0.4.1"/>
          <p:cNvSpPr/>
          <p:nvPr/>
        </p:nvSpPr>
        <p:spPr>
          <a:xfrm>
            <a:off x="70104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0" name="text s7.2.0.0.0.1.0"/>
          <p:cNvSpPr txBox="1"/>
          <p:nvPr/>
        </p:nvSpPr>
        <p:spPr>
          <a:xfrm>
            <a:off x="6096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31" name="text s7.2.0.0.0.1.1"/>
          <p:cNvSpPr txBox="1"/>
          <p:nvPr/>
        </p:nvSpPr>
        <p:spPr>
          <a:xfrm>
            <a:off x="22098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32" name="text s7.2.0.0.0.1.2"/>
          <p:cNvSpPr txBox="1"/>
          <p:nvPr/>
        </p:nvSpPr>
        <p:spPr>
          <a:xfrm>
            <a:off x="38100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33" name="text s7.2.0.0.0.1.3"/>
          <p:cNvSpPr txBox="1"/>
          <p:nvPr/>
        </p:nvSpPr>
        <p:spPr>
          <a:xfrm>
            <a:off x="54102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34" name="text s7.2.0.0.0.1.4"/>
          <p:cNvSpPr txBox="1"/>
          <p:nvPr/>
        </p:nvSpPr>
        <p:spPr>
          <a:xfrm>
            <a:off x="70104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35" name="shape s7.2.0.0.1.0.0"/>
          <p:cNvSpPr/>
          <p:nvPr/>
        </p:nvSpPr>
        <p:spPr>
          <a:xfrm>
            <a:off x="4046934" y="5819775"/>
            <a:ext cx="114300" cy="114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6" name="text s7.2.0.0.1.0.1"/>
          <p:cNvSpPr txBox="1"/>
          <p:nvPr/>
        </p:nvSpPr>
        <p:spPr>
          <a:xfrm>
            <a:off x="4199334" y="5756970"/>
            <a:ext cx="315516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</a:t>
            </a:r>
          </a:p>
        </p:txBody>
      </p:sp>
      <p:sp>
        <p:nvSpPr>
          <p:cNvPr id="37" name="shape s7.2.0.0.1.1.0"/>
          <p:cNvSpPr/>
          <p:nvPr/>
        </p:nvSpPr>
        <p:spPr>
          <a:xfrm>
            <a:off x="4705350" y="5819775"/>
            <a:ext cx="114300" cy="11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8" name="text s7.2.0.0.1.1.1"/>
          <p:cNvSpPr txBox="1"/>
          <p:nvPr/>
        </p:nvSpPr>
        <p:spPr>
          <a:xfrm>
            <a:off x="4857750" y="5756970"/>
            <a:ext cx="315516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완화</a:t>
            </a:r>
          </a:p>
        </p:txBody>
      </p:sp>
      <p:sp>
        <p:nvSpPr>
          <p:cNvPr id="39" name="shape s7.2.1"/>
          <p:cNvSpPr/>
          <p:nvPr/>
        </p:nvSpPr>
        <p:spPr>
          <a:xfrm>
            <a:off x="8915400" y="2527250"/>
            <a:ext cx="2667000" cy="29387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40" name="text s7.2.1.0.0"/>
          <p:cNvSpPr txBox="1"/>
          <p:nvPr/>
        </p:nvSpPr>
        <p:spPr>
          <a:xfrm>
            <a:off x="9298186" y="2910036"/>
            <a:ext cx="1901428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탐지 목표</a:t>
            </a:r>
          </a:p>
        </p:txBody>
      </p:sp>
      <p:sp>
        <p:nvSpPr>
          <p:cNvPr id="41" name="text s7.2.1.0.1"/>
          <p:cNvSpPr txBox="1"/>
          <p:nvPr/>
        </p:nvSpPr>
        <p:spPr>
          <a:xfrm>
            <a:off x="9298186" y="3262461"/>
            <a:ext cx="1901428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4"/>
                </a:solidFill>
                <a:latin typeface="+mj-lt"/>
                <a:ea typeface="+mj-ea"/>
              </a:rPr>
              <a:t>3</a:t>
            </a:r>
            <a:r>
              <a:rPr sz="2700" b="1" i="0" u="none">
                <a:solidFill>
                  <a:schemeClr val="accent4"/>
                </a:solidFill>
                <a:latin typeface="+mj-lt"/>
                <a:ea typeface="+mj-ea"/>
              </a:rPr>
              <a:t>분</a:t>
            </a:r>
          </a:p>
        </p:txBody>
      </p:sp>
      <p:sp>
        <p:nvSpPr>
          <p:cNvPr id="42" name="text s7.2.1.0.2"/>
          <p:cNvSpPr txBox="1"/>
          <p:nvPr/>
        </p:nvSpPr>
        <p:spPr>
          <a:xfrm>
            <a:off x="9298186" y="4363492"/>
            <a:ext cx="1901428" cy="7197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1분 p99 경보 + 2분 확인. 액션 2번이 이 막대를 사분의 일로 줄인다.</a:t>
            </a:r>
          </a:p>
        </p:txBody>
      </p:sp>
      <p:sp>
        <p:nvSpPr>
          <p:cNvPr id="43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4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6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  <p:sp>
        <p:nvSpPr>
          <p:cNvPr id="4" name="chrome footer"/>
          <p:cNvSpPr txBox="1"/>
          <p:nvPr/>
        </p:nvSpPr>
        <p:spPr>
          <a:xfrm>
            <a:off x="609600" y="6248400"/>
            <a:ext cx="146446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장애 회고</a:t>
            </a:r>
          </a:p>
        </p:txBody>
      </p:sp>
      <p:sp>
        <p:nvSpPr>
          <p:cNvPr id="5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9</a:t>
            </a:fld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609600" y="2684115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609600" y="3827115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기록: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회고 문서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ink">
  <a:themeElements>
    <a:clrScheme name="ink">
      <a:dk1>
        <a:srgbClr val="F2F4F7"/>
      </a:dk1>
      <a:lt1>
        <a:srgbClr val="15171B"/>
      </a:lt1>
      <a:dk2>
        <a:srgbClr val="9CA3AF"/>
      </a:dk2>
      <a:lt2>
        <a:srgbClr val="21252B"/>
      </a:lt2>
      <a:accent1>
        <a:srgbClr val="3B96FF"/>
      </a:accent1>
      <a:accent2>
        <a:srgbClr val="00A987"/>
      </a:accent2>
      <a:accent3>
        <a:srgbClr val="00AD2B"/>
      </a:accent3>
      <a:accent4>
        <a:srgbClr val="CB8700"/>
      </a:accent4>
      <a:accent5>
        <a:srgbClr val="FF5E4F"/>
      </a:accent5>
      <a:accent6>
        <a:srgbClr val="D75EFF"/>
      </a:accent6>
      <a:hlink>
        <a:srgbClr val="3B96FF"/>
      </a:hlink>
      <a:folHlink>
        <a:srgbClr val="3B96FF"/>
      </a:folHlink>
    </a:clrScheme>
    <a:fontScheme name="ink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in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ink">
  <a:themeElements>
    <a:clrScheme name="ink">
      <a:dk1>
        <a:srgbClr val="F2F4F7"/>
      </a:dk1>
      <a:lt1>
        <a:srgbClr val="15171B"/>
      </a:lt1>
      <a:dk2>
        <a:srgbClr val="9CA3AF"/>
      </a:dk2>
      <a:lt2>
        <a:srgbClr val="21252B"/>
      </a:lt2>
      <a:accent1>
        <a:srgbClr val="3B96FF"/>
      </a:accent1>
      <a:accent2>
        <a:srgbClr val="00A987"/>
      </a:accent2>
      <a:accent3>
        <a:srgbClr val="00AD2B"/>
      </a:accent3>
      <a:accent4>
        <a:srgbClr val="CB8700"/>
      </a:accent4>
      <a:accent5>
        <a:srgbClr val="FF5E4F"/>
      </a:accent5>
      <a:accent6>
        <a:srgbClr val="D75EFF"/>
      </a:accent6>
      <a:hlink>
        <a:srgbClr val="3B96FF"/>
      </a:hlink>
      <a:folHlink>
        <a:srgbClr val="3B96FF"/>
      </a:folHlink>
    </a:clrScheme>
    <a:fontScheme name="ink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in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