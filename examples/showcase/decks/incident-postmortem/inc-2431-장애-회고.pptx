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theme" Target="theme/theme1.xml"/>
  <Relationship Id="rId13" Type="http://schemas.openxmlformats.org/officeDocument/2006/relationships/notesMaster" Target="notesMasters/notesMaster1.xml"/>
</Relationships>

</file>

<file path=ppt/notesMasters/_rels/notes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686300"/>
            <a:ext cx="5486400" cy="37719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
</file>

<file path=ppt/notesSlides/_rels/notesSlide2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2.xml"/>
</Relationships>

</file>

<file path=ppt/notesSlides/_rels/notesSlide3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3.xml"/>
</Relationships>

</file>

<file path=ppt/notesSlides/_rels/notesSlide4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4.xml"/>
</Relationships>

</file>

<file path=ppt/notesSlides/_rels/notesSlide5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5.xml"/>
</Relationships>

</file>

<file path=ppt/notesSlides/_rels/notesSlide6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6.xml"/>
</Relationships>

</file>

<file path=ppt/notesSlides/_rels/notesSlide7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7.xml"/>
</Relationships>

</file>

<file path=ppt/notesSlides/_rels/notesSlide8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8.xml"/>
</Relationships>

</file>

<file path=ppt/notesSlides/_rels/notesSlide9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9.xml"/>
</Relationships>

</file>

<file path=ppt/notesSlides/_rels/notesSlide10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0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회고의 규칙 먼저: 사람이 아니라 시스템을 본다. 30초.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숫자 셋만 읽고 다음으로. 자세한 것은 뒤에 있다.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경보가 늦은 이유는 5xx 임계값이 5분 평균이어서다. 액션 1번이 여기서 나온다.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돈이 빠진 건은 없다. CS 문의 34건.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고정 TTL + 일괄 예열 = 스탬피드. 지터와 단일 비행(single-flight) 둘 다 없었다.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순서는 고치는 비용 순이다. 1번과 4번이 이번 주, 2번이 다음 스프린트.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담당과 기한은 이슈에 있다. 여기서는 순서만 합의한다.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추세는 좋지만 목표선이 없다. 다음 회고에 목표선을 그린다.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이 문장을 캐시 설계 리뷰 체크리스트 맨 위에 넣는다.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반론이 나오면 액션을 고친다. 회고는 합의가 아니라 수정이 목적이다.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title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author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date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two-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lef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right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quote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attribution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/>
          </a:p>
        </p:txBody>
      </p:sp>
      <p:sp>
        <p:nvSpPr>
          <p:cNvPr id="3" name="contact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  <Relationship Id="rId3" Type="http://schemas.openxmlformats.org/officeDocument/2006/relationships/slideLayout" Target="../slideLayouts/slideLayout2.xml"/>
  <Relationship Id="rId4" Type="http://schemas.openxmlformats.org/officeDocument/2006/relationships/slideLayout" Target="../slideLayouts/slideLayout3.xml"/>
  <Relationship Id="rId5" Type="http://schemas.openxmlformats.org/officeDocument/2006/relationships/slideLayout" Target="../slideLayouts/slideLayout4.xml"/>
  <Relationship Id="rId6" Type="http://schemas.openxmlformats.org/officeDocument/2006/relationships/slideLayout" Target="../slideLayouts/slideLayout5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320"/>
            <a:ext cx="11277600" cy="1143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11277600" cy="48006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  <p:sldLayoutId id="2147483652" r:id="rId5"/>
    <p:sldLayoutId id="2147483653" r:id="rId6"/>
  </p:sldLayoutIdLst>
  <p:txStyles>
    <p:titleStyle>
      <a:lvl1pPr algn="l">
        <a:defRPr sz="4400"/>
      </a:lvl1pPr>
    </p:titleStyle>
    <p:bodyStyle>
      <a:lvl1pPr>
        <a:defRPr sz="2400"/>
      </a:lvl1pPr>
    </p:bodyStyle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notesSlide" Target="../notesSlides/notesSlide1.xml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2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3.xml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4.xml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5.xml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6.xml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3.xml"/>
  <Relationship Id="rId2" Type="http://schemas.openxmlformats.org/officeDocument/2006/relationships/notesSlide" Target="../notesSlides/notesSlide7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8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4.xml"/>
  <Relationship Id="rId2" Type="http://schemas.openxmlformats.org/officeDocument/2006/relationships/notesSlide" Target="../notesSlides/notesSlide9.xml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5.xml"/>
  <Relationship Id="rId2" Type="http://schemas.openxmlformats.org/officeDocument/2006/relationships/notesSlide" Target="../notesSlides/notesSlide10.xml"/>
  <Relationship Id="rId3" Type="http://schemas.openxmlformats.org/officeDocument/2006/relationships/hyperlink" Target="https://example.com/inc-2431" TargetMode="Externa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0.0"/>
          <p:cNvSpPr txBox="1"/>
          <p:nvPr>
            <p:ph type="body" idx="2"/>
          </p:nvPr>
        </p:nvSpPr>
        <p:spPr>
          <a:xfrm>
            <a:off x="4924574" y="609600"/>
            <a:ext cx="2342704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INCIDENT REVIEW · INC-2431</a:t>
            </a:r>
          </a:p>
        </p:txBody>
      </p:sp>
      <p:sp>
        <p:nvSpPr>
          <p:cNvPr id="3" name="text s0.1"/>
          <p:cNvSpPr txBox="1"/>
          <p:nvPr>
            <p:ph type="ctrTitle"/>
          </p:nvPr>
        </p:nvSpPr>
        <p:spPr>
          <a:xfrm>
            <a:off x="2893963" y="1078111"/>
            <a:ext cx="6403925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결제 API 5xx, 47분</a:t>
            </a:r>
          </a:p>
        </p:txBody>
      </p:sp>
      <p:sp>
        <p:nvSpPr>
          <p:cNvPr id="4" name="text s0.2"/>
          <p:cNvSpPr txBox="1"/>
          <p:nvPr>
            <p:ph type="subTitle" idx="1"/>
          </p:nvPr>
        </p:nvSpPr>
        <p:spPr>
          <a:xfrm>
            <a:off x="3064073" y="2221111"/>
            <a:ext cx="6063704" cy="371475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925"/>
              </a:lnSpc>
            </a:pPr>
            <a:r>
              <a:rPr sz="2250" b="1">
                <a:solidFill>
                  <a:schemeClr val="tx2"/>
                </a:solidFill>
                <a:latin typeface="+mj-lt"/>
                <a:ea typeface="+mj-ea"/>
              </a:rPr>
              <a:t>캐시 스탬피드 — 무슨 일이 있었고 무엇을 바꾸는가</a:t>
            </a:r>
          </a:p>
        </p:txBody>
      </p:sp>
      <p:sp>
        <p:nvSpPr>
          <p:cNvPr id="5" name="text s0.3"/>
          <p:cNvSpPr txBox="1"/>
          <p:nvPr>
            <p:ph type="body" idx="3"/>
          </p:nvPr>
        </p:nvSpPr>
        <p:spPr>
          <a:xfrm>
            <a:off x="5308699" y="5436989"/>
            <a:ext cx="1574602" cy="3429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Platform Team</a:t>
            </a:r>
          </a:p>
        </p:txBody>
      </p:sp>
      <p:sp>
        <p:nvSpPr>
          <p:cNvPr id="6" name="text s0.4"/>
          <p:cNvSpPr txBox="1"/>
          <p:nvPr>
            <p:ph type="body" idx="4"/>
          </p:nvPr>
        </p:nvSpPr>
        <p:spPr>
          <a:xfrm>
            <a:off x="5648474" y="6008489"/>
            <a:ext cx="895052" cy="23991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2026-09-18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1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한 장 요약</a:t>
            </a:r>
          </a:p>
        </p:txBody>
      </p:sp>
      <p:sp>
        <p:nvSpPr>
          <p:cNvPr id="3" name="shape s1.1.0"/>
          <p:cNvSpPr/>
          <p:nvPr/>
        </p:nvSpPr>
        <p:spPr>
          <a:xfrm>
            <a:off x="6096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1.1.0.0.0"/>
          <p:cNvSpPr txBox="1"/>
          <p:nvPr/>
        </p:nvSpPr>
        <p:spPr>
          <a:xfrm>
            <a:off x="10193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5"/>
                </a:solidFill>
                <a:latin typeface="+mj-lt"/>
                <a:ea typeface="+mj-ea"/>
              </a:rPr>
              <a:t>47분</a:t>
            </a:r>
          </a:p>
        </p:txBody>
      </p:sp>
      <p:sp>
        <p:nvSpPr>
          <p:cNvPr id="5" name="text s1.1.0.0.1"/>
          <p:cNvSpPr txBox="1"/>
          <p:nvPr/>
        </p:nvSpPr>
        <p:spPr>
          <a:xfrm>
            <a:off x="10193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결제 API 5xx 지속</a:t>
            </a:r>
          </a:p>
        </p:txBody>
      </p:sp>
      <p:sp>
        <p:nvSpPr>
          <p:cNvPr id="6" name="text s1.1.0.0.2"/>
          <p:cNvSpPr txBox="1"/>
          <p:nvPr/>
        </p:nvSpPr>
        <p:spPr>
          <a:xfrm>
            <a:off x="10193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14:02 – 14:49 KST</a:t>
            </a:r>
          </a:p>
        </p:txBody>
      </p:sp>
      <p:sp>
        <p:nvSpPr>
          <p:cNvPr id="7" name="shape s1.1.1"/>
          <p:cNvSpPr/>
          <p:nvPr/>
        </p:nvSpPr>
        <p:spPr>
          <a:xfrm>
            <a:off x="43434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8" name="text s1.1.1.0.0"/>
          <p:cNvSpPr txBox="1"/>
          <p:nvPr/>
        </p:nvSpPr>
        <p:spPr>
          <a:xfrm>
            <a:off x="47531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5"/>
                </a:solidFill>
                <a:latin typeface="+mj-lt"/>
                <a:ea typeface="+mj-ea"/>
              </a:rPr>
              <a:t>8.4%</a:t>
            </a:r>
          </a:p>
        </p:txBody>
      </p:sp>
      <p:sp>
        <p:nvSpPr>
          <p:cNvPr id="9" name="text s1.1.1.0.1"/>
          <p:cNvSpPr txBox="1"/>
          <p:nvPr/>
        </p:nvSpPr>
        <p:spPr>
          <a:xfrm>
            <a:off x="47531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최대 오류율</a:t>
            </a:r>
          </a:p>
        </p:txBody>
      </p:sp>
      <p:sp>
        <p:nvSpPr>
          <p:cNvPr id="10" name="text s1.1.1.0.2"/>
          <p:cNvSpPr txBox="1"/>
          <p:nvPr/>
        </p:nvSpPr>
        <p:spPr>
          <a:xfrm>
            <a:off x="47531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평시 0.02%</a:t>
            </a:r>
          </a:p>
        </p:txBody>
      </p:sp>
      <p:sp>
        <p:nvSpPr>
          <p:cNvPr id="11" name="shape s1.1.2"/>
          <p:cNvSpPr/>
          <p:nvPr/>
        </p:nvSpPr>
        <p:spPr>
          <a:xfrm>
            <a:off x="8077200" y="1283940"/>
            <a:ext cx="3505200" cy="3810149"/>
          </a:xfrm>
          <a:prstGeom prst="roundRect">
            <a:avLst>
              <a:gd name="adj" fmla="val 6522"/>
            </a:avLst>
          </a:prstGeom>
          <a:solidFill>
            <a:schemeClr val="bg2"/>
          </a:solidFill>
          <a:ln>
            <a:noFill/>
          </a:ln>
          <a:effectLst>
            <a:outerShdw blurRad="152400" dist="38100" dir="5400000" rotWithShape="1">
              <a:schemeClr val="tx1">
                <a:alpha val="15000"/>
              </a:schemeClr>
            </a:outerShdw>
          </a:effectLst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1.1.2.0.0"/>
          <p:cNvSpPr txBox="1"/>
          <p:nvPr/>
        </p:nvSpPr>
        <p:spPr>
          <a:xfrm>
            <a:off x="8486924" y="2429024"/>
            <a:ext cx="2685752" cy="82287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6480"/>
              </a:lnSpc>
            </a:pPr>
            <a:r>
              <a:rPr sz="5400" b="1">
                <a:solidFill>
                  <a:schemeClr val="accent4"/>
                </a:solidFill>
                <a:latin typeface="+mj-lt"/>
                <a:ea typeface="+mj-ea"/>
              </a:rPr>
              <a:t>12분</a:t>
            </a:r>
          </a:p>
        </p:txBody>
      </p:sp>
      <p:sp>
        <p:nvSpPr>
          <p:cNvPr id="13" name="text s1.1.2.0.1"/>
          <p:cNvSpPr txBox="1"/>
          <p:nvPr/>
        </p:nvSpPr>
        <p:spPr>
          <a:xfrm>
            <a:off x="8486924" y="3309045"/>
            <a:ext cx="26857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탐지까지 걸린 시간</a:t>
            </a:r>
          </a:p>
        </p:txBody>
      </p:sp>
      <p:sp>
        <p:nvSpPr>
          <p:cNvPr id="14" name="text s1.1.2.0.2"/>
          <p:cNvSpPr txBox="1"/>
          <p:nvPr/>
        </p:nvSpPr>
        <p:spPr>
          <a:xfrm>
            <a:off x="8486924" y="3709095"/>
            <a:ext cx="26857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경보가 5분 평균이었다</a:t>
            </a:r>
          </a:p>
        </p:txBody>
      </p:sp>
      <p:sp>
        <p:nvSpPr>
          <p:cNvPr id="15" name="text s1.2.0.0"/>
          <p:cNvSpPr txBox="1"/>
          <p:nvPr/>
        </p:nvSpPr>
        <p:spPr>
          <a:xfrm>
            <a:off x="609600" y="5322689"/>
            <a:ext cx="53149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무슨 일</a:t>
            </a:r>
          </a:p>
        </p:txBody>
      </p:sp>
      <p:sp>
        <p:nvSpPr>
          <p:cNvPr id="16" name="p s1.2.0.1"/>
          <p:cNvSpPr txBox="1"/>
          <p:nvPr/>
        </p:nvSpPr>
        <p:spPr>
          <a:xfrm>
            <a:off x="609600" y="5676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결제 캐시 키 12만 개가 같은 초에 만료되면서 DB로 요청이 쏟아졌다. 읽기 풀이 고갈되고 결제 API가 5xx를 반환했다.</a:t>
            </a:r>
          </a:p>
        </p:txBody>
      </p:sp>
      <p:sp>
        <p:nvSpPr>
          <p:cNvPr id="17" name="text s1.2.1.0"/>
          <p:cNvSpPr txBox="1"/>
          <p:nvPr/>
        </p:nvSpPr>
        <p:spPr>
          <a:xfrm>
            <a:off x="6267450" y="5322689"/>
            <a:ext cx="531495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3"/>
                </a:solidFill>
                <a:latin typeface="+mj-lt"/>
                <a:ea typeface="+mj-ea"/>
              </a:rPr>
              <a:t>어떻게 멈췄나</a:t>
            </a:r>
          </a:p>
        </p:txBody>
      </p:sp>
      <p:sp>
        <p:nvSpPr>
          <p:cNvPr id="18" name="p s1.2.1.1"/>
          <p:cNvSpPr txBox="1"/>
          <p:nvPr/>
        </p:nvSpPr>
        <p:spPr>
          <a:xfrm>
            <a:off x="6267450" y="5676900"/>
            <a:ext cx="531495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롤백이 아니라 </a:t>
            </a:r>
            <a:r>
              <a:rPr sz="1500" b="1" i="0" u="none">
                <a:solidFill>
                  <a:schemeClr val="tx1"/>
                </a:solidFill>
                <a:latin typeface="+mn-lt"/>
                <a:ea typeface="+mn-ea"/>
              </a:rPr>
              <a:t>부하 차단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으로 멈췄다. 캐시가 다시 차자 14:49에 오류율이 평시로 돌아왔다.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2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타임라인 (KST)</a:t>
            </a:r>
          </a:p>
        </p:txBody>
      </p:sp>
      <p:sp>
        <p:nvSpPr>
          <p:cNvPr id="3" name="shape s2.1.0.0"/>
          <p:cNvSpPr/>
          <p:nvPr/>
        </p:nvSpPr>
        <p:spPr>
          <a:xfrm>
            <a:off x="60960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5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shape s2.1.0.1"/>
          <p:cNvSpPr/>
          <p:nvPr/>
        </p:nvSpPr>
        <p:spPr>
          <a:xfrm>
            <a:off x="60960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text s2.1.0.1.0.0.0"/>
          <p:cNvSpPr txBox="1"/>
          <p:nvPr/>
        </p:nvSpPr>
        <p:spPr>
          <a:xfrm>
            <a:off x="87153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14:02</a:t>
            </a:r>
          </a:p>
        </p:txBody>
      </p:sp>
      <p:sp>
        <p:nvSpPr>
          <p:cNvPr id="6" name="text s2.1.0.1.0.0.1"/>
          <p:cNvSpPr txBox="1"/>
          <p:nvPr/>
        </p:nvSpPr>
        <p:spPr>
          <a:xfrm>
            <a:off x="87153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키 동시 만료</a:t>
            </a:r>
          </a:p>
        </p:txBody>
      </p:sp>
      <p:sp>
        <p:nvSpPr>
          <p:cNvPr id="7" name="text s2.1.0.1.0.1"/>
          <p:cNvSpPr txBox="1"/>
          <p:nvPr/>
        </p:nvSpPr>
        <p:spPr>
          <a:xfrm>
            <a:off x="871538" y="4262438"/>
            <a:ext cx="1579215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배포 예열 30분 뒤, 12만 키가 같은 초에</a:t>
            </a:r>
          </a:p>
        </p:txBody>
      </p:sp>
      <p:sp>
        <p:nvSpPr>
          <p:cNvPr id="8" name="shape s2.1.1.0"/>
          <p:cNvSpPr/>
          <p:nvPr/>
        </p:nvSpPr>
        <p:spPr>
          <a:xfrm>
            <a:off x="282699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4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9" name="shape s2.1.1.1"/>
          <p:cNvSpPr/>
          <p:nvPr/>
        </p:nvSpPr>
        <p:spPr>
          <a:xfrm>
            <a:off x="282699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0" name="text s2.1.1.1.0.0.0"/>
          <p:cNvSpPr txBox="1"/>
          <p:nvPr/>
        </p:nvSpPr>
        <p:spPr>
          <a:xfrm>
            <a:off x="308892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14:14</a:t>
            </a:r>
          </a:p>
        </p:txBody>
      </p:sp>
      <p:sp>
        <p:nvSpPr>
          <p:cNvPr id="11" name="text s2.1.1.1.0.0.1"/>
          <p:cNvSpPr txBox="1"/>
          <p:nvPr/>
        </p:nvSpPr>
        <p:spPr>
          <a:xfrm>
            <a:off x="308892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5xx 경보</a:t>
            </a:r>
          </a:p>
        </p:txBody>
      </p:sp>
      <p:sp>
        <p:nvSpPr>
          <p:cNvPr id="12" name="text s2.1.1.1.0.1"/>
          <p:cNvSpPr txBox="1"/>
          <p:nvPr/>
        </p:nvSpPr>
        <p:spPr>
          <a:xfrm>
            <a:off x="308892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5분 평균 임계값이 12분 늦게 울렸다</a:t>
            </a:r>
          </a:p>
        </p:txBody>
      </p:sp>
      <p:sp>
        <p:nvSpPr>
          <p:cNvPr id="13" name="shape s2.1.2.0"/>
          <p:cNvSpPr/>
          <p:nvPr/>
        </p:nvSpPr>
        <p:spPr>
          <a:xfrm>
            <a:off x="5044380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shape s2.1.2.1"/>
          <p:cNvSpPr/>
          <p:nvPr/>
        </p:nvSpPr>
        <p:spPr>
          <a:xfrm>
            <a:off x="5044380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5" name="text s2.1.2.1.0.0.0"/>
          <p:cNvSpPr txBox="1"/>
          <p:nvPr/>
        </p:nvSpPr>
        <p:spPr>
          <a:xfrm>
            <a:off x="530631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14:23</a:t>
            </a:r>
          </a:p>
        </p:txBody>
      </p:sp>
      <p:sp>
        <p:nvSpPr>
          <p:cNvPr id="16" name="text s2.1.2.1.0.0.1"/>
          <p:cNvSpPr txBox="1"/>
          <p:nvPr/>
        </p:nvSpPr>
        <p:spPr>
          <a:xfrm>
            <a:off x="530631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DB 풀 고갈 확인</a:t>
            </a:r>
          </a:p>
        </p:txBody>
      </p:sp>
      <p:sp>
        <p:nvSpPr>
          <p:cNvPr id="17" name="text s2.1.2.1.0.1"/>
          <p:cNvSpPr txBox="1"/>
          <p:nvPr/>
        </p:nvSpPr>
        <p:spPr>
          <a:xfrm>
            <a:off x="530631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읽기 풀 40/40, 대기열 1,900</a:t>
            </a:r>
          </a:p>
        </p:txBody>
      </p:sp>
      <p:sp>
        <p:nvSpPr>
          <p:cNvPr id="18" name="shape s2.1.3.0"/>
          <p:cNvSpPr/>
          <p:nvPr/>
        </p:nvSpPr>
        <p:spPr>
          <a:xfrm>
            <a:off x="7261771" y="1283940"/>
            <a:ext cx="2103090" cy="609600"/>
          </a:xfrm>
          <a:prstGeom prst="chevron">
            <a:avLst>
              <a:gd name="adj" fmla="val 172499"/>
            </a:avLst>
          </a:prstGeom>
          <a:solidFill>
            <a:schemeClr val="accent3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shape s2.1.3.1"/>
          <p:cNvSpPr/>
          <p:nvPr/>
        </p:nvSpPr>
        <p:spPr>
          <a:xfrm>
            <a:off x="7261771" y="2007840"/>
            <a:ext cx="2103090" cy="3373785"/>
          </a:xfrm>
          <a:prstGeom prst="roundRect">
            <a:avLst>
              <a:gd name="adj" fmla="val 5435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0" name="text s2.1.3.1.0.0.0"/>
          <p:cNvSpPr txBox="1"/>
          <p:nvPr/>
        </p:nvSpPr>
        <p:spPr>
          <a:xfrm>
            <a:off x="7523708" y="2269778"/>
            <a:ext cx="1579215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14:31</a:t>
            </a:r>
          </a:p>
        </p:txBody>
      </p:sp>
      <p:sp>
        <p:nvSpPr>
          <p:cNvPr id="21" name="text s2.1.3.1.0.0.1"/>
          <p:cNvSpPr txBox="1"/>
          <p:nvPr/>
        </p:nvSpPr>
        <p:spPr>
          <a:xfrm>
            <a:off x="7523708" y="2829818"/>
            <a:ext cx="1579215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부하 차단 적용</a:t>
            </a:r>
          </a:p>
        </p:txBody>
      </p:sp>
      <p:sp>
        <p:nvSpPr>
          <p:cNvPr id="22" name="text s2.1.3.1.0.1"/>
          <p:cNvSpPr txBox="1"/>
          <p:nvPr/>
        </p:nvSpPr>
        <p:spPr>
          <a:xfrm>
            <a:off x="7523708" y="4548188"/>
            <a:ext cx="1579215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결제 외 캐시 미스 경로를 끊었다</a:t>
            </a:r>
          </a:p>
        </p:txBody>
      </p:sp>
      <p:sp>
        <p:nvSpPr>
          <p:cNvPr id="23" name="shape s2.1.4.0"/>
          <p:cNvSpPr/>
          <p:nvPr/>
        </p:nvSpPr>
        <p:spPr>
          <a:xfrm>
            <a:off x="9479161" y="1283940"/>
            <a:ext cx="2103239" cy="609600"/>
          </a:xfrm>
          <a:prstGeom prst="chevron">
            <a:avLst>
              <a:gd name="adj" fmla="val 172511"/>
            </a:avLst>
          </a:prstGeom>
          <a:solidFill>
            <a:schemeClr val="bg2"/>
          </a:solidFill>
          <a:ln w="9525">
            <a:solidFill>
              <a:schemeClr val="tx2"/>
            </a:solidFill>
            <a:prstDash val="solid"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4" name="shape s2.1.4.1"/>
          <p:cNvSpPr/>
          <p:nvPr/>
        </p:nvSpPr>
        <p:spPr>
          <a:xfrm>
            <a:off x="9479161" y="2007840"/>
            <a:ext cx="2103239" cy="3373785"/>
          </a:xfrm>
          <a:prstGeom prst="roundRect">
            <a:avLst>
              <a:gd name="adj" fmla="val 5434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25" name="text s2.1.4.1.0.0.0"/>
          <p:cNvSpPr txBox="1"/>
          <p:nvPr/>
        </p:nvSpPr>
        <p:spPr>
          <a:xfrm>
            <a:off x="9741098" y="2269778"/>
            <a:ext cx="1579364" cy="50289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960"/>
              </a:lnSpc>
            </a:pPr>
            <a:r>
              <a:rPr sz="3300" b="1">
                <a:solidFill>
                  <a:schemeClr val="tx1"/>
                </a:solidFill>
                <a:latin typeface="+mj-lt"/>
                <a:ea typeface="+mj-ea"/>
              </a:rPr>
              <a:t>14:49</a:t>
            </a:r>
          </a:p>
        </p:txBody>
      </p:sp>
      <p:sp>
        <p:nvSpPr>
          <p:cNvPr id="26" name="text s2.1.4.1.0.0.1"/>
          <p:cNvSpPr txBox="1"/>
          <p:nvPr/>
        </p:nvSpPr>
        <p:spPr>
          <a:xfrm>
            <a:off x="9741098" y="2829818"/>
            <a:ext cx="1579364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오류율 정상</a:t>
            </a:r>
          </a:p>
        </p:txBody>
      </p:sp>
      <p:sp>
        <p:nvSpPr>
          <p:cNvPr id="27" name="text s2.1.4.1.0.1"/>
          <p:cNvSpPr txBox="1"/>
          <p:nvPr/>
        </p:nvSpPr>
        <p:spPr>
          <a:xfrm>
            <a:off x="9741098" y="4548188"/>
            <a:ext cx="1579364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2"/>
                </a:solidFill>
                <a:latin typeface="+mn-lt"/>
                <a:ea typeface="+mn-ea"/>
              </a:rPr>
              <a:t>캐시 적중률 97%로 회복</a:t>
            </a:r>
          </a:p>
        </p:txBody>
      </p:sp>
      <p:sp>
        <p:nvSpPr>
          <p:cNvPr id="28" name="shape s2.2.0"/>
          <p:cNvSpPr/>
          <p:nvPr/>
        </p:nvSpPr>
        <p:spPr>
          <a:xfrm>
            <a:off x="609600" y="5610225"/>
            <a:ext cx="2743200" cy="638175"/>
          </a:xfrm>
          <a:prstGeom prst="roundRect">
            <a:avLst>
              <a:gd name="adj" fmla="val 17910"/>
            </a:avLst>
          </a:prstGeom>
          <a:solidFill>
            <a:schemeClr val="accent4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1" i="0" u="none">
                <a:solidFill>
                  <a:schemeClr val="bg1"/>
                </a:solidFill>
                <a:latin typeface="+mn-lt"/>
                <a:ea typeface="+mn-ea"/>
              </a:rPr>
              <a:t>탐지 12분</a:t>
            </a:r>
          </a:p>
        </p:txBody>
      </p:sp>
      <p:sp>
        <p:nvSpPr>
          <p:cNvPr id="29" name="shape s2.2.1"/>
          <p:cNvSpPr/>
          <p:nvPr/>
        </p:nvSpPr>
        <p:spPr>
          <a:xfrm>
            <a:off x="3467100" y="5610225"/>
            <a:ext cx="3886200" cy="638175"/>
          </a:xfrm>
          <a:prstGeom prst="roundRect">
            <a:avLst>
              <a:gd name="adj" fmla="val 17910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완화 17분</a:t>
            </a:r>
          </a:p>
        </p:txBody>
      </p:sp>
      <p:sp>
        <p:nvSpPr>
          <p:cNvPr id="30" name="shape s2.2.2"/>
          <p:cNvSpPr/>
          <p:nvPr/>
        </p:nvSpPr>
        <p:spPr>
          <a:xfrm>
            <a:off x="7467600" y="5610225"/>
            <a:ext cx="4114800" cy="638175"/>
          </a:xfrm>
          <a:prstGeom prst="roundRect">
            <a:avLst>
              <a:gd name="adj" fmla="val 17910"/>
            </a:avLst>
          </a:prstGeom>
          <a:solidFill>
            <a:schemeClr val="bg2"/>
          </a:solidFill>
          <a:ln>
            <a:noFill/>
          </a:ln>
        </p:spPr>
        <p:txBody>
          <a:bodyPr wrap="square" lIns="114300" tIns="114300" rIns="114300" bIns="114300" anchor="t">
            <a:normAutofit/>
          </a:bodyPr>
          <a:lstStyle/>
          <a:p>
            <a:pPr algn="ctr">
              <a:lnSpc>
                <a:spcPts val="2700"/>
              </a:lnSpc>
            </a:pP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복구 18분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mp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3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영향 범위</a:t>
            </a:r>
          </a:p>
        </p:txBody>
      </p:sp>
      <p:graphicFrame>
        <p:nvGraphicFramePr>
          <p:cNvPr id="3" name="table s3.1"/>
          <p:cNvGraphicFramePr/>
          <p:nvPr/>
        </p:nvGraphicFramePr>
        <p:xfrm>
          <a:off x="609600" y="1283940"/>
          <a:ext cx="10972800" cy="253365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2185243"/>
                <a:gridCol w="2583061"/>
                <a:gridCol w="2180481"/>
                <a:gridCol w="4024015"/>
              </a:tblGrid>
              <a:tr h="509588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서비스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오류율 최대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영향 요청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1">
                          <a:solidFill>
                            <a:schemeClr val="bg1"/>
                          </a:solidFill>
                          <a:latin typeface="+mn-lt"/>
                          <a:ea typeface="+mn-ea"/>
                        </a:rPr>
                        <a:t>사용자 체감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accent1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API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8.4%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41,200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결제 실패 후 재시도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주문 조회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1.1%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6,800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조회 지연 2~4초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장바구니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0.3%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1,450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담기 실패 (드묾)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noFill/>
                  </a:tcPr>
                </a:tc>
              </a:tr>
              <a:tr h="509587"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정산 배치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0%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0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00"/>
                        </a:lnSpc>
                      </a:pPr>
                      <a:r>
                        <a:rPr sz="1800" b="0">
                          <a:solidFill>
                            <a:schemeClr val="tx1"/>
                          </a:solidFill>
                          <a:latin typeface="+mn-lt"/>
                          <a:ea typeface="+mn-ea"/>
                        </a:rPr>
                        <a:t>없음</a:t>
                      </a:r>
                    </a:p>
                  </a:txBody>
                  <a:tcPr marL="114300" marR="114300" marT="76200" marB="76200" anchor="t">
                    <a:lnL w="9525">
                      <a:solidFill>
                        <a:schemeClr val="tx2"/>
                      </a:solidFill>
                      <a:prstDash val="solid"/>
                    </a:lnL>
                    <a:lnR w="9525">
                      <a:solidFill>
                        <a:schemeClr val="tx2"/>
                      </a:solidFill>
                      <a:prstDash val="solid"/>
                    </a:lnR>
                    <a:lnT w="9525">
                      <a:solidFill>
                        <a:schemeClr val="tx2"/>
                      </a:solidFill>
                      <a:prstDash val="solid"/>
                    </a:lnT>
                    <a:lnB w="9525">
                      <a:solidFill>
                        <a:schemeClr val="tx2"/>
                      </a:solidFill>
                      <a:prstDash val="soli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4" name="shape s3.2.0"/>
          <p:cNvSpPr/>
          <p:nvPr/>
        </p:nvSpPr>
        <p:spPr>
          <a:xfrm>
            <a:off x="6096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5" name="text s3.2.0.0.0"/>
          <p:cNvSpPr txBox="1"/>
          <p:nvPr/>
        </p:nvSpPr>
        <p:spPr>
          <a:xfrm>
            <a:off x="9050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41,200</a:t>
            </a:r>
          </a:p>
        </p:txBody>
      </p:sp>
      <p:sp>
        <p:nvSpPr>
          <p:cNvPr id="6" name="text s3.2.0.0.1"/>
          <p:cNvSpPr txBox="1"/>
          <p:nvPr/>
        </p:nvSpPr>
        <p:spPr>
          <a:xfrm>
            <a:off x="9050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결제 실패 요청</a:t>
            </a:r>
          </a:p>
        </p:txBody>
      </p:sp>
      <p:sp>
        <p:nvSpPr>
          <p:cNvPr id="7" name="shape s3.2.1"/>
          <p:cNvSpPr/>
          <p:nvPr/>
        </p:nvSpPr>
        <p:spPr>
          <a:xfrm>
            <a:off x="43434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3.2.1.0.0"/>
          <p:cNvSpPr txBox="1"/>
          <p:nvPr/>
        </p:nvSpPr>
        <p:spPr>
          <a:xfrm>
            <a:off x="46388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3"/>
                </a:solidFill>
                <a:latin typeface="+mj-lt"/>
                <a:ea typeface="+mj-ea"/>
              </a:rPr>
              <a:t>39,900</a:t>
            </a:r>
          </a:p>
        </p:txBody>
      </p:sp>
      <p:sp>
        <p:nvSpPr>
          <p:cNvPr id="9" name="text s3.2.1.0.1"/>
          <p:cNvSpPr txBox="1"/>
          <p:nvPr/>
        </p:nvSpPr>
        <p:spPr>
          <a:xfrm>
            <a:off x="46388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재시도로 성공 (96.8%)</a:t>
            </a:r>
          </a:p>
        </p:txBody>
      </p:sp>
      <p:sp>
        <p:nvSpPr>
          <p:cNvPr id="10" name="shape s3.2.2"/>
          <p:cNvSpPr/>
          <p:nvPr/>
        </p:nvSpPr>
        <p:spPr>
          <a:xfrm>
            <a:off x="8077200" y="4046190"/>
            <a:ext cx="3505200" cy="2202210"/>
          </a:xfrm>
          <a:prstGeom prst="roundRect">
            <a:avLst>
              <a:gd name="adj" fmla="val 10380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1" name="text s3.2.2.0.0"/>
          <p:cNvSpPr txBox="1"/>
          <p:nvPr/>
        </p:nvSpPr>
        <p:spPr>
          <a:xfrm>
            <a:off x="8372624" y="4724400"/>
            <a:ext cx="2914352" cy="5485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4320"/>
              </a:lnSpc>
            </a:pPr>
            <a:r>
              <a:rPr sz="3600" b="1">
                <a:solidFill>
                  <a:schemeClr val="accent5"/>
                </a:solidFill>
                <a:latin typeface="+mj-lt"/>
                <a:ea typeface="+mj-ea"/>
              </a:rPr>
              <a:t>34건</a:t>
            </a:r>
          </a:p>
        </p:txBody>
      </p:sp>
      <p:sp>
        <p:nvSpPr>
          <p:cNvPr id="12" name="text s3.2.2.0.1"/>
          <p:cNvSpPr txBox="1"/>
          <p:nvPr/>
        </p:nvSpPr>
        <p:spPr>
          <a:xfrm>
            <a:off x="8372624" y="5330130"/>
            <a:ext cx="2914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CS 문의 · 이중 결제 0건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root-cau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4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근본 원인 — 만료가 한 시각에 몰렸다</a:t>
            </a:r>
          </a:p>
        </p:txBody>
      </p:sp>
      <p:sp>
        <p:nvSpPr>
          <p:cNvPr id="3" name="shape s4.1"/>
          <p:cNvSpPr/>
          <p:nvPr/>
        </p:nvSpPr>
        <p:spPr>
          <a:xfrm>
            <a:off x="609600" y="1283940"/>
            <a:ext cx="10972800" cy="3810149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228600" rIns="342900" bIns="228600" anchor="t">
            <a:normAutofit/>
          </a:bodyPr>
          <a:lstStyle/>
          <a:p/>
        </p:txBody>
      </p:sp>
      <p:sp>
        <p:nvSpPr>
          <p:cNvPr id="4" name="pre s4.1.0.0"/>
          <p:cNvSpPr txBox="1"/>
          <p:nvPr/>
        </p:nvSpPr>
        <p:spPr>
          <a:xfrm>
            <a:off x="1019324" y="1579364"/>
            <a:ext cx="10153352" cy="25717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chemeClr val="tx2"/>
                </a:solidFill>
                <a:latin typeface="Noto Sans Mono"/>
                <a:ea typeface="Noto Sans Mono CJK KR"/>
              </a:rPr>
              <a:t>// 배포 때 캐시를 한 번에 채운다 — TTL이 전부 같은 시각이 된다.</a:t>
            </a:r>
            <a:br/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func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warm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 context.Context, ids []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string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)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error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for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_, id :=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range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ids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if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 := cache.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Set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(ctx,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key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1"/>
                </a:solidFill>
                <a:latin typeface="Noto Sans Mono"/>
                <a:ea typeface="Noto Sans Mono CJK KR"/>
              </a:rPr>
              <a:t>load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(id), </a:t>
            </a:r>
            <a:r>
              <a:rPr sz="1500" b="0" i="0" u="none">
                <a:solidFill>
                  <a:schemeClr val="accent4"/>
                </a:solidFill>
                <a:latin typeface="Noto Sans Mono"/>
                <a:ea typeface="Noto Sans Mono CJK KR"/>
              </a:rPr>
              <a:t>30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*time.Minute); err !=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{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err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}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return</a:t>
            </a:r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 </a:t>
            </a:r>
            <a:r>
              <a:rPr sz="1500" b="0" i="0" u="none">
                <a:solidFill>
                  <a:schemeClr val="accent6"/>
                </a:solidFill>
                <a:latin typeface="Noto Sans Mono"/>
                <a:ea typeface="Noto Sans Mono CJK KR"/>
              </a:rPr>
              <a:t>nil</a:t>
            </a:r>
            <a:br/>
            <a:r>
              <a:rPr sz="1500" b="0">
                <a:solidFill>
                  <a:schemeClr val="tx1"/>
                </a:solidFill>
                <a:latin typeface="Noto Sans Mono"/>
                <a:ea typeface="Noto Sans Mono CJK KR"/>
              </a:rPr>
              <a:t>}</a:t>
            </a:r>
          </a:p>
        </p:txBody>
      </p:sp>
      <p:sp>
        <p:nvSpPr>
          <p:cNvPr id="5" name="text s4.1.0.1"/>
          <p:cNvSpPr txBox="1"/>
          <p:nvPr/>
        </p:nvSpPr>
        <p:spPr>
          <a:xfrm>
            <a:off x="1019324" y="4558754"/>
            <a:ext cx="101533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payments/cache/warm.go — 배포 훅이 부른다</a:t>
            </a:r>
          </a:p>
        </p:txBody>
      </p:sp>
      <p:sp>
        <p:nvSpPr>
          <p:cNvPr id="6" name="text s4.2.0.0"/>
          <p:cNvSpPr txBox="1"/>
          <p:nvPr/>
        </p:nvSpPr>
        <p:spPr>
          <a:xfrm>
            <a:off x="6096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① 일괄 예열</a:t>
            </a:r>
          </a:p>
        </p:txBody>
      </p:sp>
      <p:sp>
        <p:nvSpPr>
          <p:cNvPr id="7" name="text s4.2.0.1"/>
          <p:cNvSpPr txBox="1"/>
          <p:nvPr/>
        </p:nvSpPr>
        <p:spPr>
          <a:xfrm>
            <a:off x="609600" y="5676900"/>
            <a:ext cx="35052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배포가 12만 키를 몇 초 안에 채운다.</a:t>
            </a:r>
          </a:p>
        </p:txBody>
      </p:sp>
      <p:sp>
        <p:nvSpPr>
          <p:cNvPr id="8" name="text s4.2.1.0"/>
          <p:cNvSpPr txBox="1"/>
          <p:nvPr/>
        </p:nvSpPr>
        <p:spPr>
          <a:xfrm>
            <a:off x="43434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tx1"/>
                </a:solidFill>
                <a:latin typeface="+mj-lt"/>
                <a:ea typeface="+mj-ea"/>
              </a:rPr>
              <a:t>② 고정 TTL 30분</a:t>
            </a:r>
          </a:p>
        </p:txBody>
      </p:sp>
      <p:sp>
        <p:nvSpPr>
          <p:cNvPr id="9" name="text s4.2.1.1"/>
          <p:cNvSpPr txBox="1"/>
          <p:nvPr/>
        </p:nvSpPr>
        <p:spPr>
          <a:xfrm>
            <a:off x="4343400" y="5676900"/>
            <a:ext cx="3505200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지터가 없어 만료 시각이 하나로 모인다.</a:t>
            </a:r>
          </a:p>
        </p:txBody>
      </p:sp>
      <p:sp>
        <p:nvSpPr>
          <p:cNvPr id="10" name="text s4.2.2.0"/>
          <p:cNvSpPr txBox="1"/>
          <p:nvPr/>
        </p:nvSpPr>
        <p:spPr>
          <a:xfrm>
            <a:off x="8077200" y="5322689"/>
            <a:ext cx="3505200" cy="29706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340"/>
              </a:lnSpc>
            </a:pPr>
            <a:r>
              <a:rPr sz="1800" b="1">
                <a:solidFill>
                  <a:schemeClr val="accent5"/>
                </a:solidFill>
                <a:latin typeface="+mj-lt"/>
                <a:ea typeface="+mj-ea"/>
              </a:rPr>
              <a:t>③ 같은 초에 전부 미스</a:t>
            </a:r>
          </a:p>
        </p:txBody>
      </p:sp>
      <p:sp>
        <p:nvSpPr>
          <p:cNvPr id="11" name="text s4.2.2.1"/>
          <p:cNvSpPr txBox="1"/>
          <p:nvPr/>
        </p:nvSpPr>
        <p:spPr>
          <a:xfrm>
            <a:off x="8077200" y="5676900"/>
            <a:ext cx="3505200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단일 비행이 없어 미스 하나가 DB 질의 하나가 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fact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5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기여 요인 넷</a:t>
            </a:r>
          </a:p>
        </p:txBody>
      </p:sp>
      <p:sp>
        <p:nvSpPr>
          <p:cNvPr id="3" name="shape s5.1.0"/>
          <p:cNvSpPr/>
          <p:nvPr/>
        </p:nvSpPr>
        <p:spPr>
          <a:xfrm>
            <a:off x="609600" y="1283940"/>
            <a:ext cx="5372100" cy="2276475"/>
          </a:xfrm>
          <a:prstGeom prst="roundRect">
            <a:avLst>
              <a:gd name="adj" fmla="val 1004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4" name="text s5.1.0.0.0.0"/>
          <p:cNvSpPr txBox="1"/>
          <p:nvPr/>
        </p:nvSpPr>
        <p:spPr>
          <a:xfrm>
            <a:off x="905024" y="1579364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고정 TTL</a:t>
            </a:r>
          </a:p>
        </p:txBody>
      </p:sp>
      <p:sp>
        <p:nvSpPr>
          <p:cNvPr id="5" name="text s5.1.0.0.0.1"/>
          <p:cNvSpPr txBox="1"/>
          <p:nvPr/>
        </p:nvSpPr>
        <p:spPr>
          <a:xfrm>
            <a:off x="905024" y="1958429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예열이 모든 키에 같은 만료 시각을 준다.</a:t>
            </a:r>
          </a:p>
        </p:txBody>
      </p:sp>
      <p:sp>
        <p:nvSpPr>
          <p:cNvPr id="6" name="text s5.1.0.0.1"/>
          <p:cNvSpPr txBox="1"/>
          <p:nvPr/>
        </p:nvSpPr>
        <p:spPr>
          <a:xfrm>
            <a:off x="905024" y="3025080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TTL에 ±10% 지터</a:t>
            </a:r>
          </a:p>
        </p:txBody>
      </p:sp>
      <p:sp>
        <p:nvSpPr>
          <p:cNvPr id="7" name="shape s5.1.1"/>
          <p:cNvSpPr/>
          <p:nvPr/>
        </p:nvSpPr>
        <p:spPr>
          <a:xfrm>
            <a:off x="6210300" y="1283940"/>
            <a:ext cx="5372100" cy="2276475"/>
          </a:xfrm>
          <a:prstGeom prst="roundRect">
            <a:avLst>
              <a:gd name="adj" fmla="val 1004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8" name="text s5.1.1.0.0.0"/>
          <p:cNvSpPr txBox="1"/>
          <p:nvPr/>
        </p:nvSpPr>
        <p:spPr>
          <a:xfrm>
            <a:off x="6505724" y="1579364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단일 비행 없음</a:t>
            </a:r>
          </a:p>
        </p:txBody>
      </p:sp>
      <p:sp>
        <p:nvSpPr>
          <p:cNvPr id="9" name="text s5.1.1.0.0.1"/>
          <p:cNvSpPr txBox="1"/>
          <p:nvPr/>
        </p:nvSpPr>
        <p:spPr>
          <a:xfrm>
            <a:off x="6505724" y="1958429"/>
            <a:ext cx="4781252" cy="571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캐시 미스가 그대로 DB 질의가 된다 (</a:t>
            </a:r>
            <a:r>
              <a:rPr sz="1500" b="0" i="0" u="none">
                <a:solidFill>
                  <a:schemeClr val="tx1"/>
                </a:solidFill>
                <a:latin typeface="Noto Sans Mono"/>
                <a:ea typeface="Noto Sans Mono CJK KR"/>
              </a:rPr>
              <a:t>cache.Get</a:t>
            </a: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 실패 경로에 잠금이 없다).</a:t>
            </a:r>
          </a:p>
        </p:txBody>
      </p:sp>
      <p:sp>
        <p:nvSpPr>
          <p:cNvPr id="10" name="text s5.1.1.0.1"/>
          <p:cNvSpPr txBox="1"/>
          <p:nvPr/>
        </p:nvSpPr>
        <p:spPr>
          <a:xfrm>
            <a:off x="6505724" y="3025080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캐시 미스에 단일 비행 잠금</a:t>
            </a:r>
          </a:p>
        </p:txBody>
      </p:sp>
      <p:sp>
        <p:nvSpPr>
          <p:cNvPr id="11" name="shape s5.1.2"/>
          <p:cNvSpPr/>
          <p:nvPr/>
        </p:nvSpPr>
        <p:spPr>
          <a:xfrm>
            <a:off x="609600" y="3789015"/>
            <a:ext cx="5372100" cy="1990874"/>
          </a:xfrm>
          <a:prstGeom prst="roundRect">
            <a:avLst>
              <a:gd name="adj" fmla="val 1148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2" name="text s5.1.2.0.0.0"/>
          <p:cNvSpPr txBox="1"/>
          <p:nvPr/>
        </p:nvSpPr>
        <p:spPr>
          <a:xfrm>
            <a:off x="905024" y="4084439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읽기 풀이 작다</a:t>
            </a:r>
          </a:p>
        </p:txBody>
      </p:sp>
      <p:sp>
        <p:nvSpPr>
          <p:cNvPr id="13" name="text s5.1.2.0.0.1"/>
          <p:cNvSpPr txBox="1"/>
          <p:nvPr/>
        </p:nvSpPr>
        <p:spPr>
          <a:xfrm>
            <a:off x="905024" y="4463504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풀 상한 40, 평시 피크 26. 여유가 14개뿐이었다.</a:t>
            </a:r>
          </a:p>
        </p:txBody>
      </p:sp>
      <p:sp>
        <p:nvSpPr>
          <p:cNvPr id="14" name="text s5.1.2.0.1"/>
          <p:cNvSpPr txBox="1"/>
          <p:nvPr/>
        </p:nvSpPr>
        <p:spPr>
          <a:xfrm>
            <a:off x="905024" y="5244554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풀 상한 96, 사용률 80%에 경보</a:t>
            </a:r>
          </a:p>
        </p:txBody>
      </p:sp>
      <p:sp>
        <p:nvSpPr>
          <p:cNvPr id="15" name="shape s5.1.3"/>
          <p:cNvSpPr/>
          <p:nvPr/>
        </p:nvSpPr>
        <p:spPr>
          <a:xfrm>
            <a:off x="6210300" y="3789015"/>
            <a:ext cx="5372100" cy="1990874"/>
          </a:xfrm>
          <a:prstGeom prst="roundRect">
            <a:avLst>
              <a:gd name="adj" fmla="val 11482"/>
            </a:avLst>
          </a:prstGeom>
          <a:solidFill>
            <a:schemeClr val="bg2"/>
          </a:solidFill>
          <a:ln>
            <a:noFill/>
          </a:ln>
        </p:spPr>
        <p:txBody>
          <a:bodyPr wrap="square" lIns="228600" tIns="228600" rIns="228600" bIns="228600" anchor="t">
            <a:normAutofit/>
          </a:bodyPr>
          <a:lstStyle/>
          <a:p/>
        </p:txBody>
      </p:sp>
      <p:sp>
        <p:nvSpPr>
          <p:cNvPr id="16" name="text s5.1.3.0.0.0"/>
          <p:cNvSpPr txBox="1"/>
          <p:nvPr/>
        </p:nvSpPr>
        <p:spPr>
          <a:xfrm>
            <a:off x="6505724" y="4084439"/>
            <a:ext cx="4781252" cy="32191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535"/>
              </a:lnSpc>
            </a:pPr>
            <a:r>
              <a:rPr sz="1950" b="1">
                <a:solidFill>
                  <a:schemeClr val="tx1"/>
                </a:solidFill>
                <a:latin typeface="+mj-lt"/>
                <a:ea typeface="+mj-ea"/>
              </a:rPr>
              <a:t>경보가 5분 평균</a:t>
            </a:r>
          </a:p>
        </p:txBody>
      </p:sp>
      <p:sp>
        <p:nvSpPr>
          <p:cNvPr id="17" name="text s5.1.3.0.0.1"/>
          <p:cNvSpPr txBox="1"/>
          <p:nvPr/>
        </p:nvSpPr>
        <p:spPr>
          <a:xfrm>
            <a:off x="6505724" y="4463504"/>
            <a:ext cx="4781252" cy="2857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250"/>
              </a:lnSpc>
            </a:pPr>
            <a:r>
              <a:rPr sz="1500" b="0">
                <a:solidFill>
                  <a:schemeClr val="tx1"/>
                </a:solidFill>
                <a:latin typeface="+mn-lt"/>
                <a:ea typeface="+mn-ea"/>
              </a:rPr>
              <a:t>임계값이 평균이라 급한 스파이크를 늦게 본다.</a:t>
            </a:r>
          </a:p>
        </p:txBody>
      </p:sp>
      <p:sp>
        <p:nvSpPr>
          <p:cNvPr id="18" name="text s5.1.3.0.1"/>
          <p:cNvSpPr txBox="1"/>
          <p:nvPr/>
        </p:nvSpPr>
        <p:spPr>
          <a:xfrm>
            <a:off x="6505724" y="5244554"/>
            <a:ext cx="47812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accent3"/>
                </a:solidFill>
                <a:latin typeface="+mn-lt"/>
                <a:ea typeface="+mn-ea"/>
              </a:rPr>
              <a:t>→ 1분 p99 경보로 교체</a:t>
            </a:r>
          </a:p>
        </p:txBody>
      </p:sp>
      <p:sp>
        <p:nvSpPr>
          <p:cNvPr id="19" name="text s5.2"/>
          <p:cNvSpPr txBox="1"/>
          <p:nvPr/>
        </p:nvSpPr>
        <p:spPr>
          <a:xfrm>
            <a:off x="609600" y="6008489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넷 중 하나만 없었어도 47분이 아니라 5분이었다.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ac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6.0"/>
          <p:cNvSpPr txBox="1"/>
          <p:nvPr>
            <p:ph type="title"/>
          </p:nvPr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재발 방지 액션</a:t>
            </a:r>
          </a:p>
        </p:txBody>
      </p:sp>
      <p:sp>
        <p:nvSpPr>
          <p:cNvPr id="3" name="shape s6.1.0"/>
          <p:cNvSpPr/>
          <p:nvPr/>
        </p:nvSpPr>
        <p:spPr>
          <a:xfrm>
            <a:off x="6096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4" name="text s6.1.0.0.0"/>
          <p:cNvSpPr txBox="1"/>
          <p:nvPr/>
        </p:nvSpPr>
        <p:spPr>
          <a:xfrm>
            <a:off x="1019324" y="1693664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이번 주</a:t>
            </a:r>
          </a:p>
        </p:txBody>
      </p:sp>
      <p:sp>
        <p:nvSpPr>
          <p:cNvPr id="5" name="text s6.1.0.0.1.0"/>
          <p:cNvSpPr txBox="1"/>
          <p:nvPr/>
        </p:nvSpPr>
        <p:spPr>
          <a:xfrm>
            <a:off x="1019324" y="266640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1.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TTL에 ±10% 지터 (결제 캐시 전부)</a:t>
            </a:r>
          </a:p>
        </p:txBody>
      </p:sp>
      <p:sp>
        <p:nvSpPr>
          <p:cNvPr id="6" name="text s6.1.0.0.1.1"/>
          <p:cNvSpPr txBox="1"/>
          <p:nvPr/>
        </p:nvSpPr>
        <p:spPr>
          <a:xfrm>
            <a:off x="1019324" y="306645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고정 TTL을 막는다</a:t>
            </a:r>
          </a:p>
        </p:txBody>
      </p:sp>
      <p:sp>
        <p:nvSpPr>
          <p:cNvPr id="7" name="text s6.1.0.0.2.0"/>
          <p:cNvSpPr txBox="1"/>
          <p:nvPr/>
        </p:nvSpPr>
        <p:spPr>
          <a:xfrm>
            <a:off x="1019324" y="3932634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2.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5xx 경보를 1분 p99로 교체</a:t>
            </a:r>
          </a:p>
        </p:txBody>
      </p:sp>
      <p:sp>
        <p:nvSpPr>
          <p:cNvPr id="8" name="text s6.1.0.0.2.1"/>
          <p:cNvSpPr txBox="1"/>
          <p:nvPr/>
        </p:nvSpPr>
        <p:spPr>
          <a:xfrm>
            <a:off x="1019324" y="433268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탐지 12분 → 목표 3분</a:t>
            </a:r>
          </a:p>
        </p:txBody>
      </p:sp>
      <p:sp>
        <p:nvSpPr>
          <p:cNvPr id="9" name="text s6.1.0.0.3.0"/>
          <p:cNvSpPr txBox="1"/>
          <p:nvPr/>
        </p:nvSpPr>
        <p:spPr>
          <a:xfrm>
            <a:off x="1019324" y="519871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3.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읽기 풀 상한 40 → 96, 경보 80%</a:t>
            </a:r>
          </a:p>
        </p:txBody>
      </p:sp>
      <p:sp>
        <p:nvSpPr>
          <p:cNvPr id="10" name="text s6.1.0.0.3.1"/>
          <p:cNvSpPr txBox="1"/>
          <p:nvPr/>
        </p:nvSpPr>
        <p:spPr>
          <a:xfrm>
            <a:off x="10193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여유 14개 → 70개</a:t>
            </a:r>
          </a:p>
        </p:txBody>
      </p:sp>
      <p:sp>
        <p:nvSpPr>
          <p:cNvPr id="11" name="shape s6.2.0"/>
          <p:cNvSpPr/>
          <p:nvPr/>
        </p:nvSpPr>
        <p:spPr>
          <a:xfrm>
            <a:off x="6210300" y="1283940"/>
            <a:ext cx="5372100" cy="4964460"/>
          </a:xfrm>
          <a:prstGeom prst="roundRect">
            <a:avLst>
              <a:gd name="adj" fmla="val 4605"/>
            </a:avLst>
          </a:prstGeom>
          <a:solidFill>
            <a:schemeClr val="bg2"/>
          </a:solidFill>
          <a:ln>
            <a:noFill/>
          </a:ln>
        </p:spPr>
        <p:txBody>
          <a:bodyPr wrap="square" lIns="342900" tIns="342900" rIns="342900" bIns="342900" anchor="t">
            <a:normAutofit/>
          </a:bodyPr>
          <a:lstStyle/>
          <a:p/>
        </p:txBody>
      </p:sp>
      <p:sp>
        <p:nvSpPr>
          <p:cNvPr id="12" name="text s6.2.0.0.0"/>
          <p:cNvSpPr txBox="1"/>
          <p:nvPr/>
        </p:nvSpPr>
        <p:spPr>
          <a:xfrm>
            <a:off x="6620024" y="1693664"/>
            <a:ext cx="4552652" cy="3466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30"/>
              </a:lnSpc>
            </a:pPr>
            <a:r>
              <a:rPr sz="2100" b="1">
                <a:solidFill>
                  <a:schemeClr val="accent3"/>
                </a:solidFill>
                <a:latin typeface="+mj-lt"/>
                <a:ea typeface="+mj-ea"/>
              </a:rPr>
              <a:t>다음 스프린트</a:t>
            </a:r>
          </a:p>
        </p:txBody>
      </p:sp>
      <p:sp>
        <p:nvSpPr>
          <p:cNvPr id="13" name="text s6.2.0.0.1.0"/>
          <p:cNvSpPr txBox="1"/>
          <p:nvPr/>
        </p:nvSpPr>
        <p:spPr>
          <a:xfrm>
            <a:off x="6620024" y="266640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4.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캐시 미스에 단일 비행 잠금</a:t>
            </a:r>
          </a:p>
        </p:txBody>
      </p:sp>
      <p:sp>
        <p:nvSpPr>
          <p:cNvPr id="14" name="text s6.2.0.0.1.1"/>
          <p:cNvSpPr txBox="1"/>
          <p:nvPr/>
        </p:nvSpPr>
        <p:spPr>
          <a:xfrm>
            <a:off x="6620024" y="306645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미스 하나가 질의 하나가 되는 경로를 끊는다</a:t>
            </a:r>
          </a:p>
        </p:txBody>
      </p:sp>
      <p:sp>
        <p:nvSpPr>
          <p:cNvPr id="15" name="text s6.2.0.0.2.0"/>
          <p:cNvSpPr txBox="1"/>
          <p:nvPr/>
        </p:nvSpPr>
        <p:spPr>
          <a:xfrm>
            <a:off x="6620024" y="3932634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5.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부하 차단을 수동 → 자동 (오류율 2%)</a:t>
            </a:r>
          </a:p>
        </p:txBody>
      </p:sp>
      <p:sp>
        <p:nvSpPr>
          <p:cNvPr id="16" name="text s6.2.0.0.2.1"/>
          <p:cNvSpPr txBox="1"/>
          <p:nvPr/>
        </p:nvSpPr>
        <p:spPr>
          <a:xfrm>
            <a:off x="6620024" y="4332684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이번에 사람이 17분 걸린 일을 기계가 한다</a:t>
            </a:r>
          </a:p>
        </p:txBody>
      </p:sp>
      <p:sp>
        <p:nvSpPr>
          <p:cNvPr id="17" name="text s6.2.0.0.3.0"/>
          <p:cNvSpPr txBox="1"/>
          <p:nvPr/>
        </p:nvSpPr>
        <p:spPr>
          <a:xfrm>
            <a:off x="6620024" y="5198715"/>
            <a:ext cx="455265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2700"/>
              </a:lnSpc>
            </a:pPr>
            <a:r>
              <a:rPr sz="1800" b="1" i="0" u="none">
                <a:solidFill>
                  <a:schemeClr val="tx1"/>
                </a:solidFill>
                <a:latin typeface="+mn-lt"/>
                <a:ea typeface="+mn-ea"/>
              </a:rPr>
              <a:t>6.</a:t>
            </a:r>
            <a:r>
              <a:rPr sz="1800" b="0">
                <a:solidFill>
                  <a:schemeClr val="tx1"/>
                </a:solidFill>
                <a:latin typeface="+mn-lt"/>
                <a:ea typeface="+mn-ea"/>
              </a:rPr>
              <a:t> 스탬피드 부하 시험을 배포 게이트에</a:t>
            </a:r>
          </a:p>
        </p:txBody>
      </p:sp>
      <p:sp>
        <p:nvSpPr>
          <p:cNvPr id="18" name="text s6.2.0.0.3.1"/>
          <p:cNvSpPr txBox="1"/>
          <p:nvPr/>
        </p:nvSpPr>
        <p:spPr>
          <a:xfrm>
            <a:off x="6620024" y="5598765"/>
            <a:ext cx="4552652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예열 직후 30분 뒤를 재현한다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det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2 s7.0"/>
          <p:cNvSpPr txBox="1"/>
          <p:nvPr/>
        </p:nvSpPr>
        <p:spPr>
          <a:xfrm>
            <a:off x="609600" y="609600"/>
            <a:ext cx="10972800" cy="4457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3510"/>
              </a:lnSpc>
            </a:pPr>
            <a:r>
              <a:rPr sz="2700" b="1">
                <a:solidFill>
                  <a:schemeClr val="tx1"/>
                </a:solidFill>
                <a:latin typeface="+mj-lt"/>
                <a:ea typeface="+mj-ea"/>
              </a:rPr>
              <a:t>평균 탐지 시간이 줄고 있다 — 아직 느리다</a:t>
            </a:r>
          </a:p>
        </p:txBody>
      </p:sp>
      <p:sp>
        <p:nvSpPr>
          <p:cNvPr id="3" name="shape s7.1" descr="월별 평균 탐지 시간 — 5월 22분에서 이번 장애 12분까지"/>
          <p:cNvSpPr/>
          <p:nvPr/>
        </p:nvSpPr>
        <p:spPr>
          <a:xfrm>
            <a:off x="609600" y="1283940"/>
            <a:ext cx="10972800" cy="419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4" name="text s7.1.0.0.0.0"/>
          <p:cNvSpPr txBox="1"/>
          <p:nvPr/>
        </p:nvSpPr>
        <p:spPr>
          <a:xfrm>
            <a:off x="609600" y="1381125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22분</a:t>
            </a:r>
          </a:p>
        </p:txBody>
      </p:sp>
      <p:sp>
        <p:nvSpPr>
          <p:cNvPr id="5" name="shape s7.1.0.0.0.1"/>
          <p:cNvSpPr/>
          <p:nvPr/>
        </p:nvSpPr>
        <p:spPr>
          <a:xfrm>
            <a:off x="938808" y="1678186"/>
            <a:ext cx="1536055" cy="354731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6" name="shape s7.1.0.0.1"/>
          <p:cNvSpPr/>
          <p:nvPr/>
        </p:nvSpPr>
        <p:spPr>
          <a:xfrm>
            <a:off x="60960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7" name="text s7.1.0.0.2"/>
          <p:cNvSpPr txBox="1"/>
          <p:nvPr/>
        </p:nvSpPr>
        <p:spPr>
          <a:xfrm>
            <a:off x="60960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5월</a:t>
            </a:r>
          </a:p>
        </p:txBody>
      </p:sp>
      <p:sp>
        <p:nvSpPr>
          <p:cNvPr id="8" name="text s7.1.0.1.0.0"/>
          <p:cNvSpPr txBox="1"/>
          <p:nvPr/>
        </p:nvSpPr>
        <p:spPr>
          <a:xfrm>
            <a:off x="2804071" y="186466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19분</a:t>
            </a:r>
          </a:p>
        </p:txBody>
      </p:sp>
      <p:sp>
        <p:nvSpPr>
          <p:cNvPr id="9" name="shape s7.1.0.1.0.1"/>
          <p:cNvSpPr/>
          <p:nvPr/>
        </p:nvSpPr>
        <p:spPr>
          <a:xfrm>
            <a:off x="3133279" y="2161729"/>
            <a:ext cx="1536204" cy="3063776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0" name="shape s7.1.0.1.1"/>
          <p:cNvSpPr/>
          <p:nvPr/>
        </p:nvSpPr>
        <p:spPr>
          <a:xfrm>
            <a:off x="280407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1" name="text s7.1.0.1.2"/>
          <p:cNvSpPr txBox="1"/>
          <p:nvPr/>
        </p:nvSpPr>
        <p:spPr>
          <a:xfrm>
            <a:off x="280407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6월</a:t>
            </a:r>
          </a:p>
        </p:txBody>
      </p:sp>
      <p:sp>
        <p:nvSpPr>
          <p:cNvPr id="12" name="text s7.1.0.2.0.0"/>
          <p:cNvSpPr txBox="1"/>
          <p:nvPr/>
        </p:nvSpPr>
        <p:spPr>
          <a:xfrm>
            <a:off x="4998690" y="2509986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15분</a:t>
            </a:r>
          </a:p>
        </p:txBody>
      </p:sp>
      <p:sp>
        <p:nvSpPr>
          <p:cNvPr id="13" name="shape s7.1.0.2.0.1"/>
          <p:cNvSpPr/>
          <p:nvPr/>
        </p:nvSpPr>
        <p:spPr>
          <a:xfrm>
            <a:off x="5327898" y="2807047"/>
            <a:ext cx="1536055" cy="2418457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4" name="shape s7.1.0.2.1"/>
          <p:cNvSpPr/>
          <p:nvPr/>
        </p:nvSpPr>
        <p:spPr>
          <a:xfrm>
            <a:off x="4998690" y="5225504"/>
            <a:ext cx="2194471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5" name="text s7.1.0.2.2"/>
          <p:cNvSpPr txBox="1"/>
          <p:nvPr/>
        </p:nvSpPr>
        <p:spPr>
          <a:xfrm>
            <a:off x="4998690" y="5235029"/>
            <a:ext cx="2194471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7월</a:t>
            </a:r>
          </a:p>
        </p:txBody>
      </p:sp>
      <p:sp>
        <p:nvSpPr>
          <p:cNvPr id="16" name="text s7.1.0.3.0.0"/>
          <p:cNvSpPr txBox="1"/>
          <p:nvPr/>
        </p:nvSpPr>
        <p:spPr>
          <a:xfrm>
            <a:off x="7193161" y="283234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13분</a:t>
            </a:r>
          </a:p>
        </p:txBody>
      </p:sp>
      <p:sp>
        <p:nvSpPr>
          <p:cNvPr id="17" name="shape s7.1.0.3.0.1"/>
          <p:cNvSpPr/>
          <p:nvPr/>
        </p:nvSpPr>
        <p:spPr>
          <a:xfrm>
            <a:off x="7522369" y="3129409"/>
            <a:ext cx="1536204" cy="20960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8" name="shape s7.1.0.3.1"/>
          <p:cNvSpPr/>
          <p:nvPr/>
        </p:nvSpPr>
        <p:spPr>
          <a:xfrm>
            <a:off x="7193161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19" name="text s7.1.0.3.2"/>
          <p:cNvSpPr txBox="1"/>
          <p:nvPr/>
        </p:nvSpPr>
        <p:spPr>
          <a:xfrm>
            <a:off x="7193161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8월</a:t>
            </a:r>
          </a:p>
        </p:txBody>
      </p:sp>
      <p:sp>
        <p:nvSpPr>
          <p:cNvPr id="20" name="text s7.1.0.4.0.0"/>
          <p:cNvSpPr txBox="1"/>
          <p:nvPr/>
        </p:nvSpPr>
        <p:spPr>
          <a:xfrm>
            <a:off x="9387780" y="2993678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12분</a:t>
            </a:r>
          </a:p>
        </p:txBody>
      </p:sp>
      <p:sp>
        <p:nvSpPr>
          <p:cNvPr id="21" name="shape s7.1.0.4.0.1"/>
          <p:cNvSpPr/>
          <p:nvPr/>
        </p:nvSpPr>
        <p:spPr>
          <a:xfrm>
            <a:off x="9716988" y="3290739"/>
            <a:ext cx="1536204" cy="193476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2" name="shape s7.1.0.4.1"/>
          <p:cNvSpPr/>
          <p:nvPr/>
        </p:nvSpPr>
        <p:spPr>
          <a:xfrm>
            <a:off x="9387780" y="5225504"/>
            <a:ext cx="2194620" cy="952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 lIns="0" tIns="0" rIns="0" bIns="0" anchor="t">
            <a:normAutofit/>
          </a:bodyPr>
          <a:lstStyle/>
          <a:p/>
        </p:txBody>
      </p:sp>
      <p:sp>
        <p:nvSpPr>
          <p:cNvPr id="23" name="text s7.1.0.4.2"/>
          <p:cNvSpPr txBox="1"/>
          <p:nvPr/>
        </p:nvSpPr>
        <p:spPr>
          <a:xfrm>
            <a:off x="9387780" y="5235029"/>
            <a:ext cx="219462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ts val="1890"/>
              </a:lnSpc>
            </a:pPr>
            <a:r>
              <a:rPr sz="1350" b="0">
                <a:solidFill>
                  <a:schemeClr val="accent4"/>
                </a:solidFill>
                <a:latin typeface="+mn-lt"/>
                <a:ea typeface="+mn-ea"/>
              </a:rPr>
              <a:t>이번 장애</a:t>
            </a:r>
          </a:p>
        </p:txBody>
      </p:sp>
      <p:sp>
        <p:nvSpPr>
          <p:cNvPr id="24" name="text s7.2"/>
          <p:cNvSpPr txBox="1"/>
          <p:nvPr/>
        </p:nvSpPr>
        <p:spPr>
          <a:xfrm>
            <a:off x="609600" y="5703540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목표는 3분(1분 p99 경보 + 2분 확인)이다. 액션 2번이 이 막대를 반으로 줄인다.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less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ckquote s8.0"/>
          <p:cNvSpPr txBox="1"/>
          <p:nvPr>
            <p:ph type="body" idx="1"/>
          </p:nvPr>
        </p:nvSpPr>
        <p:spPr>
          <a:xfrm>
            <a:off x="609600" y="2508945"/>
            <a:ext cx="10972800" cy="1371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ts val="5400"/>
              </a:lnSpc>
            </a:pPr>
            <a:r>
              <a:rPr sz="3600" b="0">
                <a:solidFill>
                  <a:schemeClr val="tx1"/>
                </a:solidFill>
                <a:latin typeface="+mn-lt"/>
                <a:ea typeface="+mn-ea"/>
              </a:rPr>
              <a:t>캐시는 가용성 장치가 아니다. 캐시가 사라진 순간의 부하를 견딜 수 있을 때만 캐시다.</a:t>
            </a:r>
          </a:p>
        </p:txBody>
      </p:sp>
      <p:sp>
        <p:nvSpPr>
          <p:cNvPr id="3" name="text s8.1"/>
          <p:cNvSpPr txBox="1"/>
          <p:nvPr>
            <p:ph type="body" idx="2"/>
          </p:nvPr>
        </p:nvSpPr>
        <p:spPr>
          <a:xfrm>
            <a:off x="609600" y="4109145"/>
            <a:ext cx="10972800" cy="23991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ts val="1890"/>
              </a:lnSpc>
            </a:pPr>
            <a:r>
              <a:rPr sz="1350" b="0">
                <a:solidFill>
                  <a:schemeClr val="tx2"/>
                </a:solidFill>
                <a:latin typeface="+mn-lt"/>
                <a:ea typeface="+mn-ea"/>
              </a:rPr>
              <a:t>— 회고에서 합의한 한 문장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s9.0"/>
          <p:cNvSpPr txBox="1"/>
          <p:nvPr>
            <p:ph type="title"/>
          </p:nvPr>
        </p:nvSpPr>
        <p:spPr>
          <a:xfrm>
            <a:off x="4244280" y="2684115"/>
            <a:ext cx="3703439" cy="914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7200"/>
              </a:lnSpc>
            </a:pPr>
            <a:r>
              <a:rPr sz="6000" b="1">
                <a:solidFill>
                  <a:schemeClr val="tx1"/>
                </a:solidFill>
                <a:latin typeface="+mj-lt"/>
                <a:ea typeface="+mj-ea"/>
              </a:rPr>
              <a:t>질문과 반론</a:t>
            </a:r>
          </a:p>
        </p:txBody>
      </p:sp>
      <p:sp>
        <p:nvSpPr>
          <p:cNvPr id="3" name="text s9.1"/>
          <p:cNvSpPr txBox="1"/>
          <p:nvPr>
            <p:ph type="body" idx="1"/>
          </p:nvPr>
        </p:nvSpPr>
        <p:spPr>
          <a:xfrm>
            <a:off x="3536752" y="3827115"/>
            <a:ext cx="5118497" cy="346621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rmAutofit/>
          </a:bodyPr>
          <a:lstStyle/>
          <a:p>
            <a:pPr algn="ctr">
              <a:lnSpc>
                <a:spcPts val="2730"/>
              </a:lnSpc>
            </a:pP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기록: </a:t>
            </a:r>
            <a:r>
              <a:rPr sz="2100" b="1" i="0" u="sng">
                <a:solidFill>
                  <a:schemeClr val="accent1"/>
                </a:solidFill>
                <a:latin typeface="+mj-lt"/>
                <a:ea typeface="+mj-ea"/>
                <a:hlinkClick r:id="rId3"/>
              </a:rPr>
              <a:t>INC-2431 회고 문서</a:t>
            </a:r>
            <a:r>
              <a:rPr sz="2100" b="1">
                <a:solidFill>
                  <a:schemeClr val="tx2"/>
                </a:solidFill>
                <a:latin typeface="+mj-lt"/>
                <a:ea typeface="+mj-ea"/>
              </a:rPr>
              <a:t> · #incident-2431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mal">
  <a:themeElements>
    <a:clrScheme name="minimal">
      <a:dk1>
        <a:srgbClr val="1A1A1A"/>
      </a:dk1>
      <a:lt1>
        <a:srgbClr val="FFFFFF"/>
      </a:lt1>
      <a:dk2>
        <a:srgbClr val="6B7280"/>
      </a:dk2>
      <a:lt2>
        <a:srgbClr val="F3F4F6"/>
      </a:lt2>
      <a:accent1>
        <a:srgbClr val="0F65F9"/>
      </a:accent1>
      <a:accent2>
        <a:srgbClr val="0E8174"/>
      </a:accent2>
      <a:accent3>
        <a:srgbClr val="15803D"/>
      </a:accent3>
      <a:accent4>
        <a:srgbClr val="B45309"/>
      </a:accent4>
      <a:accent5>
        <a:srgbClr val="DC2626"/>
      </a:accent5>
      <a:accent6>
        <a:srgbClr val="9333EA"/>
      </a:accent6>
      <a:hlink>
        <a:srgbClr val="0F65F9"/>
      </a:hlink>
      <a:folHlink>
        <a:srgbClr val="0F65F9"/>
      </a:folHlink>
    </a:clrScheme>
    <a:fontScheme name="minimal">
      <a:majorFont>
        <a:latin typeface="Noto Sans"/>
        <a:ea typeface="Noto Sans CJK KR"/>
        <a:cs typeface=""/>
      </a:majorFont>
      <a:minorFont>
        <a:latin typeface="Noto Sans"/>
        <a:ea typeface="Noto Sans CJK KR"/>
        <a:cs typeface=""/>
      </a:minorFont>
    </a:fontScheme>
    <a:fmtScheme name="minimal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  <a:ln w="2857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balpyo</Application>
  <Slides>10</Slides>
  <ScaleCrop>false</ScaleCrop>
  <LinksUpToDate>false</LinksUpToDate>
  <SharedDoc>false</SharedDoc>
  <HyperlinksChanged>false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INC-2431 장애 회고</dc:title>
  <dc:creator>Platform Team</dc:creator>
  <cp:lastModifiedBy>balpyo</cp:lastModifiedBy>
  <cp:revision>1</cp:revision>
</cp:coreProperties>
</file>