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theme" Target="theme/theme1.xml"/>
  <Relationship Id="rId13" Type="http://schemas.openxmlformats.org/officeDocument/2006/relationships/notesMaster" Target="notesMasters/notesMaster1.xml"/>
</Relationships>
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1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686300"/>
            <a:ext cx="5486400" cy="37719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회고의 규칙 먼저: 사람이 아니라 시스템을 본다. 30초.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숫자 셋만 읽고 다음으로. 자세한 것은 뒤에 있다.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경보가 늦은 이유는 5xx 임계값이 5분 평균이어서다. 액션 1번이 여기서 나온다.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imp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돈이 빠진 건은 없다. CS 문의 34건.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root-cau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고정 TTL + 일괄 예열 = 스탬피드. 지터와 단일 비행(single-flight) 둘 다 없었다.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fact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순서는 고치는 비용 순이다. 1번과 4번이 이번 주, 2번이 다음 스프린트.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a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담당과 기한은 이슈에 있다. 여기서는 순서만 합의한다.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det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추세는 좋지만 목표선이 없다. 다음 회고에 목표선을 그린다.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less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문장을 캐시 설계 리뷰 체크리스트 맨 위에 넣는다.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반론이 나오면 액션을 고친다. 회고는 합의가 아니라 수정이 목적이다.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author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wo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lef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igh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uote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attribution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code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caption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contac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  <Relationship Id="rId3" Type="http://schemas.openxmlformats.org/officeDocument/2006/relationships/slideLayout" Target="../slideLayouts/slideLayout2.xml"/>
  <Relationship Id="rId4" Type="http://schemas.openxmlformats.org/officeDocument/2006/relationships/slideLayout" Target="../slideLayouts/slideLayout3.xml"/>
  <Relationship Id="rId5" Type="http://schemas.openxmlformats.org/officeDocument/2006/relationships/slideLayout" Target="../slideLayouts/slideLayout4.xml"/>
  <Relationship Id="rId6" Type="http://schemas.openxmlformats.org/officeDocument/2006/relationships/slideLayout" Target="../slideLayouts/slideLayout5.xml"/>
  <Relationship Id="rId7" Type="http://schemas.openxmlformats.org/officeDocument/2006/relationships/slideLayout" Target="../slideLayouts/slideLayout6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Body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3"/>
    <p:sldLayoutId id="2147483651" r:id="rId4"/>
    <p:sldLayoutId id="2147483652" r:id="rId5"/>
    <p:sldLayoutId id="2147483653" r:id="rId6"/>
    <p:sldLayoutId id="2147483654" r:id="rId7"/>
  </p:sldLayoutIdLst>
  <p:txStyles>
    <p:titleStyle>
      <a:lvl1pPr algn="l">
        <a:defRPr sz="4400"/>
      </a:lvl1pPr>
    </p:titleStyle>
    <p:bodyStyle>
      <a:lvl1pPr>
        <a:defRPr sz="2400"/>
      </a:lvl1pPr>
    </p:bodyStyle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notesSlide" Target="../notesSlides/notesSlide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2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4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5.xml"/>
  <Relationship Id="rId2" Type="http://schemas.openxmlformats.org/officeDocument/2006/relationships/notesSlide" Target="../notesSlides/notesSlide5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6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3.xml"/>
  <Relationship Id="rId2" Type="http://schemas.openxmlformats.org/officeDocument/2006/relationships/notesSlide" Target="../notesSlides/notesSlide7.xml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8.xml"/>
</Relationships>
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4.xml"/>
  <Relationship Id="rId2" Type="http://schemas.openxmlformats.org/officeDocument/2006/relationships/notesSlide" Target="../notesSlides/notesSlide9.xml"/>
</Relationships>
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6.xml"/>
  <Relationship Id="rId2" Type="http://schemas.openxmlformats.org/officeDocument/2006/relationships/notesSlide" Target="../notesSlides/notesSlide10.xml"/>
  <Relationship Id="rId3" Type="http://schemas.openxmlformats.org/officeDocument/2006/relationships/hyperlink" Target="https://example.com/inc-2431" TargetMode="Externa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0.0"/>
          <p:cNvSpPr txBox="1"/>
          <p:nvPr>
            <p:ph type="body" idx="2"/>
          </p:nvPr>
        </p:nvSpPr>
        <p:spPr>
          <a:xfrm>
            <a:off x="5025628" y="609600"/>
            <a:ext cx="2140744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INCIDENT REVIEW · INC-2431</a:t>
            </a:r>
          </a:p>
        </p:txBody>
      </p:sp>
      <p:sp>
        <p:nvSpPr>
          <p:cNvPr id="3" name="text s0.1"/>
          <p:cNvSpPr txBox="1"/>
          <p:nvPr>
            <p:ph type="ctrTitle"/>
          </p:nvPr>
        </p:nvSpPr>
        <p:spPr>
          <a:xfrm>
            <a:off x="4010620" y="1078111"/>
            <a:ext cx="4170759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결제 API 5xx, 47분</a:t>
            </a:r>
          </a:p>
        </p:txBody>
      </p:sp>
      <p:sp>
        <p:nvSpPr>
          <p:cNvPr id="4" name="text s0.2"/>
          <p:cNvSpPr txBox="1"/>
          <p:nvPr>
            <p:ph type="subTitle" idx="1"/>
          </p:nvPr>
        </p:nvSpPr>
        <p:spPr>
          <a:xfrm>
            <a:off x="3815358" y="1946672"/>
            <a:ext cx="4561284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2"/>
                </a:solidFill>
                <a:latin typeface="+mn-lt"/>
                <a:ea typeface="+mn-ea"/>
              </a:rPr>
              <a:t>캐시 스탬피드 — 무슨 일이 있었고 무엇을 바꾸는가</a:t>
            </a:r>
          </a:p>
        </p:txBody>
      </p:sp>
      <p:sp>
        <p:nvSpPr>
          <p:cNvPr id="5" name="text s0.3"/>
          <p:cNvSpPr txBox="1"/>
          <p:nvPr>
            <p:ph type="body" idx="3"/>
          </p:nvPr>
        </p:nvSpPr>
        <p:spPr>
          <a:xfrm>
            <a:off x="5566172" y="5539978"/>
            <a:ext cx="1059656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Platform Team</a:t>
            </a:r>
          </a:p>
        </p:txBody>
      </p:sp>
      <p:sp>
        <p:nvSpPr>
          <p:cNvPr id="6" name="text s0.4"/>
          <p:cNvSpPr txBox="1"/>
          <p:nvPr>
            <p:ph type="body" idx="4"/>
          </p:nvPr>
        </p:nvSpPr>
        <p:spPr>
          <a:xfrm>
            <a:off x="5655618" y="6008489"/>
            <a:ext cx="880616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2026-09-18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1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한 장 요약</a:t>
            </a:r>
          </a:p>
        </p:txBody>
      </p:sp>
      <p:sp>
        <p:nvSpPr>
          <p:cNvPr id="3" name="shape s1.1.0"/>
          <p:cNvSpPr/>
          <p:nvPr/>
        </p:nvSpPr>
        <p:spPr>
          <a:xfrm>
            <a:off x="609600" y="2594670"/>
            <a:ext cx="3505200" cy="142875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accent5"/>
                </a:solidFill>
                <a:latin typeface="+mj-lt"/>
                <a:ea typeface="+mj-ea"/>
              </a:rPr>
              <a:t>47분</a:t>
            </a:r>
          </a:p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결제 API 5xx 지속</a:t>
            </a:r>
          </a:p>
        </p:txBody>
      </p:sp>
      <p:sp>
        <p:nvSpPr>
          <p:cNvPr id="4" name="shape s1.1.1"/>
          <p:cNvSpPr/>
          <p:nvPr/>
        </p:nvSpPr>
        <p:spPr>
          <a:xfrm>
            <a:off x="4343400" y="2594670"/>
            <a:ext cx="3505200" cy="142875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accent5"/>
                </a:solidFill>
                <a:latin typeface="+mj-lt"/>
                <a:ea typeface="+mj-ea"/>
              </a:rPr>
              <a:t>8.4%</a:t>
            </a:r>
          </a:p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최대 오류율 (평시 0.02%)</a:t>
            </a:r>
          </a:p>
        </p:txBody>
      </p:sp>
      <p:sp>
        <p:nvSpPr>
          <p:cNvPr id="5" name="shape s1.1.2"/>
          <p:cNvSpPr/>
          <p:nvPr/>
        </p:nvSpPr>
        <p:spPr>
          <a:xfrm>
            <a:off x="8077200" y="2594670"/>
            <a:ext cx="3505200" cy="142875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accent4"/>
                </a:solidFill>
                <a:latin typeface="+mj-lt"/>
                <a:ea typeface="+mj-ea"/>
              </a:rPr>
              <a:t>12분</a:t>
            </a:r>
          </a:p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탐지까지 걸린 시간</a:t>
            </a:r>
          </a:p>
        </p:txBody>
      </p:sp>
      <p:sp>
        <p:nvSpPr>
          <p:cNvPr id="6" name="p s1.2"/>
          <p:cNvSpPr txBox="1"/>
          <p:nvPr/>
        </p:nvSpPr>
        <p:spPr>
          <a:xfrm>
            <a:off x="609600" y="5562600"/>
            <a:ext cx="10972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결제 캐시 키 하나가 동시에 만료되면서 DB로 요청이 쏟아졌다. 읽기 풀이 고갈되고 결제 API가 5xx를 반환했다. 롤백이 아니라 </a:t>
            </a:r>
            <a:r>
              <a:rPr sz="1800" b="1" i="0" u="none">
                <a:solidFill>
                  <a:schemeClr val="tx1"/>
                </a:solidFill>
                <a:latin typeface="+mn-lt"/>
                <a:ea typeface="+mn-ea"/>
              </a:rPr>
              <a:t>부하 차단</a:t>
            </a: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으로 멈췄다.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2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타임라인 (KST)</a:t>
            </a:r>
          </a:p>
        </p:txBody>
      </p:sp>
      <p:sp>
        <p:nvSpPr>
          <p:cNvPr id="3" name="shape s2.1.0.0"/>
          <p:cNvSpPr/>
          <p:nvPr/>
        </p:nvSpPr>
        <p:spPr>
          <a:xfrm>
            <a:off x="609600" y="2922389"/>
            <a:ext cx="2103090" cy="533400"/>
          </a:xfrm>
          <a:prstGeom prst="chevron">
            <a:avLst>
              <a:gd name="adj" fmla="val 197140"/>
            </a:avLst>
          </a:prstGeom>
          <a:solidFill>
            <a:schemeClr val="accent5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-1051545" tIns="0" rIns="-1051545" bIns="0" anchor="t">
            <a:normAutofit/>
          </a:bodyPr>
          <a:lstStyle/>
          <a:p/>
        </p:txBody>
      </p:sp>
      <p:sp>
        <p:nvSpPr>
          <p:cNvPr id="4" name="text s2.1.0.1"/>
          <p:cNvSpPr txBox="1"/>
          <p:nvPr/>
        </p:nvSpPr>
        <p:spPr>
          <a:xfrm>
            <a:off x="609600" y="3570089"/>
            <a:ext cx="2103090" cy="242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913"/>
              </a:lnSpc>
            </a:pPr>
            <a:r>
              <a:rPr sz="1275" b="0">
                <a:solidFill>
                  <a:schemeClr val="tx1"/>
                </a:solidFill>
                <a:latin typeface="+mn-lt"/>
                <a:ea typeface="+mn-ea"/>
              </a:rPr>
              <a:t>14:02</a:t>
            </a:r>
          </a:p>
        </p:txBody>
      </p:sp>
      <p:sp>
        <p:nvSpPr>
          <p:cNvPr id="5" name="text s2.1.0.2"/>
          <p:cNvSpPr txBox="1"/>
          <p:nvPr/>
        </p:nvSpPr>
        <p:spPr>
          <a:xfrm>
            <a:off x="609600" y="3927277"/>
            <a:ext cx="2103090" cy="21431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688"/>
              </a:lnSpc>
            </a:pPr>
            <a:r>
              <a:rPr sz="1125" b="0">
                <a:solidFill>
                  <a:schemeClr val="tx2"/>
                </a:solidFill>
                <a:latin typeface="+mn-lt"/>
                <a:ea typeface="+mn-ea"/>
              </a:rPr>
              <a:t>키 동시 만료</a:t>
            </a:r>
          </a:p>
        </p:txBody>
      </p:sp>
      <p:sp>
        <p:nvSpPr>
          <p:cNvPr id="6" name="shape s2.1.1.0"/>
          <p:cNvSpPr/>
          <p:nvPr/>
        </p:nvSpPr>
        <p:spPr>
          <a:xfrm>
            <a:off x="2826990" y="2922389"/>
            <a:ext cx="2103090" cy="533400"/>
          </a:xfrm>
          <a:prstGeom prst="chevron">
            <a:avLst>
              <a:gd name="adj" fmla="val 197140"/>
            </a:avLst>
          </a:prstGeom>
          <a:solidFill>
            <a:schemeClr val="accent4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-1051545" tIns="0" rIns="-1051545" bIns="0" anchor="t">
            <a:normAutofit/>
          </a:bodyPr>
          <a:lstStyle/>
          <a:p/>
        </p:txBody>
      </p:sp>
      <p:sp>
        <p:nvSpPr>
          <p:cNvPr id="7" name="text s2.1.1.1"/>
          <p:cNvSpPr txBox="1"/>
          <p:nvPr/>
        </p:nvSpPr>
        <p:spPr>
          <a:xfrm>
            <a:off x="2826990" y="3570089"/>
            <a:ext cx="2103090" cy="242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913"/>
              </a:lnSpc>
            </a:pPr>
            <a:r>
              <a:rPr sz="1275" b="0">
                <a:solidFill>
                  <a:schemeClr val="tx1"/>
                </a:solidFill>
                <a:latin typeface="+mn-lt"/>
                <a:ea typeface="+mn-ea"/>
              </a:rPr>
              <a:t>14:14</a:t>
            </a:r>
          </a:p>
        </p:txBody>
      </p:sp>
      <p:sp>
        <p:nvSpPr>
          <p:cNvPr id="8" name="text s2.1.1.2"/>
          <p:cNvSpPr txBox="1"/>
          <p:nvPr/>
        </p:nvSpPr>
        <p:spPr>
          <a:xfrm>
            <a:off x="2826990" y="3927277"/>
            <a:ext cx="2103090" cy="21431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688"/>
              </a:lnSpc>
            </a:pPr>
            <a:r>
              <a:rPr sz="1125" b="0">
                <a:solidFill>
                  <a:schemeClr val="tx2"/>
                </a:solidFill>
                <a:latin typeface="+mn-lt"/>
                <a:ea typeface="+mn-ea"/>
              </a:rPr>
              <a:t>5xx 경보</a:t>
            </a:r>
          </a:p>
        </p:txBody>
      </p:sp>
      <p:sp>
        <p:nvSpPr>
          <p:cNvPr id="9" name="shape s2.1.2.0"/>
          <p:cNvSpPr/>
          <p:nvPr/>
        </p:nvSpPr>
        <p:spPr>
          <a:xfrm>
            <a:off x="5044380" y="2922389"/>
            <a:ext cx="2103090" cy="533400"/>
          </a:xfrm>
          <a:prstGeom prst="chevron">
            <a:avLst>
              <a:gd name="adj" fmla="val 197140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-1051545" tIns="0" rIns="-1051545" bIns="0" anchor="t">
            <a:normAutofit/>
          </a:bodyPr>
          <a:lstStyle/>
          <a:p/>
        </p:txBody>
      </p:sp>
      <p:sp>
        <p:nvSpPr>
          <p:cNvPr id="10" name="text s2.1.2.1"/>
          <p:cNvSpPr txBox="1"/>
          <p:nvPr/>
        </p:nvSpPr>
        <p:spPr>
          <a:xfrm>
            <a:off x="5044380" y="3570089"/>
            <a:ext cx="2103090" cy="242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913"/>
              </a:lnSpc>
            </a:pPr>
            <a:r>
              <a:rPr sz="1275" b="0">
                <a:solidFill>
                  <a:schemeClr val="tx1"/>
                </a:solidFill>
                <a:latin typeface="+mn-lt"/>
                <a:ea typeface="+mn-ea"/>
              </a:rPr>
              <a:t>14:23</a:t>
            </a:r>
          </a:p>
        </p:txBody>
      </p:sp>
      <p:sp>
        <p:nvSpPr>
          <p:cNvPr id="11" name="text s2.1.2.2"/>
          <p:cNvSpPr txBox="1"/>
          <p:nvPr/>
        </p:nvSpPr>
        <p:spPr>
          <a:xfrm>
            <a:off x="5044380" y="3927277"/>
            <a:ext cx="2103090" cy="21431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688"/>
              </a:lnSpc>
            </a:pPr>
            <a:r>
              <a:rPr sz="1125" b="0">
                <a:solidFill>
                  <a:schemeClr val="tx2"/>
                </a:solidFill>
                <a:latin typeface="+mn-lt"/>
                <a:ea typeface="+mn-ea"/>
              </a:rPr>
              <a:t>DB 풀 고갈 확인</a:t>
            </a:r>
          </a:p>
        </p:txBody>
      </p:sp>
      <p:sp>
        <p:nvSpPr>
          <p:cNvPr id="12" name="shape s2.1.3.0"/>
          <p:cNvSpPr/>
          <p:nvPr/>
        </p:nvSpPr>
        <p:spPr>
          <a:xfrm>
            <a:off x="7261771" y="2922389"/>
            <a:ext cx="2103090" cy="533400"/>
          </a:xfrm>
          <a:prstGeom prst="chevron">
            <a:avLst>
              <a:gd name="adj" fmla="val 197140"/>
            </a:avLst>
          </a:prstGeom>
          <a:solidFill>
            <a:schemeClr val="accent3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-1051545" tIns="0" rIns="-1051545" bIns="0" anchor="t">
            <a:normAutofit/>
          </a:bodyPr>
          <a:lstStyle/>
          <a:p/>
        </p:txBody>
      </p:sp>
      <p:sp>
        <p:nvSpPr>
          <p:cNvPr id="13" name="text s2.1.3.1"/>
          <p:cNvSpPr txBox="1"/>
          <p:nvPr/>
        </p:nvSpPr>
        <p:spPr>
          <a:xfrm>
            <a:off x="7261771" y="3570089"/>
            <a:ext cx="2103090" cy="242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913"/>
              </a:lnSpc>
            </a:pPr>
            <a:r>
              <a:rPr sz="1275" b="0">
                <a:solidFill>
                  <a:schemeClr val="tx1"/>
                </a:solidFill>
                <a:latin typeface="+mn-lt"/>
                <a:ea typeface="+mn-ea"/>
              </a:rPr>
              <a:t>14:31</a:t>
            </a:r>
          </a:p>
        </p:txBody>
      </p:sp>
      <p:sp>
        <p:nvSpPr>
          <p:cNvPr id="14" name="text s2.1.3.2"/>
          <p:cNvSpPr txBox="1"/>
          <p:nvPr/>
        </p:nvSpPr>
        <p:spPr>
          <a:xfrm>
            <a:off x="7261771" y="3927277"/>
            <a:ext cx="2103090" cy="21431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688"/>
              </a:lnSpc>
            </a:pPr>
            <a:r>
              <a:rPr sz="1125" b="0">
                <a:solidFill>
                  <a:schemeClr val="tx2"/>
                </a:solidFill>
                <a:latin typeface="+mn-lt"/>
                <a:ea typeface="+mn-ea"/>
              </a:rPr>
              <a:t>부하 차단 적용</a:t>
            </a:r>
          </a:p>
        </p:txBody>
      </p:sp>
      <p:sp>
        <p:nvSpPr>
          <p:cNvPr id="15" name="shape s2.1.4.0"/>
          <p:cNvSpPr/>
          <p:nvPr/>
        </p:nvSpPr>
        <p:spPr>
          <a:xfrm>
            <a:off x="9479161" y="2922389"/>
            <a:ext cx="2103239" cy="533400"/>
          </a:xfrm>
          <a:prstGeom prst="chevron">
            <a:avLst>
              <a:gd name="adj" fmla="val 197154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-1051620" tIns="0" rIns="-1051620" bIns="0" anchor="t">
            <a:normAutofit/>
          </a:bodyPr>
          <a:lstStyle/>
          <a:p/>
        </p:txBody>
      </p:sp>
      <p:sp>
        <p:nvSpPr>
          <p:cNvPr id="16" name="text s2.1.4.1"/>
          <p:cNvSpPr txBox="1"/>
          <p:nvPr/>
        </p:nvSpPr>
        <p:spPr>
          <a:xfrm>
            <a:off x="9479161" y="3570089"/>
            <a:ext cx="2103239" cy="242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913"/>
              </a:lnSpc>
            </a:pPr>
            <a:r>
              <a:rPr sz="1275" b="0">
                <a:solidFill>
                  <a:schemeClr val="tx1"/>
                </a:solidFill>
                <a:latin typeface="+mn-lt"/>
                <a:ea typeface="+mn-ea"/>
              </a:rPr>
              <a:t>14:49</a:t>
            </a:r>
          </a:p>
        </p:txBody>
      </p:sp>
      <p:sp>
        <p:nvSpPr>
          <p:cNvPr id="17" name="text s2.1.4.2"/>
          <p:cNvSpPr txBox="1"/>
          <p:nvPr/>
        </p:nvSpPr>
        <p:spPr>
          <a:xfrm>
            <a:off x="9479161" y="3927277"/>
            <a:ext cx="2103239" cy="21431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688"/>
              </a:lnSpc>
            </a:pPr>
            <a:r>
              <a:rPr sz="1125" b="0">
                <a:solidFill>
                  <a:schemeClr val="tx2"/>
                </a:solidFill>
                <a:latin typeface="+mn-lt"/>
                <a:ea typeface="+mn-ea"/>
              </a:rPr>
              <a:t>오류율 정상</a:t>
            </a:r>
          </a:p>
        </p:txBody>
      </p:sp>
      <p:sp>
        <p:nvSpPr>
          <p:cNvPr id="18" name="text s2.2"/>
          <p:cNvSpPr txBox="1"/>
          <p:nvPr/>
        </p:nvSpPr>
        <p:spPr>
          <a:xfrm>
            <a:off x="609600" y="6008489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탐지 12분, 완화 17분, 복구 18분. 가장 비싼 구간은 </a:t>
            </a:r>
            <a:r>
              <a:rPr sz="1350" b="1" i="0" u="none">
                <a:solidFill>
                  <a:schemeClr val="tx2"/>
                </a:solidFill>
                <a:latin typeface="+mn-lt"/>
                <a:ea typeface="+mn-ea"/>
              </a:rPr>
              <a:t>탐지</a:t>
            </a: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였다.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mp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3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영향 범위</a:t>
            </a:r>
          </a:p>
        </p:txBody>
      </p:sp>
      <p:graphicFrame>
        <p:nvGraphicFramePr>
          <p:cNvPr id="3" name="table s3.1"/>
          <p:cNvGraphicFramePr/>
          <p:nvPr/>
        </p:nvGraphicFramePr>
        <p:xfrm>
          <a:off x="609600" y="2517577"/>
          <a:ext cx="10972800" cy="2028825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189411"/>
                <a:gridCol w="2581275"/>
                <a:gridCol w="2184648"/>
                <a:gridCol w="4017466"/>
              </a:tblGrid>
              <a:tr h="509588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서비스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오류율 최대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영향 요청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사용자 체감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결제 API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8.4%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41,200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결제 실패 후 재시도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주문 조회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1.1%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6,800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조회 지연 2~4초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9587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정산 배치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0%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없음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text s3.2"/>
          <p:cNvSpPr txBox="1"/>
          <p:nvPr/>
        </p:nvSpPr>
        <p:spPr>
          <a:xfrm>
            <a:off x="609600" y="6008489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결제 실패 41,200건 중 재시도로 성공한 것이 39,900건이다.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oot-cau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4.0"/>
          <p:cNvSpPr txBox="1"/>
          <p:nvPr>
            <p:ph type="title"/>
          </p:nvPr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근본 원인 — 만료가 한 시각에 몰렸다</a:t>
            </a:r>
          </a:p>
        </p:txBody>
      </p:sp>
      <p:sp>
        <p:nvSpPr>
          <p:cNvPr id="3" name="pre s4.1"/>
          <p:cNvSpPr txBox="1"/>
          <p:nvPr>
            <p:ph type="body" idx="1"/>
          </p:nvPr>
        </p:nvSpPr>
        <p:spPr>
          <a:xfrm>
            <a:off x="609600" y="1283940"/>
            <a:ext cx="10972800" cy="449594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chemeClr val="tx2"/>
                </a:solidFill>
                <a:latin typeface="Noto Sans Mono"/>
                <a:ea typeface="Noto Sans Mono CJK KR"/>
              </a:rPr>
              <a:t>// 배포 때 캐시를 한 번에 채운다 — TTL이 전부 같은 시각이 된다.</a:t>
            </a:r>
            <a:br/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func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50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warm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(ctx context.Context, ids []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string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)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error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{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for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_, id :=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range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ids {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 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if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err := cache.</a:t>
            </a:r>
            <a:r>
              <a:rPr sz="150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Set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(ctx, </a:t>
            </a:r>
            <a:r>
              <a:rPr sz="150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key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(id), </a:t>
            </a:r>
            <a:r>
              <a:rPr sz="150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load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(id), </a:t>
            </a:r>
            <a:r>
              <a:rPr sz="1500" b="0" i="0" u="none">
                <a:solidFill>
                  <a:schemeClr val="accent4"/>
                </a:solidFill>
                <a:latin typeface="Noto Sans Mono"/>
                <a:ea typeface="Noto Sans Mono CJK KR"/>
              </a:rPr>
              <a:t>30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*time.Minute); err !=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nil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{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   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return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err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  }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}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return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nil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}</a:t>
            </a:r>
          </a:p>
        </p:txBody>
      </p:sp>
      <p:sp>
        <p:nvSpPr>
          <p:cNvPr id="4" name="text s4.2"/>
          <p:cNvSpPr txBox="1"/>
          <p:nvPr>
            <p:ph type="body" idx="2"/>
          </p:nvPr>
        </p:nvSpPr>
        <p:spPr>
          <a:xfrm>
            <a:off x="609600" y="6008489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TTL에 지터가 없다. 30분 뒤 같은 초에 12만 키가 만료됐다.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act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5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기여 요인 넷</a:t>
            </a:r>
          </a:p>
        </p:txBody>
      </p:sp>
      <p:sp>
        <p:nvSpPr>
          <p:cNvPr id="3" name="ul s5.1"/>
          <p:cNvSpPr txBox="1"/>
          <p:nvPr/>
        </p:nvSpPr>
        <p:spPr>
          <a:xfrm>
            <a:off x="609600" y="1283940"/>
            <a:ext cx="10972800" cy="11525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1" i="0" u="none">
                <a:solidFill>
                  <a:schemeClr val="tx1"/>
                </a:solidFill>
                <a:latin typeface="+mn-lt"/>
                <a:ea typeface="+mn-ea"/>
              </a:rPr>
              <a:t>고정 TTL</a:t>
            </a: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 — 예열이 모든 키에 같은 만료 시각을 준다.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1" i="0" u="none">
                <a:solidFill>
                  <a:schemeClr val="tx1"/>
                </a:solidFill>
                <a:latin typeface="+mn-lt"/>
                <a:ea typeface="+mn-ea"/>
              </a:rPr>
              <a:t>단일 비행 없음</a:t>
            </a: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 — 캐시 미스가 그대로 DB 질의가 된다 (</a:t>
            </a:r>
            <a:r>
              <a:rPr sz="1500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cache.Get</a:t>
            </a: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 실패 경로에 잠금이 없다).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1" i="0" u="none">
                <a:solidFill>
                  <a:schemeClr val="tx1"/>
                </a:solidFill>
                <a:latin typeface="+mn-lt"/>
                <a:ea typeface="+mn-ea"/>
              </a:rPr>
              <a:t>읽기 풀이 작다</a:t>
            </a: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 — 풀 상한 40, 평시 피크 26. 여유가 14개뿐이었다.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1" i="0" u="none">
                <a:solidFill>
                  <a:schemeClr val="tx1"/>
                </a:solidFill>
                <a:latin typeface="+mn-lt"/>
                <a:ea typeface="+mn-ea"/>
              </a:rPr>
              <a:t>경보가 5분 평균</a:t>
            </a: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 — 임계값이 평균이라 급한 스파이크를 늦게 본다.</a:t>
            </a:r>
          </a:p>
        </p:txBody>
      </p:sp>
      <p:sp>
        <p:nvSpPr>
          <p:cNvPr id="4" name="text s5.2"/>
          <p:cNvSpPr txBox="1"/>
          <p:nvPr/>
        </p:nvSpPr>
        <p:spPr>
          <a:xfrm>
            <a:off x="609600" y="2665065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넷 중 하나만 없었어도 47분이 아니라 5분이었다.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6.0"/>
          <p:cNvSpPr txBox="1"/>
          <p:nvPr>
            <p:ph type="title"/>
          </p:nvPr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재발 방지 액션</a:t>
            </a:r>
          </a:p>
        </p:txBody>
      </p:sp>
      <p:sp>
        <p:nvSpPr>
          <p:cNvPr id="3" name="text s6.1.0"/>
          <p:cNvSpPr txBox="1"/>
          <p:nvPr/>
        </p:nvSpPr>
        <p:spPr>
          <a:xfrm>
            <a:off x="609600" y="1283940"/>
            <a:ext cx="537210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accent3"/>
                </a:solidFill>
                <a:latin typeface="+mj-lt"/>
                <a:ea typeface="+mj-ea"/>
              </a:rPr>
              <a:t>이번 주</a:t>
            </a:r>
          </a:p>
        </p:txBody>
      </p:sp>
      <p:sp>
        <p:nvSpPr>
          <p:cNvPr id="4" name="ol s6.1.1"/>
          <p:cNvSpPr txBox="1"/>
          <p:nvPr/>
        </p:nvSpPr>
        <p:spPr>
          <a:xfrm>
            <a:off x="609600" y="1695301"/>
            <a:ext cx="5372100" cy="7715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025"/>
              </a:lnSpc>
              <a:buFont typeface="+mn-lt"/>
              <a:buAutoNum type="arabicPeriod"/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TTL에 ±10% 지터 (결제 캐시 전부)</a:t>
            </a:r>
          </a:p>
          <a:p>
            <a:pPr marL="342900" indent="-342900" algn="l">
              <a:lnSpc>
                <a:spcPts val="2025"/>
              </a:lnSpc>
              <a:buFont typeface="+mn-lt"/>
              <a:buAutoNum type="arabicPeriod"/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5xx 경보를 1분 p99로 교체</a:t>
            </a:r>
          </a:p>
          <a:p>
            <a:pPr marL="342900" indent="-342900" algn="l">
              <a:lnSpc>
                <a:spcPts val="2025"/>
              </a:lnSpc>
              <a:buFont typeface="+mn-lt"/>
              <a:buAutoNum type="arabicPeriod"/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읽기 풀 상한 40 → 96, 경보 80%</a:t>
            </a:r>
          </a:p>
        </p:txBody>
      </p:sp>
      <p:sp>
        <p:nvSpPr>
          <p:cNvPr id="5" name="text s6.2.0"/>
          <p:cNvSpPr txBox="1"/>
          <p:nvPr/>
        </p:nvSpPr>
        <p:spPr>
          <a:xfrm>
            <a:off x="6210300" y="1283940"/>
            <a:ext cx="537210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accent3"/>
                </a:solidFill>
                <a:latin typeface="+mj-lt"/>
                <a:ea typeface="+mj-ea"/>
              </a:rPr>
              <a:t>다음 스프린트</a:t>
            </a:r>
          </a:p>
        </p:txBody>
      </p:sp>
      <p:sp>
        <p:nvSpPr>
          <p:cNvPr id="6" name="ol s6.2.1"/>
          <p:cNvSpPr txBox="1"/>
          <p:nvPr/>
        </p:nvSpPr>
        <p:spPr>
          <a:xfrm>
            <a:off x="6210300" y="1695301"/>
            <a:ext cx="5372100" cy="7715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025"/>
              </a:lnSpc>
              <a:buFont typeface="+mn-lt"/>
              <a:buAutoNum type="arabicPeriod"/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캐시 미스에 단일 비행 잠금</a:t>
            </a:r>
          </a:p>
          <a:p>
            <a:pPr marL="342900" indent="-342900" algn="l">
              <a:lnSpc>
                <a:spcPts val="2025"/>
              </a:lnSpc>
              <a:buFont typeface="+mn-lt"/>
              <a:buAutoNum type="arabicPeriod"/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부하 차단을 수동 → 자동 (오류율 2%)</a:t>
            </a:r>
          </a:p>
          <a:p>
            <a:pPr marL="342900" indent="-342900" algn="l">
              <a:lnSpc>
                <a:spcPts val="2025"/>
              </a:lnSpc>
              <a:buFont typeface="+mn-lt"/>
              <a:buAutoNum type="arabicPeriod"/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스탬피드 부하 시험을 배포 게이트에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t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7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평균 탐지 시간이 줄고 있다 — 아직 느리다</a:t>
            </a:r>
          </a:p>
        </p:txBody>
      </p:sp>
      <p:sp>
        <p:nvSpPr>
          <p:cNvPr id="3" name="shape s7.1" descr="월별 평균 탐지 시간 — 5월 22분에서 이번 장애 12분까지"/>
          <p:cNvSpPr/>
          <p:nvPr/>
        </p:nvSpPr>
        <p:spPr>
          <a:xfrm>
            <a:off x="609600" y="1283940"/>
            <a:ext cx="10972800" cy="419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4" name="text s7.1.0.0.0.0"/>
          <p:cNvSpPr txBox="1"/>
          <p:nvPr/>
        </p:nvSpPr>
        <p:spPr>
          <a:xfrm>
            <a:off x="609600" y="1381125"/>
            <a:ext cx="2194471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22분</a:t>
            </a:r>
          </a:p>
        </p:txBody>
      </p:sp>
      <p:sp>
        <p:nvSpPr>
          <p:cNvPr id="5" name="shape s7.1.0.0.0.1"/>
          <p:cNvSpPr/>
          <p:nvPr/>
        </p:nvSpPr>
        <p:spPr>
          <a:xfrm>
            <a:off x="938808" y="1678186"/>
            <a:ext cx="1536055" cy="354731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6" name="shape s7.1.0.0.1"/>
          <p:cNvSpPr/>
          <p:nvPr/>
        </p:nvSpPr>
        <p:spPr>
          <a:xfrm>
            <a:off x="609600" y="5225504"/>
            <a:ext cx="2194471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7" name="text s7.1.0.0.2"/>
          <p:cNvSpPr txBox="1"/>
          <p:nvPr/>
        </p:nvSpPr>
        <p:spPr>
          <a:xfrm>
            <a:off x="609600" y="5235029"/>
            <a:ext cx="2194471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5월</a:t>
            </a:r>
          </a:p>
        </p:txBody>
      </p:sp>
      <p:sp>
        <p:nvSpPr>
          <p:cNvPr id="8" name="text s7.1.0.1.0.0"/>
          <p:cNvSpPr txBox="1"/>
          <p:nvPr/>
        </p:nvSpPr>
        <p:spPr>
          <a:xfrm>
            <a:off x="2804071" y="1864668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19분</a:t>
            </a:r>
          </a:p>
        </p:txBody>
      </p:sp>
      <p:sp>
        <p:nvSpPr>
          <p:cNvPr id="9" name="shape s7.1.0.1.0.1"/>
          <p:cNvSpPr/>
          <p:nvPr/>
        </p:nvSpPr>
        <p:spPr>
          <a:xfrm>
            <a:off x="3133279" y="2161729"/>
            <a:ext cx="1536204" cy="306377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0" name="shape s7.1.0.1.1"/>
          <p:cNvSpPr/>
          <p:nvPr/>
        </p:nvSpPr>
        <p:spPr>
          <a:xfrm>
            <a:off x="2804071" y="5225504"/>
            <a:ext cx="2194620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1" name="text s7.1.0.1.2"/>
          <p:cNvSpPr txBox="1"/>
          <p:nvPr/>
        </p:nvSpPr>
        <p:spPr>
          <a:xfrm>
            <a:off x="2804071" y="5235029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6월</a:t>
            </a:r>
          </a:p>
        </p:txBody>
      </p:sp>
      <p:sp>
        <p:nvSpPr>
          <p:cNvPr id="12" name="text s7.1.0.2.0.0"/>
          <p:cNvSpPr txBox="1"/>
          <p:nvPr/>
        </p:nvSpPr>
        <p:spPr>
          <a:xfrm>
            <a:off x="4998690" y="2509986"/>
            <a:ext cx="2194471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15분</a:t>
            </a:r>
          </a:p>
        </p:txBody>
      </p:sp>
      <p:sp>
        <p:nvSpPr>
          <p:cNvPr id="13" name="shape s7.1.0.2.0.1"/>
          <p:cNvSpPr/>
          <p:nvPr/>
        </p:nvSpPr>
        <p:spPr>
          <a:xfrm>
            <a:off x="5327898" y="2807047"/>
            <a:ext cx="1536055" cy="241845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4" name="shape s7.1.0.2.1"/>
          <p:cNvSpPr/>
          <p:nvPr/>
        </p:nvSpPr>
        <p:spPr>
          <a:xfrm>
            <a:off x="4998690" y="5225504"/>
            <a:ext cx="2194471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5" name="text s7.1.0.2.2"/>
          <p:cNvSpPr txBox="1"/>
          <p:nvPr/>
        </p:nvSpPr>
        <p:spPr>
          <a:xfrm>
            <a:off x="4998690" y="5235029"/>
            <a:ext cx="2194471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7월</a:t>
            </a:r>
          </a:p>
        </p:txBody>
      </p:sp>
      <p:sp>
        <p:nvSpPr>
          <p:cNvPr id="16" name="text s7.1.0.3.0.0"/>
          <p:cNvSpPr txBox="1"/>
          <p:nvPr/>
        </p:nvSpPr>
        <p:spPr>
          <a:xfrm>
            <a:off x="7193161" y="2832348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13분</a:t>
            </a:r>
          </a:p>
        </p:txBody>
      </p:sp>
      <p:sp>
        <p:nvSpPr>
          <p:cNvPr id="17" name="shape s7.1.0.3.0.1"/>
          <p:cNvSpPr/>
          <p:nvPr/>
        </p:nvSpPr>
        <p:spPr>
          <a:xfrm>
            <a:off x="7522369" y="3129409"/>
            <a:ext cx="1536204" cy="20960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8" name="shape s7.1.0.3.1"/>
          <p:cNvSpPr/>
          <p:nvPr/>
        </p:nvSpPr>
        <p:spPr>
          <a:xfrm>
            <a:off x="7193161" y="5225504"/>
            <a:ext cx="2194620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9" name="text s7.1.0.3.2"/>
          <p:cNvSpPr txBox="1"/>
          <p:nvPr/>
        </p:nvSpPr>
        <p:spPr>
          <a:xfrm>
            <a:off x="7193161" y="5235029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8월</a:t>
            </a:r>
          </a:p>
        </p:txBody>
      </p:sp>
      <p:sp>
        <p:nvSpPr>
          <p:cNvPr id="20" name="text s7.1.0.4.0.0"/>
          <p:cNvSpPr txBox="1"/>
          <p:nvPr/>
        </p:nvSpPr>
        <p:spPr>
          <a:xfrm>
            <a:off x="9387780" y="2993678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accent4"/>
                </a:solidFill>
                <a:latin typeface="+mn-lt"/>
                <a:ea typeface="+mn-ea"/>
              </a:rPr>
              <a:t>12분</a:t>
            </a:r>
          </a:p>
        </p:txBody>
      </p:sp>
      <p:sp>
        <p:nvSpPr>
          <p:cNvPr id="21" name="shape s7.1.0.4.0.1"/>
          <p:cNvSpPr/>
          <p:nvPr/>
        </p:nvSpPr>
        <p:spPr>
          <a:xfrm>
            <a:off x="9716988" y="3290739"/>
            <a:ext cx="1536204" cy="193476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2" name="shape s7.1.0.4.1"/>
          <p:cNvSpPr/>
          <p:nvPr/>
        </p:nvSpPr>
        <p:spPr>
          <a:xfrm>
            <a:off x="9387780" y="5225504"/>
            <a:ext cx="2194620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3" name="text s7.1.0.4.2"/>
          <p:cNvSpPr txBox="1"/>
          <p:nvPr/>
        </p:nvSpPr>
        <p:spPr>
          <a:xfrm>
            <a:off x="9387780" y="5235029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accent4"/>
                </a:solidFill>
                <a:latin typeface="+mn-lt"/>
                <a:ea typeface="+mn-ea"/>
              </a:rPr>
              <a:t>이번 장애</a:t>
            </a:r>
          </a:p>
        </p:txBody>
      </p:sp>
      <p:sp>
        <p:nvSpPr>
          <p:cNvPr id="24" name="text s7.2"/>
          <p:cNvSpPr txBox="1"/>
          <p:nvPr/>
        </p:nvSpPr>
        <p:spPr>
          <a:xfrm>
            <a:off x="609600" y="5703540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목표는 3분(1분 p99 경보 + 2분 확인)이다. 액션 2번이 이 막대를 반으로 줄인다.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less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ckquote s8.0"/>
          <p:cNvSpPr txBox="1"/>
          <p:nvPr>
            <p:ph type="body" idx="1"/>
          </p:nvPr>
        </p:nvSpPr>
        <p:spPr>
          <a:xfrm>
            <a:off x="609600" y="2951857"/>
            <a:ext cx="10972800" cy="485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825"/>
              </a:lnSpc>
            </a:pPr>
            <a:r>
              <a:rPr sz="2550" b="0">
                <a:solidFill>
                  <a:schemeClr val="tx2"/>
                </a:solidFill>
                <a:latin typeface="+mn-lt"/>
                <a:ea typeface="+mn-ea"/>
              </a:rPr>
              <a:t>캐시는 가용성 장치가 아니다. 캐시가 사라진 순간의 부하를 견딜 수 있을 때만 캐시다.</a:t>
            </a:r>
          </a:p>
        </p:txBody>
      </p:sp>
      <p:sp>
        <p:nvSpPr>
          <p:cNvPr id="3" name="text s8.1"/>
          <p:cNvSpPr txBox="1"/>
          <p:nvPr>
            <p:ph type="body" idx="2"/>
          </p:nvPr>
        </p:nvSpPr>
        <p:spPr>
          <a:xfrm>
            <a:off x="609600" y="3666232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— 회고에서 합의한 한 문장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9.0"/>
          <p:cNvSpPr txBox="1"/>
          <p:nvPr>
            <p:ph type="title"/>
          </p:nvPr>
        </p:nvSpPr>
        <p:spPr>
          <a:xfrm>
            <a:off x="4872335" y="2823270"/>
            <a:ext cx="244733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질문과 반론</a:t>
            </a:r>
          </a:p>
        </p:txBody>
      </p:sp>
      <p:sp>
        <p:nvSpPr>
          <p:cNvPr id="3" name="text s9.1"/>
          <p:cNvSpPr txBox="1"/>
          <p:nvPr>
            <p:ph type="body" idx="1"/>
          </p:nvPr>
        </p:nvSpPr>
        <p:spPr>
          <a:xfrm>
            <a:off x="4134445" y="3691830"/>
            <a:ext cx="3922961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tx2"/>
                </a:solidFill>
                <a:latin typeface="+mn-lt"/>
                <a:ea typeface="+mn-ea"/>
              </a:rPr>
              <a:t>기록: </a:t>
            </a:r>
            <a:r>
              <a:rPr sz="1800" b="0" i="0" u="sng">
                <a:solidFill>
                  <a:schemeClr val="accent1"/>
                </a:solidFill>
                <a:latin typeface="+mn-lt"/>
                <a:ea typeface="+mn-ea"/>
                <a:hlinkClick r:id="rId3"/>
              </a:rPr>
              <a:t>INC-2431 회고 문서</a:t>
            </a:r>
            <a:r>
              <a:rPr sz="1800" b="0">
                <a:solidFill>
                  <a:schemeClr val="tx2"/>
                </a:solidFill>
                <a:latin typeface="+mn-lt"/>
                <a:ea typeface="+mn-ea"/>
              </a:rPr>
              <a:t> · #incident-2431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balpyo</Application>
  <Slides>10</Slide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INC-2431 장애 회고</dc:title>
  <dc:creator>Platform Team</dc:creator>
  <cp:lastModifiedBy>balpyo</cp:lastModifiedBy>
  <cp:revision>1</cp:revision>
</cp:coreProperties>
</file>