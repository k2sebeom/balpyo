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924574" y="1460302"/>
            <a:ext cx="234270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2893963" y="1928813"/>
            <a:ext cx="6403925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064073" y="3071813"/>
            <a:ext cx="6063704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08699" y="4586288"/>
            <a:ext cx="157460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48474" y="5157788"/>
            <a:ext cx="89505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5" name="text s1.1.0.0.1"/>
          <p:cNvSpPr txBox="1"/>
          <p:nvPr/>
        </p:nvSpPr>
        <p:spPr>
          <a:xfrm>
            <a:off x="10193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6" name="text s1.1.0.0.2"/>
          <p:cNvSpPr txBox="1"/>
          <p:nvPr/>
        </p:nvSpPr>
        <p:spPr>
          <a:xfrm>
            <a:off x="10193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7" name="shape s1.1.1"/>
          <p:cNvSpPr/>
          <p:nvPr/>
        </p:nvSpPr>
        <p:spPr>
          <a:xfrm>
            <a:off x="43434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47531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</p:txBody>
      </p:sp>
      <p:sp>
        <p:nvSpPr>
          <p:cNvPr id="9" name="text s1.1.1.0.1"/>
          <p:cNvSpPr txBox="1"/>
          <p:nvPr/>
        </p:nvSpPr>
        <p:spPr>
          <a:xfrm>
            <a:off x="47531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0" name="text s1.1.1.0.2"/>
          <p:cNvSpPr txBox="1"/>
          <p:nvPr/>
        </p:nvSpPr>
        <p:spPr>
          <a:xfrm>
            <a:off x="47531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1" name="shape s1.1.2"/>
          <p:cNvSpPr/>
          <p:nvPr/>
        </p:nvSpPr>
        <p:spPr>
          <a:xfrm>
            <a:off x="80772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84869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</p:txBody>
      </p:sp>
      <p:sp>
        <p:nvSpPr>
          <p:cNvPr id="13" name="text s1.1.2.0.1"/>
          <p:cNvSpPr txBox="1"/>
          <p:nvPr/>
        </p:nvSpPr>
        <p:spPr>
          <a:xfrm>
            <a:off x="84869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4" name="text s1.1.2.0.2"/>
          <p:cNvSpPr txBox="1"/>
          <p:nvPr/>
        </p:nvSpPr>
        <p:spPr>
          <a:xfrm>
            <a:off x="84869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경보가 5분 평균이었다</a:t>
            </a:r>
          </a:p>
        </p:txBody>
      </p:sp>
      <p:sp>
        <p:nvSpPr>
          <p:cNvPr id="15" name="text s1.2.0.0"/>
          <p:cNvSpPr txBox="1"/>
          <p:nvPr/>
        </p:nvSpPr>
        <p:spPr>
          <a:xfrm>
            <a:off x="60960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16" name="p s1.2.0.1"/>
          <p:cNvSpPr txBox="1"/>
          <p:nvPr/>
        </p:nvSpPr>
        <p:spPr>
          <a:xfrm>
            <a:off x="60960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17" name="text s1.2.1.0"/>
          <p:cNvSpPr txBox="1"/>
          <p:nvPr/>
        </p:nvSpPr>
        <p:spPr>
          <a:xfrm>
            <a:off x="626745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18" name="p s1.2.1.1"/>
          <p:cNvSpPr txBox="1"/>
          <p:nvPr/>
        </p:nvSpPr>
        <p:spPr>
          <a:xfrm>
            <a:off x="626745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2.1.0.1"/>
          <p:cNvSpPr/>
          <p:nvPr/>
        </p:nvSpPr>
        <p:spPr>
          <a:xfrm>
            <a:off x="60960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2.1.0.1.0.0.0"/>
          <p:cNvSpPr txBox="1"/>
          <p:nvPr/>
        </p:nvSpPr>
        <p:spPr>
          <a:xfrm>
            <a:off x="87153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6" name="text s2.1.0.1.0.0.1"/>
          <p:cNvSpPr txBox="1"/>
          <p:nvPr/>
        </p:nvSpPr>
        <p:spPr>
          <a:xfrm>
            <a:off x="87153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7" name="text s2.1.0.1.0.1"/>
          <p:cNvSpPr txBox="1"/>
          <p:nvPr/>
        </p:nvSpPr>
        <p:spPr>
          <a:xfrm>
            <a:off x="871538" y="4262438"/>
            <a:ext cx="1579215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배포 예열 30분 뒤, 12만 키가 같은 초에</a:t>
            </a:r>
          </a:p>
        </p:txBody>
      </p:sp>
      <p:sp>
        <p:nvSpPr>
          <p:cNvPr id="8" name="shape s2.1.1.0"/>
          <p:cNvSpPr/>
          <p:nvPr/>
        </p:nvSpPr>
        <p:spPr>
          <a:xfrm>
            <a:off x="282699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1.1.1"/>
          <p:cNvSpPr/>
          <p:nvPr/>
        </p:nvSpPr>
        <p:spPr>
          <a:xfrm>
            <a:off x="282699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text s2.1.1.1.0.0.0"/>
          <p:cNvSpPr txBox="1"/>
          <p:nvPr/>
        </p:nvSpPr>
        <p:spPr>
          <a:xfrm>
            <a:off x="308892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1" name="text s2.1.1.1.0.0.1"/>
          <p:cNvSpPr txBox="1"/>
          <p:nvPr/>
        </p:nvSpPr>
        <p:spPr>
          <a:xfrm>
            <a:off x="308892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2" name="text s2.1.1.1.0.1"/>
          <p:cNvSpPr txBox="1"/>
          <p:nvPr/>
        </p:nvSpPr>
        <p:spPr>
          <a:xfrm>
            <a:off x="308892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5분 평균 임계값이 12분 늦게 울렸다</a:t>
            </a:r>
          </a:p>
        </p:txBody>
      </p:sp>
      <p:sp>
        <p:nvSpPr>
          <p:cNvPr id="13" name="shape s2.1.2.0"/>
          <p:cNvSpPr/>
          <p:nvPr/>
        </p:nvSpPr>
        <p:spPr>
          <a:xfrm>
            <a:off x="504438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2.1.2.1"/>
          <p:cNvSpPr/>
          <p:nvPr/>
        </p:nvSpPr>
        <p:spPr>
          <a:xfrm>
            <a:off x="504438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5" name="text s2.1.2.1.0.0.0"/>
          <p:cNvSpPr txBox="1"/>
          <p:nvPr/>
        </p:nvSpPr>
        <p:spPr>
          <a:xfrm>
            <a:off x="530631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16" name="text s2.1.2.1.0.0.1"/>
          <p:cNvSpPr txBox="1"/>
          <p:nvPr/>
        </p:nvSpPr>
        <p:spPr>
          <a:xfrm>
            <a:off x="530631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17" name="text s2.1.2.1.0.1"/>
          <p:cNvSpPr txBox="1"/>
          <p:nvPr/>
        </p:nvSpPr>
        <p:spPr>
          <a:xfrm>
            <a:off x="530631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읽기 풀 40/40, 대기열 1,900</a:t>
            </a:r>
          </a:p>
        </p:txBody>
      </p:sp>
      <p:sp>
        <p:nvSpPr>
          <p:cNvPr id="18" name="shape s2.1.3.0"/>
          <p:cNvSpPr/>
          <p:nvPr/>
        </p:nvSpPr>
        <p:spPr>
          <a:xfrm>
            <a:off x="7261771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2.1.3.1"/>
          <p:cNvSpPr/>
          <p:nvPr/>
        </p:nvSpPr>
        <p:spPr>
          <a:xfrm>
            <a:off x="7261771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0" name="text s2.1.3.1.0.0.0"/>
          <p:cNvSpPr txBox="1"/>
          <p:nvPr/>
        </p:nvSpPr>
        <p:spPr>
          <a:xfrm>
            <a:off x="752370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21" name="text s2.1.3.1.0.0.1"/>
          <p:cNvSpPr txBox="1"/>
          <p:nvPr/>
        </p:nvSpPr>
        <p:spPr>
          <a:xfrm>
            <a:off x="752370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22" name="text s2.1.3.1.0.1"/>
          <p:cNvSpPr txBox="1"/>
          <p:nvPr/>
        </p:nvSpPr>
        <p:spPr>
          <a:xfrm>
            <a:off x="752370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23" name="shape s2.1.4.0"/>
          <p:cNvSpPr/>
          <p:nvPr/>
        </p:nvSpPr>
        <p:spPr>
          <a:xfrm>
            <a:off x="9479161" y="1283940"/>
            <a:ext cx="2103239" cy="609600"/>
          </a:xfrm>
          <a:prstGeom prst="chevron">
            <a:avLst>
              <a:gd name="adj" fmla="val 17251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2.1.4.1"/>
          <p:cNvSpPr/>
          <p:nvPr/>
        </p:nvSpPr>
        <p:spPr>
          <a:xfrm>
            <a:off x="9479161" y="2007840"/>
            <a:ext cx="2103239" cy="3373785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5" name="text s2.1.4.1.0.0.0"/>
          <p:cNvSpPr txBox="1"/>
          <p:nvPr/>
        </p:nvSpPr>
        <p:spPr>
          <a:xfrm>
            <a:off x="9741098" y="2269778"/>
            <a:ext cx="1579364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26" name="text s2.1.4.1.0.0.1"/>
          <p:cNvSpPr txBox="1"/>
          <p:nvPr/>
        </p:nvSpPr>
        <p:spPr>
          <a:xfrm>
            <a:off x="9741098" y="2829818"/>
            <a:ext cx="1579364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27" name="text s2.1.4.1.0.1"/>
          <p:cNvSpPr txBox="1"/>
          <p:nvPr/>
        </p:nvSpPr>
        <p:spPr>
          <a:xfrm>
            <a:off x="9741098" y="4548188"/>
            <a:ext cx="1579364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28" name="shape s2.2.0"/>
          <p:cNvSpPr/>
          <p:nvPr/>
        </p:nvSpPr>
        <p:spPr>
          <a:xfrm>
            <a:off x="609600" y="5610225"/>
            <a:ext cx="2743200" cy="638175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29" name="shape s2.2.1"/>
          <p:cNvSpPr/>
          <p:nvPr/>
        </p:nvSpPr>
        <p:spPr>
          <a:xfrm>
            <a:off x="3467100" y="5610225"/>
            <a:ext cx="38862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30" name="shape s2.2.2"/>
          <p:cNvSpPr/>
          <p:nvPr/>
        </p:nvSpPr>
        <p:spPr>
          <a:xfrm>
            <a:off x="7467600" y="5610225"/>
            <a:ext cx="41148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5243"/>
                <a:gridCol w="2583061"/>
                <a:gridCol w="2180481"/>
                <a:gridCol w="402401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2.0"/>
          <p:cNvSpPr/>
          <p:nvPr/>
        </p:nvSpPr>
        <p:spPr>
          <a:xfrm>
            <a:off x="6096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9050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9050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7" name="shape s3.2.1"/>
          <p:cNvSpPr/>
          <p:nvPr/>
        </p:nvSpPr>
        <p:spPr>
          <a:xfrm>
            <a:off x="43434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3.2.1.0.0"/>
          <p:cNvSpPr txBox="1"/>
          <p:nvPr/>
        </p:nvSpPr>
        <p:spPr>
          <a:xfrm>
            <a:off x="46388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9" name="text s3.2.1.0.1"/>
          <p:cNvSpPr txBox="1"/>
          <p:nvPr/>
        </p:nvSpPr>
        <p:spPr>
          <a:xfrm>
            <a:off x="46388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(96.8%)</a:t>
            </a:r>
          </a:p>
        </p:txBody>
      </p:sp>
      <p:sp>
        <p:nvSpPr>
          <p:cNvPr id="10" name="shape s3.2.2"/>
          <p:cNvSpPr/>
          <p:nvPr/>
        </p:nvSpPr>
        <p:spPr>
          <a:xfrm>
            <a:off x="80772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3.2.2.0.0"/>
          <p:cNvSpPr txBox="1"/>
          <p:nvPr/>
        </p:nvSpPr>
        <p:spPr>
          <a:xfrm>
            <a:off x="83726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34건</a:t>
            </a:r>
          </a:p>
        </p:txBody>
      </p:sp>
      <p:sp>
        <p:nvSpPr>
          <p:cNvPr id="12" name="text s3.2.2.0.1"/>
          <p:cNvSpPr txBox="1"/>
          <p:nvPr/>
        </p:nvSpPr>
        <p:spPr>
          <a:xfrm>
            <a:off x="83726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shape s4.1"/>
          <p:cNvSpPr/>
          <p:nvPr/>
        </p:nvSpPr>
        <p:spPr>
          <a:xfrm>
            <a:off x="609600" y="1283940"/>
            <a:ext cx="10972800" cy="3810149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228600" rIns="342900" bIns="228600" anchor="t">
            <a:normAutofit/>
          </a:bodyPr>
          <a:lstStyle/>
          <a:p/>
        </p:txBody>
      </p:sp>
      <p:sp>
        <p:nvSpPr>
          <p:cNvPr id="4" name="pre s4.1.0.0"/>
          <p:cNvSpPr txBox="1"/>
          <p:nvPr/>
        </p:nvSpPr>
        <p:spPr>
          <a:xfrm>
            <a:off x="1019324" y="1579364"/>
            <a:ext cx="10153352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5" name="text s4.1.0.1"/>
          <p:cNvSpPr txBox="1"/>
          <p:nvPr/>
        </p:nvSpPr>
        <p:spPr>
          <a:xfrm>
            <a:off x="1019324" y="4558754"/>
            <a:ext cx="10153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payments/cache/warm.go — 배포 훅이 부른다</a:t>
            </a:r>
          </a:p>
        </p:txBody>
      </p:sp>
      <p:sp>
        <p:nvSpPr>
          <p:cNvPr id="6" name="text s4.2.0.0"/>
          <p:cNvSpPr txBox="1"/>
          <p:nvPr/>
        </p:nvSpPr>
        <p:spPr>
          <a:xfrm>
            <a:off x="6096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7" name="text s4.2.0.1"/>
          <p:cNvSpPr txBox="1"/>
          <p:nvPr/>
        </p:nvSpPr>
        <p:spPr>
          <a:xfrm>
            <a:off x="6096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배포가 12만 키를 몇 초 안에 채운다.</a:t>
            </a:r>
          </a:p>
        </p:txBody>
      </p:sp>
      <p:sp>
        <p:nvSpPr>
          <p:cNvPr id="8" name="text s4.2.1.0"/>
          <p:cNvSpPr txBox="1"/>
          <p:nvPr/>
        </p:nvSpPr>
        <p:spPr>
          <a:xfrm>
            <a:off x="43434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9" name="text s4.2.1.1"/>
          <p:cNvSpPr txBox="1"/>
          <p:nvPr/>
        </p:nvSpPr>
        <p:spPr>
          <a:xfrm>
            <a:off x="43434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지터가 없어 만료 시각이 하나로 모인다.</a:t>
            </a:r>
          </a:p>
        </p:txBody>
      </p:sp>
      <p:sp>
        <p:nvSpPr>
          <p:cNvPr id="10" name="text s4.2.2.0"/>
          <p:cNvSpPr txBox="1"/>
          <p:nvPr/>
        </p:nvSpPr>
        <p:spPr>
          <a:xfrm>
            <a:off x="80772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1" name="text s4.2.2.1"/>
          <p:cNvSpPr txBox="1"/>
          <p:nvPr/>
        </p:nvSpPr>
        <p:spPr>
          <a:xfrm>
            <a:off x="8077200" y="5676900"/>
            <a:ext cx="35052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단일 비행이 없어 미스 하나가 DB 질의 하나가 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text s5.1.0.0.0.0"/>
          <p:cNvSpPr txBox="1"/>
          <p:nvPr/>
        </p:nvSpPr>
        <p:spPr>
          <a:xfrm>
            <a:off x="9050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5" name="text s5.1.0.0.0.1"/>
          <p:cNvSpPr txBox="1"/>
          <p:nvPr/>
        </p:nvSpPr>
        <p:spPr>
          <a:xfrm>
            <a:off x="905024" y="1958429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예열이 모든 키에 같은 만료 시각을 준다.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7" name="shape s5.1.1"/>
          <p:cNvSpPr/>
          <p:nvPr/>
        </p:nvSpPr>
        <p:spPr>
          <a:xfrm>
            <a:off x="62103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5.1.1.0.0.0"/>
          <p:cNvSpPr txBox="1"/>
          <p:nvPr/>
        </p:nvSpPr>
        <p:spPr>
          <a:xfrm>
            <a:off x="65057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9" name="text s5.1.1.0.0.1"/>
          <p:cNvSpPr txBox="1"/>
          <p:nvPr/>
        </p:nvSpPr>
        <p:spPr>
          <a:xfrm>
            <a:off x="6505724" y="1958429"/>
            <a:ext cx="4781252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65057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캐시 미스에 단일 비행 잠금</a:t>
            </a:r>
          </a:p>
        </p:txBody>
      </p:sp>
      <p:sp>
        <p:nvSpPr>
          <p:cNvPr id="11" name="shape s5.1.2"/>
          <p:cNvSpPr/>
          <p:nvPr/>
        </p:nvSpPr>
        <p:spPr>
          <a:xfrm>
            <a:off x="6096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5.1.2.0.0.0"/>
          <p:cNvSpPr txBox="1"/>
          <p:nvPr/>
        </p:nvSpPr>
        <p:spPr>
          <a:xfrm>
            <a:off x="9050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3" name="text s5.1.2.0.0.1"/>
          <p:cNvSpPr txBox="1"/>
          <p:nvPr/>
        </p:nvSpPr>
        <p:spPr>
          <a:xfrm>
            <a:off x="9050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풀 상한 40, 평시 피크 26. 여유가 14개뿐이었다.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9050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풀 상한 96, 사용률 80%에 경보</a:t>
            </a:r>
          </a:p>
        </p:txBody>
      </p:sp>
      <p:sp>
        <p:nvSpPr>
          <p:cNvPr id="15" name="shape s5.1.3"/>
          <p:cNvSpPr/>
          <p:nvPr/>
        </p:nvSpPr>
        <p:spPr>
          <a:xfrm>
            <a:off x="62103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text s5.1.3.0.0.0"/>
          <p:cNvSpPr txBox="1"/>
          <p:nvPr/>
        </p:nvSpPr>
        <p:spPr>
          <a:xfrm>
            <a:off x="65057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7" name="text s5.1.3.0.0.1"/>
          <p:cNvSpPr txBox="1"/>
          <p:nvPr/>
        </p:nvSpPr>
        <p:spPr>
          <a:xfrm>
            <a:off x="65057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임계값이 평균이라 급한 스파이크를 늦게 본다.</a:t>
            </a:r>
          </a:p>
        </p:txBody>
      </p:sp>
      <p:sp>
        <p:nvSpPr>
          <p:cNvPr id="18" name="text s5.1.3.0.1"/>
          <p:cNvSpPr txBox="1"/>
          <p:nvPr/>
        </p:nvSpPr>
        <p:spPr>
          <a:xfrm>
            <a:off x="65057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 교체</a:t>
            </a:r>
          </a:p>
        </p:txBody>
      </p:sp>
      <p:sp>
        <p:nvSpPr>
          <p:cNvPr id="19" name="text s5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text s6.1.0.0.1.0"/>
          <p:cNvSpPr txBox="1"/>
          <p:nvPr/>
        </p:nvSpPr>
        <p:spPr>
          <a:xfrm>
            <a:off x="10193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1.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TTL에 ±10% 지터 (결제 캐시 전부)</a:t>
            </a:r>
          </a:p>
        </p:txBody>
      </p:sp>
      <p:sp>
        <p:nvSpPr>
          <p:cNvPr id="6" name="text s6.1.0.0.1.1"/>
          <p:cNvSpPr txBox="1"/>
          <p:nvPr/>
        </p:nvSpPr>
        <p:spPr>
          <a:xfrm>
            <a:off x="10193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고정 TTL을 막는다</a:t>
            </a:r>
          </a:p>
        </p:txBody>
      </p:sp>
      <p:sp>
        <p:nvSpPr>
          <p:cNvPr id="7" name="text s6.1.0.0.2.0"/>
          <p:cNvSpPr txBox="1"/>
          <p:nvPr/>
        </p:nvSpPr>
        <p:spPr>
          <a:xfrm>
            <a:off x="10193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2.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5xx 경보를 1분 p99로 교체</a:t>
            </a:r>
          </a:p>
        </p:txBody>
      </p:sp>
      <p:sp>
        <p:nvSpPr>
          <p:cNvPr id="8" name="text s6.1.0.0.2.1"/>
          <p:cNvSpPr txBox="1"/>
          <p:nvPr/>
        </p:nvSpPr>
        <p:spPr>
          <a:xfrm>
            <a:off x="10193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9" name="text s6.1.0.0.3.0"/>
          <p:cNvSpPr txBox="1"/>
          <p:nvPr/>
        </p:nvSpPr>
        <p:spPr>
          <a:xfrm>
            <a:off x="10193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3.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읽기 풀 상한 40 → 96, 경보 80%</a:t>
            </a:r>
          </a:p>
        </p:txBody>
      </p:sp>
      <p:sp>
        <p:nvSpPr>
          <p:cNvPr id="10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</a:t>
            </a:r>
          </a:p>
        </p:txBody>
      </p:sp>
      <p:sp>
        <p:nvSpPr>
          <p:cNvPr id="11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6.2.0.0.0"/>
          <p:cNvSpPr txBox="1"/>
          <p:nvPr/>
        </p:nvSpPr>
        <p:spPr>
          <a:xfrm>
            <a:off x="66200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3" name="text s6.2.0.0.1.0"/>
          <p:cNvSpPr txBox="1"/>
          <p:nvPr/>
        </p:nvSpPr>
        <p:spPr>
          <a:xfrm>
            <a:off x="66200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4.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캐시 미스에 단일 비행 잠금</a:t>
            </a:r>
          </a:p>
        </p:txBody>
      </p:sp>
      <p:sp>
        <p:nvSpPr>
          <p:cNvPr id="14" name="text s6.2.0.0.1.1"/>
          <p:cNvSpPr txBox="1"/>
          <p:nvPr/>
        </p:nvSpPr>
        <p:spPr>
          <a:xfrm>
            <a:off x="66200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15" name="text s6.2.0.0.2.0"/>
          <p:cNvSpPr txBox="1"/>
          <p:nvPr/>
        </p:nvSpPr>
        <p:spPr>
          <a:xfrm>
            <a:off x="66200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5.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부하 차단을 수동 → 자동 (오류율 2%)</a:t>
            </a:r>
          </a:p>
        </p:txBody>
      </p:sp>
      <p:sp>
        <p:nvSpPr>
          <p:cNvPr id="16" name="text s6.2.0.0.2.1"/>
          <p:cNvSpPr txBox="1"/>
          <p:nvPr/>
        </p:nvSpPr>
        <p:spPr>
          <a:xfrm>
            <a:off x="66200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이번에 사람이 17분 걸린 일을 기계가 한다</a:t>
            </a:r>
          </a:p>
        </p:txBody>
      </p:sp>
      <p:sp>
        <p:nvSpPr>
          <p:cNvPr id="17" name="text s6.2.0.0.3.0"/>
          <p:cNvSpPr txBox="1"/>
          <p:nvPr/>
        </p:nvSpPr>
        <p:spPr>
          <a:xfrm>
            <a:off x="66200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6.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스탬피드 부하 시험을 배포 게이트에</a:t>
            </a:r>
          </a:p>
        </p:txBody>
      </p:sp>
      <p:sp>
        <p:nvSpPr>
          <p:cNvPr id="18" name="text s6.2.0.0.3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 직후 30분 뒤를 재현한다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.1"/>
          <p:cNvSpPr txBox="1"/>
          <p:nvPr/>
        </p:nvSpPr>
        <p:spPr>
          <a:xfrm>
            <a:off x="609600" y="169976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0.2"/>
          <p:cNvSpPr/>
          <p:nvPr/>
        </p:nvSpPr>
        <p:spPr>
          <a:xfrm>
            <a:off x="938808" y="1996827"/>
            <a:ext cx="1536055" cy="322867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1.0.1"/>
          <p:cNvSpPr txBox="1"/>
          <p:nvPr/>
        </p:nvSpPr>
        <p:spPr>
          <a:xfrm>
            <a:off x="2804071" y="2139851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8" name="shape s7.1.0.0.1.0.2"/>
          <p:cNvSpPr/>
          <p:nvPr/>
        </p:nvSpPr>
        <p:spPr>
          <a:xfrm>
            <a:off x="3133279" y="2436912"/>
            <a:ext cx="1536204" cy="27885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7.1.0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7.1.0.0.2.0.1"/>
          <p:cNvSpPr txBox="1"/>
          <p:nvPr/>
        </p:nvSpPr>
        <p:spPr>
          <a:xfrm>
            <a:off x="4998690" y="272727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1" name="shape s7.1.0.0.2.0.2"/>
          <p:cNvSpPr/>
          <p:nvPr/>
        </p:nvSpPr>
        <p:spPr>
          <a:xfrm>
            <a:off x="5327898" y="3024336"/>
            <a:ext cx="1536055" cy="22011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2" name="shape s7.1.0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text s7.1.0.0.3.0.1"/>
          <p:cNvSpPr txBox="1"/>
          <p:nvPr/>
        </p:nvSpPr>
        <p:spPr>
          <a:xfrm>
            <a:off x="7193161" y="3020616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4" name="shape s7.1.0.0.3.0.2"/>
          <p:cNvSpPr/>
          <p:nvPr/>
        </p:nvSpPr>
        <p:spPr>
          <a:xfrm>
            <a:off x="7522369" y="3317677"/>
            <a:ext cx="1536204" cy="19078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7.1.0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text s7.1.0.0.4.0.1"/>
          <p:cNvSpPr txBox="1"/>
          <p:nvPr/>
        </p:nvSpPr>
        <p:spPr>
          <a:xfrm>
            <a:off x="9387780" y="316750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17" name="shape s7.1.0.0.4.0.2"/>
          <p:cNvSpPr/>
          <p:nvPr/>
        </p:nvSpPr>
        <p:spPr>
          <a:xfrm>
            <a:off x="9716988" y="3464570"/>
            <a:ext cx="1536204" cy="176093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1.0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20" name="text s7.1.0.1.1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21" name="text s7.1.0.1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22" name="text s7.1.0.1.3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3" name="text s7.1.0.1.4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244280" y="2684115"/>
            <a:ext cx="3703439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3536752" y="3827115"/>
            <a:ext cx="5118497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