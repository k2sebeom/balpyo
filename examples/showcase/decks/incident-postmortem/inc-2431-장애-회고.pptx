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  <Relationship Id="rId13" Type="http://schemas.openxmlformats.org/officeDocument/2006/relationships/notesMaster" Target="notesMasters/notesMaster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회고의 규칙 먼저: 사람이 아니라 시스템을 본다. 30초.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숫자 셋만 읽고 다음으로. 자세한 것은 뒤에 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경보가 늦은 이유는 5xx 임계값이 5분 평균이어서다. 액션 1번이 여기서 나온다.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돈이 빠진 건은 없다. CS 문의 34건.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root-c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고정 TTL + 일괄 예열 = 스탬피드. 지터와 단일 비행(single-flight) 둘 다 없었다.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fa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순서는 고치는 비용 순이다. 1번과 4번이 이번 주, 2번이 다음 스프린트.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담당과 기한은 이슈에 있다. 여기서는 순서만 합의한다.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det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추세는 좋지만 목표선이 없다. 다음 회고에 목표선을 그린다.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les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문장을 캐시 설계 리뷰 체크리스트 맨 위에 넣는다.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반론이 나오면 액션을 고친다. 회고는 합의가 아니라 수정이 목적이다.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attribution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ac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  <Relationship Id="rId6" Type="http://schemas.openxmlformats.org/officeDocument/2006/relationships/slideLayout" Target="../slideLayouts/slideLayout5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2" Type="http://schemas.openxmlformats.org/officeDocument/2006/relationships/notesSlide" Target="../notesSlides/notesSlide10.xml"/>
  <Relationship Id="rId3" Type="http://schemas.openxmlformats.org/officeDocument/2006/relationships/hyperlink" Target="https://example.com/inc-2431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/>
          <p:nvPr>
            <p:ph type="body" idx="2"/>
          </p:nvPr>
        </p:nvSpPr>
        <p:spPr>
          <a:xfrm>
            <a:off x="4924574" y="1460302"/>
            <a:ext cx="2342704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INCIDENT REVIEW · INC-2431</a:t>
            </a:r>
          </a:p>
        </p:txBody>
      </p:sp>
      <p:sp>
        <p:nvSpPr>
          <p:cNvPr id="3" name="text s0.1"/>
          <p:cNvSpPr txBox="1"/>
          <p:nvPr>
            <p:ph type="ctrTitle"/>
          </p:nvPr>
        </p:nvSpPr>
        <p:spPr>
          <a:xfrm>
            <a:off x="2893963" y="1928813"/>
            <a:ext cx="640392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결제 API 5xx, 47분</a:t>
            </a:r>
          </a:p>
        </p:txBody>
      </p:sp>
      <p:sp>
        <p:nvSpPr>
          <p:cNvPr id="4" name="text s0.2"/>
          <p:cNvSpPr txBox="1"/>
          <p:nvPr>
            <p:ph type="subTitle" idx="1"/>
          </p:nvPr>
        </p:nvSpPr>
        <p:spPr>
          <a:xfrm>
            <a:off x="3064073" y="3071813"/>
            <a:ext cx="606370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tx2"/>
                </a:solidFill>
                <a:latin typeface="+mj-lt"/>
                <a:ea typeface="+mj-ea"/>
              </a:rPr>
              <a:t>캐시 스탬피드 — 무슨 일이 있었고 무엇을 바꾸는가</a:t>
            </a:r>
          </a:p>
        </p:txBody>
      </p:sp>
      <p:sp>
        <p:nvSpPr>
          <p:cNvPr id="5" name="text s0.3"/>
          <p:cNvSpPr txBox="1"/>
          <p:nvPr>
            <p:ph type="body" idx="3"/>
          </p:nvPr>
        </p:nvSpPr>
        <p:spPr>
          <a:xfrm>
            <a:off x="5308699" y="4586288"/>
            <a:ext cx="157460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Platform Team</a:t>
            </a:r>
          </a:p>
        </p:txBody>
      </p:sp>
      <p:sp>
        <p:nvSpPr>
          <p:cNvPr id="6" name="text s0.4"/>
          <p:cNvSpPr txBox="1"/>
          <p:nvPr>
            <p:ph type="body" idx="4"/>
          </p:nvPr>
        </p:nvSpPr>
        <p:spPr>
          <a:xfrm>
            <a:off x="5648474" y="5157788"/>
            <a:ext cx="895052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2026-09-18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1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한 장 요약</a:t>
            </a:r>
          </a:p>
        </p:txBody>
      </p:sp>
      <p:sp>
        <p:nvSpPr>
          <p:cNvPr id="3" name="shape s1.1.0"/>
          <p:cNvSpPr/>
          <p:nvPr/>
        </p:nvSpPr>
        <p:spPr>
          <a:xfrm>
            <a:off x="609600" y="1283940"/>
            <a:ext cx="3505200" cy="3810149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1.1.0.0.0"/>
          <p:cNvSpPr txBox="1"/>
          <p:nvPr/>
        </p:nvSpPr>
        <p:spPr>
          <a:xfrm>
            <a:off x="1019324" y="2429024"/>
            <a:ext cx="2685752" cy="8228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chemeClr val="accent5"/>
                </a:solidFill>
                <a:latin typeface="+mj-lt"/>
                <a:ea typeface="+mj-ea"/>
              </a:rPr>
              <a:t>47분</a:t>
            </a:r>
          </a:p>
        </p:txBody>
      </p:sp>
      <p:sp>
        <p:nvSpPr>
          <p:cNvPr id="5" name="text s1.1.0.0.1"/>
          <p:cNvSpPr txBox="1"/>
          <p:nvPr/>
        </p:nvSpPr>
        <p:spPr>
          <a:xfrm>
            <a:off x="1019324" y="3309045"/>
            <a:ext cx="26857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결제 API 5xx 지속</a:t>
            </a:r>
          </a:p>
        </p:txBody>
      </p:sp>
      <p:sp>
        <p:nvSpPr>
          <p:cNvPr id="6" name="text s1.1.0.0.2"/>
          <p:cNvSpPr txBox="1"/>
          <p:nvPr/>
        </p:nvSpPr>
        <p:spPr>
          <a:xfrm>
            <a:off x="1019324" y="3709095"/>
            <a:ext cx="26857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14:02 – 14:49 KST</a:t>
            </a:r>
          </a:p>
        </p:txBody>
      </p:sp>
      <p:sp>
        <p:nvSpPr>
          <p:cNvPr id="7" name="shape s1.1.1"/>
          <p:cNvSpPr/>
          <p:nvPr/>
        </p:nvSpPr>
        <p:spPr>
          <a:xfrm>
            <a:off x="4343400" y="1283940"/>
            <a:ext cx="3505200" cy="3810149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8" name="text s1.1.1.0.0"/>
          <p:cNvSpPr txBox="1"/>
          <p:nvPr/>
        </p:nvSpPr>
        <p:spPr>
          <a:xfrm>
            <a:off x="4753124" y="2429024"/>
            <a:ext cx="2685752" cy="8228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chemeClr val="accent5"/>
                </a:solidFill>
                <a:latin typeface="+mj-lt"/>
                <a:ea typeface="+mj-ea"/>
              </a:rPr>
              <a:t>8.4%</a:t>
            </a:r>
          </a:p>
        </p:txBody>
      </p:sp>
      <p:sp>
        <p:nvSpPr>
          <p:cNvPr id="9" name="text s1.1.1.0.1"/>
          <p:cNvSpPr txBox="1"/>
          <p:nvPr/>
        </p:nvSpPr>
        <p:spPr>
          <a:xfrm>
            <a:off x="4753124" y="3309045"/>
            <a:ext cx="26857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최대 오류율</a:t>
            </a:r>
          </a:p>
        </p:txBody>
      </p:sp>
      <p:sp>
        <p:nvSpPr>
          <p:cNvPr id="10" name="text s1.1.1.0.2"/>
          <p:cNvSpPr txBox="1"/>
          <p:nvPr/>
        </p:nvSpPr>
        <p:spPr>
          <a:xfrm>
            <a:off x="4753124" y="3709095"/>
            <a:ext cx="26857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평시 0.02%</a:t>
            </a:r>
          </a:p>
        </p:txBody>
      </p:sp>
      <p:sp>
        <p:nvSpPr>
          <p:cNvPr id="11" name="shape s1.1.2"/>
          <p:cNvSpPr/>
          <p:nvPr/>
        </p:nvSpPr>
        <p:spPr>
          <a:xfrm>
            <a:off x="8077200" y="1283940"/>
            <a:ext cx="3505200" cy="3810149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2" name="text s1.1.2.0.0"/>
          <p:cNvSpPr txBox="1"/>
          <p:nvPr/>
        </p:nvSpPr>
        <p:spPr>
          <a:xfrm>
            <a:off x="8486924" y="2429024"/>
            <a:ext cx="2685752" cy="8228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chemeClr val="accent4"/>
                </a:solidFill>
                <a:latin typeface="+mj-lt"/>
                <a:ea typeface="+mj-ea"/>
              </a:rPr>
              <a:t>12분</a:t>
            </a:r>
          </a:p>
        </p:txBody>
      </p:sp>
      <p:sp>
        <p:nvSpPr>
          <p:cNvPr id="13" name="text s1.1.2.0.1"/>
          <p:cNvSpPr txBox="1"/>
          <p:nvPr/>
        </p:nvSpPr>
        <p:spPr>
          <a:xfrm>
            <a:off x="8486924" y="3309045"/>
            <a:ext cx="26857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탐지까지 걸린 시간</a:t>
            </a:r>
          </a:p>
        </p:txBody>
      </p:sp>
      <p:sp>
        <p:nvSpPr>
          <p:cNvPr id="14" name="text s1.1.2.0.2"/>
          <p:cNvSpPr txBox="1"/>
          <p:nvPr/>
        </p:nvSpPr>
        <p:spPr>
          <a:xfrm>
            <a:off x="8486924" y="3709095"/>
            <a:ext cx="26857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경보가 5분 평균이었다</a:t>
            </a:r>
          </a:p>
        </p:txBody>
      </p:sp>
      <p:sp>
        <p:nvSpPr>
          <p:cNvPr id="15" name="text s1.2.0.0"/>
          <p:cNvSpPr txBox="1"/>
          <p:nvPr/>
        </p:nvSpPr>
        <p:spPr>
          <a:xfrm>
            <a:off x="609600" y="5322689"/>
            <a:ext cx="53149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무슨 일</a:t>
            </a:r>
          </a:p>
        </p:txBody>
      </p:sp>
      <p:sp>
        <p:nvSpPr>
          <p:cNvPr id="16" name="p s1.2.0.1"/>
          <p:cNvSpPr txBox="1"/>
          <p:nvPr/>
        </p:nvSpPr>
        <p:spPr>
          <a:xfrm>
            <a:off x="609600" y="5676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결제 캐시 키 12만 개가 같은 초에 만료되면서 DB로 요청이 쏟아졌다. 읽기 풀이 고갈되고 결제 API가 5xx를 반환했다.</a:t>
            </a:r>
          </a:p>
        </p:txBody>
      </p:sp>
      <p:sp>
        <p:nvSpPr>
          <p:cNvPr id="17" name="text s1.2.1.0"/>
          <p:cNvSpPr txBox="1"/>
          <p:nvPr/>
        </p:nvSpPr>
        <p:spPr>
          <a:xfrm>
            <a:off x="6267450" y="5322689"/>
            <a:ext cx="53149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accent3"/>
                </a:solidFill>
                <a:latin typeface="+mj-lt"/>
                <a:ea typeface="+mj-ea"/>
              </a:rPr>
              <a:t>어떻게 멈췄나</a:t>
            </a:r>
          </a:p>
        </p:txBody>
      </p:sp>
      <p:sp>
        <p:nvSpPr>
          <p:cNvPr id="18" name="p s1.2.1.1"/>
          <p:cNvSpPr txBox="1"/>
          <p:nvPr/>
        </p:nvSpPr>
        <p:spPr>
          <a:xfrm>
            <a:off x="6267450" y="5676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롤백이 아니라 </a:t>
            </a:r>
            <a:r>
              <a:rPr sz="1500" b="1" i="0" u="none">
                <a:solidFill>
                  <a:schemeClr val="tx1"/>
                </a:solidFill>
                <a:latin typeface="+mn-lt"/>
                <a:ea typeface="+mn-ea"/>
              </a:rPr>
              <a:t>부하 차단</a:t>
            </a: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으로 멈췄다. 캐시가 다시 차자 14:49에 오류율이 평시로 돌아왔다.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2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타임라인 (KST)</a:t>
            </a:r>
          </a:p>
        </p:txBody>
      </p:sp>
      <p:sp>
        <p:nvSpPr>
          <p:cNvPr id="3" name="shape s2.1.0.0"/>
          <p:cNvSpPr/>
          <p:nvPr/>
        </p:nvSpPr>
        <p:spPr>
          <a:xfrm>
            <a:off x="609600" y="1283940"/>
            <a:ext cx="2103090" cy="609600"/>
          </a:xfrm>
          <a:prstGeom prst="chevron">
            <a:avLst>
              <a:gd name="adj" fmla="val 68999"/>
            </a:avLst>
          </a:prstGeom>
          <a:solidFill>
            <a:schemeClr val="accent5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4" name="shape s2.1.0.1"/>
          <p:cNvSpPr/>
          <p:nvPr/>
        </p:nvSpPr>
        <p:spPr>
          <a:xfrm>
            <a:off x="609600" y="2007840"/>
            <a:ext cx="2103090" cy="3373785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5" name="text s2.1.0.1.0.0.0"/>
          <p:cNvSpPr txBox="1"/>
          <p:nvPr/>
        </p:nvSpPr>
        <p:spPr>
          <a:xfrm>
            <a:off x="871538" y="2269778"/>
            <a:ext cx="1579215" cy="50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1"/>
                </a:solidFill>
                <a:latin typeface="+mj-lt"/>
                <a:ea typeface="+mj-ea"/>
              </a:rPr>
              <a:t>14:02</a:t>
            </a:r>
          </a:p>
        </p:txBody>
      </p:sp>
      <p:sp>
        <p:nvSpPr>
          <p:cNvPr id="6" name="text s2.1.0.1.0.0.1"/>
          <p:cNvSpPr txBox="1"/>
          <p:nvPr/>
        </p:nvSpPr>
        <p:spPr>
          <a:xfrm>
            <a:off x="871538" y="2829818"/>
            <a:ext cx="1579215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키 동시 만료</a:t>
            </a:r>
          </a:p>
        </p:txBody>
      </p:sp>
      <p:sp>
        <p:nvSpPr>
          <p:cNvPr id="7" name="text s2.1.0.1.0.1"/>
          <p:cNvSpPr txBox="1"/>
          <p:nvPr/>
        </p:nvSpPr>
        <p:spPr>
          <a:xfrm>
            <a:off x="871538" y="4262438"/>
            <a:ext cx="1579215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2"/>
                </a:solidFill>
                <a:latin typeface="+mn-lt"/>
                <a:ea typeface="+mn-ea"/>
              </a:rPr>
              <a:t>배포 예열 30분 뒤, 12만 키가 같은 초에</a:t>
            </a:r>
          </a:p>
        </p:txBody>
      </p:sp>
      <p:sp>
        <p:nvSpPr>
          <p:cNvPr id="8" name="shape s2.1.1.0"/>
          <p:cNvSpPr/>
          <p:nvPr/>
        </p:nvSpPr>
        <p:spPr>
          <a:xfrm>
            <a:off x="2826990" y="1283940"/>
            <a:ext cx="2103090" cy="609600"/>
          </a:xfrm>
          <a:prstGeom prst="chevron">
            <a:avLst>
              <a:gd name="adj" fmla="val 68999"/>
            </a:avLst>
          </a:prstGeom>
          <a:solidFill>
            <a:schemeClr val="accent4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shape s2.1.1.1"/>
          <p:cNvSpPr/>
          <p:nvPr/>
        </p:nvSpPr>
        <p:spPr>
          <a:xfrm>
            <a:off x="2826990" y="2007840"/>
            <a:ext cx="2103090" cy="3373785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0" name="text s2.1.1.1.0.0.0"/>
          <p:cNvSpPr txBox="1"/>
          <p:nvPr/>
        </p:nvSpPr>
        <p:spPr>
          <a:xfrm>
            <a:off x="3088928" y="2269778"/>
            <a:ext cx="1579215" cy="50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1"/>
                </a:solidFill>
                <a:latin typeface="+mj-lt"/>
                <a:ea typeface="+mj-ea"/>
              </a:rPr>
              <a:t>14:14</a:t>
            </a:r>
          </a:p>
        </p:txBody>
      </p:sp>
      <p:sp>
        <p:nvSpPr>
          <p:cNvPr id="11" name="text s2.1.1.1.0.0.1"/>
          <p:cNvSpPr txBox="1"/>
          <p:nvPr/>
        </p:nvSpPr>
        <p:spPr>
          <a:xfrm>
            <a:off x="3088928" y="2829818"/>
            <a:ext cx="1579215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5xx 경보</a:t>
            </a:r>
          </a:p>
        </p:txBody>
      </p:sp>
      <p:sp>
        <p:nvSpPr>
          <p:cNvPr id="12" name="text s2.1.1.1.0.1"/>
          <p:cNvSpPr txBox="1"/>
          <p:nvPr/>
        </p:nvSpPr>
        <p:spPr>
          <a:xfrm>
            <a:off x="3088928" y="4548188"/>
            <a:ext cx="157921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2"/>
                </a:solidFill>
                <a:latin typeface="+mn-lt"/>
                <a:ea typeface="+mn-ea"/>
              </a:rPr>
              <a:t>5분 평균 임계값이 12분 늦게 울렸다</a:t>
            </a:r>
          </a:p>
        </p:txBody>
      </p:sp>
      <p:sp>
        <p:nvSpPr>
          <p:cNvPr id="13" name="shape s2.1.2.0"/>
          <p:cNvSpPr/>
          <p:nvPr/>
        </p:nvSpPr>
        <p:spPr>
          <a:xfrm>
            <a:off x="5044380" y="1283940"/>
            <a:ext cx="2103090" cy="609600"/>
          </a:xfrm>
          <a:prstGeom prst="chevron">
            <a:avLst>
              <a:gd name="adj" fmla="val 68999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4" name="shape s2.1.2.1"/>
          <p:cNvSpPr/>
          <p:nvPr/>
        </p:nvSpPr>
        <p:spPr>
          <a:xfrm>
            <a:off x="5044380" y="2007840"/>
            <a:ext cx="2103090" cy="3373785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5" name="text s2.1.2.1.0.0.0"/>
          <p:cNvSpPr txBox="1"/>
          <p:nvPr/>
        </p:nvSpPr>
        <p:spPr>
          <a:xfrm>
            <a:off x="5306318" y="2269778"/>
            <a:ext cx="1579215" cy="50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1"/>
                </a:solidFill>
                <a:latin typeface="+mj-lt"/>
                <a:ea typeface="+mj-ea"/>
              </a:rPr>
              <a:t>14:23</a:t>
            </a:r>
          </a:p>
        </p:txBody>
      </p:sp>
      <p:sp>
        <p:nvSpPr>
          <p:cNvPr id="16" name="text s2.1.2.1.0.0.1"/>
          <p:cNvSpPr txBox="1"/>
          <p:nvPr/>
        </p:nvSpPr>
        <p:spPr>
          <a:xfrm>
            <a:off x="5306318" y="2829818"/>
            <a:ext cx="1579215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DB 풀 고갈 확인</a:t>
            </a:r>
          </a:p>
        </p:txBody>
      </p:sp>
      <p:sp>
        <p:nvSpPr>
          <p:cNvPr id="17" name="text s2.1.2.1.0.1"/>
          <p:cNvSpPr txBox="1"/>
          <p:nvPr/>
        </p:nvSpPr>
        <p:spPr>
          <a:xfrm>
            <a:off x="5306318" y="4548188"/>
            <a:ext cx="157921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2"/>
                </a:solidFill>
                <a:latin typeface="+mn-lt"/>
                <a:ea typeface="+mn-ea"/>
              </a:rPr>
              <a:t>읽기 풀 40/40, 대기열 1,900</a:t>
            </a:r>
          </a:p>
        </p:txBody>
      </p:sp>
      <p:sp>
        <p:nvSpPr>
          <p:cNvPr id="18" name="shape s2.1.3.0"/>
          <p:cNvSpPr/>
          <p:nvPr/>
        </p:nvSpPr>
        <p:spPr>
          <a:xfrm>
            <a:off x="7261771" y="1283940"/>
            <a:ext cx="2103090" cy="609600"/>
          </a:xfrm>
          <a:prstGeom prst="chevron">
            <a:avLst>
              <a:gd name="adj" fmla="val 68999"/>
            </a:avLst>
          </a:prstGeom>
          <a:solidFill>
            <a:schemeClr val="accent3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shape s2.1.3.1"/>
          <p:cNvSpPr/>
          <p:nvPr/>
        </p:nvSpPr>
        <p:spPr>
          <a:xfrm>
            <a:off x="7261771" y="2007840"/>
            <a:ext cx="2103090" cy="3373785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20" name="text s2.1.3.1.0.0.0"/>
          <p:cNvSpPr txBox="1"/>
          <p:nvPr/>
        </p:nvSpPr>
        <p:spPr>
          <a:xfrm>
            <a:off x="7523708" y="2269778"/>
            <a:ext cx="1579215" cy="50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1"/>
                </a:solidFill>
                <a:latin typeface="+mj-lt"/>
                <a:ea typeface="+mj-ea"/>
              </a:rPr>
              <a:t>14:31</a:t>
            </a:r>
          </a:p>
        </p:txBody>
      </p:sp>
      <p:sp>
        <p:nvSpPr>
          <p:cNvPr id="21" name="text s2.1.3.1.0.0.1"/>
          <p:cNvSpPr txBox="1"/>
          <p:nvPr/>
        </p:nvSpPr>
        <p:spPr>
          <a:xfrm>
            <a:off x="7523708" y="2829818"/>
            <a:ext cx="1579215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부하 차단 적용</a:t>
            </a:r>
          </a:p>
        </p:txBody>
      </p:sp>
      <p:sp>
        <p:nvSpPr>
          <p:cNvPr id="22" name="text s2.1.3.1.0.1"/>
          <p:cNvSpPr txBox="1"/>
          <p:nvPr/>
        </p:nvSpPr>
        <p:spPr>
          <a:xfrm>
            <a:off x="7523708" y="4548188"/>
            <a:ext cx="157921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2"/>
                </a:solidFill>
                <a:latin typeface="+mn-lt"/>
                <a:ea typeface="+mn-ea"/>
              </a:rPr>
              <a:t>결제 외 캐시 미스 경로를 끊었다</a:t>
            </a:r>
          </a:p>
        </p:txBody>
      </p:sp>
      <p:sp>
        <p:nvSpPr>
          <p:cNvPr id="23" name="shape s2.1.4.0"/>
          <p:cNvSpPr/>
          <p:nvPr/>
        </p:nvSpPr>
        <p:spPr>
          <a:xfrm>
            <a:off x="9479161" y="1283940"/>
            <a:ext cx="2103239" cy="609600"/>
          </a:xfrm>
          <a:prstGeom prst="chevron">
            <a:avLst>
              <a:gd name="adj" fmla="val 69004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4" name="shape s2.1.4.1"/>
          <p:cNvSpPr/>
          <p:nvPr/>
        </p:nvSpPr>
        <p:spPr>
          <a:xfrm>
            <a:off x="9479161" y="2007840"/>
            <a:ext cx="2103239" cy="3373785"/>
          </a:xfrm>
          <a:prstGeom prst="roundRect">
            <a:avLst>
              <a:gd name="adj" fmla="val 5434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25" name="text s2.1.4.1.0.0.0"/>
          <p:cNvSpPr txBox="1"/>
          <p:nvPr/>
        </p:nvSpPr>
        <p:spPr>
          <a:xfrm>
            <a:off x="9741098" y="2269778"/>
            <a:ext cx="1579364" cy="50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1"/>
                </a:solidFill>
                <a:latin typeface="+mj-lt"/>
                <a:ea typeface="+mj-ea"/>
              </a:rPr>
              <a:t>14:49</a:t>
            </a:r>
          </a:p>
        </p:txBody>
      </p:sp>
      <p:sp>
        <p:nvSpPr>
          <p:cNvPr id="26" name="text s2.1.4.1.0.0.1"/>
          <p:cNvSpPr txBox="1"/>
          <p:nvPr/>
        </p:nvSpPr>
        <p:spPr>
          <a:xfrm>
            <a:off x="9741098" y="2829818"/>
            <a:ext cx="1579364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오류율 정상</a:t>
            </a:r>
          </a:p>
        </p:txBody>
      </p:sp>
      <p:sp>
        <p:nvSpPr>
          <p:cNvPr id="27" name="text s2.1.4.1.0.1"/>
          <p:cNvSpPr txBox="1"/>
          <p:nvPr/>
        </p:nvSpPr>
        <p:spPr>
          <a:xfrm>
            <a:off x="9741098" y="4548188"/>
            <a:ext cx="1579364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2"/>
                </a:solidFill>
                <a:latin typeface="+mn-lt"/>
                <a:ea typeface="+mn-ea"/>
              </a:rPr>
              <a:t>캐시 적중률 97%로 회복</a:t>
            </a:r>
          </a:p>
        </p:txBody>
      </p:sp>
      <p:sp>
        <p:nvSpPr>
          <p:cNvPr id="28" name="shape s2.2.0"/>
          <p:cNvSpPr/>
          <p:nvPr/>
        </p:nvSpPr>
        <p:spPr>
          <a:xfrm>
            <a:off x="609600" y="5610225"/>
            <a:ext cx="2743200" cy="638175"/>
          </a:xfrm>
          <a:prstGeom prst="roundRect">
            <a:avLst>
              <a:gd name="adj" fmla="val 17910"/>
            </a:avLst>
          </a:prstGeom>
          <a:solidFill>
            <a:schemeClr val="accent4"/>
          </a:solidFill>
          <a:ln>
            <a:noFill/>
          </a:ln>
        </p:spPr>
        <p:txBody>
          <a:bodyPr wrap="square" lIns="114300" tIns="114300" rIns="114300" bIns="11430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chemeClr val="bg1"/>
                </a:solidFill>
                <a:latin typeface="+mn-lt"/>
                <a:ea typeface="+mn-ea"/>
              </a:rPr>
              <a:t>탐지 12분</a:t>
            </a:r>
          </a:p>
        </p:txBody>
      </p:sp>
      <p:sp>
        <p:nvSpPr>
          <p:cNvPr id="29" name="shape s2.2.1"/>
          <p:cNvSpPr/>
          <p:nvPr/>
        </p:nvSpPr>
        <p:spPr>
          <a:xfrm>
            <a:off x="3467100" y="5610225"/>
            <a:ext cx="3886200" cy="638175"/>
          </a:xfrm>
          <a:prstGeom prst="roundRect">
            <a:avLst>
              <a:gd name="adj" fmla="val 1791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114300" rIns="114300" bIns="11430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완화 17분</a:t>
            </a:r>
          </a:p>
        </p:txBody>
      </p:sp>
      <p:sp>
        <p:nvSpPr>
          <p:cNvPr id="30" name="shape s2.2.2"/>
          <p:cNvSpPr/>
          <p:nvPr/>
        </p:nvSpPr>
        <p:spPr>
          <a:xfrm>
            <a:off x="7467600" y="5610225"/>
            <a:ext cx="4114800" cy="638175"/>
          </a:xfrm>
          <a:prstGeom prst="roundRect">
            <a:avLst>
              <a:gd name="adj" fmla="val 1791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114300" rIns="114300" bIns="11430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복구 18분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3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영향 범위</a:t>
            </a:r>
          </a:p>
        </p:txBody>
      </p:sp>
      <p:graphicFrame>
        <p:nvGraphicFramePr>
          <p:cNvPr id="3" name="table s3.1"/>
          <p:cNvGraphicFramePr/>
          <p:nvPr/>
        </p:nvGraphicFramePr>
        <p:xfrm>
          <a:off x="609600" y="1283940"/>
          <a:ext cx="10972800" cy="25336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85243"/>
                <a:gridCol w="2583061"/>
                <a:gridCol w="2180481"/>
                <a:gridCol w="4024015"/>
              </a:tblGrid>
              <a:tr h="509588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서비스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오류율 최대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영향 요청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사용자 체감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결제 API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8.4%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41,200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결제 실패 후 재시도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주문 조회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1.1%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6,800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조회 지연 2~4초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장바구니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0.3%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1,450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담기 실패 (드묾)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정산 배치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없음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s3.2.0"/>
          <p:cNvSpPr/>
          <p:nvPr/>
        </p:nvSpPr>
        <p:spPr>
          <a:xfrm>
            <a:off x="609600" y="4046190"/>
            <a:ext cx="3505200" cy="2202210"/>
          </a:xfrm>
          <a:prstGeom prst="roundRect">
            <a:avLst>
              <a:gd name="adj" fmla="val 10380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5" name="text s3.2.0.0.0"/>
          <p:cNvSpPr txBox="1"/>
          <p:nvPr/>
        </p:nvSpPr>
        <p:spPr>
          <a:xfrm>
            <a:off x="905024" y="4724400"/>
            <a:ext cx="2914352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5"/>
                </a:solidFill>
                <a:latin typeface="+mj-lt"/>
                <a:ea typeface="+mj-ea"/>
              </a:rPr>
              <a:t>41,200</a:t>
            </a:r>
          </a:p>
        </p:txBody>
      </p:sp>
      <p:sp>
        <p:nvSpPr>
          <p:cNvPr id="6" name="text s3.2.0.0.1"/>
          <p:cNvSpPr txBox="1"/>
          <p:nvPr/>
        </p:nvSpPr>
        <p:spPr>
          <a:xfrm>
            <a:off x="905024" y="5330130"/>
            <a:ext cx="29143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결제 실패 요청</a:t>
            </a:r>
          </a:p>
        </p:txBody>
      </p:sp>
      <p:sp>
        <p:nvSpPr>
          <p:cNvPr id="7" name="shape s3.2.1"/>
          <p:cNvSpPr/>
          <p:nvPr/>
        </p:nvSpPr>
        <p:spPr>
          <a:xfrm>
            <a:off x="4343400" y="4046190"/>
            <a:ext cx="3505200" cy="2202210"/>
          </a:xfrm>
          <a:prstGeom prst="roundRect">
            <a:avLst>
              <a:gd name="adj" fmla="val 10380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8" name="text s3.2.1.0.0"/>
          <p:cNvSpPr txBox="1"/>
          <p:nvPr/>
        </p:nvSpPr>
        <p:spPr>
          <a:xfrm>
            <a:off x="4638824" y="4724400"/>
            <a:ext cx="2914352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3"/>
                </a:solidFill>
                <a:latin typeface="+mj-lt"/>
                <a:ea typeface="+mj-ea"/>
              </a:rPr>
              <a:t>39,900</a:t>
            </a:r>
          </a:p>
        </p:txBody>
      </p:sp>
      <p:sp>
        <p:nvSpPr>
          <p:cNvPr id="9" name="text s3.2.1.0.1"/>
          <p:cNvSpPr txBox="1"/>
          <p:nvPr/>
        </p:nvSpPr>
        <p:spPr>
          <a:xfrm>
            <a:off x="4638824" y="5330130"/>
            <a:ext cx="29143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재시도로 성공 (96.8%)</a:t>
            </a:r>
          </a:p>
        </p:txBody>
      </p:sp>
      <p:sp>
        <p:nvSpPr>
          <p:cNvPr id="10" name="shape s3.2.2"/>
          <p:cNvSpPr/>
          <p:nvPr/>
        </p:nvSpPr>
        <p:spPr>
          <a:xfrm>
            <a:off x="8077200" y="4046190"/>
            <a:ext cx="3505200" cy="2202210"/>
          </a:xfrm>
          <a:prstGeom prst="roundRect">
            <a:avLst>
              <a:gd name="adj" fmla="val 10380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1" name="text s3.2.2.0.0"/>
          <p:cNvSpPr txBox="1"/>
          <p:nvPr/>
        </p:nvSpPr>
        <p:spPr>
          <a:xfrm>
            <a:off x="8372624" y="4724400"/>
            <a:ext cx="2914352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5"/>
                </a:solidFill>
                <a:latin typeface="+mj-lt"/>
                <a:ea typeface="+mj-ea"/>
              </a:rPr>
              <a:t>34건</a:t>
            </a:r>
          </a:p>
        </p:txBody>
      </p:sp>
      <p:sp>
        <p:nvSpPr>
          <p:cNvPr id="12" name="text s3.2.2.0.1"/>
          <p:cNvSpPr txBox="1"/>
          <p:nvPr/>
        </p:nvSpPr>
        <p:spPr>
          <a:xfrm>
            <a:off x="8372624" y="5330130"/>
            <a:ext cx="29143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CS 문의 · 이중 결제 0건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ot-c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4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근본 원인 — 만료가 한 시각에 몰렸다</a:t>
            </a:r>
          </a:p>
        </p:txBody>
      </p:sp>
      <p:sp>
        <p:nvSpPr>
          <p:cNvPr id="3" name="shape s4.1"/>
          <p:cNvSpPr/>
          <p:nvPr/>
        </p:nvSpPr>
        <p:spPr>
          <a:xfrm>
            <a:off x="609600" y="1283940"/>
            <a:ext cx="10972800" cy="3810149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228600" rIns="342900" bIns="228600" anchor="t">
            <a:normAutofit/>
          </a:bodyPr>
          <a:lstStyle/>
          <a:p/>
        </p:txBody>
      </p:sp>
      <p:sp>
        <p:nvSpPr>
          <p:cNvPr id="4" name="pre s4.1.0.0"/>
          <p:cNvSpPr txBox="1"/>
          <p:nvPr/>
        </p:nvSpPr>
        <p:spPr>
          <a:xfrm>
            <a:off x="1019324" y="1579364"/>
            <a:ext cx="10153352" cy="2571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chemeClr val="tx2"/>
                </a:solidFill>
                <a:latin typeface="Noto Sans Mono"/>
                <a:ea typeface="Noto Sans Mono CJK KR"/>
              </a:rPr>
              <a:t>// 배포 때 캐시를 한 번에 채운다 — TTL이 전부 같은 시각이 된다.</a:t>
            </a:r>
            <a:br/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func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50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warm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(ctx context.Context, ids []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string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)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error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{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for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_, id :=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range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ids {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 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if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err := cache.</a:t>
            </a:r>
            <a:r>
              <a:rPr sz="150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Set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(ctx, </a:t>
            </a:r>
            <a:r>
              <a:rPr sz="150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key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(id), </a:t>
            </a:r>
            <a:r>
              <a:rPr sz="150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load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(id), </a:t>
            </a:r>
            <a:r>
              <a:rPr sz="1500" b="0" i="0" u="none">
                <a:solidFill>
                  <a:schemeClr val="accent4"/>
                </a:solidFill>
                <a:latin typeface="Noto Sans Mono"/>
                <a:ea typeface="Noto Sans Mono CJK KR"/>
              </a:rPr>
              <a:t>30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*time.Minute); err !=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nil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{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   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return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err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  }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}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return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500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nil</a:t>
            </a:r>
            <a:br/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}</a:t>
            </a:r>
          </a:p>
        </p:txBody>
      </p:sp>
      <p:sp>
        <p:nvSpPr>
          <p:cNvPr id="5" name="text s4.1.0.1"/>
          <p:cNvSpPr txBox="1"/>
          <p:nvPr/>
        </p:nvSpPr>
        <p:spPr>
          <a:xfrm>
            <a:off x="1019324" y="4558754"/>
            <a:ext cx="101533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payments/cache/warm.go — 배포 훅이 부른다</a:t>
            </a:r>
          </a:p>
        </p:txBody>
      </p:sp>
      <p:sp>
        <p:nvSpPr>
          <p:cNvPr id="6" name="text s4.2.0.0"/>
          <p:cNvSpPr txBox="1"/>
          <p:nvPr/>
        </p:nvSpPr>
        <p:spPr>
          <a:xfrm>
            <a:off x="609600" y="5322689"/>
            <a:ext cx="35052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① 일괄 예열</a:t>
            </a:r>
          </a:p>
        </p:txBody>
      </p:sp>
      <p:sp>
        <p:nvSpPr>
          <p:cNvPr id="7" name="text s4.2.0.1"/>
          <p:cNvSpPr txBox="1"/>
          <p:nvPr/>
        </p:nvSpPr>
        <p:spPr>
          <a:xfrm>
            <a:off x="609600" y="5676900"/>
            <a:ext cx="35052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배포가 12만 키를 몇 초 안에 채운다.</a:t>
            </a:r>
          </a:p>
        </p:txBody>
      </p:sp>
      <p:sp>
        <p:nvSpPr>
          <p:cNvPr id="8" name="text s4.2.1.0"/>
          <p:cNvSpPr txBox="1"/>
          <p:nvPr/>
        </p:nvSpPr>
        <p:spPr>
          <a:xfrm>
            <a:off x="4343400" y="5322689"/>
            <a:ext cx="35052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② 고정 TTL 30분</a:t>
            </a:r>
          </a:p>
        </p:txBody>
      </p:sp>
      <p:sp>
        <p:nvSpPr>
          <p:cNvPr id="9" name="text s4.2.1.1"/>
          <p:cNvSpPr txBox="1"/>
          <p:nvPr/>
        </p:nvSpPr>
        <p:spPr>
          <a:xfrm>
            <a:off x="4343400" y="5676900"/>
            <a:ext cx="35052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지터가 없어 만료 시각이 하나로 모인다.</a:t>
            </a:r>
          </a:p>
        </p:txBody>
      </p:sp>
      <p:sp>
        <p:nvSpPr>
          <p:cNvPr id="10" name="text s4.2.2.0"/>
          <p:cNvSpPr txBox="1"/>
          <p:nvPr/>
        </p:nvSpPr>
        <p:spPr>
          <a:xfrm>
            <a:off x="8077200" y="5322689"/>
            <a:ext cx="35052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accent5"/>
                </a:solidFill>
                <a:latin typeface="+mj-lt"/>
                <a:ea typeface="+mj-ea"/>
              </a:rPr>
              <a:t>③ 같은 초에 전부 미스</a:t>
            </a:r>
          </a:p>
        </p:txBody>
      </p:sp>
      <p:sp>
        <p:nvSpPr>
          <p:cNvPr id="11" name="text s4.2.2.1"/>
          <p:cNvSpPr txBox="1"/>
          <p:nvPr/>
        </p:nvSpPr>
        <p:spPr>
          <a:xfrm>
            <a:off x="8077200" y="5676900"/>
            <a:ext cx="35052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단일 비행이 없어 미스 하나가 DB 질의 하나가 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5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기여 요인 넷</a:t>
            </a:r>
          </a:p>
        </p:txBody>
      </p:sp>
      <p:sp>
        <p:nvSpPr>
          <p:cNvPr id="3" name="shape s5.1.0"/>
          <p:cNvSpPr/>
          <p:nvPr/>
        </p:nvSpPr>
        <p:spPr>
          <a:xfrm>
            <a:off x="609600" y="1283940"/>
            <a:ext cx="5372100" cy="2276475"/>
          </a:xfrm>
          <a:prstGeom prst="roundRect">
            <a:avLst>
              <a:gd name="adj" fmla="val 10042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4" name="text s5.1.0.0.0.0"/>
          <p:cNvSpPr txBox="1"/>
          <p:nvPr/>
        </p:nvSpPr>
        <p:spPr>
          <a:xfrm>
            <a:off x="905024" y="1579364"/>
            <a:ext cx="47812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고정 TTL</a:t>
            </a:r>
          </a:p>
        </p:txBody>
      </p:sp>
      <p:sp>
        <p:nvSpPr>
          <p:cNvPr id="5" name="text s5.1.0.0.0.1"/>
          <p:cNvSpPr txBox="1"/>
          <p:nvPr/>
        </p:nvSpPr>
        <p:spPr>
          <a:xfrm>
            <a:off x="905024" y="1958429"/>
            <a:ext cx="478125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예열이 모든 키에 같은 만료 시각을 준다.</a:t>
            </a:r>
          </a:p>
        </p:txBody>
      </p:sp>
      <p:sp>
        <p:nvSpPr>
          <p:cNvPr id="6" name="text s5.1.0.0.1"/>
          <p:cNvSpPr txBox="1"/>
          <p:nvPr/>
        </p:nvSpPr>
        <p:spPr>
          <a:xfrm>
            <a:off x="905024" y="3025080"/>
            <a:ext cx="47812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TTL에 ±10% 지터</a:t>
            </a:r>
          </a:p>
        </p:txBody>
      </p:sp>
      <p:sp>
        <p:nvSpPr>
          <p:cNvPr id="7" name="shape s5.1.1"/>
          <p:cNvSpPr/>
          <p:nvPr/>
        </p:nvSpPr>
        <p:spPr>
          <a:xfrm>
            <a:off x="6210300" y="1283940"/>
            <a:ext cx="5372100" cy="2276475"/>
          </a:xfrm>
          <a:prstGeom prst="roundRect">
            <a:avLst>
              <a:gd name="adj" fmla="val 10042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8" name="text s5.1.1.0.0.0"/>
          <p:cNvSpPr txBox="1"/>
          <p:nvPr/>
        </p:nvSpPr>
        <p:spPr>
          <a:xfrm>
            <a:off x="6505724" y="1579364"/>
            <a:ext cx="47812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단일 비행 없음</a:t>
            </a:r>
          </a:p>
        </p:txBody>
      </p:sp>
      <p:sp>
        <p:nvSpPr>
          <p:cNvPr id="9" name="text s5.1.1.0.0.1"/>
          <p:cNvSpPr txBox="1"/>
          <p:nvPr/>
        </p:nvSpPr>
        <p:spPr>
          <a:xfrm>
            <a:off x="6505724" y="1958429"/>
            <a:ext cx="4781252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캐시 미스가 그대로 DB 질의가 된다 (</a:t>
            </a:r>
            <a:r>
              <a:rPr sz="1500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cache.Get</a:t>
            </a: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 실패 경로에 잠금이 없다).</a:t>
            </a:r>
          </a:p>
        </p:txBody>
      </p:sp>
      <p:sp>
        <p:nvSpPr>
          <p:cNvPr id="10" name="text s5.1.1.0.1"/>
          <p:cNvSpPr txBox="1"/>
          <p:nvPr/>
        </p:nvSpPr>
        <p:spPr>
          <a:xfrm>
            <a:off x="6505724" y="3025080"/>
            <a:ext cx="47812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캐시 미스에 단일 비행 잠금</a:t>
            </a:r>
          </a:p>
        </p:txBody>
      </p:sp>
      <p:sp>
        <p:nvSpPr>
          <p:cNvPr id="11" name="shape s5.1.2"/>
          <p:cNvSpPr/>
          <p:nvPr/>
        </p:nvSpPr>
        <p:spPr>
          <a:xfrm>
            <a:off x="609600" y="3789015"/>
            <a:ext cx="5372100" cy="1990874"/>
          </a:xfrm>
          <a:prstGeom prst="roundRect">
            <a:avLst>
              <a:gd name="adj" fmla="val 11482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2" name="text s5.1.2.0.0.0"/>
          <p:cNvSpPr txBox="1"/>
          <p:nvPr/>
        </p:nvSpPr>
        <p:spPr>
          <a:xfrm>
            <a:off x="905024" y="4084439"/>
            <a:ext cx="47812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읽기 풀이 작다</a:t>
            </a:r>
          </a:p>
        </p:txBody>
      </p:sp>
      <p:sp>
        <p:nvSpPr>
          <p:cNvPr id="13" name="text s5.1.2.0.0.1"/>
          <p:cNvSpPr txBox="1"/>
          <p:nvPr/>
        </p:nvSpPr>
        <p:spPr>
          <a:xfrm>
            <a:off x="905024" y="4463504"/>
            <a:ext cx="478125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풀 상한 40, 평시 피크 26. 여유가 14개뿐이었다.</a:t>
            </a:r>
          </a:p>
        </p:txBody>
      </p:sp>
      <p:sp>
        <p:nvSpPr>
          <p:cNvPr id="14" name="text s5.1.2.0.1"/>
          <p:cNvSpPr txBox="1"/>
          <p:nvPr/>
        </p:nvSpPr>
        <p:spPr>
          <a:xfrm>
            <a:off x="905024" y="5244554"/>
            <a:ext cx="47812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풀 상한 96, 사용률 80%에 경보</a:t>
            </a:r>
          </a:p>
        </p:txBody>
      </p:sp>
      <p:sp>
        <p:nvSpPr>
          <p:cNvPr id="15" name="shape s5.1.3"/>
          <p:cNvSpPr/>
          <p:nvPr/>
        </p:nvSpPr>
        <p:spPr>
          <a:xfrm>
            <a:off x="6210300" y="3789015"/>
            <a:ext cx="5372100" cy="1990874"/>
          </a:xfrm>
          <a:prstGeom prst="roundRect">
            <a:avLst>
              <a:gd name="adj" fmla="val 11482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6" name="text s5.1.3.0.0.0"/>
          <p:cNvSpPr txBox="1"/>
          <p:nvPr/>
        </p:nvSpPr>
        <p:spPr>
          <a:xfrm>
            <a:off x="6505724" y="4084439"/>
            <a:ext cx="47812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경보가 5분 평균</a:t>
            </a:r>
          </a:p>
        </p:txBody>
      </p:sp>
      <p:sp>
        <p:nvSpPr>
          <p:cNvPr id="17" name="text s5.1.3.0.0.1"/>
          <p:cNvSpPr txBox="1"/>
          <p:nvPr/>
        </p:nvSpPr>
        <p:spPr>
          <a:xfrm>
            <a:off x="6505724" y="4463504"/>
            <a:ext cx="478125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임계값이 평균이라 급한 스파이크를 늦게 본다.</a:t>
            </a:r>
          </a:p>
        </p:txBody>
      </p:sp>
      <p:sp>
        <p:nvSpPr>
          <p:cNvPr id="18" name="text s5.1.3.0.1"/>
          <p:cNvSpPr txBox="1"/>
          <p:nvPr/>
        </p:nvSpPr>
        <p:spPr>
          <a:xfrm>
            <a:off x="6505724" y="5244554"/>
            <a:ext cx="47812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1분 p99 경보로 교체</a:t>
            </a:r>
          </a:p>
        </p:txBody>
      </p:sp>
      <p:sp>
        <p:nvSpPr>
          <p:cNvPr id="19" name="text s5.2"/>
          <p:cNvSpPr txBox="1"/>
          <p:nvPr/>
        </p:nvSpPr>
        <p:spPr>
          <a:xfrm>
            <a:off x="609600" y="6008489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넷 중 하나만 없었어도 47분이 아니라 5분이었다.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6.0"/>
          <p:cNvSpPr txBox="1"/>
          <p:nvPr>
            <p:ph type="title"/>
          </p:nvPr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재발 방지 액션</a:t>
            </a:r>
          </a:p>
        </p:txBody>
      </p:sp>
      <p:sp>
        <p:nvSpPr>
          <p:cNvPr id="3" name="shape s6.1.0"/>
          <p:cNvSpPr/>
          <p:nvPr/>
        </p:nvSpPr>
        <p:spPr>
          <a:xfrm>
            <a:off x="6096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6.1.0.0.0"/>
          <p:cNvSpPr txBox="1"/>
          <p:nvPr/>
        </p:nvSpPr>
        <p:spPr>
          <a:xfrm>
            <a:off x="1019324" y="1693664"/>
            <a:ext cx="45526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3"/>
                </a:solidFill>
                <a:latin typeface="+mj-lt"/>
                <a:ea typeface="+mj-ea"/>
              </a:rPr>
              <a:t>이번 주</a:t>
            </a:r>
          </a:p>
        </p:txBody>
      </p:sp>
      <p:sp>
        <p:nvSpPr>
          <p:cNvPr id="5" name="text s6.1.0.0.1.0"/>
          <p:cNvSpPr txBox="1"/>
          <p:nvPr/>
        </p:nvSpPr>
        <p:spPr>
          <a:xfrm>
            <a:off x="1019324" y="2666405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1.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TTL에 ±10% 지터 (결제 캐시 전부)</a:t>
            </a:r>
          </a:p>
        </p:txBody>
      </p:sp>
      <p:sp>
        <p:nvSpPr>
          <p:cNvPr id="6" name="text s6.1.0.0.1.1"/>
          <p:cNvSpPr txBox="1"/>
          <p:nvPr/>
        </p:nvSpPr>
        <p:spPr>
          <a:xfrm>
            <a:off x="1019324" y="306645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고정 TTL을 막는다</a:t>
            </a:r>
          </a:p>
        </p:txBody>
      </p:sp>
      <p:sp>
        <p:nvSpPr>
          <p:cNvPr id="7" name="text s6.1.0.0.2.0"/>
          <p:cNvSpPr txBox="1"/>
          <p:nvPr/>
        </p:nvSpPr>
        <p:spPr>
          <a:xfrm>
            <a:off x="1019324" y="3932634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2.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5xx 경보를 1분 p99로 교체</a:t>
            </a:r>
          </a:p>
        </p:txBody>
      </p:sp>
      <p:sp>
        <p:nvSpPr>
          <p:cNvPr id="8" name="text s6.1.0.0.2.1"/>
          <p:cNvSpPr txBox="1"/>
          <p:nvPr/>
        </p:nvSpPr>
        <p:spPr>
          <a:xfrm>
            <a:off x="1019324" y="433268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탐지 12분 → 목표 3분</a:t>
            </a:r>
          </a:p>
        </p:txBody>
      </p:sp>
      <p:sp>
        <p:nvSpPr>
          <p:cNvPr id="9" name="text s6.1.0.0.3.0"/>
          <p:cNvSpPr txBox="1"/>
          <p:nvPr/>
        </p:nvSpPr>
        <p:spPr>
          <a:xfrm>
            <a:off x="1019324" y="5198715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3.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읽기 풀 상한 40 → 96, 경보 80%</a:t>
            </a:r>
          </a:p>
        </p:txBody>
      </p:sp>
      <p:sp>
        <p:nvSpPr>
          <p:cNvPr id="10" name="text s6.1.0.0.3.1"/>
          <p:cNvSpPr txBox="1"/>
          <p:nvPr/>
        </p:nvSpPr>
        <p:spPr>
          <a:xfrm>
            <a:off x="10193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여유 14개 → 70개</a:t>
            </a:r>
          </a:p>
        </p:txBody>
      </p:sp>
      <p:sp>
        <p:nvSpPr>
          <p:cNvPr id="11" name="shape s6.2.0"/>
          <p:cNvSpPr/>
          <p:nvPr/>
        </p:nvSpPr>
        <p:spPr>
          <a:xfrm>
            <a:off x="62103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2" name="text s6.2.0.0.0"/>
          <p:cNvSpPr txBox="1"/>
          <p:nvPr/>
        </p:nvSpPr>
        <p:spPr>
          <a:xfrm>
            <a:off x="6620024" y="1693664"/>
            <a:ext cx="45526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3"/>
                </a:solidFill>
                <a:latin typeface="+mj-lt"/>
                <a:ea typeface="+mj-ea"/>
              </a:rPr>
              <a:t>다음 스프린트</a:t>
            </a:r>
          </a:p>
        </p:txBody>
      </p:sp>
      <p:sp>
        <p:nvSpPr>
          <p:cNvPr id="13" name="text s6.2.0.0.1.0"/>
          <p:cNvSpPr txBox="1"/>
          <p:nvPr/>
        </p:nvSpPr>
        <p:spPr>
          <a:xfrm>
            <a:off x="6620024" y="2666405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4.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캐시 미스에 단일 비행 잠금</a:t>
            </a:r>
          </a:p>
        </p:txBody>
      </p:sp>
      <p:sp>
        <p:nvSpPr>
          <p:cNvPr id="14" name="text s6.2.0.0.1.1"/>
          <p:cNvSpPr txBox="1"/>
          <p:nvPr/>
        </p:nvSpPr>
        <p:spPr>
          <a:xfrm>
            <a:off x="6620024" y="306645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미스 하나가 질의 하나가 되는 경로를 끊는다</a:t>
            </a:r>
          </a:p>
        </p:txBody>
      </p:sp>
      <p:sp>
        <p:nvSpPr>
          <p:cNvPr id="15" name="text s6.2.0.0.2.0"/>
          <p:cNvSpPr txBox="1"/>
          <p:nvPr/>
        </p:nvSpPr>
        <p:spPr>
          <a:xfrm>
            <a:off x="6620024" y="3932634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5.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부하 차단을 수동 → 자동 (오류율 2%)</a:t>
            </a:r>
          </a:p>
        </p:txBody>
      </p:sp>
      <p:sp>
        <p:nvSpPr>
          <p:cNvPr id="16" name="text s6.2.0.0.2.1"/>
          <p:cNvSpPr txBox="1"/>
          <p:nvPr/>
        </p:nvSpPr>
        <p:spPr>
          <a:xfrm>
            <a:off x="6620024" y="433268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이번에 사람이 17분 걸린 일을 기계가 한다</a:t>
            </a:r>
          </a:p>
        </p:txBody>
      </p:sp>
      <p:sp>
        <p:nvSpPr>
          <p:cNvPr id="17" name="text s6.2.0.0.3.0"/>
          <p:cNvSpPr txBox="1"/>
          <p:nvPr/>
        </p:nvSpPr>
        <p:spPr>
          <a:xfrm>
            <a:off x="6620024" y="5198715"/>
            <a:ext cx="45526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tx1"/>
                </a:solidFill>
                <a:latin typeface="+mn-lt"/>
                <a:ea typeface="+mn-ea"/>
              </a:rPr>
              <a:t>6.</a:t>
            </a: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 스탬피드 부하 시험을 배포 게이트에</a:t>
            </a:r>
          </a:p>
        </p:txBody>
      </p:sp>
      <p:sp>
        <p:nvSpPr>
          <p:cNvPr id="18" name="text s6.2.0.0.3.1"/>
          <p:cNvSpPr txBox="1"/>
          <p:nvPr/>
        </p:nvSpPr>
        <p:spPr>
          <a:xfrm>
            <a:off x="66200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예열 직후 30분 뒤를 재현한다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7.0"/>
          <p:cNvSpPr txBox="1"/>
          <p:nvPr/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평균 탐지 시간이 줄고 있다 — 아직 느리다</a:t>
            </a:r>
          </a:p>
        </p:txBody>
      </p:sp>
      <p:sp>
        <p:nvSpPr>
          <p:cNvPr id="3" name="shape s7.1" descr="월별 평균 탐지 시간 — 5월 22분에서 이번 장애 12분까지"/>
          <p:cNvSpPr/>
          <p:nvPr/>
        </p:nvSpPr>
        <p:spPr>
          <a:xfrm>
            <a:off x="609600" y="1283940"/>
            <a:ext cx="1097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4" name="text s7.1.0.0.0.0.1"/>
          <p:cNvSpPr txBox="1"/>
          <p:nvPr/>
        </p:nvSpPr>
        <p:spPr>
          <a:xfrm>
            <a:off x="609600" y="1699766"/>
            <a:ext cx="219447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22분</a:t>
            </a:r>
          </a:p>
        </p:txBody>
      </p:sp>
      <p:sp>
        <p:nvSpPr>
          <p:cNvPr id="5" name="shape s7.1.0.0.0.0.2"/>
          <p:cNvSpPr/>
          <p:nvPr/>
        </p:nvSpPr>
        <p:spPr>
          <a:xfrm>
            <a:off x="938808" y="1996827"/>
            <a:ext cx="1536055" cy="32286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6" name="shape s7.1.0.0.0.1"/>
          <p:cNvSpPr/>
          <p:nvPr/>
        </p:nvSpPr>
        <p:spPr>
          <a:xfrm>
            <a:off x="609600" y="5225504"/>
            <a:ext cx="2194471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7" name="text s7.1.0.0.1.0.1"/>
          <p:cNvSpPr txBox="1"/>
          <p:nvPr/>
        </p:nvSpPr>
        <p:spPr>
          <a:xfrm>
            <a:off x="2804071" y="2139851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19분</a:t>
            </a:r>
          </a:p>
        </p:txBody>
      </p:sp>
      <p:sp>
        <p:nvSpPr>
          <p:cNvPr id="8" name="shape s7.1.0.0.1.0.2"/>
          <p:cNvSpPr/>
          <p:nvPr/>
        </p:nvSpPr>
        <p:spPr>
          <a:xfrm>
            <a:off x="3133279" y="2436912"/>
            <a:ext cx="1536204" cy="27885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shape s7.1.0.0.1.1"/>
          <p:cNvSpPr/>
          <p:nvPr/>
        </p:nvSpPr>
        <p:spPr>
          <a:xfrm>
            <a:off x="2804071" y="5225504"/>
            <a:ext cx="219462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0" name="text s7.1.0.0.2.0.1"/>
          <p:cNvSpPr txBox="1"/>
          <p:nvPr/>
        </p:nvSpPr>
        <p:spPr>
          <a:xfrm>
            <a:off x="4998690" y="2727275"/>
            <a:ext cx="219447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15분</a:t>
            </a:r>
          </a:p>
        </p:txBody>
      </p:sp>
      <p:sp>
        <p:nvSpPr>
          <p:cNvPr id="11" name="shape s7.1.0.0.2.0.2"/>
          <p:cNvSpPr/>
          <p:nvPr/>
        </p:nvSpPr>
        <p:spPr>
          <a:xfrm>
            <a:off x="5327898" y="3024336"/>
            <a:ext cx="1536055" cy="2201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2" name="shape s7.1.0.0.2.1"/>
          <p:cNvSpPr/>
          <p:nvPr/>
        </p:nvSpPr>
        <p:spPr>
          <a:xfrm>
            <a:off x="4998690" y="5225504"/>
            <a:ext cx="2194471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3" name="text s7.1.0.0.3.0.1"/>
          <p:cNvSpPr txBox="1"/>
          <p:nvPr/>
        </p:nvSpPr>
        <p:spPr>
          <a:xfrm>
            <a:off x="7193161" y="3020616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13분</a:t>
            </a:r>
          </a:p>
        </p:txBody>
      </p:sp>
      <p:sp>
        <p:nvSpPr>
          <p:cNvPr id="14" name="shape s7.1.0.0.3.0.2"/>
          <p:cNvSpPr/>
          <p:nvPr/>
        </p:nvSpPr>
        <p:spPr>
          <a:xfrm>
            <a:off x="7522369" y="3317677"/>
            <a:ext cx="1536204" cy="19078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5" name="shape s7.1.0.0.3.1"/>
          <p:cNvSpPr/>
          <p:nvPr/>
        </p:nvSpPr>
        <p:spPr>
          <a:xfrm>
            <a:off x="7193161" y="5225504"/>
            <a:ext cx="219462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6" name="text s7.1.0.0.4.0.1"/>
          <p:cNvSpPr txBox="1"/>
          <p:nvPr/>
        </p:nvSpPr>
        <p:spPr>
          <a:xfrm>
            <a:off x="9387780" y="3167509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4"/>
                </a:solidFill>
                <a:latin typeface="+mn-lt"/>
                <a:ea typeface="+mn-ea"/>
              </a:rPr>
              <a:t>12분</a:t>
            </a:r>
          </a:p>
        </p:txBody>
      </p:sp>
      <p:sp>
        <p:nvSpPr>
          <p:cNvPr id="17" name="shape s7.1.0.0.4.0.2"/>
          <p:cNvSpPr/>
          <p:nvPr/>
        </p:nvSpPr>
        <p:spPr>
          <a:xfrm>
            <a:off x="9716988" y="3464570"/>
            <a:ext cx="1536204" cy="17609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8" name="shape s7.1.0.0.4.1"/>
          <p:cNvSpPr/>
          <p:nvPr/>
        </p:nvSpPr>
        <p:spPr>
          <a:xfrm>
            <a:off x="9387780" y="5225504"/>
            <a:ext cx="219462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text s7.1.0.1.0"/>
          <p:cNvSpPr txBox="1"/>
          <p:nvPr/>
        </p:nvSpPr>
        <p:spPr>
          <a:xfrm>
            <a:off x="609600" y="5235029"/>
            <a:ext cx="219447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5월</a:t>
            </a:r>
          </a:p>
        </p:txBody>
      </p:sp>
      <p:sp>
        <p:nvSpPr>
          <p:cNvPr id="20" name="text s7.1.0.1.1"/>
          <p:cNvSpPr txBox="1"/>
          <p:nvPr/>
        </p:nvSpPr>
        <p:spPr>
          <a:xfrm>
            <a:off x="2804071" y="5235029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6월</a:t>
            </a:r>
          </a:p>
        </p:txBody>
      </p:sp>
      <p:sp>
        <p:nvSpPr>
          <p:cNvPr id="21" name="text s7.1.0.1.2"/>
          <p:cNvSpPr txBox="1"/>
          <p:nvPr/>
        </p:nvSpPr>
        <p:spPr>
          <a:xfrm>
            <a:off x="4998690" y="5235029"/>
            <a:ext cx="219447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7월</a:t>
            </a:r>
          </a:p>
        </p:txBody>
      </p:sp>
      <p:sp>
        <p:nvSpPr>
          <p:cNvPr id="22" name="text s7.1.0.1.3"/>
          <p:cNvSpPr txBox="1"/>
          <p:nvPr/>
        </p:nvSpPr>
        <p:spPr>
          <a:xfrm>
            <a:off x="7193161" y="5235029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8월</a:t>
            </a:r>
          </a:p>
        </p:txBody>
      </p:sp>
      <p:sp>
        <p:nvSpPr>
          <p:cNvPr id="23" name="text s7.1.0.1.4"/>
          <p:cNvSpPr txBox="1"/>
          <p:nvPr/>
        </p:nvSpPr>
        <p:spPr>
          <a:xfrm>
            <a:off x="9387780" y="5235029"/>
            <a:ext cx="219462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4"/>
                </a:solidFill>
                <a:latin typeface="+mn-lt"/>
                <a:ea typeface="+mn-ea"/>
              </a:rPr>
              <a:t>이번 장애</a:t>
            </a:r>
          </a:p>
        </p:txBody>
      </p:sp>
      <p:sp>
        <p:nvSpPr>
          <p:cNvPr id="24" name="text s7.2"/>
          <p:cNvSpPr txBox="1"/>
          <p:nvPr/>
        </p:nvSpPr>
        <p:spPr>
          <a:xfrm>
            <a:off x="609600" y="5703540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목표는 3분(1분 p99 경보 + 2분 확인)이다. 액션 2번이 이 막대를 반으로 줄인다.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s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quote s8.0"/>
          <p:cNvSpPr txBox="1"/>
          <p:nvPr>
            <p:ph type="body" idx="1"/>
          </p:nvPr>
        </p:nvSpPr>
        <p:spPr>
          <a:xfrm>
            <a:off x="609600" y="2508945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400"/>
              </a:lnSpc>
            </a:pPr>
            <a:r>
              <a:rPr sz="3600" b="0">
                <a:solidFill>
                  <a:schemeClr val="tx1"/>
                </a:solidFill>
                <a:latin typeface="+mn-lt"/>
                <a:ea typeface="+mn-ea"/>
              </a:rPr>
              <a:t>캐시는 가용성 장치가 아니다. 캐시가 사라진 순간의 부하를 견딜 수 있을 때만 캐시다.</a:t>
            </a:r>
          </a:p>
        </p:txBody>
      </p:sp>
      <p:sp>
        <p:nvSpPr>
          <p:cNvPr id="3" name="text s8.1"/>
          <p:cNvSpPr txBox="1"/>
          <p:nvPr>
            <p:ph type="body" idx="2"/>
          </p:nvPr>
        </p:nvSpPr>
        <p:spPr>
          <a:xfrm>
            <a:off x="609600" y="4109145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— 회고에서 합의한 한 문장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9.0"/>
          <p:cNvSpPr txBox="1"/>
          <p:nvPr>
            <p:ph type="title"/>
          </p:nvPr>
        </p:nvSpPr>
        <p:spPr>
          <a:xfrm>
            <a:off x="4244280" y="2684115"/>
            <a:ext cx="370343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질문과 반론</a:t>
            </a:r>
          </a:p>
        </p:txBody>
      </p:sp>
      <p:sp>
        <p:nvSpPr>
          <p:cNvPr id="3" name="text s9.1"/>
          <p:cNvSpPr txBox="1"/>
          <p:nvPr>
            <p:ph type="body" idx="1"/>
          </p:nvPr>
        </p:nvSpPr>
        <p:spPr>
          <a:xfrm>
            <a:off x="3536752" y="3827115"/>
            <a:ext cx="5118497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기록: </a:t>
            </a:r>
            <a:r>
              <a:rPr sz="2100" b="1" i="0" u="sng">
                <a:solidFill>
                  <a:schemeClr val="accent1"/>
                </a:solidFill>
                <a:latin typeface="+mj-lt"/>
                <a:ea typeface="+mj-ea"/>
                <a:hlinkClick r:id="rId3"/>
              </a:rPr>
              <a:t>INC-2431 회고 문서</a:t>
            </a: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 · #incident-2431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balpyo</Application>
  <Slides>10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INC-2431 장애 회고</dc:title>
  <dc:creator>Platform Team</dc:creator>
  <cp:lastModifiedBy>balpyo</cp:lastModifiedBy>
  <cp:revision>1</cp:revision>
</cp:coreProperties>
</file>