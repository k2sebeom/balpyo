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theme" Target="theme/theme1.xml"/>
  <Relationship Id="rId13" Type="http://schemas.openxmlformats.org/officeDocument/2006/relationships/notesMaster" Target="notesMasters/notesMaster1.xml"/>
</Relationships>
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686300"/>
            <a:ext cx="5486400" cy="37719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defPPr>
      <a:defRPr lang="en-US"/>
    </a:defPPr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Ground rule first: we look at the system, not at people. Thirty seconds.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three numbers and move on. The detail comes later.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alert was late because the 5xx threshold is a 5-minute average — that is where action 2 comes from. Distance on the axis is time: see how long the detection band really is.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money was lost. 34 support tickets.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root-c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Fixed TTL plus bulk warm-up equals a stampede. We had neither jitter nor single-flight.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fac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order is cost to fix. 1 and 4 this week, 2 next sprint.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a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Owners and due dates live in the tickets. Here we only agree on the order.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det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trend is good, but we are still four times off the target. At the next review we add this month to the chart.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les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sentence goes at the top of the cache design review checklist.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there is pushback, we change the actions. The point of a postmortem is correction, not consensus.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author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lef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ight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attribution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ac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  <Relationship Id="rId3" Type="http://schemas.openxmlformats.org/officeDocument/2006/relationships/slideLayout" Target="../slideLayouts/slideLayout2.xml"/>
  <Relationship Id="rId4" Type="http://schemas.openxmlformats.org/officeDocument/2006/relationships/slideLayout" Target="../slideLayouts/slideLayout3.xml"/>
  <Relationship Id="rId5" Type="http://schemas.openxmlformats.org/officeDocument/2006/relationships/slideLayout" Target="../slideLayouts/slideLayout4.xml"/>
  <Relationship Id="rId6" Type="http://schemas.openxmlformats.org/officeDocument/2006/relationships/slideLayout" Target="../slideLayouts/slideLayout5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8006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</p:sldLayoutIdLst>
  <p:txStyles>
    <p:titleStyle>
      <a:defPPr>
        <a:defRPr lang="en-US"/>
      </a:defPPr>
      <a:lvl1pPr algn="l">
        <a:defRPr sz="4400"/>
      </a:lvl1pPr>
    </p:titleStyle>
    <p:bodyStyle>
      <a:defPPr>
        <a:defRPr lang="en-US"/>
      </a:defPPr>
      <a:lvl1pPr>
        <a:defRPr sz="24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7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9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5.xml"/>
  <Relationship Id="rId2" Type="http://schemas.openxmlformats.org/officeDocument/2006/relationships/notesSlide" Target="../notesSlides/notesSlide10.xml"/>
  <Relationship Id="rId3" Type="http://schemas.openxmlformats.org/officeDocument/2006/relationships/hyperlink" Target="https://example.com/inc-2431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0.0"/>
          <p:cNvSpPr txBox="1"/>
          <p:nvPr>
            <p:ph type="body" idx="2"/>
          </p:nvPr>
        </p:nvSpPr>
        <p:spPr>
          <a:xfrm>
            <a:off x="609600" y="145167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5"/>
                </a:solidFill>
                <a:latin typeface="+mn-lt"/>
                <a:ea typeface="+mn-ea"/>
              </a:rPr>
              <a:t>Incident review · INC-2431 · SEV-2</a:t>
            </a:r>
          </a:p>
        </p:txBody>
      </p:sp>
      <p:sp>
        <p:nvSpPr>
          <p:cNvPr id="3" name="text s0.1"/>
          <p:cNvSpPr txBox="1"/>
          <p:nvPr>
            <p:ph type="ctrTitle"/>
          </p:nvPr>
        </p:nvSpPr>
        <p:spPr>
          <a:xfrm>
            <a:off x="609600" y="1937445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200"/>
              </a:lnSpc>
            </a:pPr>
            <a:r>
              <a:rPr sz="6000" b="1">
                <a:solidFill>
                  <a:schemeClr val="tx1"/>
                </a:solidFill>
                <a:latin typeface="+mj-lt"/>
                <a:ea typeface="+mj-ea"/>
              </a:rPr>
              <a:t>Payments API 5xx, </a:t>
            </a:r>
            <a:r>
              <a:rPr sz="6000" b="1" i="0" u="none">
                <a:solidFill>
                  <a:schemeClr val="accent5"/>
                </a:solidFill>
                <a:latin typeface="+mj-lt"/>
                <a:ea typeface="+mj-ea"/>
              </a:rPr>
              <a:t>47 min</a:t>
            </a:r>
          </a:p>
        </p:txBody>
      </p:sp>
      <p:sp>
        <p:nvSpPr>
          <p:cNvPr id="4" name="text s0.2"/>
          <p:cNvSpPr txBox="1"/>
          <p:nvPr>
            <p:ph type="subTitle" idx="1"/>
          </p:nvPr>
        </p:nvSpPr>
        <p:spPr>
          <a:xfrm>
            <a:off x="609600" y="3080445"/>
            <a:ext cx="109728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925"/>
              </a:lnSpc>
            </a:pPr>
            <a:r>
              <a:rPr sz="2250" b="1">
                <a:solidFill>
                  <a:schemeClr val="tx2"/>
                </a:solidFill>
                <a:latin typeface="+mj-lt"/>
                <a:ea typeface="+mj-ea"/>
              </a:rPr>
              <a:t>A cache stampede — what happened and what we change</a:t>
            </a:r>
          </a:p>
        </p:txBody>
      </p:sp>
      <p:sp>
        <p:nvSpPr>
          <p:cNvPr id="5" name="text s0.3"/>
          <p:cNvSpPr txBox="1"/>
          <p:nvPr>
            <p:ph type="body" idx="3"/>
          </p:nvPr>
        </p:nvSpPr>
        <p:spPr>
          <a:xfrm>
            <a:off x="609600" y="4594920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Platform Team</a:t>
            </a:r>
          </a:p>
        </p:txBody>
      </p:sp>
      <p:sp>
        <p:nvSpPr>
          <p:cNvPr id="6" name="text s0.4"/>
          <p:cNvSpPr txBox="1"/>
          <p:nvPr>
            <p:ph type="body" idx="4"/>
          </p:nvPr>
        </p:nvSpPr>
        <p:spPr>
          <a:xfrm>
            <a:off x="609600" y="5166420"/>
            <a:ext cx="109728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2026-09-18 · Blame the system, not people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1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Summary</a:t>
            </a:r>
          </a:p>
        </p:txBody>
      </p:sp>
      <p:sp>
        <p:nvSpPr>
          <p:cNvPr id="3" name="h2 s1.1"/>
          <p:cNvSpPr txBox="1"/>
          <p:nvPr/>
        </p:nvSpPr>
        <p:spPr>
          <a:xfrm>
            <a:off x="609600" y="1095375"/>
            <a:ext cx="10972800" cy="4208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15"/>
              </a:lnSpc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</a:rPr>
              <a:t>For 47 minutes, one in ten payments failed</a:t>
            </a:r>
          </a:p>
        </p:txBody>
      </p:sp>
      <p:sp>
        <p:nvSpPr>
          <p:cNvPr id="4" name="shape s1.2.0"/>
          <p:cNvSpPr/>
          <p:nvPr/>
        </p:nvSpPr>
        <p:spPr>
          <a:xfrm>
            <a:off x="609600" y="1744861"/>
            <a:ext cx="3530501" cy="3368278"/>
          </a:xfrm>
          <a:prstGeom prst="roundRect">
            <a:avLst>
              <a:gd name="adj" fmla="val 7918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304800" tIns="304800" rIns="304800" bIns="304800" anchor="t">
            <a:normAutofit/>
          </a:bodyPr>
          <a:lstStyle/>
          <a:p/>
        </p:txBody>
      </p:sp>
      <p:sp>
        <p:nvSpPr>
          <p:cNvPr id="5" name="text s1.2.0.0.0"/>
          <p:cNvSpPr txBox="1"/>
          <p:nvPr/>
        </p:nvSpPr>
        <p:spPr>
          <a:xfrm>
            <a:off x="992386" y="2444204"/>
            <a:ext cx="2764929" cy="1005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920"/>
              </a:lnSpc>
            </a:pPr>
            <a:r>
              <a:rPr sz="6600" b="1">
                <a:solidFill>
                  <a:schemeClr val="accent5"/>
                </a:solidFill>
                <a:latin typeface="+mj-lt"/>
                <a:ea typeface="+mj-ea"/>
              </a:rPr>
              <a:t>47</a:t>
            </a:r>
            <a:r>
              <a:rPr sz="3000" b="1" i="0" u="none">
                <a:solidFill>
                  <a:schemeClr val="accent5"/>
                </a:solidFill>
                <a:latin typeface="+mj-lt"/>
                <a:ea typeface="+mj-ea"/>
              </a:rPr>
              <a:t> min</a:t>
            </a:r>
          </a:p>
        </p:txBody>
      </p:sp>
      <p:sp>
        <p:nvSpPr>
          <p:cNvPr id="6" name="text s1.2.0.0.1"/>
          <p:cNvSpPr txBox="1"/>
          <p:nvPr/>
        </p:nvSpPr>
        <p:spPr>
          <a:xfrm>
            <a:off x="992386" y="3545235"/>
            <a:ext cx="276492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of Payments API 5xx</a:t>
            </a:r>
          </a:p>
        </p:txBody>
      </p:sp>
      <p:sp>
        <p:nvSpPr>
          <p:cNvPr id="7" name="shape s1.2.0.0.2"/>
          <p:cNvSpPr/>
          <p:nvPr/>
        </p:nvSpPr>
        <p:spPr>
          <a:xfrm>
            <a:off x="992386" y="3983385"/>
            <a:ext cx="2764929" cy="952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8" name="text s1.2.0.0.3"/>
          <p:cNvSpPr txBox="1"/>
          <p:nvPr/>
        </p:nvSpPr>
        <p:spPr>
          <a:xfrm>
            <a:off x="992386" y="4173885"/>
            <a:ext cx="2764929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14:02 – 14:49 KST</a:t>
            </a:r>
          </a:p>
        </p:txBody>
      </p:sp>
      <p:sp>
        <p:nvSpPr>
          <p:cNvPr id="9" name="shape s1.2.1"/>
          <p:cNvSpPr/>
          <p:nvPr/>
        </p:nvSpPr>
        <p:spPr>
          <a:xfrm>
            <a:off x="4330601" y="1744861"/>
            <a:ext cx="3530650" cy="3368278"/>
          </a:xfrm>
          <a:prstGeom prst="roundRect">
            <a:avLst>
              <a:gd name="adj" fmla="val 7918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304800" tIns="304800" rIns="304800" bIns="304800" anchor="t">
            <a:normAutofit/>
          </a:bodyPr>
          <a:lstStyle/>
          <a:p/>
        </p:txBody>
      </p:sp>
      <p:sp>
        <p:nvSpPr>
          <p:cNvPr id="10" name="text s1.2.1.0.0"/>
          <p:cNvSpPr txBox="1"/>
          <p:nvPr/>
        </p:nvSpPr>
        <p:spPr>
          <a:xfrm>
            <a:off x="4713387" y="2225129"/>
            <a:ext cx="2765078" cy="1005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920"/>
              </a:lnSpc>
            </a:pPr>
            <a:r>
              <a:rPr sz="6600" b="1">
                <a:solidFill>
                  <a:schemeClr val="accent5"/>
                </a:solidFill>
                <a:latin typeface="+mj-lt"/>
                <a:ea typeface="+mj-ea"/>
              </a:rPr>
              <a:t>8.4</a:t>
            </a:r>
            <a:r>
              <a:rPr sz="3000" b="1" i="0" u="none">
                <a:solidFill>
                  <a:schemeClr val="accent5"/>
                </a:solidFill>
                <a:latin typeface="+mj-lt"/>
                <a:ea typeface="+mj-ea"/>
              </a:rPr>
              <a:t>%</a:t>
            </a:r>
          </a:p>
        </p:txBody>
      </p:sp>
      <p:sp>
        <p:nvSpPr>
          <p:cNvPr id="11" name="text s1.2.1.0.1"/>
          <p:cNvSpPr txBox="1"/>
          <p:nvPr/>
        </p:nvSpPr>
        <p:spPr>
          <a:xfrm>
            <a:off x="4713387" y="3326160"/>
            <a:ext cx="2765078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peak error rate</a:t>
            </a:r>
          </a:p>
        </p:txBody>
      </p:sp>
      <p:sp>
        <p:nvSpPr>
          <p:cNvPr id="12" name="shape s1.2.1.0.2.0"/>
          <p:cNvSpPr/>
          <p:nvPr/>
        </p:nvSpPr>
        <p:spPr>
          <a:xfrm>
            <a:off x="4713387" y="3764310"/>
            <a:ext cx="2765078" cy="5334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96000"/>
                </a:moveTo>
                <a:lnTo>
                  <a:pt x="22000" y="96000"/>
                </a:lnTo>
                <a:cubicBezTo>
                  <a:pt x="30000" y="96000"/>
                  <a:pt x="32000" y="4000"/>
                  <a:pt x="40000" y="4000"/>
                </a:cubicBezTo>
                <a:cubicBezTo>
                  <a:pt x="48000" y="4000"/>
                  <a:pt x="50000" y="60000"/>
                  <a:pt x="62000" y="74000"/>
                </a:cubicBezTo>
                <a:cubicBezTo>
                  <a:pt x="72000" y="86000"/>
                  <a:pt x="80000" y="94000"/>
                  <a:pt x="100000" y="96000"/>
                </a:cubicBez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chemeClr val="accent5">
              <a:alpha val="2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3" name="shape s1.2.1.0.2.1"/>
          <p:cNvSpPr/>
          <p:nvPr/>
        </p:nvSpPr>
        <p:spPr>
          <a:xfrm>
            <a:off x="4713387" y="3764310"/>
            <a:ext cx="2765078" cy="5334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96000"/>
                </a:moveTo>
                <a:lnTo>
                  <a:pt x="22000" y="96000"/>
                </a:lnTo>
                <a:cubicBezTo>
                  <a:pt x="30000" y="96000"/>
                  <a:pt x="32000" y="4000"/>
                  <a:pt x="40000" y="4000"/>
                </a:cubicBezTo>
                <a:cubicBezTo>
                  <a:pt x="48000" y="4000"/>
                  <a:pt x="50000" y="60000"/>
                  <a:pt x="62000" y="74000"/>
                </a:cubicBezTo>
                <a:cubicBezTo>
                  <a:pt x="72000" y="86000"/>
                  <a:pt x="80000" y="94000"/>
                  <a:pt x="100000" y="96000"/>
                </a:cubicBezTo>
              </a:path>
            </a:pathLst>
          </a:custGeom>
          <a:noFill/>
          <a:ln w="19050">
            <a:solidFill>
              <a:schemeClr val="accent5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4" name="text s1.2.1.0.3"/>
          <p:cNvSpPr txBox="1"/>
          <p:nvPr/>
        </p:nvSpPr>
        <p:spPr>
          <a:xfrm>
            <a:off x="4713387" y="4392960"/>
            <a:ext cx="276507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0.02% on a normal day</a:t>
            </a:r>
          </a:p>
        </p:txBody>
      </p:sp>
      <p:sp>
        <p:nvSpPr>
          <p:cNvPr id="15" name="shape s1.2.2"/>
          <p:cNvSpPr/>
          <p:nvPr/>
        </p:nvSpPr>
        <p:spPr>
          <a:xfrm>
            <a:off x="8051750" y="1744861"/>
            <a:ext cx="3530501" cy="3368278"/>
          </a:xfrm>
          <a:prstGeom prst="roundRect">
            <a:avLst>
              <a:gd name="adj" fmla="val 7918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304800" tIns="304800" rIns="304800" bIns="304800" anchor="t">
            <a:normAutofit/>
          </a:bodyPr>
          <a:lstStyle/>
          <a:p/>
        </p:txBody>
      </p:sp>
      <p:sp>
        <p:nvSpPr>
          <p:cNvPr id="16" name="text s1.2.2.0.0"/>
          <p:cNvSpPr txBox="1"/>
          <p:nvPr/>
        </p:nvSpPr>
        <p:spPr>
          <a:xfrm>
            <a:off x="8434536" y="2444204"/>
            <a:ext cx="2764929" cy="1005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920"/>
              </a:lnSpc>
            </a:pPr>
            <a:r>
              <a:rPr sz="6600" b="1">
                <a:solidFill>
                  <a:schemeClr val="accent4"/>
                </a:solidFill>
                <a:latin typeface="+mj-lt"/>
                <a:ea typeface="+mj-ea"/>
              </a:rPr>
              <a:t>12</a:t>
            </a:r>
            <a:r>
              <a:rPr sz="3000" b="1" i="0" u="none">
                <a:solidFill>
                  <a:schemeClr val="accent4"/>
                </a:solidFill>
                <a:latin typeface="+mj-lt"/>
                <a:ea typeface="+mj-ea"/>
              </a:rPr>
              <a:t> min</a:t>
            </a:r>
          </a:p>
        </p:txBody>
      </p:sp>
      <p:sp>
        <p:nvSpPr>
          <p:cNvPr id="17" name="text s1.2.2.0.1"/>
          <p:cNvSpPr txBox="1"/>
          <p:nvPr/>
        </p:nvSpPr>
        <p:spPr>
          <a:xfrm>
            <a:off x="8434536" y="3545235"/>
            <a:ext cx="276492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to detect</a:t>
            </a:r>
          </a:p>
        </p:txBody>
      </p:sp>
      <p:sp>
        <p:nvSpPr>
          <p:cNvPr id="18" name="shape s1.2.2.0.2.0"/>
          <p:cNvSpPr/>
          <p:nvPr/>
        </p:nvSpPr>
        <p:spPr>
          <a:xfrm>
            <a:off x="8434536" y="3983385"/>
            <a:ext cx="705892" cy="952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9" name="shape s1.2.2.0.2.1"/>
          <p:cNvSpPr/>
          <p:nvPr/>
        </p:nvSpPr>
        <p:spPr>
          <a:xfrm>
            <a:off x="9140428" y="3983385"/>
            <a:ext cx="2059037" cy="95250"/>
          </a:xfrm>
          <a:prstGeom prst="rect">
            <a:avLst/>
          </a:prstGeom>
          <a:solidFill>
            <a:schemeClr val="tx2">
              <a:alpha val="3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0" name="text s1.2.2.0.3"/>
          <p:cNvSpPr txBox="1"/>
          <p:nvPr/>
        </p:nvSpPr>
        <p:spPr>
          <a:xfrm>
            <a:off x="8434536" y="4173885"/>
            <a:ext cx="2764929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26% of the outage went unseen</a:t>
            </a:r>
          </a:p>
        </p:txBody>
      </p:sp>
      <p:sp>
        <p:nvSpPr>
          <p:cNvPr id="21" name="text s1.3.0.0"/>
          <p:cNvSpPr txBox="1"/>
          <p:nvPr/>
        </p:nvSpPr>
        <p:spPr>
          <a:xfrm>
            <a:off x="609600" y="5341739"/>
            <a:ext cx="533400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What happened</a:t>
            </a:r>
          </a:p>
        </p:txBody>
      </p:sp>
      <p:sp>
        <p:nvSpPr>
          <p:cNvPr id="22" name="p s1.3.0.1"/>
          <p:cNvSpPr txBox="1"/>
          <p:nvPr/>
        </p:nvSpPr>
        <p:spPr>
          <a:xfrm>
            <a:off x="609600" y="56769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120k payment cache keys expired in one second and hit the DB. The read pool ran dry; the API returned 5xx.</a:t>
            </a:r>
          </a:p>
        </p:txBody>
      </p:sp>
      <p:sp>
        <p:nvSpPr>
          <p:cNvPr id="23" name="text s1.3.1.0"/>
          <p:cNvSpPr txBox="1"/>
          <p:nvPr/>
        </p:nvSpPr>
        <p:spPr>
          <a:xfrm>
            <a:off x="6248400" y="5341739"/>
            <a:ext cx="533400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accent3"/>
                </a:solidFill>
                <a:latin typeface="+mj-lt"/>
                <a:ea typeface="+mj-ea"/>
              </a:rPr>
              <a:t>How it stopped</a:t>
            </a:r>
          </a:p>
        </p:txBody>
      </p:sp>
      <p:sp>
        <p:nvSpPr>
          <p:cNvPr id="24" name="p s1.3.1.1"/>
          <p:cNvSpPr txBox="1"/>
          <p:nvPr/>
        </p:nvSpPr>
        <p:spPr>
          <a:xfrm>
            <a:off x="6248400" y="56769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chemeClr val="tx1"/>
                </a:solidFill>
                <a:latin typeface="+mn-lt"/>
                <a:ea typeface="+mn-ea"/>
              </a:rPr>
              <a:t>Load shedding</a:t>
            </a:r>
            <a:r>
              <a:rPr sz="1500" b="0">
                <a:solidFill>
                  <a:schemeClr val="tx1"/>
                </a:solidFill>
                <a:latin typeface="+mn-lt"/>
                <a:ea typeface="+mn-ea"/>
              </a:rPr>
              <a:t>, not a rollback. Once the cache refilled, errors were normal by 14:49.</a:t>
            </a:r>
          </a:p>
        </p:txBody>
      </p:sp>
      <p:sp>
        <p:nvSpPr>
          <p:cNvPr id="25" name="chrome footer"/>
          <p:cNvSpPr txBox="1"/>
          <p:nvPr/>
        </p:nvSpPr>
        <p:spPr>
          <a:xfrm>
            <a:off x="609600" y="6248400"/>
            <a:ext cx="249927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INC-2431 Incident Postmortem</a:t>
            </a:r>
          </a:p>
        </p:txBody>
      </p:sp>
      <p:sp>
        <p:nvSpPr>
          <p:cNvPr id="26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2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2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Timeline · KST</a:t>
            </a:r>
          </a:p>
        </p:txBody>
      </p:sp>
      <p:sp>
        <p:nvSpPr>
          <p:cNvPr id="3" name="h2 s2.1"/>
          <p:cNvSpPr txBox="1"/>
          <p:nvPr/>
        </p:nvSpPr>
        <p:spPr>
          <a:xfrm>
            <a:off x="609600" y="1095375"/>
            <a:ext cx="10972800" cy="4208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15"/>
              </a:lnSpc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</a:rPr>
              <a:t>12 min to detect, 17 to mitigate, 18 to recover</a:t>
            </a:r>
          </a:p>
        </p:txBody>
      </p:sp>
      <p:sp>
        <p:nvSpPr>
          <p:cNvPr id="4" name="shape s2.2.0"/>
          <p:cNvSpPr/>
          <p:nvPr/>
        </p:nvSpPr>
        <p:spPr>
          <a:xfrm>
            <a:off x="609600" y="1744861"/>
            <a:ext cx="2762250" cy="381000"/>
          </a:xfrm>
          <a:prstGeom prst="roundRect">
            <a:avLst>
              <a:gd name="adj" fmla="val 20000"/>
            </a:avLst>
          </a:prstGeom>
          <a:pattFill prst="wdUpDiag">
            <a:fgClr>
              <a:schemeClr val="accent4">
                <a:alpha val="45000"/>
              </a:schemeClr>
            </a:fgClr>
            <a:bgClr>
              <a:schemeClr val="bg1">
                <a:alpha val="0"/>
              </a:schemeClr>
            </a:bgClr>
          </a:pattFill>
          <a:ln w="9525">
            <a:solidFill>
              <a:schemeClr val="accent4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tx1"/>
                </a:solidFill>
                <a:latin typeface="+mn-lt"/>
                <a:ea typeface="+mn-ea"/>
              </a:rPr>
              <a:t>Detect 12 min</a:t>
            </a:r>
          </a:p>
        </p:txBody>
      </p:sp>
      <p:sp>
        <p:nvSpPr>
          <p:cNvPr id="5" name="shape s2.2.1"/>
          <p:cNvSpPr/>
          <p:nvPr/>
        </p:nvSpPr>
        <p:spPr>
          <a:xfrm>
            <a:off x="3429000" y="1744861"/>
            <a:ext cx="3933825" cy="381000"/>
          </a:xfrm>
          <a:prstGeom prst="roundRect">
            <a:avLst>
              <a:gd name="adj" fmla="val 20000"/>
            </a:avLst>
          </a:prstGeom>
          <a:solidFill>
            <a:schemeClr val="accent3">
              <a:alpha val="18000"/>
            </a:schemeClr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tx1"/>
                </a:solidFill>
                <a:latin typeface="+mn-lt"/>
                <a:ea typeface="+mn-ea"/>
              </a:rPr>
              <a:t>Mitigate 17 min</a:t>
            </a:r>
          </a:p>
        </p:txBody>
      </p:sp>
      <p:sp>
        <p:nvSpPr>
          <p:cNvPr id="6" name="shape s2.2.2"/>
          <p:cNvSpPr/>
          <p:nvPr/>
        </p:nvSpPr>
        <p:spPr>
          <a:xfrm>
            <a:off x="7419975" y="1744861"/>
            <a:ext cx="4162425" cy="381000"/>
          </a:xfrm>
          <a:prstGeom prst="roundRect">
            <a:avLst>
              <a:gd name="adj" fmla="val 20000"/>
            </a:avLst>
          </a:prstGeom>
          <a:solidFill>
            <a:schemeClr val="accent3">
              <a:alpha val="35000"/>
            </a:schemeClr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tx1"/>
                </a:solidFill>
                <a:latin typeface="+mn-lt"/>
                <a:ea typeface="+mn-ea"/>
              </a:rPr>
              <a:t>Recover 18 min</a:t>
            </a:r>
          </a:p>
        </p:txBody>
      </p:sp>
      <p:sp>
        <p:nvSpPr>
          <p:cNvPr id="7" name="shape s2.2.3"/>
          <p:cNvSpPr/>
          <p:nvPr/>
        </p:nvSpPr>
        <p:spPr>
          <a:xfrm>
            <a:off x="609600" y="4240411"/>
            <a:ext cx="10972800" cy="19050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8" name="shape s2.2.4"/>
          <p:cNvSpPr/>
          <p:nvPr/>
        </p:nvSpPr>
        <p:spPr>
          <a:xfrm>
            <a:off x="695325" y="3726061"/>
            <a:ext cx="19050" cy="514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9" name="shape s2.2.5"/>
          <p:cNvSpPr/>
          <p:nvPr/>
        </p:nvSpPr>
        <p:spPr>
          <a:xfrm>
            <a:off x="609600" y="4154686"/>
            <a:ext cx="190500" cy="1905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0" name="shape s2.2.6"/>
          <p:cNvSpPr/>
          <p:nvPr/>
        </p:nvSpPr>
        <p:spPr>
          <a:xfrm>
            <a:off x="609600" y="2430661"/>
            <a:ext cx="2381250" cy="129540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11" name="text s2.2.6.0.0"/>
          <p:cNvSpPr txBox="1"/>
          <p:nvPr/>
        </p:nvSpPr>
        <p:spPr>
          <a:xfrm>
            <a:off x="822275" y="2548086"/>
            <a:ext cx="1955899" cy="388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chemeClr val="accent5"/>
                </a:solidFill>
                <a:latin typeface="+mj-lt"/>
                <a:ea typeface="+mj-ea"/>
              </a:rPr>
              <a:t>14:02</a:t>
            </a:r>
          </a:p>
        </p:txBody>
      </p:sp>
      <p:sp>
        <p:nvSpPr>
          <p:cNvPr id="12" name="text s2.2.6.0.1"/>
          <p:cNvSpPr txBox="1"/>
          <p:nvPr/>
        </p:nvSpPr>
        <p:spPr>
          <a:xfrm>
            <a:off x="822275" y="2936677"/>
            <a:ext cx="1955899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chemeClr val="tx1"/>
                </a:solidFill>
                <a:latin typeface="+mj-lt"/>
                <a:ea typeface="+mj-ea"/>
              </a:rPr>
              <a:t>Keys expire at once</a:t>
            </a:r>
          </a:p>
        </p:txBody>
      </p:sp>
      <p:sp>
        <p:nvSpPr>
          <p:cNvPr id="13" name="text s2.2.6.0.2"/>
          <p:cNvSpPr txBox="1"/>
          <p:nvPr/>
        </p:nvSpPr>
        <p:spPr>
          <a:xfrm>
            <a:off x="822275" y="3184327"/>
            <a:ext cx="1955899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120k keys in one second</a:t>
            </a:r>
          </a:p>
        </p:txBody>
      </p:sp>
      <p:sp>
        <p:nvSpPr>
          <p:cNvPr id="14" name="shape s2.2.7"/>
          <p:cNvSpPr/>
          <p:nvPr/>
        </p:nvSpPr>
        <p:spPr>
          <a:xfrm>
            <a:off x="3400425" y="4240411"/>
            <a:ext cx="19050" cy="381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5" name="shape s2.2.8"/>
          <p:cNvSpPr/>
          <p:nvPr/>
        </p:nvSpPr>
        <p:spPr>
          <a:xfrm>
            <a:off x="3314700" y="4154686"/>
            <a:ext cx="190500" cy="19050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6" name="shape s2.2.9"/>
          <p:cNvSpPr/>
          <p:nvPr/>
        </p:nvSpPr>
        <p:spPr>
          <a:xfrm>
            <a:off x="3409950" y="4621411"/>
            <a:ext cx="2381250" cy="129540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17" name="text s2.2.9.0.0"/>
          <p:cNvSpPr txBox="1"/>
          <p:nvPr/>
        </p:nvSpPr>
        <p:spPr>
          <a:xfrm>
            <a:off x="3622625" y="4738836"/>
            <a:ext cx="1955899" cy="388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chemeClr val="accent4"/>
                </a:solidFill>
                <a:latin typeface="+mj-lt"/>
                <a:ea typeface="+mj-ea"/>
              </a:rPr>
              <a:t>14:14</a:t>
            </a:r>
          </a:p>
        </p:txBody>
      </p:sp>
      <p:sp>
        <p:nvSpPr>
          <p:cNvPr id="18" name="text s2.2.9.0.1"/>
          <p:cNvSpPr txBox="1"/>
          <p:nvPr/>
        </p:nvSpPr>
        <p:spPr>
          <a:xfrm>
            <a:off x="3622625" y="5127427"/>
            <a:ext cx="1955899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chemeClr val="tx1"/>
                </a:solidFill>
                <a:latin typeface="+mj-lt"/>
                <a:ea typeface="+mj-ea"/>
              </a:rPr>
              <a:t>5xx alert fires</a:t>
            </a:r>
          </a:p>
        </p:txBody>
      </p:sp>
      <p:sp>
        <p:nvSpPr>
          <p:cNvPr id="19" name="text s2.2.9.0.2"/>
          <p:cNvSpPr txBox="1"/>
          <p:nvPr/>
        </p:nvSpPr>
        <p:spPr>
          <a:xfrm>
            <a:off x="3622625" y="5375077"/>
            <a:ext cx="1955899" cy="2132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5-min average, 12 min late</a:t>
            </a:r>
          </a:p>
        </p:txBody>
      </p:sp>
      <p:sp>
        <p:nvSpPr>
          <p:cNvPr id="20" name="shape s2.2.10"/>
          <p:cNvSpPr/>
          <p:nvPr/>
        </p:nvSpPr>
        <p:spPr>
          <a:xfrm>
            <a:off x="5505450" y="3726061"/>
            <a:ext cx="19050" cy="5143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1" name="shape s2.2.11"/>
          <p:cNvSpPr/>
          <p:nvPr/>
        </p:nvSpPr>
        <p:spPr>
          <a:xfrm>
            <a:off x="5419725" y="4154686"/>
            <a:ext cx="190500" cy="1905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2" name="shape s2.2.12"/>
          <p:cNvSpPr/>
          <p:nvPr/>
        </p:nvSpPr>
        <p:spPr>
          <a:xfrm>
            <a:off x="5514975" y="2430661"/>
            <a:ext cx="2381250" cy="129540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23" name="text s2.2.12.0.0"/>
          <p:cNvSpPr txBox="1"/>
          <p:nvPr/>
        </p:nvSpPr>
        <p:spPr>
          <a:xfrm>
            <a:off x="5727650" y="2548086"/>
            <a:ext cx="1955899" cy="388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</a:rPr>
              <a:t>14:23</a:t>
            </a:r>
          </a:p>
        </p:txBody>
      </p:sp>
      <p:sp>
        <p:nvSpPr>
          <p:cNvPr id="24" name="text s2.2.12.0.1"/>
          <p:cNvSpPr txBox="1"/>
          <p:nvPr/>
        </p:nvSpPr>
        <p:spPr>
          <a:xfrm>
            <a:off x="5727650" y="2936677"/>
            <a:ext cx="1955899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chemeClr val="tx1"/>
                </a:solidFill>
                <a:latin typeface="+mj-lt"/>
                <a:ea typeface="+mj-ea"/>
              </a:rPr>
              <a:t>DB pool exhausted</a:t>
            </a:r>
          </a:p>
        </p:txBody>
      </p:sp>
      <p:sp>
        <p:nvSpPr>
          <p:cNvPr id="25" name="text s2.2.12.0.2"/>
          <p:cNvSpPr txBox="1"/>
          <p:nvPr/>
        </p:nvSpPr>
        <p:spPr>
          <a:xfrm>
            <a:off x="5727650" y="3184327"/>
            <a:ext cx="1955899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Pool 40/40 · 1,900 queued</a:t>
            </a:r>
          </a:p>
        </p:txBody>
      </p:sp>
      <p:sp>
        <p:nvSpPr>
          <p:cNvPr id="26" name="shape s2.2.13"/>
          <p:cNvSpPr/>
          <p:nvPr/>
        </p:nvSpPr>
        <p:spPr>
          <a:xfrm>
            <a:off x="7372350" y="4240411"/>
            <a:ext cx="19050" cy="38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7" name="shape s2.2.14"/>
          <p:cNvSpPr/>
          <p:nvPr/>
        </p:nvSpPr>
        <p:spPr>
          <a:xfrm>
            <a:off x="7286625" y="4154686"/>
            <a:ext cx="190500" cy="1905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8" name="shape s2.2.15"/>
          <p:cNvSpPr/>
          <p:nvPr/>
        </p:nvSpPr>
        <p:spPr>
          <a:xfrm>
            <a:off x="7381875" y="4621411"/>
            <a:ext cx="2381250" cy="129540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29" name="text s2.2.15.0.0"/>
          <p:cNvSpPr txBox="1"/>
          <p:nvPr/>
        </p:nvSpPr>
        <p:spPr>
          <a:xfrm>
            <a:off x="7594550" y="4738836"/>
            <a:ext cx="1955899" cy="388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chemeClr val="accent3"/>
                </a:solidFill>
                <a:latin typeface="+mj-lt"/>
                <a:ea typeface="+mj-ea"/>
              </a:rPr>
              <a:t>14:31</a:t>
            </a:r>
          </a:p>
        </p:txBody>
      </p:sp>
      <p:sp>
        <p:nvSpPr>
          <p:cNvPr id="30" name="text s2.2.15.0.1"/>
          <p:cNvSpPr txBox="1"/>
          <p:nvPr/>
        </p:nvSpPr>
        <p:spPr>
          <a:xfrm>
            <a:off x="7594550" y="5127427"/>
            <a:ext cx="1955899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chemeClr val="tx1"/>
                </a:solidFill>
                <a:latin typeface="+mj-lt"/>
                <a:ea typeface="+mj-ea"/>
              </a:rPr>
              <a:t>Load shedding on</a:t>
            </a:r>
          </a:p>
        </p:txBody>
      </p:sp>
      <p:sp>
        <p:nvSpPr>
          <p:cNvPr id="31" name="text s2.2.15.0.2"/>
          <p:cNvSpPr txBox="1"/>
          <p:nvPr/>
        </p:nvSpPr>
        <p:spPr>
          <a:xfrm>
            <a:off x="7594550" y="5375077"/>
            <a:ext cx="1955899" cy="213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Non-payment misses cut</a:t>
            </a:r>
          </a:p>
        </p:txBody>
      </p:sp>
      <p:sp>
        <p:nvSpPr>
          <p:cNvPr id="32" name="shape s2.2.16"/>
          <p:cNvSpPr/>
          <p:nvPr/>
        </p:nvSpPr>
        <p:spPr>
          <a:xfrm>
            <a:off x="11477625" y="3726061"/>
            <a:ext cx="19050" cy="514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33" name="shape s2.2.17"/>
          <p:cNvSpPr/>
          <p:nvPr/>
        </p:nvSpPr>
        <p:spPr>
          <a:xfrm>
            <a:off x="11391900" y="4154686"/>
            <a:ext cx="190500" cy="19050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bg1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34" name="shape s2.2.18"/>
          <p:cNvSpPr/>
          <p:nvPr/>
        </p:nvSpPr>
        <p:spPr>
          <a:xfrm>
            <a:off x="9201150" y="2430661"/>
            <a:ext cx="2381250" cy="129540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35" name="text s2.2.18.0.0"/>
          <p:cNvSpPr txBox="1"/>
          <p:nvPr/>
        </p:nvSpPr>
        <p:spPr>
          <a:xfrm>
            <a:off x="9413825" y="2548086"/>
            <a:ext cx="1955899" cy="388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060"/>
              </a:lnSpc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</a:rPr>
              <a:t>14:49</a:t>
            </a:r>
          </a:p>
        </p:txBody>
      </p:sp>
      <p:sp>
        <p:nvSpPr>
          <p:cNvPr id="36" name="text s2.2.18.0.1"/>
          <p:cNvSpPr txBox="1"/>
          <p:nvPr/>
        </p:nvSpPr>
        <p:spPr>
          <a:xfrm>
            <a:off x="9413825" y="2936677"/>
            <a:ext cx="1955899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</a:pPr>
            <a:r>
              <a:rPr sz="1500" b="1">
                <a:solidFill>
                  <a:schemeClr val="tx1"/>
                </a:solidFill>
                <a:latin typeface="+mj-lt"/>
                <a:ea typeface="+mj-ea"/>
              </a:rPr>
              <a:t>Error rate normal</a:t>
            </a:r>
          </a:p>
        </p:txBody>
      </p:sp>
      <p:sp>
        <p:nvSpPr>
          <p:cNvPr id="37" name="text s2.2.18.0.2"/>
          <p:cNvSpPr txBox="1"/>
          <p:nvPr/>
        </p:nvSpPr>
        <p:spPr>
          <a:xfrm>
            <a:off x="9413825" y="3184327"/>
            <a:ext cx="1955899" cy="2132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680"/>
              </a:lnSpc>
            </a:pPr>
            <a:r>
              <a:rPr sz="1200" b="0">
                <a:solidFill>
                  <a:schemeClr val="tx2"/>
                </a:solidFill>
                <a:latin typeface="+mn-lt"/>
                <a:ea typeface="+mn-ea"/>
              </a:rPr>
              <a:t>Cache hit rate back to 97%</a:t>
            </a:r>
          </a:p>
        </p:txBody>
      </p:sp>
      <p:sp>
        <p:nvSpPr>
          <p:cNvPr id="38" name="chrome footer"/>
          <p:cNvSpPr txBox="1"/>
          <p:nvPr/>
        </p:nvSpPr>
        <p:spPr>
          <a:xfrm>
            <a:off x="609600" y="6248400"/>
            <a:ext cx="249927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INC-2431 Incident Postmortem</a:t>
            </a:r>
          </a:p>
        </p:txBody>
      </p:sp>
      <p:sp>
        <p:nvSpPr>
          <p:cNvPr id="39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3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3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Impact</a:t>
            </a:r>
          </a:p>
        </p:txBody>
      </p:sp>
      <p:sp>
        <p:nvSpPr>
          <p:cNvPr id="3" name="h2 s3.1"/>
          <p:cNvSpPr txBox="1"/>
          <p:nvPr/>
        </p:nvSpPr>
        <p:spPr>
          <a:xfrm>
            <a:off x="609600" y="1095375"/>
            <a:ext cx="10972800" cy="4208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15"/>
              </a:lnSpc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</a:rPr>
              <a:t>Payments took the hit; settlement was untouched</a:t>
            </a:r>
          </a:p>
        </p:txBody>
      </p:sp>
      <p:graphicFrame>
        <p:nvGraphicFramePr>
          <p:cNvPr id="4" name="table s3.2"/>
          <p:cNvGraphicFramePr/>
          <p:nvPr/>
        </p:nvGraphicFramePr>
        <p:xfrm>
          <a:off x="609600" y="1744861"/>
          <a:ext cx="10972800" cy="253365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546896"/>
                <a:gridCol w="2415480"/>
                <a:gridCol w="2033737"/>
                <a:gridCol w="3976687"/>
              </a:tblGrid>
              <a:tr h="509588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Service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Peak error rate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Requests hit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What users saw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Payments API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accent5"/>
                          </a:solidFill>
                          <a:latin typeface="+mn-lt"/>
                          <a:ea typeface="+mn-ea"/>
                        </a:rPr>
                        <a:t>8.4%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41,200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Payment failed, then retried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Order lookup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1.1%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6,800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2–4 s slower lookups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Cart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0.3%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1,450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Add-to-cart failures (rare)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noFill/>
                  </a:tcPr>
                </a:tc>
              </a:tr>
              <a:tr h="50958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Settlement batch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None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hape s3.3.0"/>
          <p:cNvSpPr/>
          <p:nvPr/>
        </p:nvSpPr>
        <p:spPr>
          <a:xfrm>
            <a:off x="609600" y="4507111"/>
            <a:ext cx="3200400" cy="1741289"/>
          </a:xfrm>
          <a:prstGeom prst="roundRect">
            <a:avLst>
              <a:gd name="adj" fmla="val 15316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190500" rIns="190500" bIns="190500" anchor="t">
            <a:normAutofit/>
          </a:bodyPr>
          <a:lstStyle/>
          <a:p/>
        </p:txBody>
      </p:sp>
      <p:sp>
        <p:nvSpPr>
          <p:cNvPr id="6" name="text s3.3.0.0.0"/>
          <p:cNvSpPr txBox="1"/>
          <p:nvPr/>
        </p:nvSpPr>
        <p:spPr>
          <a:xfrm>
            <a:off x="878086" y="4983510"/>
            <a:ext cx="2663428" cy="548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320"/>
              </a:lnSpc>
            </a:pPr>
            <a:r>
              <a:rPr sz="3600" b="1">
                <a:solidFill>
                  <a:schemeClr val="accent5"/>
                </a:solidFill>
                <a:latin typeface="+mj-lt"/>
                <a:ea typeface="+mj-ea"/>
              </a:rPr>
              <a:t>41,200</a:t>
            </a:r>
          </a:p>
        </p:txBody>
      </p:sp>
      <p:sp>
        <p:nvSpPr>
          <p:cNvPr id="7" name="text s3.3.0.0.1"/>
          <p:cNvSpPr txBox="1"/>
          <p:nvPr/>
        </p:nvSpPr>
        <p:spPr>
          <a:xfrm>
            <a:off x="878086" y="5532090"/>
            <a:ext cx="266342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failed payment requests</a:t>
            </a:r>
          </a:p>
        </p:txBody>
      </p:sp>
      <p:sp>
        <p:nvSpPr>
          <p:cNvPr id="8" name="shape s3.3.1"/>
          <p:cNvSpPr/>
          <p:nvPr/>
        </p:nvSpPr>
        <p:spPr>
          <a:xfrm>
            <a:off x="4495800" y="4507111"/>
            <a:ext cx="3200400" cy="1741289"/>
          </a:xfrm>
          <a:prstGeom prst="roundRect">
            <a:avLst>
              <a:gd name="adj" fmla="val 15316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190500" rIns="190500" bIns="190500" anchor="t">
            <a:normAutofit/>
          </a:bodyPr>
          <a:lstStyle/>
          <a:p/>
        </p:txBody>
      </p:sp>
      <p:sp>
        <p:nvSpPr>
          <p:cNvPr id="9" name="text s3.3.1.0.0"/>
          <p:cNvSpPr txBox="1"/>
          <p:nvPr/>
        </p:nvSpPr>
        <p:spPr>
          <a:xfrm>
            <a:off x="4764286" y="4983510"/>
            <a:ext cx="2663428" cy="548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320"/>
              </a:lnSpc>
            </a:pPr>
            <a:r>
              <a:rPr sz="3600" b="1">
                <a:solidFill>
                  <a:schemeClr val="accent3"/>
                </a:solidFill>
                <a:latin typeface="+mj-lt"/>
                <a:ea typeface="+mj-ea"/>
              </a:rPr>
              <a:t>39,900</a:t>
            </a:r>
          </a:p>
        </p:txBody>
      </p:sp>
      <p:sp>
        <p:nvSpPr>
          <p:cNvPr id="10" name="text s3.3.1.0.1"/>
          <p:cNvSpPr txBox="1"/>
          <p:nvPr/>
        </p:nvSpPr>
        <p:spPr>
          <a:xfrm>
            <a:off x="4764286" y="5532090"/>
            <a:ext cx="266342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succeeded on retry · 96.8%</a:t>
            </a:r>
          </a:p>
        </p:txBody>
      </p:sp>
      <p:sp>
        <p:nvSpPr>
          <p:cNvPr id="11" name="shape s3.3.2"/>
          <p:cNvSpPr/>
          <p:nvPr/>
        </p:nvSpPr>
        <p:spPr>
          <a:xfrm>
            <a:off x="8382000" y="4507111"/>
            <a:ext cx="3200400" cy="1741289"/>
          </a:xfrm>
          <a:prstGeom prst="roundRect">
            <a:avLst>
              <a:gd name="adj" fmla="val 15316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190500" rIns="190500" bIns="190500" anchor="t">
            <a:normAutofit/>
          </a:bodyPr>
          <a:lstStyle/>
          <a:p/>
        </p:txBody>
      </p:sp>
      <p:sp>
        <p:nvSpPr>
          <p:cNvPr id="12" name="text s3.3.2.0.0"/>
          <p:cNvSpPr txBox="1"/>
          <p:nvPr/>
        </p:nvSpPr>
        <p:spPr>
          <a:xfrm>
            <a:off x="8650486" y="4983510"/>
            <a:ext cx="2663428" cy="5485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320"/>
              </a:lnSpc>
            </a:pPr>
            <a:r>
              <a:rPr sz="3600" b="1">
                <a:solidFill>
                  <a:schemeClr val="accent5"/>
                </a:solidFill>
                <a:latin typeface="+mj-lt"/>
                <a:ea typeface="+mj-ea"/>
              </a:rPr>
              <a:t>34</a:t>
            </a:r>
            <a:r>
              <a:rPr sz="1800" b="1" i="0" u="none">
                <a:solidFill>
                  <a:schemeClr val="accent5"/>
                </a:solidFill>
                <a:latin typeface="+mj-lt"/>
                <a:ea typeface="+mj-ea"/>
              </a:rPr>
              <a:t> tickets</a:t>
            </a:r>
          </a:p>
        </p:txBody>
      </p:sp>
      <p:sp>
        <p:nvSpPr>
          <p:cNvPr id="13" name="text s3.3.2.0.1"/>
          <p:cNvSpPr txBox="1"/>
          <p:nvPr/>
        </p:nvSpPr>
        <p:spPr>
          <a:xfrm>
            <a:off x="8650486" y="5532090"/>
            <a:ext cx="266342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to support · no double charges</a:t>
            </a:r>
          </a:p>
        </p:txBody>
      </p:sp>
      <p:cxnSp>
        <p:nvCxnSpPr>
          <p:cNvPr id="14" name="connector s3.4"/>
          <p:cNvCxnSpPr>
            <a:stCxn id="5" idx="3"/>
            <a:endCxn id="8" idx="1"/>
          </p:cNvCxnSpPr>
          <p:nvPr/>
        </p:nvCxnSpPr>
        <p:spPr>
          <a:xfrm>
            <a:off x="3810000" y="5377755"/>
            <a:ext cx="685800" cy="0"/>
          </a:xfrm>
          <a:prstGeom prst="straightConnector1">
            <a:avLst/>
          </a:prstGeom>
          <a:ln w="19050">
            <a:solidFill>
              <a:schemeClr val="tx2"/>
            </a:solidFill>
            <a:prstDash val="solid"/>
            <a:headEnd type="none"/>
            <a:tailEnd type="triangle" w="lg" len="lg"/>
          </a:ln>
        </p:spPr>
      </p:cxnSp>
      <p:cxnSp>
        <p:nvCxnSpPr>
          <p:cNvPr id="15" name="connector s3.5"/>
          <p:cNvCxnSpPr>
            <a:stCxn id="8" idx="3"/>
            <a:endCxn id="11" idx="1"/>
          </p:cNvCxnSpPr>
          <p:nvPr/>
        </p:nvCxnSpPr>
        <p:spPr>
          <a:xfrm>
            <a:off x="7696200" y="5377755"/>
            <a:ext cx="685800" cy="0"/>
          </a:xfrm>
          <a:prstGeom prst="straightConnector1">
            <a:avLst/>
          </a:prstGeom>
          <a:ln w="19050">
            <a:solidFill>
              <a:schemeClr val="tx2"/>
            </a:solidFill>
            <a:prstDash val="solid"/>
            <a:headEnd type="none"/>
            <a:tailEnd type="triangle" w="lg" len="lg"/>
          </a:ln>
        </p:spPr>
      </p:cxnSp>
      <p:sp>
        <p:nvSpPr>
          <p:cNvPr id="16" name="chrome footer"/>
          <p:cNvSpPr txBox="1"/>
          <p:nvPr/>
        </p:nvSpPr>
        <p:spPr>
          <a:xfrm>
            <a:off x="609600" y="6248400"/>
            <a:ext cx="249927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INC-2431 Incident Postmortem</a:t>
            </a:r>
          </a:p>
        </p:txBody>
      </p:sp>
      <p:sp>
        <p:nvSpPr>
          <p:cNvPr id="17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4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ot-c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4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Root cause</a:t>
            </a:r>
          </a:p>
        </p:txBody>
      </p:sp>
      <p:sp>
        <p:nvSpPr>
          <p:cNvPr id="3" name="h2 s4.1"/>
          <p:cNvSpPr txBox="1"/>
          <p:nvPr/>
        </p:nvSpPr>
        <p:spPr>
          <a:xfrm>
            <a:off x="609600" y="1095375"/>
            <a:ext cx="10972800" cy="4208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15"/>
              </a:lnSpc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</a:rPr>
              <a:t>Every expiry landed at the same moment</a:t>
            </a:r>
          </a:p>
        </p:txBody>
      </p:sp>
      <p:sp>
        <p:nvSpPr>
          <p:cNvPr id="4" name="shape s4.2"/>
          <p:cNvSpPr/>
          <p:nvPr/>
        </p:nvSpPr>
        <p:spPr>
          <a:xfrm>
            <a:off x="609600" y="1744861"/>
            <a:ext cx="10972800" cy="3483173"/>
          </a:xfrm>
          <a:prstGeom prst="roundRect">
            <a:avLst>
              <a:gd name="adj" fmla="val 7657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5" name="shape s4.2.0.0"/>
          <p:cNvSpPr/>
          <p:nvPr/>
        </p:nvSpPr>
        <p:spPr>
          <a:xfrm>
            <a:off x="687586" y="1822847"/>
            <a:ext cx="10816828" cy="290513"/>
          </a:xfrm>
          <a:prstGeom prst="rect">
            <a:avLst/>
          </a:prstGeom>
          <a:solidFill>
            <a:schemeClr val="tx1">
              <a:alpha val="6000"/>
            </a:schemeClr>
          </a:solidFill>
          <a:ln>
            <a:noFill/>
          </a:ln>
        </p:spPr>
        <p:txBody>
          <a:bodyPr wrap="square" lIns="190500" tIns="38100" rIns="190500" bIns="38100" anchor="t">
            <a:normAutofit/>
          </a:bodyPr>
          <a:lstStyle/>
          <a:p/>
        </p:txBody>
      </p:sp>
      <p:sp>
        <p:nvSpPr>
          <p:cNvPr id="6" name="shape s4.2.0.0.0.0"/>
          <p:cNvSpPr/>
          <p:nvPr/>
        </p:nvSpPr>
        <p:spPr>
          <a:xfrm>
            <a:off x="878086" y="1910953"/>
            <a:ext cx="114300" cy="114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7" name="shape s4.2.0.0.0.1"/>
          <p:cNvSpPr/>
          <p:nvPr/>
        </p:nvSpPr>
        <p:spPr>
          <a:xfrm>
            <a:off x="1030486" y="1910953"/>
            <a:ext cx="114300" cy="114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8" name="shape s4.2.0.0.0.2"/>
          <p:cNvSpPr/>
          <p:nvPr/>
        </p:nvSpPr>
        <p:spPr>
          <a:xfrm>
            <a:off x="1182886" y="1910953"/>
            <a:ext cx="114300" cy="11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9" name="text s4.2.0.0.0.3"/>
          <p:cNvSpPr txBox="1"/>
          <p:nvPr/>
        </p:nvSpPr>
        <p:spPr>
          <a:xfrm>
            <a:off x="1335286" y="1860947"/>
            <a:ext cx="4286399" cy="2143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688"/>
              </a:lnSpc>
            </a:pPr>
            <a:r>
              <a:rPr sz="1125" b="0">
                <a:solidFill>
                  <a:schemeClr val="tx2"/>
                </a:solidFill>
                <a:latin typeface="Noto Sans Mono"/>
                <a:ea typeface="Noto Sans Mono CJK KR"/>
              </a:rPr>
              <a:t>payments/cache/warm.go — called by the deploy hook</a:t>
            </a:r>
          </a:p>
        </p:txBody>
      </p:sp>
      <p:sp>
        <p:nvSpPr>
          <p:cNvPr id="10" name="pre s4.2.0.1.0"/>
          <p:cNvSpPr txBox="1"/>
          <p:nvPr/>
        </p:nvSpPr>
        <p:spPr>
          <a:xfrm>
            <a:off x="992386" y="2410123"/>
            <a:ext cx="10207228" cy="24431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38"/>
              </a:lnSpc>
            </a:pPr>
            <a:r>
              <a:rPr sz="1425" b="0" i="0" u="none">
                <a:solidFill>
                  <a:schemeClr val="tx2"/>
                </a:solidFill>
                <a:latin typeface="Noto Sans Mono"/>
                <a:ea typeface="Noto Sans Mono CJK KR"/>
              </a:rPr>
              <a:t>// Fill the cache in one pass on deploy — every TTL ends up at the same instant.</a:t>
            </a:r>
            <a:br/>
            <a:r>
              <a:rPr sz="1425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func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</a:t>
            </a:r>
            <a:r>
              <a:rPr sz="1425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warm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(ctx context.Context, ids []</a:t>
            </a:r>
            <a:r>
              <a:rPr sz="1425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string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) </a:t>
            </a:r>
            <a:r>
              <a:rPr sz="1425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error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{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</a:t>
            </a:r>
            <a:r>
              <a:rPr sz="1425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for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_, id := </a:t>
            </a:r>
            <a:r>
              <a:rPr sz="1425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range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ids {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  </a:t>
            </a:r>
            <a:r>
              <a:rPr sz="1425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if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err := cache.</a:t>
            </a:r>
            <a:r>
              <a:rPr sz="1425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Set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(ctx, </a:t>
            </a:r>
            <a:r>
              <a:rPr sz="1425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key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(id), </a:t>
            </a:r>
            <a:r>
              <a:rPr sz="1425" b="0" i="0" u="none">
                <a:solidFill>
                  <a:schemeClr val="accent1"/>
                </a:solidFill>
                <a:latin typeface="Noto Sans Mono"/>
                <a:ea typeface="Noto Sans Mono CJK KR"/>
              </a:rPr>
              <a:t>load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(id), </a:t>
            </a:r>
            <a:r>
              <a:rPr sz="1425" b="0" i="0" u="none">
                <a:solidFill>
                  <a:schemeClr val="accent4"/>
                </a:solidFill>
                <a:latin typeface="Noto Sans Mono"/>
                <a:ea typeface="Noto Sans Mono CJK KR"/>
              </a:rPr>
              <a:t>30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*time.Minute); err != </a:t>
            </a:r>
            <a:r>
              <a:rPr sz="1425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nil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{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    </a:t>
            </a:r>
            <a:r>
              <a:rPr sz="1425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return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err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  }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}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 </a:t>
            </a:r>
            <a:r>
              <a:rPr sz="1425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return</a:t>
            </a:r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 </a:t>
            </a:r>
            <a:r>
              <a:rPr sz="1425" b="0" i="0" u="none">
                <a:solidFill>
                  <a:schemeClr val="accent6"/>
                </a:solidFill>
                <a:latin typeface="Noto Sans Mono"/>
                <a:ea typeface="Noto Sans Mono CJK KR"/>
              </a:rPr>
              <a:t>nil</a:t>
            </a:r>
            <a:br/>
            <a:r>
              <a:rPr sz="1425" b="0">
                <a:solidFill>
                  <a:schemeClr val="tx1"/>
                </a:solidFill>
                <a:latin typeface="Noto Sans Mono"/>
                <a:ea typeface="Noto Sans Mono CJK KR"/>
              </a:rPr>
              <a:t>}</a:t>
            </a:r>
          </a:p>
        </p:txBody>
      </p:sp>
      <p:sp>
        <p:nvSpPr>
          <p:cNvPr id="11" name="shape s4.3.0"/>
          <p:cNvSpPr/>
          <p:nvPr/>
        </p:nvSpPr>
        <p:spPr>
          <a:xfrm>
            <a:off x="609600" y="5456634"/>
            <a:ext cx="3200400" cy="791766"/>
          </a:xfrm>
          <a:prstGeom prst="roundRect">
            <a:avLst>
              <a:gd name="adj" fmla="val 19248"/>
            </a:avLst>
          </a:prstGeom>
          <a:noFill/>
          <a:ln w="9525">
            <a:solidFill>
              <a:schemeClr val="tx2"/>
            </a:solidFill>
            <a:prstDash val="solid"/>
          </a:ln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12" name="text s4.3.0.0.0"/>
          <p:cNvSpPr txBox="1"/>
          <p:nvPr/>
        </p:nvSpPr>
        <p:spPr>
          <a:xfrm>
            <a:off x="844600" y="5596384"/>
            <a:ext cx="2730401" cy="272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45"/>
              </a:lnSpc>
            </a:pPr>
            <a:r>
              <a:rPr sz="1650" b="1">
                <a:solidFill>
                  <a:schemeClr val="tx1"/>
                </a:solidFill>
                <a:latin typeface="+mj-lt"/>
                <a:ea typeface="+mj-ea"/>
              </a:rPr>
              <a:t>① Bulk warm-up</a:t>
            </a:r>
          </a:p>
        </p:txBody>
      </p:sp>
      <p:sp>
        <p:nvSpPr>
          <p:cNvPr id="13" name="text s4.3.0.0.1"/>
          <p:cNvSpPr txBox="1"/>
          <p:nvPr/>
        </p:nvSpPr>
        <p:spPr>
          <a:xfrm>
            <a:off x="844600" y="5868739"/>
            <a:ext cx="2730401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120k keys filled in seconds</a:t>
            </a:r>
          </a:p>
        </p:txBody>
      </p:sp>
      <p:sp>
        <p:nvSpPr>
          <p:cNvPr id="14" name="shape s4.3.1"/>
          <p:cNvSpPr/>
          <p:nvPr/>
        </p:nvSpPr>
        <p:spPr>
          <a:xfrm>
            <a:off x="4495800" y="5456634"/>
            <a:ext cx="3200400" cy="791766"/>
          </a:xfrm>
          <a:prstGeom prst="roundRect">
            <a:avLst>
              <a:gd name="adj" fmla="val 19248"/>
            </a:avLst>
          </a:prstGeom>
          <a:noFill/>
          <a:ln w="9525">
            <a:solidFill>
              <a:schemeClr val="tx2"/>
            </a:solidFill>
            <a:prstDash val="solid"/>
          </a:ln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15" name="text s4.3.1.0.0"/>
          <p:cNvSpPr txBox="1"/>
          <p:nvPr/>
        </p:nvSpPr>
        <p:spPr>
          <a:xfrm>
            <a:off x="4730800" y="5596384"/>
            <a:ext cx="2730401" cy="272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45"/>
              </a:lnSpc>
            </a:pPr>
            <a:r>
              <a:rPr sz="1650" b="1">
                <a:solidFill>
                  <a:schemeClr val="tx1"/>
                </a:solidFill>
                <a:latin typeface="+mj-lt"/>
                <a:ea typeface="+mj-ea"/>
              </a:rPr>
              <a:t>② Fixed 30-min TTL</a:t>
            </a:r>
          </a:p>
        </p:txBody>
      </p:sp>
      <p:sp>
        <p:nvSpPr>
          <p:cNvPr id="16" name="text s4.3.1.0.1"/>
          <p:cNvSpPr txBox="1"/>
          <p:nvPr/>
        </p:nvSpPr>
        <p:spPr>
          <a:xfrm>
            <a:off x="4730800" y="5868739"/>
            <a:ext cx="2730401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No jitter, so expiries converge</a:t>
            </a:r>
          </a:p>
        </p:txBody>
      </p:sp>
      <p:sp>
        <p:nvSpPr>
          <p:cNvPr id="17" name="shape s4.3.2"/>
          <p:cNvSpPr/>
          <p:nvPr/>
        </p:nvSpPr>
        <p:spPr>
          <a:xfrm>
            <a:off x="8382000" y="5456634"/>
            <a:ext cx="3200400" cy="791766"/>
          </a:xfrm>
          <a:prstGeom prst="roundRect">
            <a:avLst>
              <a:gd name="adj" fmla="val 19248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18" name="text s4.3.2.0.0"/>
          <p:cNvSpPr txBox="1"/>
          <p:nvPr/>
        </p:nvSpPr>
        <p:spPr>
          <a:xfrm>
            <a:off x="8617000" y="5596384"/>
            <a:ext cx="2730401" cy="272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45"/>
              </a:lnSpc>
            </a:pPr>
            <a:r>
              <a:rPr sz="1650" b="1">
                <a:solidFill>
                  <a:schemeClr val="accent5"/>
                </a:solidFill>
                <a:latin typeface="+mj-lt"/>
                <a:ea typeface="+mj-ea"/>
              </a:rPr>
              <a:t>③ All miss at once</a:t>
            </a:r>
          </a:p>
        </p:txBody>
      </p:sp>
      <p:sp>
        <p:nvSpPr>
          <p:cNvPr id="19" name="text s4.3.2.0.1"/>
          <p:cNvSpPr txBox="1"/>
          <p:nvPr/>
        </p:nvSpPr>
        <p:spPr>
          <a:xfrm>
            <a:off x="8617000" y="5868739"/>
            <a:ext cx="2730401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Each miss becomes a DB query</a:t>
            </a:r>
          </a:p>
        </p:txBody>
      </p:sp>
      <p:cxnSp>
        <p:nvCxnSpPr>
          <p:cNvPr id="20" name="connector s4.4"/>
          <p:cNvCxnSpPr>
            <a:stCxn id="11" idx="3"/>
            <a:endCxn id="14" idx="1"/>
          </p:cNvCxnSpPr>
          <p:nvPr/>
        </p:nvCxnSpPr>
        <p:spPr>
          <a:xfrm>
            <a:off x="3810000" y="5852517"/>
            <a:ext cx="685800" cy="0"/>
          </a:xfrm>
          <a:prstGeom prst="straightConnector1">
            <a:avLst/>
          </a:prstGeom>
          <a:ln w="19050">
            <a:solidFill>
              <a:schemeClr val="tx2"/>
            </a:solidFill>
            <a:prstDash val="solid"/>
            <a:headEnd type="none"/>
            <a:tailEnd type="triangle" w="lg" len="lg"/>
          </a:ln>
        </p:spPr>
      </p:cxnSp>
      <p:cxnSp>
        <p:nvCxnSpPr>
          <p:cNvPr id="21" name="connector s4.5"/>
          <p:cNvCxnSpPr>
            <a:stCxn id="14" idx="3"/>
            <a:endCxn id="17" idx="1"/>
          </p:cNvCxnSpPr>
          <p:nvPr/>
        </p:nvCxnSpPr>
        <p:spPr>
          <a:xfrm>
            <a:off x="7696200" y="5852517"/>
            <a:ext cx="685800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headEnd type="none"/>
            <a:tailEnd type="triangle" w="lg" len="lg"/>
          </a:ln>
        </p:spPr>
      </p:cxnSp>
      <p:sp>
        <p:nvSpPr>
          <p:cNvPr id="22" name="chrome footer"/>
          <p:cNvSpPr txBox="1"/>
          <p:nvPr/>
        </p:nvSpPr>
        <p:spPr>
          <a:xfrm>
            <a:off x="609600" y="6248400"/>
            <a:ext cx="249927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INC-2431 Incident Postmortem</a:t>
            </a:r>
          </a:p>
        </p:txBody>
      </p:sp>
      <p:sp>
        <p:nvSpPr>
          <p:cNvPr id="23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5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ac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5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Contributing factors</a:t>
            </a:r>
          </a:p>
        </p:txBody>
      </p:sp>
      <p:sp>
        <p:nvSpPr>
          <p:cNvPr id="3" name="h2 s5.1"/>
          <p:cNvSpPr txBox="1"/>
          <p:nvPr/>
        </p:nvSpPr>
        <p:spPr>
          <a:xfrm>
            <a:off x="609600" y="1095375"/>
            <a:ext cx="10972800" cy="4208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15"/>
              </a:lnSpc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</a:rPr>
              <a:t>Four things went wrong at once</a:t>
            </a:r>
          </a:p>
        </p:txBody>
      </p:sp>
      <p:sp>
        <p:nvSpPr>
          <p:cNvPr id="4" name="shape s5.2.0.0"/>
          <p:cNvSpPr/>
          <p:nvPr/>
        </p:nvSpPr>
        <p:spPr>
          <a:xfrm>
            <a:off x="609600" y="1902023"/>
            <a:ext cx="7239000" cy="858738"/>
          </a:xfrm>
          <a:prstGeom prst="roundRect">
            <a:avLst>
              <a:gd name="adj" fmla="val 31057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5" name="text s5.2.0.0.0.0.0"/>
          <p:cNvSpPr txBox="1"/>
          <p:nvPr/>
        </p:nvSpPr>
        <p:spPr>
          <a:xfrm>
            <a:off x="878086" y="2075259"/>
            <a:ext cx="4320778" cy="272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45"/>
              </a:lnSpc>
            </a:pPr>
            <a:r>
              <a:rPr sz="1650" b="1">
                <a:solidFill>
                  <a:schemeClr val="tx1"/>
                </a:solidFill>
                <a:latin typeface="+mj-lt"/>
                <a:ea typeface="+mj-ea"/>
              </a:rPr>
              <a:t>Fixed TTL</a:t>
            </a:r>
          </a:p>
        </p:txBody>
      </p:sp>
      <p:sp>
        <p:nvSpPr>
          <p:cNvPr id="6" name="text s5.2.0.0.0.0.1"/>
          <p:cNvSpPr txBox="1"/>
          <p:nvPr/>
        </p:nvSpPr>
        <p:spPr>
          <a:xfrm>
            <a:off x="878086" y="2347615"/>
            <a:ext cx="432077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Warm-up gives every key the same expiry</a:t>
            </a:r>
          </a:p>
        </p:txBody>
      </p:sp>
      <p:sp>
        <p:nvSpPr>
          <p:cNvPr id="7" name="text s5.2.0.0.0.1"/>
          <p:cNvSpPr txBox="1"/>
          <p:nvPr/>
        </p:nvSpPr>
        <p:spPr>
          <a:xfrm>
            <a:off x="5389364" y="2211437"/>
            <a:ext cx="219075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→ ±10% TTL jitter</a:t>
            </a:r>
          </a:p>
        </p:txBody>
      </p:sp>
      <p:sp>
        <p:nvSpPr>
          <p:cNvPr id="8" name="shape s5.2.0.1"/>
          <p:cNvSpPr/>
          <p:nvPr/>
        </p:nvSpPr>
        <p:spPr>
          <a:xfrm>
            <a:off x="609600" y="2856012"/>
            <a:ext cx="7239000" cy="858738"/>
          </a:xfrm>
          <a:prstGeom prst="roundRect">
            <a:avLst>
              <a:gd name="adj" fmla="val 31057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9" name="text s5.2.0.1.0.0.0"/>
          <p:cNvSpPr txBox="1"/>
          <p:nvPr/>
        </p:nvSpPr>
        <p:spPr>
          <a:xfrm>
            <a:off x="878086" y="3029248"/>
            <a:ext cx="4320778" cy="272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45"/>
              </a:lnSpc>
            </a:pPr>
            <a:r>
              <a:rPr sz="1650" b="1">
                <a:solidFill>
                  <a:schemeClr val="tx1"/>
                </a:solidFill>
                <a:latin typeface="+mj-lt"/>
                <a:ea typeface="+mj-ea"/>
              </a:rPr>
              <a:t>No single-flight</a:t>
            </a:r>
          </a:p>
        </p:txBody>
      </p:sp>
      <p:sp>
        <p:nvSpPr>
          <p:cNvPr id="10" name="text s5.2.0.1.0.0.1"/>
          <p:cNvSpPr txBox="1"/>
          <p:nvPr/>
        </p:nvSpPr>
        <p:spPr>
          <a:xfrm>
            <a:off x="878086" y="3301603"/>
            <a:ext cx="432077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Every cache miss goes straight to the DB</a:t>
            </a:r>
          </a:p>
        </p:txBody>
      </p:sp>
      <p:sp>
        <p:nvSpPr>
          <p:cNvPr id="11" name="text s5.2.0.1.0.1"/>
          <p:cNvSpPr txBox="1"/>
          <p:nvPr/>
        </p:nvSpPr>
        <p:spPr>
          <a:xfrm>
            <a:off x="5389364" y="3165425"/>
            <a:ext cx="219075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→ Single-flight on miss</a:t>
            </a:r>
          </a:p>
        </p:txBody>
      </p:sp>
      <p:sp>
        <p:nvSpPr>
          <p:cNvPr id="12" name="shape s5.2.0.2"/>
          <p:cNvSpPr/>
          <p:nvPr/>
        </p:nvSpPr>
        <p:spPr>
          <a:xfrm>
            <a:off x="609600" y="3810000"/>
            <a:ext cx="7239000" cy="858738"/>
          </a:xfrm>
          <a:prstGeom prst="roundRect">
            <a:avLst>
              <a:gd name="adj" fmla="val 31057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13" name="text s5.2.0.2.0.0.0"/>
          <p:cNvSpPr txBox="1"/>
          <p:nvPr/>
        </p:nvSpPr>
        <p:spPr>
          <a:xfrm>
            <a:off x="878086" y="3983236"/>
            <a:ext cx="4320778" cy="272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45"/>
              </a:lnSpc>
            </a:pPr>
            <a:r>
              <a:rPr sz="1650" b="1">
                <a:solidFill>
                  <a:schemeClr val="tx1"/>
                </a:solidFill>
                <a:latin typeface="+mj-lt"/>
                <a:ea typeface="+mj-ea"/>
              </a:rPr>
              <a:t>Small read pool</a:t>
            </a:r>
          </a:p>
        </p:txBody>
      </p:sp>
      <p:sp>
        <p:nvSpPr>
          <p:cNvPr id="14" name="text s5.2.0.2.0.0.1"/>
          <p:cNvSpPr txBox="1"/>
          <p:nvPr/>
        </p:nvSpPr>
        <p:spPr>
          <a:xfrm>
            <a:off x="878086" y="4255591"/>
            <a:ext cx="432077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Cap 40, normal peak 26 — only 14 spare</a:t>
            </a:r>
          </a:p>
        </p:txBody>
      </p:sp>
      <p:sp>
        <p:nvSpPr>
          <p:cNvPr id="15" name="text s5.2.0.2.0.1"/>
          <p:cNvSpPr txBox="1"/>
          <p:nvPr/>
        </p:nvSpPr>
        <p:spPr>
          <a:xfrm>
            <a:off x="5389364" y="4119414"/>
            <a:ext cx="219075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→ Cap 96, alert at 80%</a:t>
            </a:r>
          </a:p>
        </p:txBody>
      </p:sp>
      <p:sp>
        <p:nvSpPr>
          <p:cNvPr id="16" name="shape s5.2.0.3"/>
          <p:cNvSpPr/>
          <p:nvPr/>
        </p:nvSpPr>
        <p:spPr>
          <a:xfrm>
            <a:off x="609600" y="4763988"/>
            <a:ext cx="7239000" cy="858738"/>
          </a:xfrm>
          <a:prstGeom prst="roundRect">
            <a:avLst>
              <a:gd name="adj" fmla="val 31057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190500" tIns="95250" rIns="190500" bIns="95250" anchor="t">
            <a:normAutofit/>
          </a:bodyPr>
          <a:lstStyle/>
          <a:p/>
        </p:txBody>
      </p:sp>
      <p:sp>
        <p:nvSpPr>
          <p:cNvPr id="17" name="text s5.2.0.3.0.0.0"/>
          <p:cNvSpPr txBox="1"/>
          <p:nvPr/>
        </p:nvSpPr>
        <p:spPr>
          <a:xfrm>
            <a:off x="878086" y="4937224"/>
            <a:ext cx="4320778" cy="272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45"/>
              </a:lnSpc>
            </a:pPr>
            <a:r>
              <a:rPr sz="1650" b="1">
                <a:solidFill>
                  <a:schemeClr val="tx1"/>
                </a:solidFill>
                <a:latin typeface="+mj-lt"/>
                <a:ea typeface="+mj-ea"/>
              </a:rPr>
              <a:t>5-min average alert</a:t>
            </a:r>
          </a:p>
        </p:txBody>
      </p:sp>
      <p:sp>
        <p:nvSpPr>
          <p:cNvPr id="18" name="text s5.2.0.3.0.0.1"/>
          <p:cNvSpPr txBox="1"/>
          <p:nvPr/>
        </p:nvSpPr>
        <p:spPr>
          <a:xfrm>
            <a:off x="878086" y="5209580"/>
            <a:ext cx="432077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Averaging sees sharp spikes late</a:t>
            </a:r>
          </a:p>
        </p:txBody>
      </p:sp>
      <p:sp>
        <p:nvSpPr>
          <p:cNvPr id="19" name="text s5.2.0.3.0.1"/>
          <p:cNvSpPr txBox="1"/>
          <p:nvPr/>
        </p:nvSpPr>
        <p:spPr>
          <a:xfrm>
            <a:off x="5389364" y="5073402"/>
            <a:ext cx="219075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→ 1-min p99 alert</a:t>
            </a:r>
          </a:p>
        </p:txBody>
      </p:sp>
      <p:sp>
        <p:nvSpPr>
          <p:cNvPr id="20" name="shape s5.2.2"/>
          <p:cNvSpPr/>
          <p:nvPr/>
        </p:nvSpPr>
        <p:spPr>
          <a:xfrm>
            <a:off x="9486900" y="2714625"/>
            <a:ext cx="2095500" cy="20955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1" name="text s5.2.2.0.0"/>
          <p:cNvSpPr txBox="1"/>
          <p:nvPr/>
        </p:nvSpPr>
        <p:spPr>
          <a:xfrm>
            <a:off x="9935468" y="3322439"/>
            <a:ext cx="1198215" cy="6399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5040"/>
              </a:lnSpc>
            </a:pPr>
            <a:r>
              <a:rPr sz="4200" b="1">
                <a:solidFill>
                  <a:schemeClr val="bg1"/>
                </a:solidFill>
                <a:latin typeface="+mj-lt"/>
                <a:ea typeface="+mj-ea"/>
              </a:rPr>
              <a:t>47</a:t>
            </a:r>
            <a:r>
              <a:rPr sz="2100" b="1" i="0" u="none">
                <a:solidFill>
                  <a:schemeClr val="bg1"/>
                </a:solidFill>
                <a:latin typeface="+mj-lt"/>
                <a:ea typeface="+mj-ea"/>
              </a:rPr>
              <a:t> min</a:t>
            </a:r>
          </a:p>
        </p:txBody>
      </p:sp>
      <p:sp>
        <p:nvSpPr>
          <p:cNvPr id="22" name="text s5.2.2.0.1"/>
          <p:cNvSpPr txBox="1"/>
          <p:nvPr/>
        </p:nvSpPr>
        <p:spPr>
          <a:xfrm>
            <a:off x="9938296" y="3962400"/>
            <a:ext cx="119256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payments 5xx</a:t>
            </a:r>
          </a:p>
        </p:txBody>
      </p:sp>
      <p:sp>
        <p:nvSpPr>
          <p:cNvPr id="23" name="text s5.7"/>
          <p:cNvSpPr txBox="1"/>
          <p:nvPr/>
        </p:nvSpPr>
        <p:spPr>
          <a:xfrm>
            <a:off x="609600" y="6008489"/>
            <a:ext cx="109728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Without any one of the four, this would have been 5 minutes, not 47.</a:t>
            </a:r>
          </a:p>
        </p:txBody>
      </p:sp>
      <p:cxnSp>
        <p:nvCxnSpPr>
          <p:cNvPr id="24" name="connector s5.3"/>
          <p:cNvCxnSpPr>
            <a:stCxn id="4" idx="3"/>
            <a:endCxn id="20" idx="2"/>
          </p:cNvCxnSpPr>
          <p:nvPr/>
        </p:nvCxnSpPr>
        <p:spPr>
          <a:xfrm>
            <a:off x="7848600" y="2331393"/>
            <a:ext cx="1638300" cy="1430982"/>
          </a:xfrm>
          <a:prstGeom prst="curvedConnector3">
            <a:avLst/>
          </a:prstGeom>
          <a:ln w="19050">
            <a:solidFill>
              <a:schemeClr val="tx2"/>
            </a:solidFill>
            <a:prstDash val="solid"/>
            <a:headEnd type="none"/>
            <a:tailEnd type="oval" w="lg" len="lg"/>
          </a:ln>
        </p:spPr>
      </p:cxnSp>
      <p:cxnSp>
        <p:nvCxnSpPr>
          <p:cNvPr id="25" name="connector s5.4"/>
          <p:cNvCxnSpPr>
            <a:stCxn id="8" idx="3"/>
            <a:endCxn id="20" idx="2"/>
          </p:cNvCxnSpPr>
          <p:nvPr/>
        </p:nvCxnSpPr>
        <p:spPr>
          <a:xfrm>
            <a:off x="7848600" y="3285381"/>
            <a:ext cx="1638300" cy="476994"/>
          </a:xfrm>
          <a:prstGeom prst="curvedConnector3">
            <a:avLst/>
          </a:prstGeom>
          <a:ln w="19050">
            <a:solidFill>
              <a:schemeClr val="tx2"/>
            </a:solidFill>
            <a:prstDash val="solid"/>
            <a:headEnd type="none"/>
            <a:tailEnd type="oval" w="lg" len="lg"/>
          </a:ln>
        </p:spPr>
      </p:cxnSp>
      <p:cxnSp>
        <p:nvCxnSpPr>
          <p:cNvPr id="26" name="connector s5.5"/>
          <p:cNvCxnSpPr>
            <a:stCxn id="12" idx="3"/>
            <a:endCxn id="20" idx="2"/>
          </p:cNvCxnSpPr>
          <p:nvPr/>
        </p:nvCxnSpPr>
        <p:spPr>
          <a:xfrm flipV="1">
            <a:off x="7848600" y="3762375"/>
            <a:ext cx="1638300" cy="476994"/>
          </a:xfrm>
          <a:prstGeom prst="curvedConnector3">
            <a:avLst/>
          </a:prstGeom>
          <a:ln w="19050">
            <a:solidFill>
              <a:schemeClr val="tx2"/>
            </a:solidFill>
            <a:prstDash val="solid"/>
            <a:headEnd type="none"/>
            <a:tailEnd type="oval" w="lg" len="lg"/>
          </a:ln>
        </p:spPr>
      </p:cxnSp>
      <p:cxnSp>
        <p:nvCxnSpPr>
          <p:cNvPr id="27" name="connector s5.6"/>
          <p:cNvCxnSpPr>
            <a:stCxn id="16" idx="3"/>
            <a:endCxn id="20" idx="2"/>
          </p:cNvCxnSpPr>
          <p:nvPr/>
        </p:nvCxnSpPr>
        <p:spPr>
          <a:xfrm flipV="1">
            <a:off x="7848600" y="3762375"/>
            <a:ext cx="1638300" cy="1430982"/>
          </a:xfrm>
          <a:prstGeom prst="curvedConnector3">
            <a:avLst/>
          </a:prstGeom>
          <a:ln w="19050">
            <a:solidFill>
              <a:schemeClr val="tx2"/>
            </a:solidFill>
            <a:prstDash val="solid"/>
            <a:headEnd type="none"/>
            <a:tailEnd type="oval" w="lg" len="lg"/>
          </a:ln>
        </p:spPr>
      </p:cxnSp>
      <p:sp>
        <p:nvSpPr>
          <p:cNvPr id="28" name="chrome footer"/>
          <p:cNvSpPr txBox="1"/>
          <p:nvPr/>
        </p:nvSpPr>
        <p:spPr>
          <a:xfrm>
            <a:off x="609600" y="6248400"/>
            <a:ext cx="249927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INC-2431 Incident Postmortem</a:t>
            </a:r>
          </a:p>
        </p:txBody>
      </p:sp>
      <p:sp>
        <p:nvSpPr>
          <p:cNvPr id="29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6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6.0"/>
          <p:cNvSpPr txBox="1"/>
          <p:nvPr>
            <p:ph type="title"/>
          </p:nvPr>
        </p:nvSpPr>
        <p:spPr>
          <a:xfrm>
            <a:off x="609600" y="609600"/>
            <a:ext cx="10972800" cy="4208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15"/>
              </a:lnSpc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</a:rPr>
              <a:t>Actions to prevent recurrence</a:t>
            </a:r>
          </a:p>
        </p:txBody>
      </p:sp>
      <p:sp>
        <p:nvSpPr>
          <p:cNvPr id="3" name="shape s6.1.0"/>
          <p:cNvSpPr/>
          <p:nvPr/>
        </p:nvSpPr>
        <p:spPr>
          <a:xfrm>
            <a:off x="609600" y="1259086"/>
            <a:ext cx="5372100" cy="4989314"/>
          </a:xfrm>
          <a:prstGeom prst="roundRect">
            <a:avLst>
              <a:gd name="adj" fmla="val 5345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304800" tIns="304800" rIns="304800" bIns="304800" anchor="t">
            <a:normAutofit/>
          </a:bodyPr>
          <a:lstStyle/>
          <a:p/>
        </p:txBody>
      </p:sp>
      <p:sp>
        <p:nvSpPr>
          <p:cNvPr id="4" name="text s6.1.0.0.0.0"/>
          <p:cNvSpPr txBox="1"/>
          <p:nvPr/>
        </p:nvSpPr>
        <p:spPr>
          <a:xfrm>
            <a:off x="992386" y="1666429"/>
            <a:ext cx="1321891" cy="3466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chemeClr val="accent3"/>
                </a:solidFill>
                <a:latin typeface="+mj-lt"/>
                <a:ea typeface="+mj-ea"/>
              </a:rPr>
              <a:t>This week</a:t>
            </a:r>
          </a:p>
        </p:txBody>
      </p:sp>
      <p:sp>
        <p:nvSpPr>
          <p:cNvPr id="5" name="shape s6.1.0.0.0.1"/>
          <p:cNvSpPr/>
          <p:nvPr/>
        </p:nvSpPr>
        <p:spPr>
          <a:xfrm>
            <a:off x="2409527" y="1641872"/>
            <a:ext cx="667792" cy="395883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  <a:prstDash val="solid"/>
          </a:ln>
        </p:spPr>
        <p:txBody>
          <a:bodyPr wrap="square" lIns="95250" tIns="0" rIns="9525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D+3</a:t>
            </a:r>
          </a:p>
        </p:txBody>
      </p:sp>
      <p:sp>
        <p:nvSpPr>
          <p:cNvPr id="6" name="shape s6.1.0.0.1.0"/>
          <p:cNvSpPr/>
          <p:nvPr/>
        </p:nvSpPr>
        <p:spPr>
          <a:xfrm>
            <a:off x="992386" y="2730847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1</a:t>
            </a:r>
          </a:p>
        </p:txBody>
      </p:sp>
      <p:sp>
        <p:nvSpPr>
          <p:cNvPr id="7" name="text s6.1.0.0.1.1.0"/>
          <p:cNvSpPr txBox="1"/>
          <p:nvPr/>
        </p:nvSpPr>
        <p:spPr>
          <a:xfrm>
            <a:off x="1563886" y="2730847"/>
            <a:ext cx="4035028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±10% jitter on TTLs</a:t>
            </a:r>
          </a:p>
        </p:txBody>
      </p:sp>
      <p:sp>
        <p:nvSpPr>
          <p:cNvPr id="8" name="text s6.1.0.0.1.1.1"/>
          <p:cNvSpPr txBox="1"/>
          <p:nvPr/>
        </p:nvSpPr>
        <p:spPr>
          <a:xfrm>
            <a:off x="1563886" y="3073747"/>
            <a:ext cx="403502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All payment caches · blocks fixed TTLs</a:t>
            </a:r>
          </a:p>
        </p:txBody>
      </p:sp>
      <p:sp>
        <p:nvSpPr>
          <p:cNvPr id="9" name="shape s6.1.0.0.2.0"/>
          <p:cNvSpPr/>
          <p:nvPr/>
        </p:nvSpPr>
        <p:spPr>
          <a:xfrm>
            <a:off x="992386" y="4006900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2</a:t>
            </a:r>
          </a:p>
        </p:txBody>
      </p:sp>
      <p:sp>
        <p:nvSpPr>
          <p:cNvPr id="10" name="text s6.1.0.0.2.1.0"/>
          <p:cNvSpPr txBox="1"/>
          <p:nvPr/>
        </p:nvSpPr>
        <p:spPr>
          <a:xfrm>
            <a:off x="1563886" y="4006900"/>
            <a:ext cx="4035028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5xx alert on 1-min p99</a:t>
            </a:r>
          </a:p>
        </p:txBody>
      </p:sp>
      <p:sp>
        <p:nvSpPr>
          <p:cNvPr id="11" name="text s6.1.0.0.2.1.1"/>
          <p:cNvSpPr txBox="1"/>
          <p:nvPr/>
        </p:nvSpPr>
        <p:spPr>
          <a:xfrm>
            <a:off x="1563886" y="4349800"/>
            <a:ext cx="403502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Detect in 12 min → target 3 min</a:t>
            </a:r>
          </a:p>
        </p:txBody>
      </p:sp>
      <p:sp>
        <p:nvSpPr>
          <p:cNvPr id="12" name="shape s6.1.0.0.3.0"/>
          <p:cNvSpPr/>
          <p:nvPr/>
        </p:nvSpPr>
        <p:spPr>
          <a:xfrm>
            <a:off x="992386" y="5282803"/>
            <a:ext cx="381000" cy="381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bg1"/>
                </a:solidFill>
                <a:latin typeface="+mn-lt"/>
                <a:ea typeface="+mn-ea"/>
              </a:rPr>
              <a:t>3</a:t>
            </a:r>
          </a:p>
        </p:txBody>
      </p:sp>
      <p:sp>
        <p:nvSpPr>
          <p:cNvPr id="13" name="text s6.1.0.0.3.1.0"/>
          <p:cNvSpPr txBox="1"/>
          <p:nvPr/>
        </p:nvSpPr>
        <p:spPr>
          <a:xfrm>
            <a:off x="1563886" y="5282803"/>
            <a:ext cx="4035028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Read pool cap 40 → 96</a:t>
            </a:r>
          </a:p>
        </p:txBody>
      </p:sp>
      <p:sp>
        <p:nvSpPr>
          <p:cNvPr id="14" name="text s6.1.0.0.3.1.1"/>
          <p:cNvSpPr txBox="1"/>
          <p:nvPr/>
        </p:nvSpPr>
        <p:spPr>
          <a:xfrm>
            <a:off x="1563886" y="5625703"/>
            <a:ext cx="403502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Spare 14 → 70 · alert at 80%</a:t>
            </a:r>
          </a:p>
        </p:txBody>
      </p:sp>
      <p:sp>
        <p:nvSpPr>
          <p:cNvPr id="15" name="shape s6.2.0"/>
          <p:cNvSpPr/>
          <p:nvPr/>
        </p:nvSpPr>
        <p:spPr>
          <a:xfrm>
            <a:off x="6210300" y="1259086"/>
            <a:ext cx="5372100" cy="4989314"/>
          </a:xfrm>
          <a:prstGeom prst="roundRect">
            <a:avLst>
              <a:gd name="adj" fmla="val 5345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304800" tIns="304800" rIns="304800" bIns="304800" anchor="t">
            <a:normAutofit/>
          </a:bodyPr>
          <a:lstStyle/>
          <a:p/>
        </p:txBody>
      </p:sp>
      <p:sp>
        <p:nvSpPr>
          <p:cNvPr id="16" name="text s6.2.0.0.0.0"/>
          <p:cNvSpPr txBox="1"/>
          <p:nvPr/>
        </p:nvSpPr>
        <p:spPr>
          <a:xfrm>
            <a:off x="6593086" y="1666429"/>
            <a:ext cx="1503164" cy="3466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30"/>
              </a:lnSpc>
            </a:pPr>
            <a:r>
              <a:rPr sz="2100" b="1">
                <a:solidFill>
                  <a:schemeClr val="accent3"/>
                </a:solidFill>
                <a:latin typeface="+mj-lt"/>
                <a:ea typeface="+mj-ea"/>
              </a:rPr>
              <a:t>Next sprint</a:t>
            </a:r>
          </a:p>
        </p:txBody>
      </p:sp>
      <p:sp>
        <p:nvSpPr>
          <p:cNvPr id="17" name="shape s6.2.0.0.0.1"/>
          <p:cNvSpPr/>
          <p:nvPr/>
        </p:nvSpPr>
        <p:spPr>
          <a:xfrm>
            <a:off x="8191500" y="1641872"/>
            <a:ext cx="765870" cy="395883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  <a:prstDash val="solid"/>
          </a:ln>
        </p:spPr>
        <p:txBody>
          <a:bodyPr wrap="square" lIns="95250" tIns="0" rIns="9525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D+14</a:t>
            </a:r>
          </a:p>
        </p:txBody>
      </p:sp>
      <p:sp>
        <p:nvSpPr>
          <p:cNvPr id="18" name="shape s6.2.0.0.1.0"/>
          <p:cNvSpPr/>
          <p:nvPr/>
        </p:nvSpPr>
        <p:spPr>
          <a:xfrm>
            <a:off x="6593086" y="2730847"/>
            <a:ext cx="381000" cy="381000"/>
          </a:xfrm>
          <a:prstGeom prst="ellips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accent3"/>
                </a:solidFill>
                <a:latin typeface="+mn-lt"/>
                <a:ea typeface="+mn-ea"/>
              </a:rPr>
              <a:t>4</a:t>
            </a:r>
          </a:p>
        </p:txBody>
      </p:sp>
      <p:sp>
        <p:nvSpPr>
          <p:cNvPr id="19" name="text s6.2.0.0.1.1.0"/>
          <p:cNvSpPr txBox="1"/>
          <p:nvPr/>
        </p:nvSpPr>
        <p:spPr>
          <a:xfrm>
            <a:off x="7164586" y="2730847"/>
            <a:ext cx="4035028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Single-flight lock on misses</a:t>
            </a:r>
          </a:p>
        </p:txBody>
      </p:sp>
      <p:sp>
        <p:nvSpPr>
          <p:cNvPr id="20" name="text s6.2.0.0.1.1.1"/>
          <p:cNvSpPr txBox="1"/>
          <p:nvPr/>
        </p:nvSpPr>
        <p:spPr>
          <a:xfrm>
            <a:off x="7164586" y="3073747"/>
            <a:ext cx="403502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Stops one miss becoming one query</a:t>
            </a:r>
          </a:p>
        </p:txBody>
      </p:sp>
      <p:sp>
        <p:nvSpPr>
          <p:cNvPr id="21" name="shape s6.2.0.0.2.0"/>
          <p:cNvSpPr/>
          <p:nvPr/>
        </p:nvSpPr>
        <p:spPr>
          <a:xfrm>
            <a:off x="6593086" y="4006900"/>
            <a:ext cx="381000" cy="381000"/>
          </a:xfrm>
          <a:prstGeom prst="ellips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accent3"/>
                </a:solidFill>
                <a:latin typeface="+mn-lt"/>
                <a:ea typeface="+mn-ea"/>
              </a:rPr>
              <a:t>5</a:t>
            </a:r>
          </a:p>
        </p:txBody>
      </p:sp>
      <p:sp>
        <p:nvSpPr>
          <p:cNvPr id="22" name="text s6.2.0.0.2.1.0"/>
          <p:cNvSpPr txBox="1"/>
          <p:nvPr/>
        </p:nvSpPr>
        <p:spPr>
          <a:xfrm>
            <a:off x="7164586" y="4006900"/>
            <a:ext cx="4035028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Automatic load shedding</a:t>
            </a:r>
          </a:p>
        </p:txBody>
      </p:sp>
      <p:sp>
        <p:nvSpPr>
          <p:cNvPr id="23" name="text s6.2.0.0.2.1.1"/>
          <p:cNvSpPr txBox="1"/>
          <p:nvPr/>
        </p:nvSpPr>
        <p:spPr>
          <a:xfrm>
            <a:off x="7164586" y="4349800"/>
            <a:ext cx="403502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At 2% errors — took a human 17 min</a:t>
            </a:r>
          </a:p>
        </p:txBody>
      </p:sp>
      <p:sp>
        <p:nvSpPr>
          <p:cNvPr id="24" name="shape s6.2.0.0.3.0"/>
          <p:cNvSpPr/>
          <p:nvPr/>
        </p:nvSpPr>
        <p:spPr>
          <a:xfrm>
            <a:off x="6593086" y="5282803"/>
            <a:ext cx="381000" cy="381000"/>
          </a:xfrm>
          <a:prstGeom prst="ellipse">
            <a:avLst/>
          </a:prstGeom>
          <a:noFill/>
          <a:ln w="19050">
            <a:solidFill>
              <a:schemeClr val="accent3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accent3"/>
                </a:solidFill>
                <a:latin typeface="+mn-lt"/>
                <a:ea typeface="+mn-ea"/>
              </a:rPr>
              <a:t>6</a:t>
            </a:r>
          </a:p>
        </p:txBody>
      </p:sp>
      <p:sp>
        <p:nvSpPr>
          <p:cNvPr id="25" name="text s6.2.0.0.3.1.0"/>
          <p:cNvSpPr txBox="1"/>
          <p:nvPr/>
        </p:nvSpPr>
        <p:spPr>
          <a:xfrm>
            <a:off x="7164586" y="5282803"/>
            <a:ext cx="4035028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Stampede load test</a:t>
            </a:r>
          </a:p>
        </p:txBody>
      </p:sp>
      <p:sp>
        <p:nvSpPr>
          <p:cNvPr id="26" name="text s6.2.0.0.3.1.1"/>
          <p:cNvSpPr txBox="1"/>
          <p:nvPr/>
        </p:nvSpPr>
        <p:spPr>
          <a:xfrm>
            <a:off x="7164586" y="5625703"/>
            <a:ext cx="4035028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A deploy gate · replays 30 min after warm-up</a:t>
            </a:r>
          </a:p>
        </p:txBody>
      </p:sp>
      <p:sp>
        <p:nvSpPr>
          <p:cNvPr id="27" name="chrome footer"/>
          <p:cNvSpPr txBox="1"/>
          <p:nvPr/>
        </p:nvSpPr>
        <p:spPr>
          <a:xfrm>
            <a:off x="609600" y="6248400"/>
            <a:ext cx="249927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INC-2431 Incident Postmortem</a:t>
            </a:r>
          </a:p>
        </p:txBody>
      </p:sp>
      <p:sp>
        <p:nvSpPr>
          <p:cNvPr id="28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7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t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7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Trend</a:t>
            </a:r>
          </a:p>
        </p:txBody>
      </p:sp>
      <p:sp>
        <p:nvSpPr>
          <p:cNvPr id="3" name="h2 s7.1"/>
          <p:cNvSpPr txBox="1"/>
          <p:nvPr/>
        </p:nvSpPr>
        <p:spPr>
          <a:xfrm>
            <a:off x="609600" y="1095375"/>
            <a:ext cx="10972800" cy="4208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15"/>
              </a:lnSpc>
            </a:pPr>
            <a:r>
              <a:rPr sz="2550" b="1">
                <a:solidFill>
                  <a:schemeClr val="tx1"/>
                </a:solidFill>
                <a:latin typeface="+mj-lt"/>
                <a:ea typeface="+mj-ea"/>
              </a:rPr>
              <a:t>Detection and mitigation are improving — still too slow</a:t>
            </a:r>
          </a:p>
        </p:txBody>
      </p:sp>
      <p:sp>
        <p:nvSpPr>
          <p:cNvPr id="4" name="shape s7.2.0" descr="Monthly average time to detect and mitigate — from 22 and 31 min in May to 12 and 17 min in this incident"/>
          <p:cNvSpPr/>
          <p:nvPr/>
        </p:nvSpPr>
        <p:spPr>
          <a:xfrm>
            <a:off x="609600" y="1996380"/>
            <a:ext cx="8001000" cy="400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5" name="text s7.2.0.0.0.0.0.0.0.1"/>
          <p:cNvSpPr txBox="1"/>
          <p:nvPr/>
        </p:nvSpPr>
        <p:spPr>
          <a:xfrm>
            <a:off x="849660" y="3185815"/>
            <a:ext cx="56004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22 min</a:t>
            </a:r>
          </a:p>
        </p:txBody>
      </p:sp>
      <p:sp>
        <p:nvSpPr>
          <p:cNvPr id="6" name="shape s7.2.0.0.0.0.0.0.0.2"/>
          <p:cNvSpPr/>
          <p:nvPr/>
        </p:nvSpPr>
        <p:spPr>
          <a:xfrm>
            <a:off x="849660" y="3463826"/>
            <a:ext cx="560040" cy="19484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7" name="text s7.2.0.0.0.0.0.0.1.1"/>
          <p:cNvSpPr txBox="1"/>
          <p:nvPr/>
        </p:nvSpPr>
        <p:spPr>
          <a:xfrm>
            <a:off x="1409700" y="2388691"/>
            <a:ext cx="56004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31 min</a:t>
            </a:r>
          </a:p>
        </p:txBody>
      </p:sp>
      <p:sp>
        <p:nvSpPr>
          <p:cNvPr id="8" name="shape s7.2.0.0.0.0.0.0.1.2"/>
          <p:cNvSpPr/>
          <p:nvPr/>
        </p:nvSpPr>
        <p:spPr>
          <a:xfrm>
            <a:off x="1409700" y="2666702"/>
            <a:ext cx="560040" cy="27455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9" name="shape s7.2.0.0.0.0.0.1"/>
          <p:cNvSpPr/>
          <p:nvPr/>
        </p:nvSpPr>
        <p:spPr>
          <a:xfrm>
            <a:off x="609600" y="5412284"/>
            <a:ext cx="160020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0" name="text s7.2.0.0.0.0.1.0.0.1"/>
          <p:cNvSpPr txBox="1"/>
          <p:nvPr/>
        </p:nvSpPr>
        <p:spPr>
          <a:xfrm>
            <a:off x="2449860" y="3451473"/>
            <a:ext cx="56004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19 min</a:t>
            </a:r>
          </a:p>
        </p:txBody>
      </p:sp>
      <p:sp>
        <p:nvSpPr>
          <p:cNvPr id="11" name="shape s7.2.0.0.0.0.1.0.0.2"/>
          <p:cNvSpPr/>
          <p:nvPr/>
        </p:nvSpPr>
        <p:spPr>
          <a:xfrm>
            <a:off x="2449860" y="3729484"/>
            <a:ext cx="560040" cy="168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2" name="text s7.2.0.0.0.0.1.0.1.1"/>
          <p:cNvSpPr txBox="1"/>
          <p:nvPr/>
        </p:nvSpPr>
        <p:spPr>
          <a:xfrm>
            <a:off x="3009900" y="2831306"/>
            <a:ext cx="56004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26 min</a:t>
            </a:r>
          </a:p>
        </p:txBody>
      </p:sp>
      <p:sp>
        <p:nvSpPr>
          <p:cNvPr id="13" name="shape s7.2.0.0.0.0.1.0.1.2"/>
          <p:cNvSpPr/>
          <p:nvPr/>
        </p:nvSpPr>
        <p:spPr>
          <a:xfrm>
            <a:off x="3009900" y="3109317"/>
            <a:ext cx="560040" cy="230296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4" name="shape s7.2.0.0.0.0.1.1"/>
          <p:cNvSpPr/>
          <p:nvPr/>
        </p:nvSpPr>
        <p:spPr>
          <a:xfrm>
            <a:off x="2209800" y="5412284"/>
            <a:ext cx="160020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5" name="text s7.2.0.0.0.0.2.0.0.1"/>
          <p:cNvSpPr txBox="1"/>
          <p:nvPr/>
        </p:nvSpPr>
        <p:spPr>
          <a:xfrm>
            <a:off x="4050060" y="3805684"/>
            <a:ext cx="56004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15 min</a:t>
            </a:r>
          </a:p>
        </p:txBody>
      </p:sp>
      <p:sp>
        <p:nvSpPr>
          <p:cNvPr id="16" name="shape s7.2.0.0.0.0.2.0.0.2"/>
          <p:cNvSpPr/>
          <p:nvPr/>
        </p:nvSpPr>
        <p:spPr>
          <a:xfrm>
            <a:off x="4050060" y="4083695"/>
            <a:ext cx="560040" cy="13285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7" name="text s7.2.0.0.0.0.2.0.1.1"/>
          <p:cNvSpPr txBox="1"/>
          <p:nvPr/>
        </p:nvSpPr>
        <p:spPr>
          <a:xfrm>
            <a:off x="4610100" y="3008709"/>
            <a:ext cx="56004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24 min</a:t>
            </a:r>
          </a:p>
        </p:txBody>
      </p:sp>
      <p:sp>
        <p:nvSpPr>
          <p:cNvPr id="18" name="shape s7.2.0.0.0.0.2.0.1.2"/>
          <p:cNvSpPr/>
          <p:nvPr/>
        </p:nvSpPr>
        <p:spPr>
          <a:xfrm>
            <a:off x="4610100" y="3286720"/>
            <a:ext cx="560040" cy="21255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9" name="shape s7.2.0.0.0.0.2.1"/>
          <p:cNvSpPr/>
          <p:nvPr/>
        </p:nvSpPr>
        <p:spPr>
          <a:xfrm>
            <a:off x="3810000" y="5412284"/>
            <a:ext cx="160020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0" name="text s7.2.0.0.0.0.3.0.0.1"/>
          <p:cNvSpPr txBox="1"/>
          <p:nvPr/>
        </p:nvSpPr>
        <p:spPr>
          <a:xfrm>
            <a:off x="5650260" y="3982938"/>
            <a:ext cx="56004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13 min</a:t>
            </a:r>
          </a:p>
        </p:txBody>
      </p:sp>
      <p:sp>
        <p:nvSpPr>
          <p:cNvPr id="21" name="shape s7.2.0.0.0.0.3.0.0.2"/>
          <p:cNvSpPr/>
          <p:nvPr/>
        </p:nvSpPr>
        <p:spPr>
          <a:xfrm>
            <a:off x="5650260" y="4260949"/>
            <a:ext cx="560040" cy="11513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2" name="text s7.2.0.0.0.0.3.0.1.1"/>
          <p:cNvSpPr txBox="1"/>
          <p:nvPr/>
        </p:nvSpPr>
        <p:spPr>
          <a:xfrm>
            <a:off x="6210300" y="3363069"/>
            <a:ext cx="56004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20 min</a:t>
            </a:r>
          </a:p>
        </p:txBody>
      </p:sp>
      <p:sp>
        <p:nvSpPr>
          <p:cNvPr id="23" name="shape s7.2.0.0.0.0.3.0.1.2"/>
          <p:cNvSpPr/>
          <p:nvPr/>
        </p:nvSpPr>
        <p:spPr>
          <a:xfrm>
            <a:off x="6210300" y="3641080"/>
            <a:ext cx="560040" cy="17712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4" name="shape s7.2.0.0.0.0.3.1"/>
          <p:cNvSpPr/>
          <p:nvPr/>
        </p:nvSpPr>
        <p:spPr>
          <a:xfrm>
            <a:off x="5410200" y="5412284"/>
            <a:ext cx="160020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5" name="text s7.2.0.0.0.0.4.0.0.1"/>
          <p:cNvSpPr txBox="1"/>
          <p:nvPr/>
        </p:nvSpPr>
        <p:spPr>
          <a:xfrm>
            <a:off x="7250460" y="4071342"/>
            <a:ext cx="56004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12 min</a:t>
            </a:r>
          </a:p>
        </p:txBody>
      </p:sp>
      <p:sp>
        <p:nvSpPr>
          <p:cNvPr id="26" name="shape s7.2.0.0.0.0.4.0.0.2"/>
          <p:cNvSpPr/>
          <p:nvPr/>
        </p:nvSpPr>
        <p:spPr>
          <a:xfrm>
            <a:off x="7250460" y="4349353"/>
            <a:ext cx="560040" cy="106293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7" name="text s7.2.0.0.0.0.4.0.1.1"/>
          <p:cNvSpPr txBox="1"/>
          <p:nvPr/>
        </p:nvSpPr>
        <p:spPr>
          <a:xfrm>
            <a:off x="7810500" y="3628727"/>
            <a:ext cx="56004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17 min</a:t>
            </a:r>
          </a:p>
        </p:txBody>
      </p:sp>
      <p:sp>
        <p:nvSpPr>
          <p:cNvPr id="28" name="shape s7.2.0.0.0.0.4.0.1.2"/>
          <p:cNvSpPr/>
          <p:nvPr/>
        </p:nvSpPr>
        <p:spPr>
          <a:xfrm>
            <a:off x="7810500" y="3906738"/>
            <a:ext cx="560040" cy="15055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9" name="shape s7.2.0.0.0.0.4.1"/>
          <p:cNvSpPr/>
          <p:nvPr/>
        </p:nvSpPr>
        <p:spPr>
          <a:xfrm>
            <a:off x="7010400" y="5412284"/>
            <a:ext cx="1600200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30" name="text s7.2.0.0.0.1.0"/>
          <p:cNvSpPr txBox="1"/>
          <p:nvPr/>
        </p:nvSpPr>
        <p:spPr>
          <a:xfrm>
            <a:off x="609600" y="5421809"/>
            <a:ext cx="16002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May</a:t>
            </a:r>
          </a:p>
        </p:txBody>
      </p:sp>
      <p:sp>
        <p:nvSpPr>
          <p:cNvPr id="31" name="text s7.2.0.0.0.1.1"/>
          <p:cNvSpPr txBox="1"/>
          <p:nvPr/>
        </p:nvSpPr>
        <p:spPr>
          <a:xfrm>
            <a:off x="2209800" y="5421809"/>
            <a:ext cx="16002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Jun</a:t>
            </a:r>
          </a:p>
        </p:txBody>
      </p:sp>
      <p:sp>
        <p:nvSpPr>
          <p:cNvPr id="32" name="text s7.2.0.0.0.1.2"/>
          <p:cNvSpPr txBox="1"/>
          <p:nvPr/>
        </p:nvSpPr>
        <p:spPr>
          <a:xfrm>
            <a:off x="3810000" y="5421809"/>
            <a:ext cx="16002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Jul</a:t>
            </a:r>
          </a:p>
        </p:txBody>
      </p:sp>
      <p:sp>
        <p:nvSpPr>
          <p:cNvPr id="33" name="text s7.2.0.0.0.1.3"/>
          <p:cNvSpPr txBox="1"/>
          <p:nvPr/>
        </p:nvSpPr>
        <p:spPr>
          <a:xfrm>
            <a:off x="5410200" y="5421809"/>
            <a:ext cx="16002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Aug</a:t>
            </a:r>
          </a:p>
        </p:txBody>
      </p:sp>
      <p:sp>
        <p:nvSpPr>
          <p:cNvPr id="34" name="text s7.2.0.0.0.1.4"/>
          <p:cNvSpPr txBox="1"/>
          <p:nvPr/>
        </p:nvSpPr>
        <p:spPr>
          <a:xfrm>
            <a:off x="7010400" y="5421809"/>
            <a:ext cx="16002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This incident</a:t>
            </a:r>
          </a:p>
        </p:txBody>
      </p:sp>
      <p:sp>
        <p:nvSpPr>
          <p:cNvPr id="35" name="shape s7.2.0.0.1.0.0"/>
          <p:cNvSpPr/>
          <p:nvPr/>
        </p:nvSpPr>
        <p:spPr>
          <a:xfrm>
            <a:off x="3766989" y="5819775"/>
            <a:ext cx="114300" cy="114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36" name="text s7.2.0.0.1.0.1"/>
          <p:cNvSpPr txBox="1"/>
          <p:nvPr/>
        </p:nvSpPr>
        <p:spPr>
          <a:xfrm>
            <a:off x="3919389" y="5756970"/>
            <a:ext cx="524768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Detect</a:t>
            </a:r>
          </a:p>
        </p:txBody>
      </p:sp>
      <p:sp>
        <p:nvSpPr>
          <p:cNvPr id="37" name="shape s7.2.0.0.1.1.0"/>
          <p:cNvSpPr/>
          <p:nvPr/>
        </p:nvSpPr>
        <p:spPr>
          <a:xfrm>
            <a:off x="4634657" y="5819775"/>
            <a:ext cx="114300" cy="11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38" name="text s7.2.0.0.1.1.1"/>
          <p:cNvSpPr txBox="1"/>
          <p:nvPr/>
        </p:nvSpPr>
        <p:spPr>
          <a:xfrm>
            <a:off x="4787057" y="5756970"/>
            <a:ext cx="666155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Mitigate</a:t>
            </a:r>
          </a:p>
        </p:txBody>
      </p:sp>
      <p:sp>
        <p:nvSpPr>
          <p:cNvPr id="39" name="shape s7.2.1"/>
          <p:cNvSpPr/>
          <p:nvPr/>
        </p:nvSpPr>
        <p:spPr>
          <a:xfrm>
            <a:off x="8915400" y="2407295"/>
            <a:ext cx="2667000" cy="3178671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>
            <a:noFill/>
          </a:ln>
          <a:effectLst>
            <a:outerShdw blurRad="228600" dist="57150" dir="5400000" rotWithShape="1">
              <a:schemeClr val="bg1">
                <a:alpha val="55000"/>
              </a:schemeClr>
            </a:outerShdw>
          </a:effectLst>
        </p:spPr>
        <p:txBody>
          <a:bodyPr wrap="square" lIns="304800" tIns="304800" rIns="304800" bIns="304800" anchor="t">
            <a:normAutofit/>
          </a:bodyPr>
          <a:lstStyle/>
          <a:p/>
        </p:txBody>
      </p:sp>
      <p:sp>
        <p:nvSpPr>
          <p:cNvPr id="40" name="text s7.2.1.0.0"/>
          <p:cNvSpPr txBox="1"/>
          <p:nvPr/>
        </p:nvSpPr>
        <p:spPr>
          <a:xfrm>
            <a:off x="9298186" y="2790081"/>
            <a:ext cx="1901428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tx2"/>
                </a:solidFill>
                <a:latin typeface="+mn-lt"/>
                <a:ea typeface="+mn-ea"/>
              </a:rPr>
              <a:t>Target</a:t>
            </a:r>
          </a:p>
        </p:txBody>
      </p:sp>
      <p:sp>
        <p:nvSpPr>
          <p:cNvPr id="41" name="text s7.2.1.0.1"/>
          <p:cNvSpPr txBox="1"/>
          <p:nvPr/>
        </p:nvSpPr>
        <p:spPr>
          <a:xfrm>
            <a:off x="9298186" y="3142506"/>
            <a:ext cx="1901428" cy="1005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920"/>
              </a:lnSpc>
            </a:pPr>
            <a:r>
              <a:rPr sz="6600" b="1">
                <a:solidFill>
                  <a:schemeClr val="accent4"/>
                </a:solidFill>
                <a:latin typeface="+mj-lt"/>
                <a:ea typeface="+mj-ea"/>
              </a:rPr>
              <a:t>3</a:t>
            </a:r>
            <a:r>
              <a:rPr sz="2700" b="1" i="0" u="none">
                <a:solidFill>
                  <a:schemeClr val="accent4"/>
                </a:solidFill>
                <a:latin typeface="+mj-lt"/>
                <a:ea typeface="+mj-ea"/>
              </a:rPr>
              <a:t> min</a:t>
            </a:r>
          </a:p>
        </p:txBody>
      </p:sp>
      <p:sp>
        <p:nvSpPr>
          <p:cNvPr id="42" name="text s7.2.1.0.2"/>
          <p:cNvSpPr txBox="1"/>
          <p:nvPr/>
        </p:nvSpPr>
        <p:spPr>
          <a:xfrm>
            <a:off x="9298186" y="4243536"/>
            <a:ext cx="1901428" cy="9596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1-min p99 alert + 2 min to confirm. Action 2 cuts this bar to a quarter.</a:t>
            </a:r>
          </a:p>
        </p:txBody>
      </p:sp>
      <p:sp>
        <p:nvSpPr>
          <p:cNvPr id="43" name="chrome footer"/>
          <p:cNvSpPr txBox="1"/>
          <p:nvPr/>
        </p:nvSpPr>
        <p:spPr>
          <a:xfrm>
            <a:off x="609600" y="6248400"/>
            <a:ext cx="249927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INC-2431 Incident Postmortem</a:t>
            </a:r>
          </a:p>
        </p:txBody>
      </p:sp>
      <p:sp>
        <p:nvSpPr>
          <p:cNvPr id="44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8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es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quote s8.0"/>
          <p:cNvSpPr txBox="1"/>
          <p:nvPr>
            <p:ph type="body" idx="1"/>
          </p:nvPr>
        </p:nvSpPr>
        <p:spPr>
          <a:xfrm>
            <a:off x="609600" y="2508945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5400"/>
              </a:lnSpc>
            </a:pPr>
            <a:r>
              <a:rPr sz="3600" b="0">
                <a:solidFill>
                  <a:schemeClr val="tx1"/>
                </a:solidFill>
                <a:latin typeface="+mn-lt"/>
                <a:ea typeface="+mn-ea"/>
              </a:rPr>
              <a:t>A cache is not an availability tool. It is only a cache if you can survive the load the moment it is gone.</a:t>
            </a:r>
          </a:p>
        </p:txBody>
      </p:sp>
      <p:sp>
        <p:nvSpPr>
          <p:cNvPr id="3" name="text s8.1"/>
          <p:cNvSpPr txBox="1"/>
          <p:nvPr>
            <p:ph type="body" idx="2"/>
          </p:nvPr>
        </p:nvSpPr>
        <p:spPr>
          <a:xfrm>
            <a:off x="609600" y="4109145"/>
            <a:ext cx="109728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— the one sentence we agreed on</a:t>
            </a:r>
          </a:p>
        </p:txBody>
      </p:sp>
      <p:sp>
        <p:nvSpPr>
          <p:cNvPr id="4" name="chrome footer"/>
          <p:cNvSpPr txBox="1"/>
          <p:nvPr/>
        </p:nvSpPr>
        <p:spPr>
          <a:xfrm>
            <a:off x="609600" y="6248400"/>
            <a:ext cx="249927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INC-2431 Incident Postmortem</a:t>
            </a:r>
          </a:p>
        </p:txBody>
      </p:sp>
      <p:sp>
        <p:nvSpPr>
          <p:cNvPr id="5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9</a:t>
            </a:fld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9.0"/>
          <p:cNvSpPr txBox="1"/>
          <p:nvPr>
            <p:ph type="title"/>
          </p:nvPr>
        </p:nvSpPr>
        <p:spPr>
          <a:xfrm>
            <a:off x="609600" y="2684115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7200"/>
              </a:lnSpc>
            </a:pPr>
            <a:r>
              <a:rPr sz="6000" b="1">
                <a:solidFill>
                  <a:schemeClr val="tx1"/>
                </a:solidFill>
                <a:latin typeface="+mj-lt"/>
                <a:ea typeface="+mj-ea"/>
              </a:rPr>
              <a:t>Questions and pushback</a:t>
            </a:r>
          </a:p>
        </p:txBody>
      </p:sp>
      <p:sp>
        <p:nvSpPr>
          <p:cNvPr id="3" name="text s9.1"/>
          <p:cNvSpPr txBox="1"/>
          <p:nvPr>
            <p:ph type="body" idx="1"/>
          </p:nvPr>
        </p:nvSpPr>
        <p:spPr>
          <a:xfrm>
            <a:off x="609600" y="3827115"/>
            <a:ext cx="10972800" cy="346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730"/>
              </a:lnSpc>
            </a:pPr>
            <a:r>
              <a:rPr sz="2100" b="1">
                <a:solidFill>
                  <a:schemeClr val="tx2"/>
                </a:solidFill>
                <a:latin typeface="+mj-lt"/>
                <a:ea typeface="+mj-ea"/>
              </a:rPr>
              <a:t>Record: </a:t>
            </a:r>
            <a:r>
              <a:rPr sz="2100" b="1" i="0" u="sng">
                <a:solidFill>
                  <a:schemeClr val="accent1"/>
                </a:solidFill>
                <a:latin typeface="+mj-lt"/>
                <a:ea typeface="+mj-ea"/>
                <a:hlinkClick r:id="rId3"/>
              </a:rPr>
              <a:t>INC-2431 postmortem doc</a:t>
            </a:r>
            <a:r>
              <a:rPr sz="2100" b="1">
                <a:solidFill>
                  <a:schemeClr val="tx2"/>
                </a:solidFill>
                <a:latin typeface="+mj-lt"/>
                <a:ea typeface="+mj-ea"/>
              </a:rPr>
              <a:t> · #incident-2431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theme/theme1.xml><?xml version="1.0" encoding="utf-8"?>
<a:theme xmlns:a="http://schemas.openxmlformats.org/drawingml/2006/main" name="ink">
  <a:themeElements>
    <a:clrScheme name="ink">
      <a:dk1>
        <a:srgbClr val="F2F4F7"/>
      </a:dk1>
      <a:lt1>
        <a:srgbClr val="15171B"/>
      </a:lt1>
      <a:dk2>
        <a:srgbClr val="9CA3AF"/>
      </a:dk2>
      <a:lt2>
        <a:srgbClr val="21252B"/>
      </a:lt2>
      <a:accent1>
        <a:srgbClr val="3B96FF"/>
      </a:accent1>
      <a:accent2>
        <a:srgbClr val="00A987"/>
      </a:accent2>
      <a:accent3>
        <a:srgbClr val="00AD2B"/>
      </a:accent3>
      <a:accent4>
        <a:srgbClr val="CB8700"/>
      </a:accent4>
      <a:accent5>
        <a:srgbClr val="FF5E4F"/>
      </a:accent5>
      <a:accent6>
        <a:srgbClr val="D75EFF"/>
      </a:accent6>
      <a:hlink>
        <a:srgbClr val="3B96FF"/>
      </a:hlink>
      <a:folHlink>
        <a:srgbClr val="3B96FF"/>
      </a:folHlink>
    </a:clrScheme>
    <a:fontScheme name="ink">
      <a:majorFont>
        <a:latin typeface="Noto Sans"/>
        <a:ea typeface="Noto Sans CJK KR"/>
        <a:cs typeface=""/>
      </a:majorFont>
      <a:minorFont>
        <a:latin typeface="Noto Sans"/>
        <a:ea typeface="Noto Sans CJK KR"/>
        <a:cs typeface=""/>
      </a:minorFont>
    </a:fontScheme>
    <a:fmtScheme name="in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ink">
  <a:themeElements>
    <a:clrScheme name="ink">
      <a:dk1>
        <a:srgbClr val="F2F4F7"/>
      </a:dk1>
      <a:lt1>
        <a:srgbClr val="15171B"/>
      </a:lt1>
      <a:dk2>
        <a:srgbClr val="9CA3AF"/>
      </a:dk2>
      <a:lt2>
        <a:srgbClr val="21252B"/>
      </a:lt2>
      <a:accent1>
        <a:srgbClr val="3B96FF"/>
      </a:accent1>
      <a:accent2>
        <a:srgbClr val="00A987"/>
      </a:accent2>
      <a:accent3>
        <a:srgbClr val="00AD2B"/>
      </a:accent3>
      <a:accent4>
        <a:srgbClr val="CB8700"/>
      </a:accent4>
      <a:accent5>
        <a:srgbClr val="FF5E4F"/>
      </a:accent5>
      <a:accent6>
        <a:srgbClr val="D75EFF"/>
      </a:accent6>
      <a:hlink>
        <a:srgbClr val="3B96FF"/>
      </a:hlink>
      <a:folHlink>
        <a:srgbClr val="3B96FF"/>
      </a:folHlink>
    </a:clrScheme>
    <a:fontScheme name="ink">
      <a:majorFont>
        <a:latin typeface="Noto Sans"/>
        <a:ea typeface="Noto Sans CJK KR"/>
        <a:cs typeface=""/>
      </a:majorFont>
      <a:minorFont>
        <a:latin typeface="Noto Sans"/>
        <a:ea typeface="Noto Sans CJK KR"/>
        <a:cs typeface=""/>
      </a:minorFont>
    </a:fontScheme>
    <a:fmtScheme name="in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balpyo</Application>
  <Slides>10</Slide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INC-2431 Incident Postmortem</dc:title>
  <dc:creator>Platform Team</dc:creator>
  <dc:language>en-US</dc:language>
  <cp:lastModifiedBy>balpyo</cp:lastModifiedBy>
  <cp:revision>1</cp:revision>
</cp:coreProperties>
</file>