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</p:defaultTextStyle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  <Relationship Id="rId12" Type="http://schemas.openxmlformats.org/officeDocument/2006/relationships/slide" Target="slides/slide11.xml"/>
  <Relationship Id="rId13" Type="http://schemas.openxmlformats.org/officeDocument/2006/relationships/slide" Target="slides/slide12.xml"/>
  <Relationship Id="rId14" Type="http://schemas.openxmlformats.org/officeDocument/2006/relationships/theme" Target="theme/theme1.xml"/>
  <Relationship Id="rId15" Type="http://schemas.openxmlformats.org/officeDocument/2006/relationships/notesMaster" Target="notesMasters/notesMaster1.xml"/>
</Relationships>
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686300"/>
            <a:ext cx="5486400" cy="37719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defPPr>
      <a:defRPr lang="en-US"/>
    </a:defPPr>
    <a:lvl1pPr>
      <a:defRPr sz="1200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deck is itself the output — what you are looking at and the PPTX we shipped come from the same source.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probl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You lose one or the other: expressiveness, or an editable output. balpyo aims for the spot where you keep both.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co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where the product started. If the author still has something to calculate, it isn't automation.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pip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soml parses, core resolves, render/geom measures, and render/web and render/pptx render. The PPTX renderer computes no coordinates — it bakes what the browser measured.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pro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deck settings live in balpyo.json — title, author, language, aspect, theme, output path, footer, page numbers.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geomet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second insight — borrow the browser as the layout engine.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ppt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 PowerPoint you can edit the text, and click into a table cell to add a row. Drag a box and its connectors follow. This is where "a file that opens" and "a file you can edit" part ways.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the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moment a token flattens into a literal, the product's promise breaks. The tests watch for exactly that.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determinis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only goldens are the layout tree without coordinates and the diagnostics — the parity check re-measures coordinates every run, so a diff only ever says "one more shape".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 every time something changes, we open it in PowerPoint or Keynote ourselves.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stat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Left is what works today, right is what comes next. The order isn't decided.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Take questions. Encourage everyone to download the deck as PPTX and edit it themselves.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ubtitle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author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date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  <Relationship Id="rId3" Type="http://schemas.openxmlformats.org/officeDocument/2006/relationships/slideLayout" Target="../slideLayouts/slideLayout2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600" cy="1143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Body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11277600" cy="48006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</p:sldLayoutIdLst>
  <p:txStyles>
    <p:titleStyle>
      <a:defPPr>
        <a:defRPr lang="en-US"/>
      </a:defPPr>
      <a:lvl1pPr algn="l">
        <a:defRPr sz="4400"/>
      </a:lvl1pPr>
    </p:titleStyle>
    <p:bodyStyle>
      <a:defPPr>
        <a:defRPr lang="en-US"/>
      </a:defPPr>
      <a:lvl1pPr>
        <a:defRPr sz="2400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  <Relationship Id="rId2" Type="http://schemas.openxmlformats.org/officeDocument/2006/relationships/notesSlide" Target="../notesSlides/notesSlide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1.xml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s0.0"/>
          <p:cNvSpPr txBox="1"/>
          <p:nvPr>
            <p:ph type="body" idx="2"/>
          </p:nvPr>
        </p:nvSpPr>
        <p:spPr>
          <a:xfrm>
            <a:off x="4251573" y="1323082"/>
            <a:ext cx="3688854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1" spc="135" cap="all">
                <a:solidFill>
                  <a:schemeClr val="accent1"/>
                </a:solidFill>
                <a:latin typeface="+mn-lt"/>
                <a:ea typeface="+mn-ea"/>
              </a:rPr>
              <a:t>Slide Oriented Markup Language</a:t>
            </a:r>
          </a:p>
        </p:txBody>
      </p:sp>
      <p:sp>
        <p:nvSpPr>
          <p:cNvPr id="3" name="h1 s0.1"/>
          <p:cNvSpPr txBox="1"/>
          <p:nvPr>
            <p:ph type="ctrTitle"/>
          </p:nvPr>
        </p:nvSpPr>
        <p:spPr>
          <a:xfrm>
            <a:off x="4567535" y="1808857"/>
            <a:ext cx="3056930" cy="109716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ts val="8640"/>
              </a:lnSpc>
            </a:pPr>
            <a:r>
              <a:rPr sz="7200" b="1" i="0" u="none"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0" scaled="0"/>
                </a:gradFill>
                <a:latin typeface="+mj-lt"/>
                <a:ea typeface="+mj-ea"/>
              </a:rPr>
              <a:t>balpyo</a:t>
            </a:r>
          </a:p>
        </p:txBody>
      </p:sp>
      <p:sp>
        <p:nvSpPr>
          <p:cNvPr id="4" name="text s0.2"/>
          <p:cNvSpPr txBox="1"/>
          <p:nvPr>
            <p:ph type="subTitle" idx="1"/>
          </p:nvPr>
        </p:nvSpPr>
        <p:spPr>
          <a:xfrm>
            <a:off x="1075581" y="3134618"/>
            <a:ext cx="10040838" cy="44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ts val="3510"/>
              </a:lnSpc>
            </a:pPr>
            <a:r>
              <a:rPr sz="2700" b="1">
                <a:solidFill>
                  <a:schemeClr val="tx2"/>
                </a:solidFill>
                <a:latin typeface="+mj-lt"/>
                <a:ea typeface="+mj-ea"/>
              </a:rPr>
              <a:t>Write your slides once — get the web and an editable PPTX</a:t>
            </a:r>
          </a:p>
        </p:txBody>
      </p:sp>
      <p:sp>
        <p:nvSpPr>
          <p:cNvPr id="5" name="text s0.3"/>
          <p:cNvSpPr txBox="1"/>
          <p:nvPr>
            <p:ph type="body" idx="3"/>
          </p:nvPr>
        </p:nvSpPr>
        <p:spPr>
          <a:xfrm>
            <a:off x="4532263" y="4723358"/>
            <a:ext cx="3127325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ts val="2700"/>
              </a:lnSpc>
            </a:pPr>
            <a:r>
              <a:rPr sz="1800" b="0">
                <a:solidFill>
                  <a:schemeClr val="tx1"/>
                </a:solidFill>
                <a:latin typeface="+mn-lt"/>
                <a:ea typeface="+mn-ea"/>
              </a:rPr>
              <a:t>Render engine · Themes · CLI</a:t>
            </a:r>
          </a:p>
        </p:txBody>
      </p:sp>
      <p:sp>
        <p:nvSpPr>
          <p:cNvPr id="6" name="text s0.4"/>
          <p:cNvSpPr txBox="1"/>
          <p:nvPr>
            <p:ph type="body" idx="4"/>
          </p:nvPr>
        </p:nvSpPr>
        <p:spPr>
          <a:xfrm>
            <a:off x="4019699" y="5294858"/>
            <a:ext cx="4152454" cy="2399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This deck is twelve SOML slides, rendered by balpyo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bl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s1.0"/>
          <p:cNvSpPr txBox="1"/>
          <p:nvPr/>
        </p:nvSpPr>
        <p:spPr>
          <a:xfrm>
            <a:off x="609600" y="609600"/>
            <a:ext cx="109728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1" spc="135" cap="all">
                <a:solidFill>
                  <a:schemeClr val="accent1"/>
                </a:solidFill>
                <a:latin typeface="+mn-lt"/>
                <a:ea typeface="+mn-ea"/>
              </a:rPr>
              <a:t>Why another tool</a:t>
            </a:r>
          </a:p>
        </p:txBody>
      </p:sp>
      <p:sp>
        <p:nvSpPr>
          <p:cNvPr id="3" name="h1 s1.1"/>
          <p:cNvSpPr txBox="1"/>
          <p:nvPr/>
        </p:nvSpPr>
        <p:spPr>
          <a:xfrm>
            <a:off x="609600" y="1095375"/>
            <a:ext cx="10972800" cy="6399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5040"/>
              </a:lnSpc>
            </a:pPr>
            <a:r>
              <a:rPr sz="4200" b="1">
                <a:solidFill>
                  <a:schemeClr val="tx1"/>
                </a:solidFill>
                <a:latin typeface="+mj-lt"/>
                <a:ea typeface="+mj-ea"/>
              </a:rPr>
              <a:t>Slides as text force a trade-off</a:t>
            </a:r>
          </a:p>
        </p:txBody>
      </p:sp>
      <p:sp>
        <p:nvSpPr>
          <p:cNvPr id="4" name="shape s1.2.0.0"/>
          <p:cNvSpPr/>
          <p:nvPr/>
        </p:nvSpPr>
        <p:spPr>
          <a:xfrm>
            <a:off x="609600" y="1963936"/>
            <a:ext cx="5143500" cy="4284464"/>
          </a:xfrm>
          <a:prstGeom prst="roundRect">
            <a:avLst>
              <a:gd name="adj" fmla="val 5336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  <p:txBody>
          <a:bodyPr wrap="square" lIns="342900" tIns="342900" rIns="342900" bIns="342900" anchor="t">
            <a:normAutofit/>
          </a:bodyPr>
          <a:lstStyle/>
          <a:p/>
        </p:txBody>
      </p:sp>
      <p:sp>
        <p:nvSpPr>
          <p:cNvPr id="5" name="text s1.2.0.0.0.0.0"/>
          <p:cNvSpPr txBox="1"/>
          <p:nvPr/>
        </p:nvSpPr>
        <p:spPr>
          <a:xfrm>
            <a:off x="1019324" y="2373660"/>
            <a:ext cx="4324052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1" spc="135" cap="all">
                <a:solidFill>
                  <a:schemeClr val="tx2"/>
                </a:solidFill>
                <a:latin typeface="+mn-lt"/>
                <a:ea typeface="+mn-ea"/>
              </a:rPr>
              <a:t>Markdown-based · Marp · Slidev</a:t>
            </a:r>
          </a:p>
        </p:txBody>
      </p:sp>
      <p:sp>
        <p:nvSpPr>
          <p:cNvPr id="6" name="shape s1.2.0.0.0.0.1.0"/>
          <p:cNvSpPr/>
          <p:nvPr/>
        </p:nvSpPr>
        <p:spPr>
          <a:xfrm>
            <a:off x="1019324" y="2859435"/>
            <a:ext cx="4324052" cy="723900"/>
          </a:xfrm>
          <a:prstGeom prst="roundRect">
            <a:avLst>
              <a:gd name="adj" fmla="val 7895"/>
            </a:avLst>
          </a:prstGeom>
          <a:pattFill prst="wdUpDiag">
            <a:fgClr>
              <a:schemeClr val="tx2">
                <a:alpha val="35000"/>
              </a:schemeClr>
            </a:fgClr>
            <a:bgClr>
              <a:schemeClr val="bg1">
                <a:alpha val="0"/>
              </a:schemeClr>
            </a:bgClr>
          </a:pattFill>
          <a:ln w="9525">
            <a:solidFill>
              <a:schemeClr val="tx2"/>
            </a:solidFill>
            <a:prstDash val="dash"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7" name="shape s1.2.0.0.0.0.1.1"/>
          <p:cNvSpPr/>
          <p:nvPr/>
        </p:nvSpPr>
        <p:spPr>
          <a:xfrm>
            <a:off x="1884462" y="3026122"/>
            <a:ext cx="2593777" cy="390525"/>
          </a:xfrm>
          <a:prstGeom prst="roundRect">
            <a:avLst>
              <a:gd name="adj" fmla="val 14634"/>
            </a:avLst>
          </a:prstGeom>
          <a:solidFill>
            <a:schemeClr val="bg1"/>
          </a:solidFill>
          <a:ln>
            <a:noFill/>
          </a:ln>
        </p:spPr>
        <p:txBody>
          <a:bodyPr wrap="square" lIns="114300" tIns="57150" rIns="114300" bIns="57150" anchor="t">
            <a:normAutofit/>
          </a:bodyPr>
          <a:lstStyle/>
          <a:p>
            <a:pPr algn="l">
              <a:lnSpc>
                <a:spcPts val="1913"/>
              </a:lnSpc>
            </a:pPr>
            <a:r>
              <a:rPr sz="1275" b="0">
                <a:solidFill>
                  <a:schemeClr val="tx2"/>
                </a:solidFill>
                <a:latin typeface="Noto Sans Mono"/>
                <a:ea typeface="Noto Sans Mono CJK KR"/>
              </a:rPr>
              <a:t>slide-03.png · one image</a:t>
            </a:r>
          </a:p>
        </p:txBody>
      </p:sp>
      <p:sp>
        <p:nvSpPr>
          <p:cNvPr id="8" name="ul s1.2.0.0.0.0.2"/>
          <p:cNvSpPr txBox="1"/>
          <p:nvPr/>
        </p:nvSpPr>
        <p:spPr>
          <a:xfrm>
            <a:off x="1019324" y="3811935"/>
            <a:ext cx="4324052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342900" indent="-342900" algn="l">
              <a:lnSpc>
                <a:spcPts val="2475"/>
              </a:lnSpc>
              <a:buFont typeface="+mn-lt"/>
              <a:buChar char="•"/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</a:rPr>
              <a:t>Document markup, no slide vocabulary</a:t>
            </a:r>
          </a:p>
          <a:p>
            <a:pPr marL="342900" indent="-342900" algn="l">
              <a:lnSpc>
                <a:spcPts val="2475"/>
              </a:lnSpc>
              <a:buFont typeface="+mn-lt"/>
              <a:buChar char="•"/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</a:rPr>
              <a:t>PPTX export is a single image</a:t>
            </a:r>
          </a:p>
        </p:txBody>
      </p:sp>
      <p:sp>
        <p:nvSpPr>
          <p:cNvPr id="9" name="text s1.2.0.0.0.1"/>
          <p:cNvSpPr txBox="1"/>
          <p:nvPr/>
        </p:nvSpPr>
        <p:spPr>
          <a:xfrm>
            <a:off x="1019324" y="5492055"/>
            <a:ext cx="4324052" cy="3466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730"/>
              </a:lnSpc>
            </a:pPr>
            <a:r>
              <a:rPr sz="2100" b="1">
                <a:solidFill>
                  <a:schemeClr val="accent5"/>
                </a:solidFill>
                <a:latin typeface="+mj-lt"/>
                <a:ea typeface="+mj-ea"/>
              </a:rPr>
              <a:t>✕ You lose the editable output</a:t>
            </a:r>
          </a:p>
        </p:txBody>
      </p:sp>
      <p:sp>
        <p:nvSpPr>
          <p:cNvPr id="10" name="shape s1.2.0.1"/>
          <p:cNvSpPr/>
          <p:nvPr/>
        </p:nvSpPr>
        <p:spPr>
          <a:xfrm>
            <a:off x="6438900" y="1963936"/>
            <a:ext cx="5143500" cy="4284464"/>
          </a:xfrm>
          <a:prstGeom prst="roundRect">
            <a:avLst>
              <a:gd name="adj" fmla="val 5336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  <p:txBody>
          <a:bodyPr wrap="square" lIns="342900" tIns="342900" rIns="342900" bIns="342900" anchor="t">
            <a:normAutofit/>
          </a:bodyPr>
          <a:lstStyle/>
          <a:p/>
        </p:txBody>
      </p:sp>
      <p:sp>
        <p:nvSpPr>
          <p:cNvPr id="11" name="text s1.2.0.1.0.0.0"/>
          <p:cNvSpPr txBox="1"/>
          <p:nvPr/>
        </p:nvSpPr>
        <p:spPr>
          <a:xfrm>
            <a:off x="6848624" y="2373660"/>
            <a:ext cx="4324052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1" spc="135" cap="all">
                <a:solidFill>
                  <a:schemeClr val="tx2"/>
                </a:solidFill>
                <a:latin typeface="+mn-lt"/>
                <a:ea typeface="+mn-ea"/>
              </a:rPr>
              <a:t>Library-based · python-pptx</a:t>
            </a:r>
          </a:p>
        </p:txBody>
      </p:sp>
      <p:sp>
        <p:nvSpPr>
          <p:cNvPr id="12" name="shape s1.2.0.1.0.0.1"/>
          <p:cNvSpPr/>
          <p:nvPr/>
        </p:nvSpPr>
        <p:spPr>
          <a:xfrm>
            <a:off x="6848624" y="2859435"/>
            <a:ext cx="4324052" cy="723900"/>
          </a:xfrm>
          <a:prstGeom prst="roundRect">
            <a:avLst>
              <a:gd name="adj" fmla="val 7895"/>
            </a:avLst>
          </a:prstGeom>
          <a:solidFill>
            <a:schemeClr val="bg2"/>
          </a:solidFill>
          <a:ln>
            <a:noFill/>
          </a:ln>
        </p:spPr>
        <p:txBody>
          <a:bodyPr wrap="square" lIns="114300" tIns="57150" rIns="114300" bIns="57150" anchor="t">
            <a:normAutofit/>
          </a:bodyPr>
          <a:lstStyle/>
          <a:p>
            <a:pPr algn="l">
              <a:lnSpc>
                <a:spcPts val="1800"/>
              </a:lnSpc>
            </a:pPr>
            <a:r>
              <a:rPr sz="1200" b="0">
                <a:solidFill>
                  <a:schemeClr val="tx1"/>
                </a:solidFill>
                <a:latin typeface="Noto Sans Mono"/>
                <a:ea typeface="Noto Sans Mono CJK KR"/>
              </a:rPr>
              <a:t>box.left = Emu(1219200)  # measured by hand</a:t>
            </a:r>
            <a:br/>
            <a:r>
              <a:rPr sz="1200" b="0">
                <a:solidFill>
                  <a:schemeClr val="tx1"/>
                </a:solidFill>
                <a:latin typeface="Noto Sans Mono"/>
                <a:ea typeface="Noto Sans Mono CJK KR"/>
              </a:rPr>
              <a:t>box.top  = Emu(2286000)</a:t>
            </a:r>
          </a:p>
        </p:txBody>
      </p:sp>
      <p:sp>
        <p:nvSpPr>
          <p:cNvPr id="13" name="ul s1.2.0.1.0.0.2"/>
          <p:cNvSpPr txBox="1"/>
          <p:nvPr/>
        </p:nvSpPr>
        <p:spPr>
          <a:xfrm>
            <a:off x="6848624" y="3811935"/>
            <a:ext cx="4324052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342900" indent="-342900" algn="l">
              <a:lnSpc>
                <a:spcPts val="2475"/>
              </a:lnSpc>
              <a:buFont typeface="+mn-lt"/>
              <a:buChar char="•"/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</a:rPr>
              <a:t>Every element placed by hand in EMU</a:t>
            </a:r>
          </a:p>
          <a:p>
            <a:pPr marL="342900" indent="-342900" algn="l">
              <a:lnSpc>
                <a:spcPts val="2475"/>
              </a:lnSpc>
              <a:buFont typeface="+mn-lt"/>
              <a:buChar char="•"/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</a:rPr>
              <a:t>No design API, so you assemble XML</a:t>
            </a:r>
          </a:p>
        </p:txBody>
      </p:sp>
      <p:sp>
        <p:nvSpPr>
          <p:cNvPr id="14" name="text s1.2.0.1.0.1"/>
          <p:cNvSpPr txBox="1"/>
          <p:nvPr/>
        </p:nvSpPr>
        <p:spPr>
          <a:xfrm>
            <a:off x="6848624" y="5492055"/>
            <a:ext cx="4324052" cy="3466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730"/>
              </a:lnSpc>
            </a:pPr>
            <a:r>
              <a:rPr sz="2100" b="1">
                <a:solidFill>
                  <a:schemeClr val="accent5"/>
                </a:solidFill>
                <a:latin typeface="+mj-lt"/>
                <a:ea typeface="+mj-ea"/>
              </a:rPr>
              <a:t>✕ You lose ease of writing</a:t>
            </a:r>
          </a:p>
        </p:txBody>
      </p:sp>
      <p:sp>
        <p:nvSpPr>
          <p:cNvPr id="15" name="shape s1.2.1"/>
          <p:cNvSpPr/>
          <p:nvPr/>
        </p:nvSpPr>
        <p:spPr>
          <a:xfrm>
            <a:off x="5791200" y="3801368"/>
            <a:ext cx="609600" cy="6096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2"/>
            </a:solidFill>
            <a:prstDash val="solid"/>
          </a:ln>
          <a:effectLst>
            <a:outerShdw blurRad="152400" dist="38100" dir="5400000" rotWithShape="1">
              <a:schemeClr val="tx1">
                <a:alpha val="15000"/>
              </a:schemeClr>
            </a:outerShdw>
          </a:effectLst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2145"/>
              </a:lnSpc>
            </a:pPr>
            <a:r>
              <a:rPr sz="1650" b="1">
                <a:solidFill>
                  <a:schemeClr val="tx2"/>
                </a:solidFill>
                <a:latin typeface="+mj-lt"/>
                <a:ea typeface="+mj-ea"/>
              </a:rPr>
              <a:t>vs</a:t>
            </a:r>
          </a:p>
        </p:txBody>
      </p:sp>
      <p:sp>
        <p:nvSpPr>
          <p:cNvPr id="16" name="chrome footer"/>
          <p:cNvSpPr txBox="1"/>
          <p:nvPr/>
        </p:nvSpPr>
        <p:spPr>
          <a:xfrm>
            <a:off x="609600" y="6248400"/>
            <a:ext cx="153010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Introducing balpyo</a:t>
            </a:r>
          </a:p>
        </p:txBody>
      </p:sp>
      <p:sp>
        <p:nvSpPr>
          <p:cNvPr id="17" name="chrome pageNumber"/>
          <p:cNvSpPr txBox="1"/>
          <p:nvPr/>
        </p:nvSpPr>
        <p:spPr>
          <a:xfrm>
            <a:off x="11484322" y="6248400"/>
            <a:ext cx="9807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ts val="1890"/>
              </a:lnSpc>
            </a:pPr>
            <a:fld id="{B9A1C0E4-6F3D-4A5B-8C7E-2D1F0A9B8C7D}" type="slidenum">
              <a:rPr sz="1350" b="0">
                <a:solidFill>
                  <a:schemeClr val="tx2"/>
                </a:solidFill>
                <a:latin typeface="+mn-lt"/>
                <a:ea typeface="+mn-ea"/>
              </a:rPr>
              <a:t>2</a:t>
            </a:fld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9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9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s2.0"/>
          <p:cNvSpPr txBox="1"/>
          <p:nvPr/>
        </p:nvSpPr>
        <p:spPr>
          <a:xfrm>
            <a:off x="609600" y="609600"/>
            <a:ext cx="109728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1" spc="135" cap="all">
                <a:solidFill>
                  <a:schemeClr val="accent1"/>
                </a:solidFill>
                <a:latin typeface="+mn-lt"/>
                <a:ea typeface="+mn-ea"/>
              </a:rPr>
              <a:t>Rebuilding one card-grid slide from a corporate deck in python-pptx</a:t>
            </a:r>
          </a:p>
        </p:txBody>
      </p:sp>
      <p:sp>
        <p:nvSpPr>
          <p:cNvPr id="3" name="shape s2.1.0"/>
          <p:cNvSpPr/>
          <p:nvPr/>
        </p:nvSpPr>
        <p:spPr>
          <a:xfrm>
            <a:off x="609600" y="1095375"/>
            <a:ext cx="6377880" cy="5153025"/>
          </a:xfrm>
          <a:prstGeom prst="roundRect">
            <a:avLst>
              <a:gd name="adj" fmla="val 4436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  <p:txBody>
          <a:bodyPr wrap="square" lIns="342900" tIns="342900" rIns="342900" bIns="342900" anchor="t">
            <a:normAutofit/>
          </a:bodyPr>
          <a:lstStyle/>
          <a:p/>
        </p:txBody>
      </p:sp>
      <p:sp>
        <p:nvSpPr>
          <p:cNvPr id="4" name="text s2.1.0.0.0"/>
          <p:cNvSpPr txBox="1"/>
          <p:nvPr/>
        </p:nvSpPr>
        <p:spPr>
          <a:xfrm>
            <a:off x="1019324" y="2143125"/>
            <a:ext cx="5558433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1" spc="135" cap="all">
                <a:solidFill>
                  <a:schemeClr val="tx2"/>
                </a:solidFill>
                <a:latin typeface="+mn-lt"/>
                <a:ea typeface="+mn-ea"/>
              </a:rPr>
              <a:t>python-pptx</a:t>
            </a:r>
          </a:p>
        </p:txBody>
      </p:sp>
      <p:sp>
        <p:nvSpPr>
          <p:cNvPr id="5" name="text s2.1.0.0.1"/>
          <p:cNvSpPr txBox="1"/>
          <p:nvPr/>
        </p:nvSpPr>
        <p:spPr>
          <a:xfrm>
            <a:off x="1019324" y="2514600"/>
            <a:ext cx="5558433" cy="19201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5120"/>
              </a:lnSpc>
            </a:pPr>
            <a:r>
              <a:rPr sz="12600" b="1">
                <a:solidFill>
                  <a:schemeClr val="accent5"/>
                </a:solidFill>
                <a:latin typeface="+mj-lt"/>
                <a:ea typeface="+mj-ea"/>
              </a:rPr>
              <a:t>128</a:t>
            </a:r>
            <a:r>
              <a:rPr sz="3600" b="1" i="0" u="none">
                <a:solidFill>
                  <a:schemeClr val="accent5"/>
                </a:solidFill>
                <a:latin typeface="+mj-lt"/>
                <a:ea typeface="+mj-ea"/>
              </a:rPr>
              <a:t> times</a:t>
            </a:r>
          </a:p>
        </p:txBody>
      </p:sp>
      <p:sp>
        <p:nvSpPr>
          <p:cNvPr id="6" name="text s2.1.0.0.2"/>
          <p:cNvSpPr txBox="1"/>
          <p:nvPr/>
        </p:nvSpPr>
        <p:spPr>
          <a:xfrm>
            <a:off x="1019324" y="4549080"/>
            <a:ext cx="5558433" cy="3466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ts val="2730"/>
              </a:lnSpc>
            </a:pPr>
            <a:r>
              <a:rPr sz="2100" b="1">
                <a:solidFill>
                  <a:schemeClr val="tx1"/>
                </a:solidFill>
                <a:latin typeface="+mj-lt"/>
                <a:ea typeface="+mj-ea"/>
              </a:rPr>
              <a:t>Manual coordinates · 10 raw-XML patches</a:t>
            </a:r>
          </a:p>
        </p:txBody>
      </p:sp>
      <p:sp>
        <p:nvSpPr>
          <p:cNvPr id="7" name="shape s2.1.0.0.3"/>
          <p:cNvSpPr/>
          <p:nvPr/>
        </p:nvSpPr>
        <p:spPr>
          <a:xfrm>
            <a:off x="1019324" y="5010001"/>
            <a:ext cx="5558433" cy="190500"/>
          </a:xfrm>
          <a:prstGeom prst="rect">
            <a:avLst/>
          </a:prstGeom>
          <a:pattFill prst="vert">
            <a:fgClr>
              <a:schemeClr val="accent5">
                <a:alpha val="70000"/>
              </a:schemeClr>
            </a:fgClr>
            <a:bgClr>
              <a:schemeClr val="bg1">
                <a:alpha val="0"/>
              </a:schemeClr>
            </a:bgClr>
          </a:pattFill>
          <a:ln>
            <a:noFill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8" name="shape s2.1.1"/>
          <p:cNvSpPr/>
          <p:nvPr/>
        </p:nvSpPr>
        <p:spPr>
          <a:xfrm>
            <a:off x="7330380" y="1095375"/>
            <a:ext cx="4251871" cy="5153025"/>
          </a:xfrm>
          <a:prstGeom prst="roundRect">
            <a:avLst>
              <a:gd name="adj" fmla="val 5376"/>
            </a:avLst>
          </a:prstGeom>
          <a:gradFill>
            <a:gsLst>
              <a:gs pos="0">
                <a:schemeClr val="accent1"/>
              </a:gs>
              <a:gs pos="100000">
                <a:schemeClr val="accent6"/>
              </a:gs>
            </a:gsLst>
            <a:lin ang="2700000" scaled="1"/>
          </a:gradFill>
          <a:ln>
            <a:noFill/>
          </a:ln>
          <a:effectLst>
            <a:outerShdw blurRad="152400" dist="38100" dir="5400000" rotWithShape="1">
              <a:schemeClr val="tx1">
                <a:alpha val="15000"/>
              </a:schemeClr>
            </a:outerShdw>
          </a:effectLst>
        </p:spPr>
        <p:txBody>
          <a:bodyPr wrap="square" lIns="342900" tIns="342900" rIns="342900" bIns="342900" anchor="t">
            <a:normAutofit/>
          </a:bodyPr>
          <a:lstStyle/>
          <a:p/>
        </p:txBody>
      </p:sp>
      <p:sp>
        <p:nvSpPr>
          <p:cNvPr id="9" name="text s2.1.1.0.0"/>
          <p:cNvSpPr txBox="1"/>
          <p:nvPr/>
        </p:nvSpPr>
        <p:spPr>
          <a:xfrm>
            <a:off x="7740104" y="2203549"/>
            <a:ext cx="3432423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1" spc="135" cap="all">
                <a:solidFill>
                  <a:schemeClr val="bg1"/>
                </a:solidFill>
                <a:latin typeface="+mn-lt"/>
                <a:ea typeface="+mn-ea"/>
              </a:rPr>
              <a:t>balpyo</a:t>
            </a:r>
          </a:p>
        </p:txBody>
      </p:sp>
      <p:sp>
        <p:nvSpPr>
          <p:cNvPr id="10" name="text s2.1.1.0.1"/>
          <p:cNvSpPr txBox="1"/>
          <p:nvPr/>
        </p:nvSpPr>
        <p:spPr>
          <a:xfrm>
            <a:off x="7740104" y="2689324"/>
            <a:ext cx="3432423" cy="11886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9360"/>
              </a:lnSpc>
            </a:pPr>
            <a:r>
              <a:rPr sz="7800" b="1">
                <a:solidFill>
                  <a:schemeClr val="bg1"/>
                </a:solidFill>
                <a:latin typeface="+mj-lt"/>
                <a:ea typeface="+mj-ea"/>
              </a:rPr>
              <a:t>1</a:t>
            </a:r>
            <a:r>
              <a:rPr sz="3600" b="1" i="0" u="none">
                <a:solidFill>
                  <a:schemeClr val="bg1"/>
                </a:solidFill>
                <a:latin typeface="+mj-lt"/>
                <a:ea typeface="+mj-ea"/>
              </a:rPr>
              <a:t> line</a:t>
            </a:r>
          </a:p>
        </p:txBody>
      </p:sp>
      <p:sp>
        <p:nvSpPr>
          <p:cNvPr id="11" name="shape s2.1.1.0.2"/>
          <p:cNvSpPr/>
          <p:nvPr/>
        </p:nvSpPr>
        <p:spPr>
          <a:xfrm>
            <a:off x="7740104" y="4106614"/>
            <a:ext cx="3432423" cy="461963"/>
          </a:xfrm>
          <a:prstGeom prst="roundRect">
            <a:avLst>
              <a:gd name="adj" fmla="val 12371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txBody>
          <a:bodyPr wrap="square" lIns="114300" tIns="57150" rIns="114300" bIns="57150" anchor="t">
            <a:normAutofit/>
          </a:bodyPr>
          <a:lstStyle/>
          <a:p>
            <a:pPr algn="l">
              <a:lnSpc>
                <a:spcPts val="2475"/>
              </a:lnSpc>
            </a:pPr>
            <a:r>
              <a:rPr sz="1650" b="0">
                <a:solidFill>
                  <a:schemeClr val="bg1"/>
                </a:solidFill>
                <a:latin typeface="Noto Sans Mono"/>
                <a:ea typeface="Noto Sans Mono CJK KR"/>
              </a:rPr>
              <a:t>&lt;grid cols="4"&gt;</a:t>
            </a:r>
          </a:p>
        </p:txBody>
      </p:sp>
      <p:sp>
        <p:nvSpPr>
          <p:cNvPr id="12" name="text s2.1.1.0.3"/>
          <p:cNvSpPr txBox="1"/>
          <p:nvPr/>
        </p:nvSpPr>
        <p:spPr>
          <a:xfrm>
            <a:off x="7740104" y="4797177"/>
            <a:ext cx="3432423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700"/>
              </a:lnSpc>
            </a:pPr>
            <a:r>
              <a:rPr sz="1800" b="0">
                <a:solidFill>
                  <a:schemeClr val="bg1"/>
                </a:solidFill>
                <a:latin typeface="+mn-lt"/>
                <a:ea typeface="+mn-ea"/>
              </a:rPr>
              <a:t>The browser measures layout.</a:t>
            </a:r>
          </a:p>
        </p:txBody>
      </p:sp>
      <p:sp>
        <p:nvSpPr>
          <p:cNvPr id="13" name="chrome footer"/>
          <p:cNvSpPr txBox="1"/>
          <p:nvPr/>
        </p:nvSpPr>
        <p:spPr>
          <a:xfrm>
            <a:off x="609600" y="6248400"/>
            <a:ext cx="153010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Introducing balpyo</a:t>
            </a:r>
          </a:p>
        </p:txBody>
      </p:sp>
      <p:sp>
        <p:nvSpPr>
          <p:cNvPr id="14" name="chrome pageNumber"/>
          <p:cNvSpPr txBox="1"/>
          <p:nvPr/>
        </p:nvSpPr>
        <p:spPr>
          <a:xfrm>
            <a:off x="11484322" y="6248400"/>
            <a:ext cx="9807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ts val="1890"/>
              </a:lnSpc>
            </a:pPr>
            <a:fld id="{B9A1C0E4-6F3D-4A5B-8C7E-2D1F0A9B8C7D}" type="slidenum">
              <a:rPr sz="1350" b="0">
                <a:solidFill>
                  <a:schemeClr val="tx2"/>
                </a:solidFill>
                <a:latin typeface="+mn-lt"/>
                <a:ea typeface="+mn-ea"/>
              </a:rPr>
              <a:t>3</a:t>
            </a:fld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ip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s3.0"/>
          <p:cNvSpPr txBox="1"/>
          <p:nvPr/>
        </p:nvSpPr>
        <p:spPr>
          <a:xfrm>
            <a:off x="609600" y="609600"/>
            <a:ext cx="109728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1" spc="135" cap="all">
                <a:solidFill>
                  <a:schemeClr val="accent1"/>
                </a:solidFill>
                <a:latin typeface="+mn-lt"/>
                <a:ea typeface="+mn-ea"/>
              </a:rPr>
              <a:t>The path of one build</a:t>
            </a:r>
          </a:p>
        </p:txBody>
      </p:sp>
      <p:sp>
        <p:nvSpPr>
          <p:cNvPr id="3" name="h1 s3.1"/>
          <p:cNvSpPr txBox="1"/>
          <p:nvPr/>
        </p:nvSpPr>
        <p:spPr>
          <a:xfrm>
            <a:off x="609600" y="1095375"/>
            <a:ext cx="10972800" cy="6399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5040"/>
              </a:lnSpc>
            </a:pPr>
            <a:r>
              <a:rPr sz="4200" b="1">
                <a:solidFill>
                  <a:schemeClr val="tx1"/>
                </a:solidFill>
                <a:latin typeface="+mj-lt"/>
                <a:ea typeface="+mj-ea"/>
              </a:rPr>
              <a:t>One source, two outputs</a:t>
            </a:r>
          </a:p>
        </p:txBody>
      </p:sp>
      <p:sp>
        <p:nvSpPr>
          <p:cNvPr id="4" name="shape s3.2.0"/>
          <p:cNvSpPr/>
          <p:nvPr/>
        </p:nvSpPr>
        <p:spPr>
          <a:xfrm>
            <a:off x="609600" y="2964507"/>
            <a:ext cx="1428750" cy="838200"/>
          </a:xfrm>
          <a:prstGeom prst="roundRect">
            <a:avLst>
              <a:gd name="adj" fmla="val 27273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  <p:txBody>
          <a:bodyPr wrap="square" lIns="114300" tIns="114300" rIns="114300" bIns="114300" anchor="t">
            <a:normAutofit/>
          </a:bodyPr>
          <a:lstStyle/>
          <a:p/>
        </p:txBody>
      </p:sp>
      <p:sp>
        <p:nvSpPr>
          <p:cNvPr id="5" name="text s3.2.0.0.0"/>
          <p:cNvSpPr txBox="1"/>
          <p:nvPr/>
        </p:nvSpPr>
        <p:spPr>
          <a:xfrm>
            <a:off x="790724" y="3148310"/>
            <a:ext cx="1066502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0">
                <a:solidFill>
                  <a:schemeClr val="tx1"/>
                </a:solidFill>
                <a:latin typeface="Noto Sans Mono"/>
                <a:ea typeface="Noto Sans Mono CJK KR"/>
              </a:rPr>
              <a:t>.slide</a:t>
            </a:r>
          </a:p>
        </p:txBody>
      </p:sp>
      <p:sp>
        <p:nvSpPr>
          <p:cNvPr id="6" name="text s3.2.0.0.1"/>
          <p:cNvSpPr txBox="1"/>
          <p:nvPr/>
        </p:nvSpPr>
        <p:spPr>
          <a:xfrm>
            <a:off x="790724" y="3405485"/>
            <a:ext cx="1066502" cy="2132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80"/>
              </a:lnSpc>
            </a:pPr>
            <a:r>
              <a:rPr sz="1200" b="0">
                <a:solidFill>
                  <a:schemeClr val="tx2"/>
                </a:solidFill>
                <a:latin typeface="+mn-lt"/>
                <a:ea typeface="+mn-ea"/>
              </a:rPr>
              <a:t>SOML source</a:t>
            </a:r>
          </a:p>
        </p:txBody>
      </p:sp>
      <p:sp>
        <p:nvSpPr>
          <p:cNvPr id="7" name="shape s3.2.2"/>
          <p:cNvSpPr/>
          <p:nvPr/>
        </p:nvSpPr>
        <p:spPr>
          <a:xfrm>
            <a:off x="2828925" y="2964507"/>
            <a:ext cx="1428750" cy="838200"/>
          </a:xfrm>
          <a:prstGeom prst="roundRect">
            <a:avLst>
              <a:gd name="adj" fmla="val 27273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  <p:txBody>
          <a:bodyPr wrap="square" lIns="114300" tIns="114300" rIns="114300" bIns="114300" anchor="t">
            <a:normAutofit/>
          </a:bodyPr>
          <a:lstStyle/>
          <a:p/>
        </p:txBody>
      </p:sp>
      <p:sp>
        <p:nvSpPr>
          <p:cNvPr id="8" name="text s3.2.2.0.0"/>
          <p:cNvSpPr txBox="1"/>
          <p:nvPr/>
        </p:nvSpPr>
        <p:spPr>
          <a:xfrm>
            <a:off x="3010049" y="3140869"/>
            <a:ext cx="1066502" cy="2723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45"/>
              </a:lnSpc>
            </a:pPr>
            <a:r>
              <a:rPr sz="1650" b="1">
                <a:solidFill>
                  <a:schemeClr val="tx1"/>
                </a:solidFill>
                <a:latin typeface="+mj-lt"/>
                <a:ea typeface="+mj-ea"/>
              </a:rPr>
              <a:t>soml</a:t>
            </a:r>
          </a:p>
        </p:txBody>
      </p:sp>
      <p:sp>
        <p:nvSpPr>
          <p:cNvPr id="9" name="text s3.2.2.0.1"/>
          <p:cNvSpPr txBox="1"/>
          <p:nvPr/>
        </p:nvSpPr>
        <p:spPr>
          <a:xfrm>
            <a:off x="3010049" y="3413224"/>
            <a:ext cx="1066502" cy="2132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80"/>
              </a:lnSpc>
            </a:pPr>
            <a:r>
              <a:rPr sz="1200" b="0">
                <a:solidFill>
                  <a:schemeClr val="tx2"/>
                </a:solidFill>
                <a:latin typeface="+mn-lt"/>
                <a:ea typeface="+mn-ea"/>
              </a:rPr>
              <a:t>Parse · check</a:t>
            </a:r>
          </a:p>
        </p:txBody>
      </p:sp>
      <p:sp>
        <p:nvSpPr>
          <p:cNvPr id="10" name="shape s3.2.4"/>
          <p:cNvSpPr/>
          <p:nvPr/>
        </p:nvSpPr>
        <p:spPr>
          <a:xfrm>
            <a:off x="5048250" y="2964507"/>
            <a:ext cx="1428750" cy="838200"/>
          </a:xfrm>
          <a:prstGeom prst="roundRect">
            <a:avLst>
              <a:gd name="adj" fmla="val 27273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  <p:txBody>
          <a:bodyPr wrap="square" lIns="114300" tIns="114300" rIns="114300" bIns="114300" anchor="t">
            <a:normAutofit/>
          </a:bodyPr>
          <a:lstStyle/>
          <a:p/>
        </p:txBody>
      </p:sp>
      <p:sp>
        <p:nvSpPr>
          <p:cNvPr id="11" name="text s3.2.4.0.0"/>
          <p:cNvSpPr txBox="1"/>
          <p:nvPr/>
        </p:nvSpPr>
        <p:spPr>
          <a:xfrm>
            <a:off x="5229374" y="3140869"/>
            <a:ext cx="1066502" cy="2723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45"/>
              </a:lnSpc>
            </a:pPr>
            <a:r>
              <a:rPr sz="1650" b="1">
                <a:solidFill>
                  <a:schemeClr val="tx1"/>
                </a:solidFill>
                <a:latin typeface="+mj-lt"/>
                <a:ea typeface="+mj-ea"/>
              </a:rPr>
              <a:t>core</a:t>
            </a:r>
          </a:p>
        </p:txBody>
      </p:sp>
      <p:sp>
        <p:nvSpPr>
          <p:cNvPr id="12" name="text s3.2.4.0.1"/>
          <p:cNvSpPr txBox="1"/>
          <p:nvPr/>
        </p:nvSpPr>
        <p:spPr>
          <a:xfrm>
            <a:off x="5229374" y="3413224"/>
            <a:ext cx="1066502" cy="2132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80"/>
              </a:lnSpc>
            </a:pPr>
            <a:r>
              <a:rPr sz="1200" b="0">
                <a:solidFill>
                  <a:schemeClr val="tx2"/>
                </a:solidFill>
                <a:latin typeface="+mn-lt"/>
                <a:ea typeface="+mn-ea"/>
              </a:rPr>
              <a:t>Style · assets</a:t>
            </a:r>
          </a:p>
        </p:txBody>
      </p:sp>
      <p:sp>
        <p:nvSpPr>
          <p:cNvPr id="13" name="shape s3.2.6.0"/>
          <p:cNvSpPr/>
          <p:nvPr/>
        </p:nvSpPr>
        <p:spPr>
          <a:xfrm>
            <a:off x="7267575" y="2069157"/>
            <a:ext cx="2000250" cy="723900"/>
          </a:xfrm>
          <a:prstGeom prst="roundRect">
            <a:avLst>
              <a:gd name="adj" fmla="val 31579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  <p:txBody>
          <a:bodyPr wrap="square" lIns="114300" tIns="57150" rIns="114300" bIns="57150" anchor="t">
            <a:normAutofit/>
          </a:bodyPr>
          <a:lstStyle/>
          <a:p/>
        </p:txBody>
      </p:sp>
      <p:sp>
        <p:nvSpPr>
          <p:cNvPr id="14" name="text s3.2.6.0.0.0"/>
          <p:cNvSpPr txBox="1"/>
          <p:nvPr/>
        </p:nvSpPr>
        <p:spPr>
          <a:xfrm>
            <a:off x="7448699" y="2200573"/>
            <a:ext cx="1638002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</a:pPr>
            <a:r>
              <a:rPr sz="1500" b="1">
                <a:solidFill>
                  <a:schemeClr val="tx1"/>
                </a:solidFill>
                <a:latin typeface="+mj-lt"/>
                <a:ea typeface="+mj-ea"/>
              </a:rPr>
              <a:t>render/web</a:t>
            </a:r>
          </a:p>
        </p:txBody>
      </p:sp>
      <p:sp>
        <p:nvSpPr>
          <p:cNvPr id="15" name="text s3.2.6.0.0.1"/>
          <p:cNvSpPr txBox="1"/>
          <p:nvPr/>
        </p:nvSpPr>
        <p:spPr>
          <a:xfrm>
            <a:off x="7448699" y="2448223"/>
            <a:ext cx="1638002" cy="2132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80"/>
              </a:lnSpc>
            </a:pPr>
            <a:r>
              <a:rPr sz="1200" b="0">
                <a:solidFill>
                  <a:schemeClr val="tx2"/>
                </a:solidFill>
                <a:latin typeface="+mn-lt"/>
                <a:ea typeface="+mn-ea"/>
              </a:rPr>
              <a:t>HTML + CSS</a:t>
            </a:r>
          </a:p>
        </p:txBody>
      </p:sp>
      <p:sp>
        <p:nvSpPr>
          <p:cNvPr id="16" name="shape s3.2.6.1"/>
          <p:cNvSpPr/>
          <p:nvPr/>
        </p:nvSpPr>
        <p:spPr>
          <a:xfrm>
            <a:off x="7267575" y="3021657"/>
            <a:ext cx="2000250" cy="723900"/>
          </a:xfrm>
          <a:prstGeom prst="roundRect">
            <a:avLst>
              <a:gd name="adj" fmla="val 15789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dash"/>
          </a:ln>
        </p:spPr>
        <p:txBody>
          <a:bodyPr wrap="square" lIns="114300" tIns="57150" rIns="114300" bIns="57150" anchor="t">
            <a:normAutofit/>
          </a:bodyPr>
          <a:lstStyle/>
          <a:p/>
        </p:txBody>
      </p:sp>
      <p:sp>
        <p:nvSpPr>
          <p:cNvPr id="17" name="text s3.2.6.1.0.0"/>
          <p:cNvSpPr txBox="1"/>
          <p:nvPr/>
        </p:nvSpPr>
        <p:spPr>
          <a:xfrm>
            <a:off x="7415213" y="3153073"/>
            <a:ext cx="1704975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</a:pPr>
            <a:r>
              <a:rPr sz="1500" b="1">
                <a:solidFill>
                  <a:schemeClr val="accent1"/>
                </a:solidFill>
                <a:latin typeface="+mj-lt"/>
                <a:ea typeface="+mj-ea"/>
              </a:rPr>
              <a:t>render/geom</a:t>
            </a:r>
          </a:p>
        </p:txBody>
      </p:sp>
      <p:sp>
        <p:nvSpPr>
          <p:cNvPr id="18" name="text s3.2.6.1.0.1"/>
          <p:cNvSpPr txBox="1"/>
          <p:nvPr/>
        </p:nvSpPr>
        <p:spPr>
          <a:xfrm>
            <a:off x="7415213" y="3400723"/>
            <a:ext cx="1704975" cy="2132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80"/>
              </a:lnSpc>
            </a:pPr>
            <a:r>
              <a:rPr sz="1200" b="0">
                <a:solidFill>
                  <a:schemeClr val="tx2"/>
                </a:solidFill>
                <a:latin typeface="+mn-lt"/>
                <a:ea typeface="+mn-ea"/>
              </a:rPr>
              <a:t>Chromium measures</a:t>
            </a:r>
          </a:p>
        </p:txBody>
      </p:sp>
      <p:sp>
        <p:nvSpPr>
          <p:cNvPr id="19" name="shape s3.2.6.2"/>
          <p:cNvSpPr/>
          <p:nvPr/>
        </p:nvSpPr>
        <p:spPr>
          <a:xfrm>
            <a:off x="7267575" y="3974157"/>
            <a:ext cx="2000250" cy="723900"/>
          </a:xfrm>
          <a:prstGeom prst="roundRect">
            <a:avLst>
              <a:gd name="adj" fmla="val 31579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  <p:txBody>
          <a:bodyPr wrap="square" lIns="114300" tIns="57150" rIns="114300" bIns="57150" anchor="t">
            <a:normAutofit/>
          </a:bodyPr>
          <a:lstStyle/>
          <a:p/>
        </p:txBody>
      </p:sp>
      <p:sp>
        <p:nvSpPr>
          <p:cNvPr id="20" name="text s3.2.6.2.0.0"/>
          <p:cNvSpPr txBox="1"/>
          <p:nvPr/>
        </p:nvSpPr>
        <p:spPr>
          <a:xfrm>
            <a:off x="7448699" y="4105573"/>
            <a:ext cx="1638002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</a:pPr>
            <a:r>
              <a:rPr sz="1500" b="1">
                <a:solidFill>
                  <a:schemeClr val="tx1"/>
                </a:solidFill>
                <a:latin typeface="+mj-lt"/>
                <a:ea typeface="+mj-ea"/>
              </a:rPr>
              <a:t>render/pptx</a:t>
            </a:r>
          </a:p>
        </p:txBody>
      </p:sp>
      <p:sp>
        <p:nvSpPr>
          <p:cNvPr id="21" name="text s3.2.6.2.0.1"/>
          <p:cNvSpPr txBox="1"/>
          <p:nvPr/>
        </p:nvSpPr>
        <p:spPr>
          <a:xfrm>
            <a:off x="7448699" y="4353223"/>
            <a:ext cx="1638002" cy="2132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ts val="1680"/>
              </a:lnSpc>
            </a:pPr>
            <a:r>
              <a:rPr sz="1200" b="0">
                <a:solidFill>
                  <a:schemeClr val="tx2"/>
                </a:solidFill>
                <a:latin typeface="+mn-lt"/>
                <a:ea typeface="+mn-ea"/>
              </a:rPr>
              <a:t>Measured rect → EMU</a:t>
            </a:r>
          </a:p>
        </p:txBody>
      </p:sp>
      <p:sp>
        <p:nvSpPr>
          <p:cNvPr id="22" name="shape s3.2.8.0"/>
          <p:cNvSpPr/>
          <p:nvPr/>
        </p:nvSpPr>
        <p:spPr>
          <a:xfrm>
            <a:off x="10058400" y="2069157"/>
            <a:ext cx="1524000" cy="723900"/>
          </a:xfrm>
          <a:prstGeom prst="roundRect">
            <a:avLst>
              <a:gd name="adj" fmla="val 15789"/>
            </a:avLst>
          </a:prstGeom>
          <a:solidFill>
            <a:schemeClr val="accent1"/>
          </a:solidFill>
          <a:ln>
            <a:noFill/>
          </a:ln>
          <a:effectLst>
            <a:outerShdw blurRad="152400" dist="38100" dir="5400000" rotWithShape="1">
              <a:schemeClr val="tx1">
                <a:alpha val="15000"/>
              </a:schemeClr>
            </a:outerShdw>
          </a:effectLst>
        </p:spPr>
        <p:txBody>
          <a:bodyPr wrap="square" lIns="114300" tIns="57150" rIns="114300" bIns="57150" anchor="ctr">
            <a:normAutofit/>
          </a:bodyPr>
          <a:lstStyle/>
          <a:p>
            <a:pPr algn="ctr">
              <a:lnSpc>
                <a:spcPts val="2025"/>
              </a:lnSpc>
            </a:pPr>
            <a:r>
              <a:rPr sz="1350" b="0">
                <a:solidFill>
                  <a:schemeClr val="bg1"/>
                </a:solidFill>
                <a:latin typeface="Noto Sans Mono"/>
                <a:ea typeface="Noto Sans Mono CJK KR"/>
              </a:rPr>
              <a:t>index.html</a:t>
            </a:r>
          </a:p>
        </p:txBody>
      </p:sp>
      <p:sp>
        <p:nvSpPr>
          <p:cNvPr id="23" name="shape s3.2.8.1"/>
          <p:cNvSpPr/>
          <p:nvPr/>
        </p:nvSpPr>
        <p:spPr>
          <a:xfrm>
            <a:off x="10058400" y="3021657"/>
            <a:ext cx="1524000" cy="723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24" name="shape s3.2.8.2"/>
          <p:cNvSpPr/>
          <p:nvPr/>
        </p:nvSpPr>
        <p:spPr>
          <a:xfrm>
            <a:off x="10058400" y="3974157"/>
            <a:ext cx="1524000" cy="723900"/>
          </a:xfrm>
          <a:prstGeom prst="roundRect">
            <a:avLst>
              <a:gd name="adj" fmla="val 15789"/>
            </a:avLst>
          </a:prstGeom>
          <a:solidFill>
            <a:schemeClr val="accent6"/>
          </a:solidFill>
          <a:ln>
            <a:noFill/>
          </a:ln>
          <a:effectLst>
            <a:outerShdw blurRad="152400" dist="38100" dir="5400000" rotWithShape="1">
              <a:schemeClr val="tx1">
                <a:alpha val="15000"/>
              </a:schemeClr>
            </a:outerShdw>
          </a:effectLst>
        </p:spPr>
        <p:txBody>
          <a:bodyPr wrap="square" lIns="114300" tIns="57150" rIns="114300" bIns="57150" anchor="ctr">
            <a:normAutofit/>
          </a:bodyPr>
          <a:lstStyle/>
          <a:p>
            <a:pPr algn="ctr">
              <a:lnSpc>
                <a:spcPts val="2025"/>
              </a:lnSpc>
            </a:pPr>
            <a:r>
              <a:rPr sz="1350" b="0">
                <a:solidFill>
                  <a:schemeClr val="bg1"/>
                </a:solidFill>
                <a:latin typeface="Noto Sans Mono"/>
                <a:ea typeface="Noto Sans Mono CJK KR"/>
              </a:rPr>
              <a:t>deck.pptx</a:t>
            </a:r>
          </a:p>
        </p:txBody>
      </p:sp>
      <p:sp>
        <p:nvSpPr>
          <p:cNvPr id="25" name="shape s3.11.0"/>
          <p:cNvSpPr/>
          <p:nvPr/>
        </p:nvSpPr>
        <p:spPr>
          <a:xfrm>
            <a:off x="609600" y="5031879"/>
            <a:ext cx="5314950" cy="1216521"/>
          </a:xfrm>
          <a:prstGeom prst="roundRect">
            <a:avLst>
              <a:gd name="adj" fmla="val 18791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  <p:txBody>
          <a:bodyPr wrap="square" lIns="228600" tIns="228600" rIns="228600" bIns="228600" anchor="t">
            <a:normAutofit/>
          </a:bodyPr>
          <a:lstStyle/>
          <a:p/>
        </p:txBody>
      </p:sp>
      <p:sp>
        <p:nvSpPr>
          <p:cNvPr id="26" name="shape s3.11.0.0.0"/>
          <p:cNvSpPr/>
          <p:nvPr/>
        </p:nvSpPr>
        <p:spPr>
          <a:xfrm>
            <a:off x="905024" y="5327303"/>
            <a:ext cx="38100" cy="6256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27" name="text s3.11.0.0.1.0"/>
          <p:cNvSpPr txBox="1"/>
          <p:nvPr/>
        </p:nvSpPr>
        <p:spPr>
          <a:xfrm>
            <a:off x="1171724" y="5327303"/>
            <a:ext cx="4457402" cy="2970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340"/>
              </a:lnSpc>
            </a:pPr>
            <a:r>
              <a:rPr sz="1800" b="1">
                <a:solidFill>
                  <a:schemeClr val="tx1"/>
                </a:solidFill>
                <a:latin typeface="+mj-lt"/>
                <a:ea typeface="+mj-ea"/>
              </a:rPr>
              <a:t>Web · one file</a:t>
            </a:r>
          </a:p>
        </p:txBody>
      </p:sp>
      <p:sp>
        <p:nvSpPr>
          <p:cNvPr id="28" name="text s3.11.0.0.1.1"/>
          <p:cNvSpPr txBox="1"/>
          <p:nvPr/>
        </p:nvSpPr>
        <p:spPr>
          <a:xfrm>
            <a:off x="1171724" y="5681514"/>
            <a:ext cx="4457402" cy="27146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38"/>
              </a:lnSpc>
            </a:pPr>
            <a:r>
              <a:rPr sz="1425" b="0">
                <a:solidFill>
                  <a:schemeClr val="tx2"/>
                </a:solidFill>
                <a:latin typeface="+mn-lt"/>
                <a:ea typeface="+mn-ea"/>
              </a:rPr>
              <a:t>Inline CSS · presenter · overview · PDF</a:t>
            </a:r>
          </a:p>
        </p:txBody>
      </p:sp>
      <p:sp>
        <p:nvSpPr>
          <p:cNvPr id="29" name="shape s3.11.1"/>
          <p:cNvSpPr/>
          <p:nvPr/>
        </p:nvSpPr>
        <p:spPr>
          <a:xfrm>
            <a:off x="6267450" y="5031879"/>
            <a:ext cx="5314950" cy="1216521"/>
          </a:xfrm>
          <a:prstGeom prst="roundRect">
            <a:avLst>
              <a:gd name="adj" fmla="val 18791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  <p:txBody>
          <a:bodyPr wrap="square" lIns="228600" tIns="228600" rIns="228600" bIns="228600" anchor="t">
            <a:normAutofit/>
          </a:bodyPr>
          <a:lstStyle/>
          <a:p/>
        </p:txBody>
      </p:sp>
      <p:sp>
        <p:nvSpPr>
          <p:cNvPr id="30" name="shape s3.11.1.0.0"/>
          <p:cNvSpPr/>
          <p:nvPr/>
        </p:nvSpPr>
        <p:spPr>
          <a:xfrm>
            <a:off x="6562874" y="5327303"/>
            <a:ext cx="38100" cy="62567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31" name="text s3.11.1.0.1.0"/>
          <p:cNvSpPr txBox="1"/>
          <p:nvPr/>
        </p:nvSpPr>
        <p:spPr>
          <a:xfrm>
            <a:off x="6829574" y="5327303"/>
            <a:ext cx="4457402" cy="2970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340"/>
              </a:lnSpc>
            </a:pPr>
            <a:r>
              <a:rPr sz="1800" b="1">
                <a:solidFill>
                  <a:schemeClr val="tx1"/>
                </a:solidFill>
                <a:latin typeface="+mj-lt"/>
                <a:ea typeface="+mj-ea"/>
              </a:rPr>
              <a:t>PPTX · an editable original</a:t>
            </a:r>
          </a:p>
        </p:txBody>
      </p:sp>
      <p:sp>
        <p:nvSpPr>
          <p:cNvPr id="32" name="text s3.11.1.0.1.1"/>
          <p:cNvSpPr txBox="1"/>
          <p:nvPr/>
        </p:nvSpPr>
        <p:spPr>
          <a:xfrm>
            <a:off x="6829574" y="5681514"/>
            <a:ext cx="4457402" cy="27146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38"/>
              </a:lnSpc>
            </a:pPr>
            <a:r>
              <a:rPr sz="1425" b="0">
                <a:solidFill>
                  <a:schemeClr val="tx2"/>
                </a:solidFill>
                <a:latin typeface="+mn-lt"/>
                <a:ea typeface="+mn-ea"/>
              </a:rPr>
              <a:t>Text · shapes · tables · lines — not images</a:t>
            </a:r>
          </a:p>
        </p:txBody>
      </p:sp>
      <p:cxnSp>
        <p:nvCxnSpPr>
          <p:cNvPr id="33" name="connector s3.3"/>
          <p:cNvCxnSpPr>
            <a:stCxn id="4" idx="3"/>
            <a:endCxn id="7" idx="1"/>
          </p:cNvCxnSpPr>
          <p:nvPr/>
        </p:nvCxnSpPr>
        <p:spPr>
          <a:xfrm>
            <a:off x="2038350" y="3383607"/>
            <a:ext cx="790575" cy="0"/>
          </a:xfrm>
          <a:prstGeom prst="straightConnector1">
            <a:avLst/>
          </a:prstGeom>
          <a:ln w="19050">
            <a:solidFill>
              <a:schemeClr val="tx2"/>
            </a:solidFill>
            <a:prstDash val="solid"/>
            <a:headEnd type="none"/>
            <a:tailEnd type="triangle" w="lg" len="lg"/>
          </a:ln>
        </p:spPr>
      </p:cxnSp>
      <p:cxnSp>
        <p:nvCxnSpPr>
          <p:cNvPr id="34" name="connector s3.4"/>
          <p:cNvCxnSpPr>
            <a:stCxn id="7" idx="3"/>
            <a:endCxn id="10" idx="1"/>
          </p:cNvCxnSpPr>
          <p:nvPr/>
        </p:nvCxnSpPr>
        <p:spPr>
          <a:xfrm>
            <a:off x="4257675" y="3383607"/>
            <a:ext cx="790575" cy="0"/>
          </a:xfrm>
          <a:prstGeom prst="straightConnector1">
            <a:avLst/>
          </a:prstGeom>
          <a:ln w="19050">
            <a:solidFill>
              <a:schemeClr val="tx2"/>
            </a:solidFill>
            <a:prstDash val="solid"/>
            <a:headEnd type="none"/>
            <a:tailEnd type="triangle" w="lg" len="lg"/>
          </a:ln>
        </p:spPr>
      </p:cxnSp>
      <p:cxnSp>
        <p:nvCxnSpPr>
          <p:cNvPr id="35" name="connector s3.5"/>
          <p:cNvCxnSpPr>
            <a:stCxn id="10" idx="3"/>
            <a:endCxn id="13" idx="1"/>
          </p:cNvCxnSpPr>
          <p:nvPr/>
        </p:nvCxnSpPr>
        <p:spPr>
          <a:xfrm flipV="1">
            <a:off x="6477000" y="2431107"/>
            <a:ext cx="790575" cy="952500"/>
          </a:xfrm>
          <a:prstGeom prst="bentConnector3">
            <a:avLst/>
          </a:prstGeom>
          <a:ln w="19050">
            <a:solidFill>
              <a:schemeClr val="tx2"/>
            </a:solidFill>
            <a:prstDash val="solid"/>
            <a:headEnd type="none"/>
            <a:tailEnd type="triangle" w="lg" len="lg"/>
          </a:ln>
        </p:spPr>
      </p:cxnSp>
      <p:cxnSp>
        <p:nvCxnSpPr>
          <p:cNvPr id="36" name="connector s3.6"/>
          <p:cNvCxnSpPr>
            <a:stCxn id="10" idx="3"/>
            <a:endCxn id="19" idx="1"/>
          </p:cNvCxnSpPr>
          <p:nvPr/>
        </p:nvCxnSpPr>
        <p:spPr>
          <a:xfrm>
            <a:off x="6477000" y="3383607"/>
            <a:ext cx="790575" cy="952500"/>
          </a:xfrm>
          <a:prstGeom prst="bentConnector3">
            <a:avLst/>
          </a:prstGeom>
          <a:ln w="19050">
            <a:solidFill>
              <a:schemeClr val="tx2"/>
            </a:solidFill>
            <a:prstDash val="solid"/>
            <a:headEnd type="none"/>
            <a:tailEnd type="triangle" w="lg" len="lg"/>
          </a:ln>
        </p:spPr>
      </p:cxnSp>
      <p:cxnSp>
        <p:nvCxnSpPr>
          <p:cNvPr id="37" name="connector s3.7"/>
          <p:cNvCxnSpPr>
            <a:stCxn id="13" idx="2"/>
            <a:endCxn id="16" idx="0"/>
          </p:cNvCxnSpPr>
          <p:nvPr/>
        </p:nvCxnSpPr>
        <p:spPr>
          <a:xfrm>
            <a:off x="8267700" y="2793057"/>
            <a:ext cx="0" cy="228600"/>
          </a:xfrm>
          <a:prstGeom prst="straightConnector1">
            <a:avLst/>
          </a:prstGeom>
          <a:ln w="19050">
            <a:solidFill>
              <a:schemeClr val="accent1"/>
            </a:solidFill>
            <a:prstDash val="solid"/>
            <a:headEnd type="none"/>
            <a:tailEnd type="triangle" w="lg" len="lg"/>
          </a:ln>
        </p:spPr>
      </p:cxnSp>
      <p:cxnSp>
        <p:nvCxnSpPr>
          <p:cNvPr id="38" name="connector s3.8"/>
          <p:cNvCxnSpPr>
            <a:stCxn id="16" idx="2"/>
            <a:endCxn id="19" idx="0"/>
          </p:cNvCxnSpPr>
          <p:nvPr/>
        </p:nvCxnSpPr>
        <p:spPr>
          <a:xfrm>
            <a:off x="8267700" y="3745557"/>
            <a:ext cx="0" cy="228600"/>
          </a:xfrm>
          <a:prstGeom prst="straightConnector1">
            <a:avLst/>
          </a:prstGeom>
          <a:ln w="19050">
            <a:solidFill>
              <a:schemeClr val="accent1"/>
            </a:solidFill>
            <a:prstDash val="solid"/>
            <a:headEnd type="none"/>
            <a:tailEnd type="triangle" w="lg" len="lg"/>
          </a:ln>
        </p:spPr>
      </p:cxnSp>
      <p:cxnSp>
        <p:nvCxnSpPr>
          <p:cNvPr id="39" name="connector s3.9"/>
          <p:cNvCxnSpPr>
            <a:stCxn id="13" idx="3"/>
            <a:endCxn id="22" idx="1"/>
          </p:cNvCxnSpPr>
          <p:nvPr/>
        </p:nvCxnSpPr>
        <p:spPr>
          <a:xfrm>
            <a:off x="9267825" y="2431107"/>
            <a:ext cx="790575" cy="0"/>
          </a:xfrm>
          <a:prstGeom prst="straightConnector1">
            <a:avLst/>
          </a:prstGeom>
          <a:ln w="19050">
            <a:solidFill>
              <a:schemeClr val="tx2"/>
            </a:solidFill>
            <a:prstDash val="solid"/>
            <a:headEnd type="none"/>
            <a:tailEnd type="triangle" w="lg" len="lg"/>
          </a:ln>
        </p:spPr>
      </p:cxnSp>
      <p:cxnSp>
        <p:nvCxnSpPr>
          <p:cNvPr id="40" name="connector s3.10"/>
          <p:cNvCxnSpPr>
            <a:stCxn id="19" idx="3"/>
            <a:endCxn id="24" idx="1"/>
          </p:cNvCxnSpPr>
          <p:nvPr/>
        </p:nvCxnSpPr>
        <p:spPr>
          <a:xfrm>
            <a:off x="9267825" y="4336107"/>
            <a:ext cx="790575" cy="0"/>
          </a:xfrm>
          <a:prstGeom prst="straightConnector1">
            <a:avLst/>
          </a:prstGeom>
          <a:ln w="19050">
            <a:solidFill>
              <a:schemeClr val="tx2"/>
            </a:solidFill>
            <a:prstDash val="solid"/>
            <a:headEnd type="none"/>
            <a:tailEnd type="triangle" w="lg" len="lg"/>
          </a:ln>
        </p:spPr>
      </p:cxnSp>
      <p:sp>
        <p:nvSpPr>
          <p:cNvPr id="41" name="chrome footer"/>
          <p:cNvSpPr txBox="1"/>
          <p:nvPr/>
        </p:nvSpPr>
        <p:spPr>
          <a:xfrm>
            <a:off x="609600" y="6248400"/>
            <a:ext cx="153010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Introducing balpyo</a:t>
            </a:r>
          </a:p>
        </p:txBody>
      </p:sp>
      <p:sp>
        <p:nvSpPr>
          <p:cNvPr id="42" name="chrome pageNumber"/>
          <p:cNvSpPr txBox="1"/>
          <p:nvPr/>
        </p:nvSpPr>
        <p:spPr>
          <a:xfrm>
            <a:off x="11484322" y="6248400"/>
            <a:ext cx="9807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ts val="1890"/>
              </a:lnSpc>
            </a:pPr>
            <a:fld id="{B9A1C0E4-6F3D-4A5B-8C7E-2D1F0A9B8C7D}" type="slidenum">
              <a:rPr sz="1350" b="0">
                <a:solidFill>
                  <a:schemeClr val="tx2"/>
                </a:solidFill>
                <a:latin typeface="+mn-lt"/>
                <a:ea typeface="+mn-ea"/>
              </a:rPr>
              <a:t>4</a:t>
            </a:fld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8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1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1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1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8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8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42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7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42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42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42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6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6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" presetID="42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7" dur="6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6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42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2" dur="6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6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4" presetID="42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7" dur="6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6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9" presetID="42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2" dur="6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6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s4.0"/>
          <p:cNvSpPr txBox="1"/>
          <p:nvPr/>
        </p:nvSpPr>
        <p:spPr>
          <a:xfrm>
            <a:off x="609600" y="609600"/>
            <a:ext cx="109728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1" spc="135" cap="all">
                <a:solidFill>
                  <a:schemeClr val="accent1"/>
                </a:solidFill>
                <a:latin typeface="+mn-lt"/>
                <a:ea typeface="+mn-ea"/>
              </a:rPr>
              <a:t>Project</a:t>
            </a:r>
          </a:p>
        </p:txBody>
      </p:sp>
      <p:sp>
        <p:nvSpPr>
          <p:cNvPr id="3" name="h1 s4.1"/>
          <p:cNvSpPr txBox="1"/>
          <p:nvPr/>
        </p:nvSpPr>
        <p:spPr>
          <a:xfrm>
            <a:off x="609600" y="1095375"/>
            <a:ext cx="10972800" cy="6399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5040"/>
              </a:lnSpc>
            </a:pPr>
            <a:r>
              <a:rPr sz="4200" b="1">
                <a:solidFill>
                  <a:schemeClr val="tx1"/>
                </a:solidFill>
                <a:latin typeface="+mj-lt"/>
                <a:ea typeface="+mj-ea"/>
              </a:rPr>
              <a:t>One project is one deck</a:t>
            </a:r>
          </a:p>
        </p:txBody>
      </p:sp>
      <p:sp>
        <p:nvSpPr>
          <p:cNvPr id="4" name="shape s4.2.0"/>
          <p:cNvSpPr/>
          <p:nvPr/>
        </p:nvSpPr>
        <p:spPr>
          <a:xfrm>
            <a:off x="609600" y="1963936"/>
            <a:ext cx="4779764" cy="3476923"/>
          </a:xfrm>
          <a:prstGeom prst="roundRect">
            <a:avLst>
              <a:gd name="adj" fmla="val 6575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5" name="shape s4.2.0.0.0"/>
          <p:cNvSpPr/>
          <p:nvPr/>
        </p:nvSpPr>
        <p:spPr>
          <a:xfrm>
            <a:off x="676424" y="2030760"/>
            <a:ext cx="4646116" cy="4429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228600" tIns="114300" rIns="228600" bIns="114300" anchor="t">
            <a:normAutofit/>
          </a:bodyPr>
          <a:lstStyle/>
          <a:p/>
        </p:txBody>
      </p:sp>
      <p:sp>
        <p:nvSpPr>
          <p:cNvPr id="6" name="shape s4.2.0.0.0.0.0"/>
          <p:cNvSpPr/>
          <p:nvPr/>
        </p:nvSpPr>
        <p:spPr>
          <a:xfrm>
            <a:off x="905024" y="2195066"/>
            <a:ext cx="114300" cy="1143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7" name="shape s4.2.0.0.0.0.1"/>
          <p:cNvSpPr/>
          <p:nvPr/>
        </p:nvSpPr>
        <p:spPr>
          <a:xfrm>
            <a:off x="1076474" y="2195066"/>
            <a:ext cx="114300" cy="1143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8" name="shape s4.2.0.0.0.0.2"/>
          <p:cNvSpPr/>
          <p:nvPr/>
        </p:nvSpPr>
        <p:spPr>
          <a:xfrm>
            <a:off x="1247924" y="2195066"/>
            <a:ext cx="114300" cy="114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9" name="text s4.2.0.0.0.0.3"/>
          <p:cNvSpPr txBox="1"/>
          <p:nvPr/>
        </p:nvSpPr>
        <p:spPr>
          <a:xfrm>
            <a:off x="1419374" y="2145060"/>
            <a:ext cx="1286024" cy="21431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ts val="1688"/>
              </a:lnSpc>
            </a:pPr>
            <a:r>
              <a:rPr sz="1125" b="0">
                <a:solidFill>
                  <a:schemeClr val="tx2"/>
                </a:solidFill>
                <a:latin typeface="Noto Sans Mono"/>
                <a:ea typeface="Noto Sans Mono CJK KR"/>
              </a:rPr>
              <a:t>~/talks/my-deck</a:t>
            </a:r>
          </a:p>
        </p:txBody>
      </p:sp>
      <p:sp>
        <p:nvSpPr>
          <p:cNvPr id="10" name="pre s4.2.0.0.1.0"/>
          <p:cNvSpPr txBox="1"/>
          <p:nvPr/>
        </p:nvSpPr>
        <p:spPr>
          <a:xfrm>
            <a:off x="1019324" y="2702272"/>
            <a:ext cx="3960316" cy="24431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138"/>
              </a:lnSpc>
            </a:pPr>
            <a:r>
              <a:rPr sz="1425" b="0">
                <a:solidFill>
                  <a:schemeClr val="tx1"/>
                </a:solidFill>
                <a:latin typeface="Noto Sans Mono"/>
                <a:ea typeface="Noto Sans Mono CJK KR"/>
              </a:rPr>
              <a:t>my-deck/</a:t>
            </a:r>
            <a:br/>
            <a:r>
              <a:rPr sz="1425" b="0">
                <a:solidFill>
                  <a:schemeClr val="tx1"/>
                </a:solidFill>
                <a:latin typeface="Noto Sans Mono"/>
                <a:ea typeface="Noto Sans Mono CJK KR"/>
              </a:rPr>
              <a:t>  balpyo.json        ⑤</a:t>
            </a:r>
            <a:br/>
            <a:r>
              <a:rPr sz="1425" b="0">
                <a:solidFill>
                  <a:schemeClr val="tx1"/>
                </a:solidFill>
                <a:latin typeface="Noto Sans Mono"/>
                <a:ea typeface="Noto Sans Mono CJK KR"/>
              </a:rPr>
              <a:t>  slides/</a:t>
            </a:r>
            <a:br/>
            <a:r>
              <a:rPr sz="1425" b="0">
                <a:solidFill>
                  <a:schemeClr val="tx1"/>
                </a:solidFill>
                <a:latin typeface="Noto Sans Mono"/>
                <a:ea typeface="Noto Sans Mono CJK KR"/>
              </a:rPr>
              <a:t>    001_cover.slide  ①</a:t>
            </a:r>
            <a:br/>
            <a:r>
              <a:rPr sz="1425" b="0">
                <a:solidFill>
                  <a:schemeClr val="tx1"/>
                </a:solidFill>
                <a:latin typeface="Noto Sans Mono"/>
                <a:ea typeface="Noto Sans Mono CJK KR"/>
              </a:rPr>
              <a:t>    002_problem.slide</a:t>
            </a:r>
            <a:br/>
            <a:r>
              <a:rPr sz="1425" b="0">
                <a:solidFill>
                  <a:schemeClr val="tx1"/>
                </a:solidFill>
                <a:latin typeface="Noto Sans Mono"/>
                <a:ea typeface="Noto Sans Mono CJK KR"/>
              </a:rPr>
              <a:t>    _draft.slide     ③</a:t>
            </a:r>
            <a:br/>
            <a:r>
              <a:rPr sz="1425" b="0">
                <a:solidFill>
                  <a:schemeClr val="tx1"/>
                </a:solidFill>
                <a:latin typeface="Noto Sans Mono"/>
                <a:ea typeface="Noto Sans Mono CJK KR"/>
              </a:rPr>
              <a:t>    chapter-2/       ④</a:t>
            </a:r>
            <a:br/>
            <a:r>
              <a:rPr sz="1425" b="0">
                <a:solidFill>
                  <a:schemeClr val="tx1"/>
                </a:solidFill>
                <a:latin typeface="Noto Sans Mono"/>
                <a:ea typeface="Noto Sans Mono CJK KR"/>
              </a:rPr>
              <a:t>  assets/</a:t>
            </a:r>
            <a:br/>
            <a:r>
              <a:rPr sz="1425" b="0">
                <a:solidFill>
                  <a:schemeClr val="tx1"/>
                </a:solidFill>
                <a:latin typeface="Noto Sans Mono"/>
                <a:ea typeface="Noto Sans Mono CJK KR"/>
              </a:rPr>
              <a:t>  themes/my-brand/</a:t>
            </a:r>
          </a:p>
        </p:txBody>
      </p:sp>
      <p:sp>
        <p:nvSpPr>
          <p:cNvPr id="11" name="shape s4.2.1.0.0"/>
          <p:cNvSpPr/>
          <p:nvPr/>
        </p:nvSpPr>
        <p:spPr>
          <a:xfrm>
            <a:off x="5846564" y="2292697"/>
            <a:ext cx="381000" cy="381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890"/>
              </a:lnSpc>
            </a:pPr>
            <a:r>
              <a:rPr sz="1350" b="1" i="0" u="none">
                <a:solidFill>
                  <a:schemeClr val="bg1"/>
                </a:solidFill>
                <a:latin typeface="+mn-lt"/>
                <a:ea typeface="+mn-ea"/>
              </a:rPr>
              <a:t>1</a:t>
            </a:r>
          </a:p>
        </p:txBody>
      </p:sp>
      <p:sp>
        <p:nvSpPr>
          <p:cNvPr id="12" name="text s4.2.1.0.1"/>
          <p:cNvSpPr txBox="1"/>
          <p:nvPr/>
        </p:nvSpPr>
        <p:spPr>
          <a:xfrm>
            <a:off x="6456164" y="2326035"/>
            <a:ext cx="5126236" cy="314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475"/>
              </a:lnSpc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</a:rPr>
              <a:t>One slide is one file</a:t>
            </a:r>
          </a:p>
        </p:txBody>
      </p:sp>
      <p:sp>
        <p:nvSpPr>
          <p:cNvPr id="13" name="shape s4.2.1.1.0"/>
          <p:cNvSpPr/>
          <p:nvPr/>
        </p:nvSpPr>
        <p:spPr>
          <a:xfrm>
            <a:off x="5846564" y="2902297"/>
            <a:ext cx="381000" cy="381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890"/>
              </a:lnSpc>
            </a:pPr>
            <a:r>
              <a:rPr sz="1350" b="1" i="0" u="none">
                <a:solidFill>
                  <a:schemeClr val="bg1"/>
                </a:solidFill>
                <a:latin typeface="+mn-lt"/>
                <a:ea typeface="+mn-ea"/>
              </a:rPr>
              <a:t>2</a:t>
            </a:r>
          </a:p>
        </p:txBody>
      </p:sp>
      <p:sp>
        <p:nvSpPr>
          <p:cNvPr id="14" name="text s4.2.1.1.1"/>
          <p:cNvSpPr txBox="1"/>
          <p:nvPr/>
        </p:nvSpPr>
        <p:spPr>
          <a:xfrm>
            <a:off x="6456164" y="2935635"/>
            <a:ext cx="5126236" cy="314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475"/>
              </a:lnSpc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</a:rPr>
              <a:t>Sorted by path — numeric prefixes set the order</a:t>
            </a:r>
          </a:p>
        </p:txBody>
      </p:sp>
      <p:sp>
        <p:nvSpPr>
          <p:cNvPr id="15" name="shape s4.2.1.2.0"/>
          <p:cNvSpPr/>
          <p:nvPr/>
        </p:nvSpPr>
        <p:spPr>
          <a:xfrm>
            <a:off x="5846564" y="3511897"/>
            <a:ext cx="381000" cy="381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890"/>
              </a:lnSpc>
            </a:pPr>
            <a:r>
              <a:rPr sz="1350" b="1" i="0" u="none">
                <a:solidFill>
                  <a:schemeClr val="bg1"/>
                </a:solidFill>
                <a:latin typeface="+mn-lt"/>
                <a:ea typeface="+mn-ea"/>
              </a:rPr>
              <a:t>3</a:t>
            </a:r>
          </a:p>
        </p:txBody>
      </p:sp>
      <p:sp>
        <p:nvSpPr>
          <p:cNvPr id="16" name="text s4.2.1.2.1"/>
          <p:cNvSpPr txBox="1"/>
          <p:nvPr/>
        </p:nvSpPr>
        <p:spPr>
          <a:xfrm>
            <a:off x="6456164" y="3545235"/>
            <a:ext cx="5126236" cy="314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chemeClr val="tx1"/>
                </a:solidFill>
                <a:latin typeface="Noto Sans Mono"/>
                <a:ea typeface="Noto Sans Mono CJK KR"/>
              </a:rPr>
              <a:t>_</a:t>
            </a:r>
            <a:r>
              <a:rPr sz="1650" b="0">
                <a:solidFill>
                  <a:schemeClr val="tx1"/>
                </a:solidFill>
                <a:latin typeface="+mn-lt"/>
                <a:ea typeface="+mn-ea"/>
              </a:rPr>
              <a:t>-prefixed files are skipped (drafts)</a:t>
            </a:r>
          </a:p>
        </p:txBody>
      </p:sp>
      <p:sp>
        <p:nvSpPr>
          <p:cNvPr id="17" name="shape s4.2.1.3.0"/>
          <p:cNvSpPr/>
          <p:nvPr/>
        </p:nvSpPr>
        <p:spPr>
          <a:xfrm>
            <a:off x="5846564" y="4121497"/>
            <a:ext cx="381000" cy="381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890"/>
              </a:lnSpc>
            </a:pPr>
            <a:r>
              <a:rPr sz="1350" b="1" i="0" u="none">
                <a:solidFill>
                  <a:schemeClr val="bg1"/>
                </a:solidFill>
                <a:latin typeface="+mn-lt"/>
                <a:ea typeface="+mn-ea"/>
              </a:rPr>
              <a:t>4</a:t>
            </a:r>
          </a:p>
        </p:txBody>
      </p:sp>
      <p:sp>
        <p:nvSpPr>
          <p:cNvPr id="18" name="text s4.2.1.3.1"/>
          <p:cNvSpPr txBox="1"/>
          <p:nvPr/>
        </p:nvSpPr>
        <p:spPr>
          <a:xfrm>
            <a:off x="6456164" y="4154835"/>
            <a:ext cx="5126236" cy="314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475"/>
              </a:lnSpc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</a:rPr>
              <a:t>Subdirectories become chapters</a:t>
            </a:r>
          </a:p>
        </p:txBody>
      </p:sp>
      <p:sp>
        <p:nvSpPr>
          <p:cNvPr id="19" name="shape s4.2.1.4.0"/>
          <p:cNvSpPr/>
          <p:nvPr/>
        </p:nvSpPr>
        <p:spPr>
          <a:xfrm>
            <a:off x="5846564" y="4731097"/>
            <a:ext cx="381000" cy="38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890"/>
              </a:lnSpc>
            </a:pPr>
            <a:r>
              <a:rPr sz="1350" b="1" i="0" u="none">
                <a:solidFill>
                  <a:schemeClr val="bg1"/>
                </a:solidFill>
                <a:latin typeface="+mn-lt"/>
                <a:ea typeface="+mn-ea"/>
              </a:rPr>
              <a:t>5</a:t>
            </a:r>
          </a:p>
        </p:txBody>
      </p:sp>
      <p:sp>
        <p:nvSpPr>
          <p:cNvPr id="20" name="text s4.2.1.4.1"/>
          <p:cNvSpPr txBox="1"/>
          <p:nvPr/>
        </p:nvSpPr>
        <p:spPr>
          <a:xfrm>
            <a:off x="6456164" y="4764435"/>
            <a:ext cx="5126236" cy="314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475"/>
              </a:lnSpc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</a:rPr>
              <a:t>Deck settings live in one file: </a:t>
            </a:r>
            <a:r>
              <a:rPr sz="1650" b="0" i="0" u="none">
                <a:solidFill>
                  <a:schemeClr val="tx1"/>
                </a:solidFill>
                <a:latin typeface="Noto Sans Mono"/>
                <a:ea typeface="Noto Sans Mono CJK KR"/>
              </a:rPr>
              <a:t>balpyo.json</a:t>
            </a:r>
          </a:p>
        </p:txBody>
      </p:sp>
      <p:sp>
        <p:nvSpPr>
          <p:cNvPr id="21" name="shape s4.3"/>
          <p:cNvSpPr/>
          <p:nvPr/>
        </p:nvSpPr>
        <p:spPr>
          <a:xfrm>
            <a:off x="609600" y="5669459"/>
            <a:ext cx="10972800" cy="581025"/>
          </a:xfrm>
          <a:prstGeom prst="roundRect">
            <a:avLst>
              <a:gd name="adj" fmla="val 19672"/>
            </a:avLst>
          </a:prstGeom>
          <a:solidFill>
            <a:schemeClr val="tx1"/>
          </a:solidFill>
          <a:ln>
            <a:noFill/>
          </a:ln>
        </p:spPr>
        <p:txBody>
          <a:bodyPr wrap="square" lIns="228600" tIns="114300" rIns="228600" bIns="114300" anchor="t">
            <a:norm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chemeClr val="accent3"/>
                </a:solidFill>
                <a:latin typeface="Noto Sans Mono"/>
                <a:ea typeface="Noto Sans Mono CJK KR"/>
              </a:rPr>
              <a:t>$</a:t>
            </a:r>
            <a:r>
              <a:rPr sz="1500" b="0">
                <a:solidFill>
                  <a:schemeClr val="bg1"/>
                </a:solidFill>
                <a:latin typeface="Noto Sans Mono"/>
                <a:ea typeface="Noto Sans Mono CJK KR"/>
              </a:rPr>
              <a:t> balpyo build --project my-deck --target html,pptx</a:t>
            </a:r>
          </a:p>
        </p:txBody>
      </p:sp>
      <p:sp>
        <p:nvSpPr>
          <p:cNvPr id="22" name="chrome footer"/>
          <p:cNvSpPr txBox="1"/>
          <p:nvPr/>
        </p:nvSpPr>
        <p:spPr>
          <a:xfrm>
            <a:off x="609600" y="6248400"/>
            <a:ext cx="153010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Introducing balpyo</a:t>
            </a:r>
          </a:p>
        </p:txBody>
      </p:sp>
      <p:sp>
        <p:nvSpPr>
          <p:cNvPr id="23" name="chrome pageNumber"/>
          <p:cNvSpPr txBox="1"/>
          <p:nvPr/>
        </p:nvSpPr>
        <p:spPr>
          <a:xfrm>
            <a:off x="11484322" y="6248400"/>
            <a:ext cx="9807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ts val="1890"/>
              </a:lnSpc>
            </a:pPr>
            <a:fld id="{B9A1C0E4-6F3D-4A5B-8C7E-2D1F0A9B8C7D}" type="slidenum">
              <a:rPr sz="1350" b="0">
                <a:solidFill>
                  <a:schemeClr val="tx2"/>
                </a:solidFill>
                <a:latin typeface="+mn-lt"/>
                <a:ea typeface="+mn-ea"/>
              </a:rPr>
              <a:t>5</a:t>
            </a:fld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eomet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s5.0"/>
          <p:cNvSpPr txBox="1"/>
          <p:nvPr/>
        </p:nvSpPr>
        <p:spPr>
          <a:xfrm>
            <a:off x="609600" y="609600"/>
            <a:ext cx="109728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1" spc="135" cap="all">
                <a:solidFill>
                  <a:schemeClr val="accent1"/>
                </a:solidFill>
                <a:latin typeface="+mn-lt"/>
                <a:ea typeface="+mn-ea"/>
              </a:rPr>
              <a:t>Geometry pass</a:t>
            </a:r>
          </a:p>
        </p:txBody>
      </p:sp>
      <p:sp>
        <p:nvSpPr>
          <p:cNvPr id="3" name="h1 s5.1"/>
          <p:cNvSpPr txBox="1"/>
          <p:nvPr/>
        </p:nvSpPr>
        <p:spPr>
          <a:xfrm>
            <a:off x="609600" y="1095375"/>
            <a:ext cx="10972800" cy="6399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5040"/>
              </a:lnSpc>
            </a:pPr>
            <a:r>
              <a:rPr sz="4200" b="1">
                <a:solidFill>
                  <a:schemeClr val="tx1"/>
                </a:solidFill>
                <a:latin typeface="+mj-lt"/>
                <a:ea typeface="+mj-ea"/>
              </a:rPr>
              <a:t>The browser computes the coordinates</a:t>
            </a:r>
          </a:p>
        </p:txBody>
      </p:sp>
      <p:sp>
        <p:nvSpPr>
          <p:cNvPr id="4" name="shape s5.2.0"/>
          <p:cNvSpPr/>
          <p:nvPr/>
        </p:nvSpPr>
        <p:spPr>
          <a:xfrm>
            <a:off x="609600" y="1963936"/>
            <a:ext cx="3429000" cy="3453705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  <p:txBody>
          <a:bodyPr wrap="square" lIns="228600" tIns="228600" rIns="228600" bIns="228600" anchor="t">
            <a:normAutofit/>
          </a:bodyPr>
          <a:lstStyle/>
          <a:p/>
        </p:txBody>
      </p:sp>
      <p:sp>
        <p:nvSpPr>
          <p:cNvPr id="5" name="shape s5.2.0.0.0.0"/>
          <p:cNvSpPr/>
          <p:nvPr/>
        </p:nvSpPr>
        <p:spPr>
          <a:xfrm>
            <a:off x="905024" y="2259360"/>
            <a:ext cx="2838152" cy="419100"/>
          </a:xfrm>
          <a:prstGeom prst="roundRect">
            <a:avLst>
              <a:gd name="adj" fmla="val 13636"/>
            </a:avLst>
          </a:prstGeom>
          <a:solidFill>
            <a:schemeClr val="accent1"/>
          </a:solidFill>
          <a:ln>
            <a:noFill/>
          </a:ln>
        </p:spPr>
        <p:txBody>
          <a:bodyPr wrap="square" lIns="57150" tIns="57150" rIns="57150" bIns="57150" anchor="ctr">
            <a:normAutofit/>
          </a:bodyPr>
          <a:lstStyle/>
          <a:p>
            <a:pPr algn="ctr">
              <a:lnSpc>
                <a:spcPts val="2700"/>
              </a:lnSpc>
            </a:pPr>
            <a:r>
              <a:rPr sz="1800" b="1" i="0" u="none">
                <a:solidFill>
                  <a:schemeClr val="bg1"/>
                </a:solidFill>
                <a:latin typeface="+mn-lt"/>
                <a:ea typeface="+mn-ea"/>
              </a:rPr>
              <a:t>① Declare</a:t>
            </a:r>
          </a:p>
        </p:txBody>
      </p:sp>
      <p:sp>
        <p:nvSpPr>
          <p:cNvPr id="6" name="shape s5.2.0.0.0.1"/>
          <p:cNvSpPr/>
          <p:nvPr/>
        </p:nvSpPr>
        <p:spPr>
          <a:xfrm>
            <a:off x="905024" y="2792760"/>
            <a:ext cx="2838152" cy="990600"/>
          </a:xfrm>
          <a:prstGeom prst="roundRect">
            <a:avLst>
              <a:gd name="adj" fmla="val 5769"/>
            </a:avLst>
          </a:prstGeom>
          <a:solidFill>
            <a:schemeClr val="tx1">
              <a:alpha val="5000"/>
            </a:schemeClr>
          </a:solidFill>
          <a:ln>
            <a:noFill/>
          </a:ln>
        </p:spPr>
        <p:txBody>
          <a:bodyPr wrap="square" lIns="114300" tIns="57150" rIns="114300" bIns="57150" anchor="t">
            <a:norm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chemeClr val="accent1"/>
                </a:solidFill>
                <a:latin typeface="Noto Sans Mono"/>
                <a:ea typeface="Noto Sans Mono CJK KR"/>
              </a:rPr>
              <a:t>&lt;row</a:t>
            </a:r>
            <a:r>
              <a:rPr sz="1050" b="0">
                <a:solidFill>
                  <a:schemeClr val="tx1"/>
                </a:solidFill>
                <a:latin typeface="Noto Sans Mono"/>
                <a:ea typeface="Noto Sans Mono CJK KR"/>
              </a:rPr>
              <a:t> </a:t>
            </a:r>
            <a:r>
              <a:rPr sz="1050" b="0" i="0" u="none">
                <a:solidFill>
                  <a:schemeClr val="accent2"/>
                </a:solidFill>
                <a:latin typeface="Noto Sans Mono"/>
                <a:ea typeface="Noto Sans Mono CJK KR"/>
              </a:rPr>
              <a:t>gap=</a:t>
            </a:r>
            <a:r>
              <a:rPr sz="1050" b="0" i="0" u="none">
                <a:solidFill>
                  <a:schemeClr val="accent3"/>
                </a:solidFill>
                <a:latin typeface="Noto Sans Mono"/>
                <a:ea typeface="Noto Sans Mono CJK KR"/>
              </a:rPr>
              <a:t>"md"</a:t>
            </a:r>
            <a:r>
              <a:rPr sz="1050" b="0" i="0" u="none">
                <a:solidFill>
                  <a:schemeClr val="accent1"/>
                </a:solidFill>
                <a:latin typeface="Noto Sans Mono"/>
                <a:ea typeface="Noto Sans Mono CJK KR"/>
              </a:rPr>
              <a:t>&gt;</a:t>
            </a:r>
            <a:br/>
            <a:r>
              <a:rPr sz="1050" b="0">
                <a:solidFill>
                  <a:schemeClr val="tx1"/>
                </a:solidFill>
                <a:latin typeface="Noto Sans Mono"/>
                <a:ea typeface="Noto Sans Mono CJK KR"/>
              </a:rPr>
              <a:t>  </a:t>
            </a:r>
            <a:r>
              <a:rPr sz="1050" b="0" i="0" u="none">
                <a:solidFill>
                  <a:schemeClr val="accent1"/>
                </a:solidFill>
                <a:latin typeface="Noto Sans Mono"/>
                <a:ea typeface="Noto Sans Mono CJK KR"/>
              </a:rPr>
              <a:t>&lt;shape</a:t>
            </a:r>
            <a:r>
              <a:rPr sz="1050" b="0">
                <a:solidFill>
                  <a:schemeClr val="tx1"/>
                </a:solidFill>
                <a:latin typeface="Noto Sans Mono"/>
                <a:ea typeface="Noto Sans Mono CJK KR"/>
              </a:rPr>
              <a:t> </a:t>
            </a:r>
            <a:r>
              <a:rPr sz="1050" b="0" i="0" u="none">
                <a:solidFill>
                  <a:schemeClr val="accent2"/>
                </a:solidFill>
                <a:latin typeface="Noto Sans Mono"/>
                <a:ea typeface="Noto Sans Mono CJK KR"/>
              </a:rPr>
              <a:t>w=</a:t>
            </a:r>
            <a:r>
              <a:rPr sz="1050" b="0" i="0" u="none">
                <a:solidFill>
                  <a:schemeClr val="accent3"/>
                </a:solidFill>
                <a:latin typeface="Noto Sans Mono"/>
                <a:ea typeface="Noto Sans Mono CJK KR"/>
              </a:rPr>
              <a:t>"fill"</a:t>
            </a:r>
            <a:r>
              <a:rPr sz="1050" b="0" i="0" u="none">
                <a:solidFill>
                  <a:schemeClr val="accent1"/>
                </a:solidFill>
                <a:latin typeface="Noto Sans Mono"/>
                <a:ea typeface="Noto Sans Mono CJK KR"/>
              </a:rPr>
              <a:t>/&gt;</a:t>
            </a:r>
            <a:br/>
            <a:r>
              <a:rPr sz="1050" b="0">
                <a:solidFill>
                  <a:schemeClr val="tx1"/>
                </a:solidFill>
                <a:latin typeface="Noto Sans Mono"/>
                <a:ea typeface="Noto Sans Mono CJK KR"/>
              </a:rPr>
              <a:t>  </a:t>
            </a:r>
            <a:r>
              <a:rPr sz="1050" b="0" i="0" u="none">
                <a:solidFill>
                  <a:schemeClr val="accent1"/>
                </a:solidFill>
                <a:latin typeface="Noto Sans Mono"/>
                <a:ea typeface="Noto Sans Mono CJK KR"/>
              </a:rPr>
              <a:t>&lt;shape</a:t>
            </a:r>
            <a:r>
              <a:rPr sz="1050" b="0">
                <a:solidFill>
                  <a:schemeClr val="tx1"/>
                </a:solidFill>
                <a:latin typeface="Noto Sans Mono"/>
                <a:ea typeface="Noto Sans Mono CJK KR"/>
              </a:rPr>
              <a:t> </a:t>
            </a:r>
            <a:r>
              <a:rPr sz="1050" b="0" i="0" u="none">
                <a:solidFill>
                  <a:schemeClr val="accent2"/>
                </a:solidFill>
                <a:latin typeface="Noto Sans Mono"/>
                <a:ea typeface="Noto Sans Mono CJK KR"/>
              </a:rPr>
              <a:t>w=</a:t>
            </a:r>
            <a:r>
              <a:rPr sz="1050" b="0" i="0" u="none">
                <a:solidFill>
                  <a:schemeClr val="accent3"/>
                </a:solidFill>
                <a:latin typeface="Noto Sans Mono"/>
                <a:ea typeface="Noto Sans Mono CJK KR"/>
              </a:rPr>
              <a:t>"fill"</a:t>
            </a:r>
            <a:r>
              <a:rPr sz="1050" b="0" i="0" u="none">
                <a:solidFill>
                  <a:schemeClr val="accent1"/>
                </a:solidFill>
                <a:latin typeface="Noto Sans Mono"/>
                <a:ea typeface="Noto Sans Mono CJK KR"/>
              </a:rPr>
              <a:t>/&gt;</a:t>
            </a:r>
            <a:br/>
            <a:r>
              <a:rPr sz="1050" b="0" i="0" u="none">
                <a:solidFill>
                  <a:schemeClr val="accent1"/>
                </a:solidFill>
                <a:latin typeface="Noto Sans Mono"/>
                <a:ea typeface="Noto Sans Mono CJK KR"/>
              </a:rPr>
              <a:t>&lt;/row&gt;</a:t>
            </a:r>
          </a:p>
        </p:txBody>
      </p:sp>
      <p:sp>
        <p:nvSpPr>
          <p:cNvPr id="7" name="p s5.2.0.0.0.2"/>
          <p:cNvSpPr txBox="1"/>
          <p:nvPr/>
        </p:nvSpPr>
        <p:spPr>
          <a:xfrm>
            <a:off x="905024" y="3897660"/>
            <a:ext cx="2838152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</a:pPr>
            <a:r>
              <a:rPr sz="1500" b="0">
                <a:solidFill>
                  <a:schemeClr val="tx1"/>
                </a:solidFill>
                <a:latin typeface="+mn-lt"/>
                <a:ea typeface="+mn-ea"/>
              </a:rPr>
              <a:t>Authors declare layout with flex and grid. Coordinates have no place in it.</a:t>
            </a:r>
          </a:p>
        </p:txBody>
      </p:sp>
      <p:sp>
        <p:nvSpPr>
          <p:cNvPr id="8" name="text s5.2.0.0.1"/>
          <p:cNvSpPr txBox="1"/>
          <p:nvPr/>
        </p:nvSpPr>
        <p:spPr>
          <a:xfrm>
            <a:off x="905024" y="4893618"/>
            <a:ext cx="283815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00"/>
              </a:lnSpc>
            </a:pPr>
            <a:r>
              <a:rPr sz="1200" b="0">
                <a:solidFill>
                  <a:schemeClr val="tx2"/>
                </a:solidFill>
                <a:latin typeface="Noto Sans Mono"/>
                <a:ea typeface="Noto Sans Mono CJK KR"/>
              </a:rPr>
              <a:t>row · col · grid · stack</a:t>
            </a:r>
          </a:p>
        </p:txBody>
      </p:sp>
      <p:sp>
        <p:nvSpPr>
          <p:cNvPr id="9" name="shape s5.2.1"/>
          <p:cNvSpPr/>
          <p:nvPr/>
        </p:nvSpPr>
        <p:spPr>
          <a:xfrm>
            <a:off x="4381500" y="1963936"/>
            <a:ext cx="3429000" cy="3453705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  <p:txBody>
          <a:bodyPr wrap="square" lIns="228600" tIns="228600" rIns="228600" bIns="228600" anchor="t">
            <a:normAutofit/>
          </a:bodyPr>
          <a:lstStyle/>
          <a:p/>
        </p:txBody>
      </p:sp>
      <p:sp>
        <p:nvSpPr>
          <p:cNvPr id="10" name="shape s5.2.1.0.0.0"/>
          <p:cNvSpPr/>
          <p:nvPr/>
        </p:nvSpPr>
        <p:spPr>
          <a:xfrm>
            <a:off x="4676924" y="2259360"/>
            <a:ext cx="2838152" cy="419100"/>
          </a:xfrm>
          <a:prstGeom prst="roundRect">
            <a:avLst>
              <a:gd name="adj" fmla="val 13636"/>
            </a:avLst>
          </a:prstGeom>
          <a:solidFill>
            <a:schemeClr val="accent1"/>
          </a:solidFill>
          <a:ln>
            <a:noFill/>
          </a:ln>
        </p:spPr>
        <p:txBody>
          <a:bodyPr wrap="square" lIns="57150" tIns="57150" rIns="57150" bIns="57150" anchor="ctr">
            <a:normAutofit/>
          </a:bodyPr>
          <a:lstStyle/>
          <a:p>
            <a:pPr algn="ctr">
              <a:lnSpc>
                <a:spcPts val="2700"/>
              </a:lnSpc>
            </a:pPr>
            <a:r>
              <a:rPr sz="1800" b="1" i="0" u="none">
                <a:solidFill>
                  <a:schemeClr val="bg1"/>
                </a:solidFill>
                <a:latin typeface="+mn-lt"/>
                <a:ea typeface="+mn-ea"/>
              </a:rPr>
              <a:t>② Measure</a:t>
            </a:r>
          </a:p>
        </p:txBody>
      </p:sp>
      <p:sp>
        <p:nvSpPr>
          <p:cNvPr id="11" name="shape s5.2.1.0.0.1.0"/>
          <p:cNvSpPr/>
          <p:nvPr/>
        </p:nvSpPr>
        <p:spPr>
          <a:xfrm>
            <a:off x="4676924" y="2792760"/>
            <a:ext cx="1361926" cy="990600"/>
          </a:xfrm>
          <a:prstGeom prst="rect">
            <a:avLst/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dash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688"/>
              </a:lnSpc>
            </a:pPr>
            <a:r>
              <a:rPr sz="1125" b="0">
                <a:solidFill>
                  <a:schemeClr val="accent1"/>
                </a:solidFill>
                <a:latin typeface="Noto Sans Mono"/>
                <a:ea typeface="Noto Sans Mono CJK KR"/>
              </a:rPr>
              <a:t>x · y · w · h</a:t>
            </a:r>
          </a:p>
        </p:txBody>
      </p:sp>
      <p:sp>
        <p:nvSpPr>
          <p:cNvPr id="12" name="shape s5.2.1.0.0.1.1"/>
          <p:cNvSpPr/>
          <p:nvPr/>
        </p:nvSpPr>
        <p:spPr>
          <a:xfrm>
            <a:off x="6153150" y="2792760"/>
            <a:ext cx="1361926" cy="990600"/>
          </a:xfrm>
          <a:prstGeom prst="rect">
            <a:avLst/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dash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688"/>
              </a:lnSpc>
            </a:pPr>
            <a:r>
              <a:rPr sz="1125" b="0">
                <a:solidFill>
                  <a:schemeClr val="accent1"/>
                </a:solidFill>
                <a:latin typeface="Noto Sans Mono"/>
                <a:ea typeface="Noto Sans Mono CJK KR"/>
              </a:rPr>
              <a:t>x · y · w · h</a:t>
            </a:r>
          </a:p>
        </p:txBody>
      </p:sp>
      <p:sp>
        <p:nvSpPr>
          <p:cNvPr id="13" name="p s5.2.1.0.0.2"/>
          <p:cNvSpPr txBox="1"/>
          <p:nvPr/>
        </p:nvSpPr>
        <p:spPr>
          <a:xfrm>
            <a:off x="4676924" y="3897660"/>
            <a:ext cx="2838152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</a:pPr>
            <a:r>
              <a:rPr sz="1500" b="0">
                <a:solidFill>
                  <a:schemeClr val="tx1"/>
                </a:solidFill>
                <a:latin typeface="+mn-lt"/>
                <a:ea typeface="+mn-ea"/>
              </a:rPr>
              <a:t>Headless Chromium measures every element's box. The pass reads only rects.</a:t>
            </a:r>
          </a:p>
        </p:txBody>
      </p:sp>
      <p:sp>
        <p:nvSpPr>
          <p:cNvPr id="14" name="text s5.2.1.0.1"/>
          <p:cNvSpPr txBox="1"/>
          <p:nvPr/>
        </p:nvSpPr>
        <p:spPr>
          <a:xfrm>
            <a:off x="4676924" y="4893618"/>
            <a:ext cx="283815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00"/>
              </a:lnSpc>
            </a:pPr>
            <a:r>
              <a:rPr sz="1200" b="0">
                <a:solidFill>
                  <a:schemeClr val="tx2"/>
                </a:solidFill>
                <a:latin typeface="Noto Sans Mono"/>
                <a:ea typeface="Noto Sans Mono CJK KR"/>
              </a:rPr>
              <a:t>getBoundingClientRect</a:t>
            </a:r>
          </a:p>
        </p:txBody>
      </p:sp>
      <p:sp>
        <p:nvSpPr>
          <p:cNvPr id="15" name="shape s5.2.2"/>
          <p:cNvSpPr/>
          <p:nvPr/>
        </p:nvSpPr>
        <p:spPr>
          <a:xfrm>
            <a:off x="8153400" y="1963936"/>
            <a:ext cx="3429000" cy="3453705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  <p:txBody>
          <a:bodyPr wrap="square" lIns="228600" tIns="228600" rIns="228600" bIns="228600" anchor="t">
            <a:normAutofit/>
          </a:bodyPr>
          <a:lstStyle/>
          <a:p/>
        </p:txBody>
      </p:sp>
      <p:sp>
        <p:nvSpPr>
          <p:cNvPr id="16" name="shape s5.2.2.0.0.0"/>
          <p:cNvSpPr/>
          <p:nvPr/>
        </p:nvSpPr>
        <p:spPr>
          <a:xfrm>
            <a:off x="8448824" y="2259360"/>
            <a:ext cx="2838152" cy="419100"/>
          </a:xfrm>
          <a:prstGeom prst="roundRect">
            <a:avLst>
              <a:gd name="adj" fmla="val 13636"/>
            </a:avLst>
          </a:prstGeom>
          <a:solidFill>
            <a:schemeClr val="accent1"/>
          </a:solidFill>
          <a:ln>
            <a:noFill/>
          </a:ln>
        </p:spPr>
        <p:txBody>
          <a:bodyPr wrap="square" lIns="57150" tIns="57150" rIns="57150" bIns="57150" anchor="ctr">
            <a:normAutofit/>
          </a:bodyPr>
          <a:lstStyle/>
          <a:p>
            <a:pPr algn="ctr">
              <a:lnSpc>
                <a:spcPts val="2700"/>
              </a:lnSpc>
            </a:pPr>
            <a:r>
              <a:rPr sz="1800" b="1" i="0" u="none">
                <a:solidFill>
                  <a:schemeClr val="bg1"/>
                </a:solidFill>
                <a:latin typeface="+mn-lt"/>
                <a:ea typeface="+mn-ea"/>
              </a:rPr>
              <a:t>③ Bake</a:t>
            </a:r>
          </a:p>
        </p:txBody>
      </p:sp>
      <p:sp>
        <p:nvSpPr>
          <p:cNvPr id="17" name="shape s5.2.2.0.0.1"/>
          <p:cNvSpPr/>
          <p:nvPr/>
        </p:nvSpPr>
        <p:spPr>
          <a:xfrm>
            <a:off x="8448824" y="2792760"/>
            <a:ext cx="2838152" cy="990600"/>
          </a:xfrm>
          <a:prstGeom prst="roundRect">
            <a:avLst>
              <a:gd name="adj" fmla="val 5769"/>
            </a:avLst>
          </a:prstGeom>
          <a:solidFill>
            <a:schemeClr val="tx1">
              <a:alpha val="5000"/>
            </a:schemeClr>
          </a:solidFill>
          <a:ln>
            <a:noFill/>
          </a:ln>
        </p:spPr>
        <p:txBody>
          <a:bodyPr wrap="square" lIns="114300" tIns="57150" rIns="114300" bIns="57150" anchor="t">
            <a:norm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chemeClr val="accent1"/>
                </a:solidFill>
                <a:latin typeface="Noto Sans Mono"/>
                <a:ea typeface="Noto Sans Mono CJK KR"/>
              </a:rPr>
              <a:t>&lt;a:off</a:t>
            </a:r>
            <a:r>
              <a:rPr sz="1050" b="0">
                <a:solidFill>
                  <a:schemeClr val="tx1"/>
                </a:solidFill>
                <a:latin typeface="Noto Sans Mono"/>
                <a:ea typeface="Noto Sans Mono CJK KR"/>
              </a:rPr>
              <a:t> </a:t>
            </a:r>
            <a:r>
              <a:rPr sz="1050" b="0" i="0" u="none">
                <a:solidFill>
                  <a:schemeClr val="accent2"/>
                </a:solidFill>
                <a:latin typeface="Noto Sans Mono"/>
                <a:ea typeface="Noto Sans Mono CJK KR"/>
              </a:rPr>
              <a:t>x=</a:t>
            </a:r>
            <a:r>
              <a:rPr sz="1050" b="0" i="0" u="none">
                <a:solidFill>
                  <a:schemeClr val="accent3"/>
                </a:solidFill>
                <a:latin typeface="Noto Sans Mono"/>
                <a:ea typeface="Noto Sans Mono CJK KR"/>
              </a:rPr>
              <a:t>"609600"</a:t>
            </a:r>
            <a:br/>
            <a:r>
              <a:rPr sz="1050" b="0">
                <a:solidFill>
                  <a:schemeClr val="tx1"/>
                </a:solidFill>
                <a:latin typeface="Noto Sans Mono"/>
                <a:ea typeface="Noto Sans Mono CJK KR"/>
              </a:rPr>
              <a:t>       </a:t>
            </a:r>
            <a:r>
              <a:rPr sz="1050" b="0" i="0" u="none">
                <a:solidFill>
                  <a:schemeClr val="accent2"/>
                </a:solidFill>
                <a:latin typeface="Noto Sans Mono"/>
                <a:ea typeface="Noto Sans Mono CJK KR"/>
              </a:rPr>
              <a:t>y=</a:t>
            </a:r>
            <a:r>
              <a:rPr sz="1050" b="0" i="0" u="none">
                <a:solidFill>
                  <a:schemeClr val="accent3"/>
                </a:solidFill>
                <a:latin typeface="Noto Sans Mono"/>
                <a:ea typeface="Noto Sans Mono CJK KR"/>
              </a:rPr>
              <a:t>"1714500"</a:t>
            </a:r>
            <a:r>
              <a:rPr sz="1050" b="0" i="0" u="none">
                <a:solidFill>
                  <a:schemeClr val="accent1"/>
                </a:solidFill>
                <a:latin typeface="Noto Sans Mono"/>
                <a:ea typeface="Noto Sans Mono CJK KR"/>
              </a:rPr>
              <a:t>/&gt;</a:t>
            </a:r>
            <a:br/>
            <a:r>
              <a:rPr sz="1050" b="0" i="0" u="none">
                <a:solidFill>
                  <a:schemeClr val="accent1"/>
                </a:solidFill>
                <a:latin typeface="Noto Sans Mono"/>
                <a:ea typeface="Noto Sans Mono CJK KR"/>
              </a:rPr>
              <a:t>&lt;a:ext</a:t>
            </a:r>
            <a:r>
              <a:rPr sz="1050" b="0">
                <a:solidFill>
                  <a:schemeClr val="tx1"/>
                </a:solidFill>
                <a:latin typeface="Noto Sans Mono"/>
                <a:ea typeface="Noto Sans Mono CJK KR"/>
              </a:rPr>
              <a:t> </a:t>
            </a:r>
            <a:r>
              <a:rPr sz="1050" b="0" i="0" u="none">
                <a:solidFill>
                  <a:schemeClr val="accent2"/>
                </a:solidFill>
                <a:latin typeface="Noto Sans Mono"/>
                <a:ea typeface="Noto Sans Mono CJK KR"/>
              </a:rPr>
              <a:t>cx=</a:t>
            </a:r>
            <a:r>
              <a:rPr sz="1050" b="0" i="0" u="none">
                <a:solidFill>
                  <a:schemeClr val="accent3"/>
                </a:solidFill>
                <a:latin typeface="Noto Sans Mono"/>
                <a:ea typeface="Noto Sans Mono CJK KR"/>
              </a:rPr>
              <a:t>"1562100"</a:t>
            </a:r>
            <a:br/>
            <a:r>
              <a:rPr sz="1050" b="0">
                <a:solidFill>
                  <a:schemeClr val="tx1"/>
                </a:solidFill>
                <a:latin typeface="Noto Sans Mono"/>
                <a:ea typeface="Noto Sans Mono CJK KR"/>
              </a:rPr>
              <a:t>       </a:t>
            </a:r>
            <a:r>
              <a:rPr sz="1050" b="0" i="0" u="none">
                <a:solidFill>
                  <a:schemeClr val="accent2"/>
                </a:solidFill>
                <a:latin typeface="Noto Sans Mono"/>
                <a:ea typeface="Noto Sans Mono CJK KR"/>
              </a:rPr>
              <a:t>cy=</a:t>
            </a:r>
            <a:r>
              <a:rPr sz="1050" b="0" i="0" u="none">
                <a:solidFill>
                  <a:schemeClr val="accent3"/>
                </a:solidFill>
                <a:latin typeface="Noto Sans Mono"/>
                <a:ea typeface="Noto Sans Mono CJK KR"/>
              </a:rPr>
              <a:t>"1066800"</a:t>
            </a:r>
            <a:r>
              <a:rPr sz="1050" b="0" i="0" u="none">
                <a:solidFill>
                  <a:schemeClr val="accent1"/>
                </a:solidFill>
                <a:latin typeface="Noto Sans Mono"/>
                <a:ea typeface="Noto Sans Mono CJK KR"/>
              </a:rPr>
              <a:t>/&gt;</a:t>
            </a:r>
          </a:p>
        </p:txBody>
      </p:sp>
      <p:sp>
        <p:nvSpPr>
          <p:cNvPr id="18" name="p s5.2.2.0.0.2"/>
          <p:cNvSpPr txBox="1"/>
          <p:nvPr/>
        </p:nvSpPr>
        <p:spPr>
          <a:xfrm>
            <a:off x="8448824" y="3897660"/>
            <a:ext cx="2838152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</a:pPr>
            <a:r>
              <a:rPr sz="1500" b="0">
                <a:solidFill>
                  <a:schemeClr val="tx1"/>
                </a:solidFill>
                <a:latin typeface="+mn-lt"/>
                <a:ea typeface="+mn-ea"/>
              </a:rPr>
              <a:t>Measured rects are the PPTX coordinates. 1px = 9525 EMU, converted once.</a:t>
            </a:r>
          </a:p>
        </p:txBody>
      </p:sp>
      <p:sp>
        <p:nvSpPr>
          <p:cNvPr id="19" name="text s5.2.2.0.1"/>
          <p:cNvSpPr txBox="1"/>
          <p:nvPr/>
        </p:nvSpPr>
        <p:spPr>
          <a:xfrm>
            <a:off x="8448824" y="4893618"/>
            <a:ext cx="283815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00"/>
              </a:lnSpc>
            </a:pPr>
            <a:r>
              <a:rPr sz="1200" b="0">
                <a:solidFill>
                  <a:schemeClr val="tx2"/>
                </a:solidFill>
                <a:latin typeface="Noto Sans Mono"/>
                <a:ea typeface="Noto Sans Mono CJK KR"/>
              </a:rPr>
              <a:t>a:off · a:ext</a:t>
            </a:r>
          </a:p>
        </p:txBody>
      </p:sp>
      <p:sp>
        <p:nvSpPr>
          <p:cNvPr id="20" name="shape s5.3"/>
          <p:cNvSpPr/>
          <p:nvPr/>
        </p:nvSpPr>
        <p:spPr>
          <a:xfrm>
            <a:off x="609600" y="5646241"/>
            <a:ext cx="10972800" cy="602159"/>
          </a:xfrm>
          <a:prstGeom prst="roundRect">
            <a:avLst>
              <a:gd name="adj" fmla="val 37963"/>
            </a:avLst>
          </a:prstGeom>
          <a:noFill/>
          <a:ln w="28575">
            <a:solidFill>
              <a:schemeClr val="accent1"/>
            </a:solidFill>
            <a:prstDash val="solid"/>
          </a:ln>
        </p:spPr>
        <p:txBody>
          <a:bodyPr wrap="square" lIns="228600" tIns="114300" rIns="228600" bIns="114300" anchor="t">
            <a:normAutofit/>
          </a:bodyPr>
          <a:lstStyle/>
          <a:p>
            <a:pPr algn="ctr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The pipeline speaks logical stage px (16:9 is 1280×720). EMU and pt exist only inside the PPTX renderer.</a:t>
            </a:r>
          </a:p>
        </p:txBody>
      </p:sp>
      <p:sp>
        <p:nvSpPr>
          <p:cNvPr id="21" name="chrome footer"/>
          <p:cNvSpPr txBox="1"/>
          <p:nvPr/>
        </p:nvSpPr>
        <p:spPr>
          <a:xfrm>
            <a:off x="609600" y="6248400"/>
            <a:ext cx="153010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Introducing balpyo</a:t>
            </a:r>
          </a:p>
        </p:txBody>
      </p:sp>
      <p:sp>
        <p:nvSpPr>
          <p:cNvPr id="22" name="chrome pageNumber"/>
          <p:cNvSpPr txBox="1"/>
          <p:nvPr/>
        </p:nvSpPr>
        <p:spPr>
          <a:xfrm>
            <a:off x="11484322" y="6248400"/>
            <a:ext cx="9807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ts val="1890"/>
              </a:lnSpc>
            </a:pPr>
            <a:fld id="{B9A1C0E4-6F3D-4A5B-8C7E-2D1F0A9B8C7D}" type="slidenum">
              <a:rPr sz="1350" b="0">
                <a:solidFill>
                  <a:schemeClr val="tx2"/>
                </a:solidFill>
                <a:latin typeface="+mn-lt"/>
                <a:ea typeface="+mn-ea"/>
              </a:rPr>
              <a:t>6</a:t>
            </a:fld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pt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s6.0"/>
          <p:cNvSpPr txBox="1"/>
          <p:nvPr/>
        </p:nvSpPr>
        <p:spPr>
          <a:xfrm>
            <a:off x="609600" y="609600"/>
            <a:ext cx="10972800" cy="6399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5040"/>
              </a:lnSpc>
            </a:pPr>
            <a:r>
              <a:rPr sz="4200" b="1">
                <a:solidFill>
                  <a:schemeClr val="tx1"/>
                </a:solidFill>
                <a:latin typeface="+mj-lt"/>
                <a:ea typeface="+mj-ea"/>
              </a:rPr>
              <a:t>What each tag becomes</a:t>
            </a:r>
          </a:p>
        </p:txBody>
      </p:sp>
      <p:graphicFrame>
        <p:nvGraphicFramePr>
          <p:cNvPr id="3" name="table s6.1"/>
          <p:cNvGraphicFramePr/>
          <p:nvPr/>
        </p:nvGraphicFramePr>
        <p:xfrm>
          <a:off x="609600" y="1478161"/>
          <a:ext cx="10972800" cy="455295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3991421"/>
                <a:gridCol w="6981379"/>
              </a:tblGrid>
              <a:tr h="509588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</a:pPr>
                      <a:r>
                        <a:rPr sz="1800" b="1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SOML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</a:pPr>
                      <a:r>
                        <a:rPr sz="1800" b="1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PPTX output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&lt;text&gt; · &lt;h1&gt; · &lt;p&gt; · &lt;ul&gt;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p:sp text box — carries the resolved rPr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noFill/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&lt;shape&gt; (16 presets · path)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p:sp + prstGeom · custGeom — holds text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&lt;image&gt; (PNG · JPEG · SVG)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p:pic — SVG stays vector, with a PNG fallback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noFill/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&lt;row&gt; · &lt;col&gt; · &lt;grid&gt; · &lt;stack&gt;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No shape — dissolves into children's absolute positions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&lt;table&gt; (this slide)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p:graphicFrame + a:tbl — an editable table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noFill/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&lt;chart&gt; · &lt;series&gt; · &lt;point&gt;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Shapes + text — one bar is one shape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&lt;connector&gt;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p:cxnSp — connectors glued to boxes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noFill/>
                  </a:tcPr>
                </a:tc>
              </a:tr>
              <a:tr h="509587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enter= · transition=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p:timing · p:transition — native entrance effects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chrome footer"/>
          <p:cNvSpPr txBox="1"/>
          <p:nvPr/>
        </p:nvSpPr>
        <p:spPr>
          <a:xfrm>
            <a:off x="609600" y="6248400"/>
            <a:ext cx="153010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Introducing balpyo</a:t>
            </a:r>
          </a:p>
        </p:txBody>
      </p:sp>
      <p:sp>
        <p:nvSpPr>
          <p:cNvPr id="5" name="chrome pageNumber"/>
          <p:cNvSpPr txBox="1"/>
          <p:nvPr/>
        </p:nvSpPr>
        <p:spPr>
          <a:xfrm>
            <a:off x="11484322" y="6248400"/>
            <a:ext cx="9807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ts val="1890"/>
              </a:lnSpc>
            </a:pPr>
            <a:fld id="{B9A1C0E4-6F3D-4A5B-8C7E-2D1F0A9B8C7D}" type="slidenum">
              <a:rPr sz="1350" b="0">
                <a:solidFill>
                  <a:schemeClr val="tx2"/>
                </a:solidFill>
                <a:latin typeface="+mn-lt"/>
                <a:ea typeface="+mn-ea"/>
              </a:rPr>
              <a:t>7</a:t>
            </a:fld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Graphic spid="3" grpId="0">
        <p:bldAsOne/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s7.0"/>
          <p:cNvSpPr txBox="1"/>
          <p:nvPr/>
        </p:nvSpPr>
        <p:spPr>
          <a:xfrm>
            <a:off x="609600" y="609600"/>
            <a:ext cx="109728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1" spc="135" cap="all">
                <a:solidFill>
                  <a:schemeClr val="accent1"/>
                </a:solidFill>
                <a:latin typeface="+mn-lt"/>
                <a:ea typeface="+mn-ea"/>
              </a:rPr>
              <a:t>Themes</a:t>
            </a:r>
          </a:p>
        </p:txBody>
      </p:sp>
      <p:sp>
        <p:nvSpPr>
          <p:cNvPr id="3" name="h1 s7.1"/>
          <p:cNvSpPr txBox="1"/>
          <p:nvPr/>
        </p:nvSpPr>
        <p:spPr>
          <a:xfrm>
            <a:off x="609600" y="1095375"/>
            <a:ext cx="10972800" cy="6399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5040"/>
              </a:lnSpc>
            </a:pPr>
            <a:r>
              <a:rPr sz="4200" b="1">
                <a:solidFill>
                  <a:schemeClr val="tx1"/>
                </a:solidFill>
                <a:latin typeface="+mj-lt"/>
                <a:ea typeface="+mj-ea"/>
              </a:rPr>
              <a:t>A theme is a design system</a:t>
            </a:r>
          </a:p>
        </p:txBody>
      </p:sp>
      <p:sp>
        <p:nvSpPr>
          <p:cNvPr id="4" name="shape s7.2.0"/>
          <p:cNvSpPr/>
          <p:nvPr/>
        </p:nvSpPr>
        <p:spPr>
          <a:xfrm>
            <a:off x="609600" y="1963936"/>
            <a:ext cx="1045815" cy="914400"/>
          </a:xfrm>
          <a:prstGeom prst="roundRect">
            <a:avLst>
              <a:gd name="adj" fmla="val 12500"/>
            </a:avLst>
          </a:prstGeom>
          <a:solidFill>
            <a:schemeClr val="tx1"/>
          </a:solidFill>
          <a:ln>
            <a:noFill/>
          </a:ln>
        </p:spPr>
        <p:txBody>
          <a:bodyPr wrap="square" lIns="57150" tIns="57150" rIns="57150" bIns="57150" anchor="b">
            <a:normAutofit/>
          </a:bodyPr>
          <a:lstStyle/>
          <a:p>
            <a:pPr algn="ctr">
              <a:lnSpc>
                <a:spcPts val="1575"/>
              </a:lnSpc>
            </a:pPr>
            <a:r>
              <a:rPr sz="1050" b="0">
                <a:solidFill>
                  <a:schemeClr val="bg1"/>
                </a:solidFill>
                <a:latin typeface="Noto Sans Mono"/>
                <a:ea typeface="Noto Sans Mono CJK KR"/>
              </a:rPr>
              <a:t>fg</a:t>
            </a:r>
          </a:p>
        </p:txBody>
      </p:sp>
      <p:sp>
        <p:nvSpPr>
          <p:cNvPr id="5" name="shape s7.2.1"/>
          <p:cNvSpPr/>
          <p:nvPr/>
        </p:nvSpPr>
        <p:spPr>
          <a:xfrm>
            <a:off x="1712565" y="1963936"/>
            <a:ext cx="1045815" cy="91440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  <p:txBody>
          <a:bodyPr wrap="square" lIns="57150" tIns="57150" rIns="57150" bIns="57150" anchor="b">
            <a:normAutofit/>
          </a:bodyPr>
          <a:lstStyle/>
          <a:p>
            <a:pPr algn="ctr">
              <a:lnSpc>
                <a:spcPts val="1575"/>
              </a:lnSpc>
            </a:pPr>
            <a:r>
              <a:rPr sz="1050" b="0">
                <a:solidFill>
                  <a:schemeClr val="tx1"/>
                </a:solidFill>
                <a:latin typeface="Noto Sans Mono"/>
                <a:ea typeface="Noto Sans Mono CJK KR"/>
              </a:rPr>
              <a:t>bg</a:t>
            </a:r>
          </a:p>
        </p:txBody>
      </p:sp>
      <p:sp>
        <p:nvSpPr>
          <p:cNvPr id="6" name="shape s7.2.2"/>
          <p:cNvSpPr/>
          <p:nvPr/>
        </p:nvSpPr>
        <p:spPr>
          <a:xfrm>
            <a:off x="2815530" y="1963936"/>
            <a:ext cx="1045815" cy="91440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>
            <a:noFill/>
          </a:ln>
        </p:spPr>
        <p:txBody>
          <a:bodyPr wrap="square" lIns="57150" tIns="57150" rIns="57150" bIns="57150" anchor="b">
            <a:normAutofit/>
          </a:bodyPr>
          <a:lstStyle/>
          <a:p>
            <a:pPr algn="ctr">
              <a:lnSpc>
                <a:spcPts val="1575"/>
              </a:lnSpc>
            </a:pPr>
            <a:r>
              <a:rPr sz="1050" b="0">
                <a:solidFill>
                  <a:schemeClr val="bg1"/>
                </a:solidFill>
                <a:latin typeface="Noto Sans Mono"/>
                <a:ea typeface="Noto Sans Mono CJK KR"/>
              </a:rPr>
              <a:t>muted</a:t>
            </a:r>
          </a:p>
        </p:txBody>
      </p:sp>
      <p:sp>
        <p:nvSpPr>
          <p:cNvPr id="7" name="shape s7.2.3"/>
          <p:cNvSpPr/>
          <p:nvPr/>
        </p:nvSpPr>
        <p:spPr>
          <a:xfrm>
            <a:off x="3918496" y="1963936"/>
            <a:ext cx="1045815" cy="91440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>
            <a:noFill/>
          </a:ln>
        </p:spPr>
        <p:txBody>
          <a:bodyPr wrap="square" lIns="57150" tIns="57150" rIns="57150" bIns="57150" anchor="b">
            <a:normAutofit/>
          </a:bodyPr>
          <a:lstStyle/>
          <a:p>
            <a:pPr algn="ctr">
              <a:lnSpc>
                <a:spcPts val="1575"/>
              </a:lnSpc>
            </a:pPr>
            <a:r>
              <a:rPr sz="1050" b="0">
                <a:solidFill>
                  <a:schemeClr val="tx1"/>
                </a:solidFill>
                <a:latin typeface="Noto Sans Mono"/>
                <a:ea typeface="Noto Sans Mono CJK KR"/>
              </a:rPr>
              <a:t>surface</a:t>
            </a:r>
          </a:p>
        </p:txBody>
      </p:sp>
      <p:sp>
        <p:nvSpPr>
          <p:cNvPr id="8" name="shape s7.2.4"/>
          <p:cNvSpPr/>
          <p:nvPr/>
        </p:nvSpPr>
        <p:spPr>
          <a:xfrm>
            <a:off x="5021461" y="1963936"/>
            <a:ext cx="1045964" cy="91440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>
            <a:noFill/>
          </a:ln>
        </p:spPr>
        <p:txBody>
          <a:bodyPr wrap="square" lIns="57150" tIns="57150" rIns="57150" bIns="57150" anchor="b">
            <a:normAutofit/>
          </a:bodyPr>
          <a:lstStyle/>
          <a:p>
            <a:pPr algn="ctr">
              <a:lnSpc>
                <a:spcPts val="1575"/>
              </a:lnSpc>
            </a:pPr>
            <a:r>
              <a:rPr sz="1050" b="0">
                <a:solidFill>
                  <a:schemeClr val="bg1"/>
                </a:solidFill>
                <a:latin typeface="Noto Sans Mono"/>
                <a:ea typeface="Noto Sans Mono CJK KR"/>
              </a:rPr>
              <a:t>accent1</a:t>
            </a:r>
          </a:p>
        </p:txBody>
      </p:sp>
      <p:sp>
        <p:nvSpPr>
          <p:cNvPr id="9" name="shape s7.2.5"/>
          <p:cNvSpPr/>
          <p:nvPr/>
        </p:nvSpPr>
        <p:spPr>
          <a:xfrm>
            <a:off x="6124575" y="1963936"/>
            <a:ext cx="1045815" cy="914400"/>
          </a:xfrm>
          <a:prstGeom prst="roundRect">
            <a:avLst>
              <a:gd name="adj" fmla="val 12500"/>
            </a:avLst>
          </a:prstGeom>
          <a:solidFill>
            <a:schemeClr val="accent2"/>
          </a:solidFill>
          <a:ln>
            <a:noFill/>
          </a:ln>
        </p:spPr>
        <p:txBody>
          <a:bodyPr wrap="square" lIns="57150" tIns="57150" rIns="57150" bIns="57150" anchor="b">
            <a:normAutofit/>
          </a:bodyPr>
          <a:lstStyle/>
          <a:p>
            <a:pPr algn="ctr">
              <a:lnSpc>
                <a:spcPts val="1575"/>
              </a:lnSpc>
            </a:pPr>
            <a:r>
              <a:rPr sz="1050" b="0">
                <a:solidFill>
                  <a:schemeClr val="bg1"/>
                </a:solidFill>
                <a:latin typeface="Noto Sans Mono"/>
                <a:ea typeface="Noto Sans Mono CJK KR"/>
              </a:rPr>
              <a:t>accent2</a:t>
            </a:r>
          </a:p>
        </p:txBody>
      </p:sp>
      <p:sp>
        <p:nvSpPr>
          <p:cNvPr id="10" name="shape s7.2.6"/>
          <p:cNvSpPr/>
          <p:nvPr/>
        </p:nvSpPr>
        <p:spPr>
          <a:xfrm>
            <a:off x="7227540" y="1963936"/>
            <a:ext cx="1045815" cy="914400"/>
          </a:xfrm>
          <a:prstGeom prst="roundRect">
            <a:avLst>
              <a:gd name="adj" fmla="val 12500"/>
            </a:avLst>
          </a:prstGeom>
          <a:solidFill>
            <a:schemeClr val="accent3"/>
          </a:solidFill>
          <a:ln>
            <a:noFill/>
          </a:ln>
        </p:spPr>
        <p:txBody>
          <a:bodyPr wrap="square" lIns="57150" tIns="57150" rIns="57150" bIns="57150" anchor="b">
            <a:normAutofit/>
          </a:bodyPr>
          <a:lstStyle/>
          <a:p>
            <a:pPr algn="ctr">
              <a:lnSpc>
                <a:spcPts val="1575"/>
              </a:lnSpc>
            </a:pPr>
            <a:r>
              <a:rPr sz="1050" b="0">
                <a:solidFill>
                  <a:schemeClr val="bg1"/>
                </a:solidFill>
                <a:latin typeface="Noto Sans Mono"/>
                <a:ea typeface="Noto Sans Mono CJK KR"/>
              </a:rPr>
              <a:t>accent3</a:t>
            </a:r>
          </a:p>
        </p:txBody>
      </p:sp>
      <p:sp>
        <p:nvSpPr>
          <p:cNvPr id="11" name="shape s7.2.7"/>
          <p:cNvSpPr/>
          <p:nvPr/>
        </p:nvSpPr>
        <p:spPr>
          <a:xfrm>
            <a:off x="8330505" y="1963936"/>
            <a:ext cx="1045815" cy="914400"/>
          </a:xfrm>
          <a:prstGeom prst="roundRect">
            <a:avLst>
              <a:gd name="adj" fmla="val 12500"/>
            </a:avLst>
          </a:prstGeom>
          <a:solidFill>
            <a:schemeClr val="accent4"/>
          </a:solidFill>
          <a:ln>
            <a:noFill/>
          </a:ln>
        </p:spPr>
        <p:txBody>
          <a:bodyPr wrap="square" lIns="57150" tIns="57150" rIns="57150" bIns="57150" anchor="b">
            <a:normAutofit/>
          </a:bodyPr>
          <a:lstStyle/>
          <a:p>
            <a:pPr algn="ctr">
              <a:lnSpc>
                <a:spcPts val="1575"/>
              </a:lnSpc>
            </a:pPr>
            <a:r>
              <a:rPr sz="1050" b="0">
                <a:solidFill>
                  <a:schemeClr val="bg1"/>
                </a:solidFill>
                <a:latin typeface="Noto Sans Mono"/>
                <a:ea typeface="Noto Sans Mono CJK KR"/>
              </a:rPr>
              <a:t>accent4</a:t>
            </a:r>
          </a:p>
        </p:txBody>
      </p:sp>
      <p:sp>
        <p:nvSpPr>
          <p:cNvPr id="12" name="shape s7.2.8"/>
          <p:cNvSpPr/>
          <p:nvPr/>
        </p:nvSpPr>
        <p:spPr>
          <a:xfrm>
            <a:off x="9433471" y="1963936"/>
            <a:ext cx="1045815" cy="914400"/>
          </a:xfrm>
          <a:prstGeom prst="roundRect">
            <a:avLst>
              <a:gd name="adj" fmla="val 12500"/>
            </a:avLst>
          </a:prstGeom>
          <a:solidFill>
            <a:schemeClr val="accent5"/>
          </a:solidFill>
          <a:ln>
            <a:noFill/>
          </a:ln>
        </p:spPr>
        <p:txBody>
          <a:bodyPr wrap="square" lIns="57150" tIns="57150" rIns="57150" bIns="57150" anchor="b">
            <a:normAutofit/>
          </a:bodyPr>
          <a:lstStyle/>
          <a:p>
            <a:pPr algn="ctr">
              <a:lnSpc>
                <a:spcPts val="1575"/>
              </a:lnSpc>
            </a:pPr>
            <a:r>
              <a:rPr sz="1050" b="0">
                <a:solidFill>
                  <a:schemeClr val="bg1"/>
                </a:solidFill>
                <a:latin typeface="Noto Sans Mono"/>
                <a:ea typeface="Noto Sans Mono CJK KR"/>
              </a:rPr>
              <a:t>accent5</a:t>
            </a:r>
          </a:p>
        </p:txBody>
      </p:sp>
      <p:sp>
        <p:nvSpPr>
          <p:cNvPr id="13" name="shape s7.2.9"/>
          <p:cNvSpPr/>
          <p:nvPr/>
        </p:nvSpPr>
        <p:spPr>
          <a:xfrm>
            <a:off x="10536436" y="1963936"/>
            <a:ext cx="1045964" cy="914400"/>
          </a:xfrm>
          <a:prstGeom prst="roundRect">
            <a:avLst>
              <a:gd name="adj" fmla="val 12500"/>
            </a:avLst>
          </a:prstGeom>
          <a:solidFill>
            <a:schemeClr val="accent6"/>
          </a:solidFill>
          <a:ln>
            <a:noFill/>
          </a:ln>
        </p:spPr>
        <p:txBody>
          <a:bodyPr wrap="square" lIns="57150" tIns="57150" rIns="57150" bIns="57150" anchor="b">
            <a:normAutofit/>
          </a:bodyPr>
          <a:lstStyle/>
          <a:p>
            <a:pPr algn="ctr">
              <a:lnSpc>
                <a:spcPts val="1575"/>
              </a:lnSpc>
            </a:pPr>
            <a:r>
              <a:rPr sz="1050" b="0">
                <a:solidFill>
                  <a:schemeClr val="bg1"/>
                </a:solidFill>
                <a:latin typeface="Noto Sans Mono"/>
                <a:ea typeface="Noto Sans Mono CJK KR"/>
              </a:rPr>
              <a:t>accent6</a:t>
            </a:r>
          </a:p>
        </p:txBody>
      </p:sp>
      <p:sp>
        <p:nvSpPr>
          <p:cNvPr id="14" name="shape s7.3.0"/>
          <p:cNvSpPr/>
          <p:nvPr/>
        </p:nvSpPr>
        <p:spPr>
          <a:xfrm>
            <a:off x="609600" y="3106936"/>
            <a:ext cx="5314950" cy="3141464"/>
          </a:xfrm>
          <a:prstGeom prst="roundRect">
            <a:avLst>
              <a:gd name="adj" fmla="val 7277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  <p:txBody>
          <a:bodyPr wrap="square" lIns="342900" tIns="342900" rIns="342900" bIns="342900" anchor="t">
            <a:normAutofit/>
          </a:bodyPr>
          <a:lstStyle/>
          <a:p/>
        </p:txBody>
      </p:sp>
      <p:sp>
        <p:nvSpPr>
          <p:cNvPr id="15" name="text s7.3.0.0.0"/>
          <p:cNvSpPr txBox="1"/>
          <p:nvPr/>
        </p:nvSpPr>
        <p:spPr>
          <a:xfrm>
            <a:off x="1019324" y="3516660"/>
            <a:ext cx="4495502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1" spc="135" cap="all">
                <a:solidFill>
                  <a:schemeClr val="accent1"/>
                </a:solidFill>
                <a:latin typeface="+mn-lt"/>
                <a:ea typeface="+mn-ea"/>
              </a:rPr>
              <a:t>Four files make a theme</a:t>
            </a:r>
          </a:p>
        </p:txBody>
      </p:sp>
      <p:sp>
        <p:nvSpPr>
          <p:cNvPr id="16" name="ul s7.3.0.0.1"/>
          <p:cNvSpPr txBox="1"/>
          <p:nvPr/>
        </p:nvSpPr>
        <p:spPr>
          <a:xfrm>
            <a:off x="1019324" y="3888135"/>
            <a:ext cx="4495502" cy="1200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342900" indent="-342900" algn="l">
              <a:lnSpc>
                <a:spcPts val="2363"/>
              </a:lnSpc>
              <a:buFont typeface="+mn-lt"/>
              <a:buChar char="•"/>
            </a:pPr>
            <a:r>
              <a:rPr sz="1575" b="0" i="0" u="none">
                <a:solidFill>
                  <a:schemeClr val="tx1"/>
                </a:solidFill>
                <a:latin typeface="Noto Sans Mono"/>
                <a:ea typeface="Noto Sans Mono CJK KR"/>
              </a:rPr>
              <a:t>tokens.json</a:t>
            </a:r>
            <a:r>
              <a:rPr sz="1575" b="0">
                <a:solidFill>
                  <a:schemeClr val="tx1"/>
                </a:solidFill>
                <a:latin typeface="+mn-lt"/>
                <a:ea typeface="+mn-ea"/>
              </a:rPr>
              <a:t> — color · type · spacing</a:t>
            </a:r>
          </a:p>
          <a:p>
            <a:pPr marL="342900" indent="-342900" algn="l">
              <a:lnSpc>
                <a:spcPts val="2363"/>
              </a:lnSpc>
              <a:buFont typeface="+mn-lt"/>
              <a:buChar char="•"/>
            </a:pPr>
            <a:r>
              <a:rPr sz="1575" b="0" i="0" u="none">
                <a:solidFill>
                  <a:schemeClr val="tx1"/>
                </a:solidFill>
                <a:latin typeface="Noto Sans Mono"/>
                <a:ea typeface="Noto Sans Mono CJK KR"/>
              </a:rPr>
              <a:t>components.json</a:t>
            </a:r>
            <a:r>
              <a:rPr sz="1575" b="0">
                <a:solidFill>
                  <a:schemeClr val="tx1"/>
                </a:solidFill>
                <a:latin typeface="+mn-lt"/>
                <a:ea typeface="+mn-ea"/>
              </a:rPr>
              <a:t> — roles and variants</a:t>
            </a:r>
          </a:p>
          <a:p>
            <a:pPr marL="342900" indent="-342900" algn="l">
              <a:lnSpc>
                <a:spcPts val="2363"/>
              </a:lnSpc>
              <a:buFont typeface="+mn-lt"/>
              <a:buChar char="•"/>
            </a:pPr>
            <a:r>
              <a:rPr sz="1575" b="0" i="0" u="none">
                <a:solidFill>
                  <a:schemeClr val="tx1"/>
                </a:solidFill>
                <a:latin typeface="Noto Sans Mono"/>
                <a:ea typeface="Noto Sans Mono CJK KR"/>
              </a:rPr>
              <a:t>layouts/*.css</a:t>
            </a:r>
            <a:r>
              <a:rPr sz="1575" b="0">
                <a:solidFill>
                  <a:schemeClr val="tx1"/>
                </a:solidFill>
                <a:latin typeface="+mn-lt"/>
                <a:ea typeface="+mn-ea"/>
              </a:rPr>
              <a:t> — placement, not styling</a:t>
            </a:r>
          </a:p>
          <a:p>
            <a:pPr marL="342900" indent="-342900" algn="l">
              <a:lnSpc>
                <a:spcPts val="2363"/>
              </a:lnSpc>
              <a:buFont typeface="+mn-lt"/>
              <a:buChar char="•"/>
            </a:pPr>
            <a:r>
              <a:rPr sz="1575" b="0" i="0" u="none">
                <a:solidFill>
                  <a:schemeClr val="tx1"/>
                </a:solidFill>
                <a:latin typeface="Noto Sans Mono"/>
                <a:ea typeface="Noto Sans Mono CJK KR"/>
              </a:rPr>
              <a:t>assets/</a:t>
            </a:r>
            <a:r>
              <a:rPr sz="1575" b="0">
                <a:solidFill>
                  <a:schemeClr val="tx1"/>
                </a:solidFill>
                <a:latin typeface="+mn-lt"/>
                <a:ea typeface="+mn-ea"/>
              </a:rPr>
              <a:t> — backgrounds · logos · icons</a:t>
            </a:r>
          </a:p>
        </p:txBody>
      </p:sp>
      <p:sp>
        <p:nvSpPr>
          <p:cNvPr id="17" name="shape s7.3.1"/>
          <p:cNvSpPr/>
          <p:nvPr/>
        </p:nvSpPr>
        <p:spPr>
          <a:xfrm>
            <a:off x="6267450" y="3106936"/>
            <a:ext cx="5314950" cy="3141464"/>
          </a:xfrm>
          <a:prstGeom prst="roundRect">
            <a:avLst>
              <a:gd name="adj" fmla="val 7277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  <p:txBody>
          <a:bodyPr wrap="square" lIns="342900" tIns="342900" rIns="342900" bIns="342900" anchor="t">
            <a:normAutofit/>
          </a:bodyPr>
          <a:lstStyle/>
          <a:p/>
        </p:txBody>
      </p:sp>
      <p:sp>
        <p:nvSpPr>
          <p:cNvPr id="18" name="text s7.3.1.0.0.0"/>
          <p:cNvSpPr txBox="1"/>
          <p:nvPr/>
        </p:nvSpPr>
        <p:spPr>
          <a:xfrm>
            <a:off x="6677174" y="3516660"/>
            <a:ext cx="4495502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1" spc="135" cap="all">
                <a:solidFill>
                  <a:schemeClr val="accent1"/>
                </a:solidFill>
                <a:latin typeface="+mn-lt"/>
                <a:ea typeface="+mn-ea"/>
              </a:rPr>
              <a:t>Tokens stay names</a:t>
            </a:r>
          </a:p>
        </p:txBody>
      </p:sp>
      <p:sp>
        <p:nvSpPr>
          <p:cNvPr id="19" name="p s7.3.1.0.0.1"/>
          <p:cNvSpPr txBox="1"/>
          <p:nvPr/>
        </p:nvSpPr>
        <p:spPr>
          <a:xfrm>
            <a:off x="6677174" y="3888135"/>
            <a:ext cx="4495502" cy="9001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363"/>
              </a:lnSpc>
            </a:pPr>
            <a:r>
              <a:rPr sz="1575" b="0">
                <a:solidFill>
                  <a:schemeClr val="tx1"/>
                </a:solidFill>
                <a:latin typeface="+mn-lt"/>
                <a:ea typeface="+mn-ea"/>
              </a:rPr>
              <a:t>A token color stays a CSS variable on the web and an </a:t>
            </a:r>
            <a:r>
              <a:rPr sz="1575" b="0" i="0" u="none">
                <a:solidFill>
                  <a:schemeClr val="tx1"/>
                </a:solidFill>
                <a:latin typeface="Noto Sans Mono"/>
                <a:ea typeface="Noto Sans Mono CJK KR"/>
              </a:rPr>
              <a:t>a:schemeClr</a:t>
            </a:r>
            <a:r>
              <a:rPr sz="1575" b="0">
                <a:solidFill>
                  <a:schemeClr val="tx1"/>
                </a:solidFill>
                <a:latin typeface="+mn-lt"/>
                <a:ea typeface="+mn-ea"/>
              </a:rPr>
              <a:t> in PPTX. Only literals become </a:t>
            </a:r>
            <a:r>
              <a:rPr sz="1575" b="0" i="0" u="none">
                <a:solidFill>
                  <a:schemeClr val="tx1"/>
                </a:solidFill>
                <a:latin typeface="Noto Sans Mono"/>
                <a:ea typeface="Noto Sans Mono CJK KR"/>
              </a:rPr>
              <a:t>srgbClr</a:t>
            </a:r>
            <a:r>
              <a:rPr sz="1575" b="0">
                <a:solidFill>
                  <a:schemeClr val="tx1"/>
                </a:solidFill>
                <a:latin typeface="+mn-lt"/>
                <a:ea typeface="+mn-ea"/>
              </a:rPr>
              <a:t>.</a:t>
            </a:r>
          </a:p>
        </p:txBody>
      </p:sp>
      <p:sp>
        <p:nvSpPr>
          <p:cNvPr id="20" name="text s7.3.1.0.1"/>
          <p:cNvSpPr txBox="1"/>
          <p:nvPr/>
        </p:nvSpPr>
        <p:spPr>
          <a:xfrm>
            <a:off x="6677174" y="5244554"/>
            <a:ext cx="4495502" cy="5941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340"/>
              </a:lnSpc>
            </a:pPr>
            <a:r>
              <a:rPr sz="1800" b="1">
                <a:solidFill>
                  <a:schemeClr val="accent1"/>
                </a:solidFill>
                <a:latin typeface="+mj-lt"/>
                <a:ea typeface="+mj-ea"/>
              </a:rPr>
              <a:t>→ Change the theme colors in PowerPoint and the deck follows</a:t>
            </a:r>
          </a:p>
        </p:txBody>
      </p:sp>
      <p:sp>
        <p:nvSpPr>
          <p:cNvPr id="21" name="chrome footer"/>
          <p:cNvSpPr txBox="1"/>
          <p:nvPr/>
        </p:nvSpPr>
        <p:spPr>
          <a:xfrm>
            <a:off x="609600" y="6248400"/>
            <a:ext cx="153010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Introducing balpyo</a:t>
            </a:r>
          </a:p>
        </p:txBody>
      </p:sp>
      <p:sp>
        <p:nvSpPr>
          <p:cNvPr id="22" name="chrome pageNumber"/>
          <p:cNvSpPr txBox="1"/>
          <p:nvPr/>
        </p:nvSpPr>
        <p:spPr>
          <a:xfrm>
            <a:off x="11484322" y="6248400"/>
            <a:ext cx="9807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ts val="1890"/>
              </a:lnSpc>
            </a:pPr>
            <a:fld id="{B9A1C0E4-6F3D-4A5B-8C7E-2D1F0A9B8C7D}" type="slidenum">
              <a:rPr sz="1350" b="0">
                <a:solidFill>
                  <a:schemeClr val="tx2"/>
                </a:solidFill>
                <a:latin typeface="+mn-lt"/>
                <a:ea typeface="+mn-ea"/>
              </a:rPr>
              <a:t>8</a:t>
            </a:fld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terminis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s8.0"/>
          <p:cNvSpPr txBox="1"/>
          <p:nvPr/>
        </p:nvSpPr>
        <p:spPr>
          <a:xfrm>
            <a:off x="609600" y="609600"/>
            <a:ext cx="109728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1" spc="135" cap="all">
                <a:solidFill>
                  <a:schemeClr val="accent1"/>
                </a:solidFill>
                <a:latin typeface="+mn-lt"/>
                <a:ea typeface="+mn-ea"/>
              </a:rPr>
              <a:t>What decides</a:t>
            </a:r>
          </a:p>
        </p:txBody>
      </p:sp>
      <p:sp>
        <p:nvSpPr>
          <p:cNvPr id="3" name="h1 s8.1"/>
          <p:cNvSpPr txBox="1"/>
          <p:nvPr/>
        </p:nvSpPr>
        <p:spPr>
          <a:xfrm>
            <a:off x="609600" y="1095375"/>
            <a:ext cx="10972800" cy="6399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5040"/>
              </a:lnSpc>
            </a:pPr>
            <a:r>
              <a:rPr sz="4200" b="1">
                <a:solidFill>
                  <a:schemeClr val="tx1"/>
                </a:solidFill>
                <a:latin typeface="+mj-lt"/>
                <a:ea typeface="+mj-ea"/>
              </a:rPr>
              <a:t>Both renders, same components</a:t>
            </a:r>
          </a:p>
        </p:txBody>
      </p:sp>
      <p:sp>
        <p:nvSpPr>
          <p:cNvPr id="4" name="shape s8.2.0.0"/>
          <p:cNvSpPr/>
          <p:nvPr/>
        </p:nvSpPr>
        <p:spPr>
          <a:xfrm>
            <a:off x="609600" y="3244155"/>
            <a:ext cx="1238250" cy="914400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  <p:txBody>
          <a:bodyPr wrap="square" lIns="114300" tIns="114300" rIns="114300" bIns="114300" anchor="t">
            <a:normAutofit/>
          </a:bodyPr>
          <a:lstStyle/>
          <a:p/>
        </p:txBody>
      </p:sp>
      <p:sp>
        <p:nvSpPr>
          <p:cNvPr id="5" name="text s8.2.0.0.0.0"/>
          <p:cNvSpPr txBox="1"/>
          <p:nvPr/>
        </p:nvSpPr>
        <p:spPr>
          <a:xfrm>
            <a:off x="790724" y="3458468"/>
            <a:ext cx="876002" cy="2723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45"/>
              </a:lnSpc>
            </a:pPr>
            <a:r>
              <a:rPr sz="1650" b="1">
                <a:solidFill>
                  <a:schemeClr val="tx1"/>
                </a:solidFill>
                <a:latin typeface="+mj-lt"/>
                <a:ea typeface="+mj-ea"/>
              </a:rPr>
              <a:t>SOML</a:t>
            </a:r>
          </a:p>
        </p:txBody>
      </p:sp>
      <p:sp>
        <p:nvSpPr>
          <p:cNvPr id="6" name="text s8.2.0.0.0.1"/>
          <p:cNvSpPr txBox="1"/>
          <p:nvPr/>
        </p:nvSpPr>
        <p:spPr>
          <a:xfrm>
            <a:off x="790724" y="3730823"/>
            <a:ext cx="876002" cy="2132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80"/>
              </a:lnSpc>
            </a:pPr>
            <a:r>
              <a:rPr sz="1200" b="0">
                <a:solidFill>
                  <a:schemeClr val="tx2"/>
                </a:solidFill>
                <a:latin typeface="+mn-lt"/>
                <a:ea typeface="+mn-ea"/>
              </a:rPr>
              <a:t>Deck tree</a:t>
            </a:r>
          </a:p>
        </p:txBody>
      </p:sp>
      <p:sp>
        <p:nvSpPr>
          <p:cNvPr id="7" name="shape s8.2.0.2.0"/>
          <p:cNvSpPr/>
          <p:nvPr/>
        </p:nvSpPr>
        <p:spPr>
          <a:xfrm>
            <a:off x="2533650" y="2558355"/>
            <a:ext cx="1809750" cy="800100"/>
          </a:xfrm>
          <a:prstGeom prst="roundRect">
            <a:avLst>
              <a:gd name="adj" fmla="val 28571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  <p:txBody>
          <a:bodyPr wrap="square" lIns="114300" tIns="57150" rIns="114300" bIns="57150" anchor="t">
            <a:normAutofit/>
          </a:bodyPr>
          <a:lstStyle/>
          <a:p/>
        </p:txBody>
      </p:sp>
      <p:sp>
        <p:nvSpPr>
          <p:cNvPr id="8" name="text s8.2.0.2.0.0.0"/>
          <p:cNvSpPr txBox="1"/>
          <p:nvPr/>
        </p:nvSpPr>
        <p:spPr>
          <a:xfrm>
            <a:off x="2714774" y="2727871"/>
            <a:ext cx="1447502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</a:pPr>
            <a:r>
              <a:rPr sz="1500" b="1">
                <a:solidFill>
                  <a:schemeClr val="tx1"/>
                </a:solidFill>
                <a:latin typeface="+mj-lt"/>
                <a:ea typeface="+mj-ea"/>
              </a:rPr>
              <a:t>Web tree</a:t>
            </a:r>
          </a:p>
        </p:txBody>
      </p:sp>
      <p:sp>
        <p:nvSpPr>
          <p:cNvPr id="9" name="text s8.2.0.2.0.0.1"/>
          <p:cNvSpPr txBox="1"/>
          <p:nvPr/>
        </p:nvSpPr>
        <p:spPr>
          <a:xfrm>
            <a:off x="2714774" y="2975521"/>
            <a:ext cx="1447502" cy="2132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80"/>
              </a:lnSpc>
            </a:pPr>
            <a:r>
              <a:rPr sz="1200" b="0">
                <a:solidFill>
                  <a:schemeClr val="tx2"/>
                </a:solidFill>
                <a:latin typeface="+mn-lt"/>
                <a:ea typeface="+mn-ea"/>
              </a:rPr>
              <a:t>Chromium · rect</a:t>
            </a:r>
          </a:p>
        </p:txBody>
      </p:sp>
      <p:sp>
        <p:nvSpPr>
          <p:cNvPr id="10" name="shape s8.2.0.2.1"/>
          <p:cNvSpPr/>
          <p:nvPr/>
        </p:nvSpPr>
        <p:spPr>
          <a:xfrm>
            <a:off x="2533650" y="4044255"/>
            <a:ext cx="1809750" cy="800100"/>
          </a:xfrm>
          <a:prstGeom prst="roundRect">
            <a:avLst>
              <a:gd name="adj" fmla="val 28571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  <p:txBody>
          <a:bodyPr wrap="square" lIns="114300" tIns="57150" rIns="114300" bIns="57150" anchor="t">
            <a:normAutofit/>
          </a:bodyPr>
          <a:lstStyle/>
          <a:p/>
        </p:txBody>
      </p:sp>
      <p:sp>
        <p:nvSpPr>
          <p:cNvPr id="11" name="text s8.2.0.2.1.0.0"/>
          <p:cNvSpPr txBox="1"/>
          <p:nvPr/>
        </p:nvSpPr>
        <p:spPr>
          <a:xfrm>
            <a:off x="2714774" y="4213771"/>
            <a:ext cx="1447502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</a:pPr>
            <a:r>
              <a:rPr sz="1500" b="1">
                <a:solidFill>
                  <a:schemeClr val="tx1"/>
                </a:solidFill>
                <a:latin typeface="+mj-lt"/>
                <a:ea typeface="+mj-ea"/>
              </a:rPr>
              <a:t>PPTX tree</a:t>
            </a:r>
          </a:p>
        </p:txBody>
      </p:sp>
      <p:sp>
        <p:nvSpPr>
          <p:cNvPr id="12" name="text s8.2.0.2.1.0.1"/>
          <p:cNvSpPr txBox="1"/>
          <p:nvPr/>
        </p:nvSpPr>
        <p:spPr>
          <a:xfrm>
            <a:off x="2714774" y="4461421"/>
            <a:ext cx="1447502" cy="2132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80"/>
              </a:lnSpc>
            </a:pPr>
            <a:r>
              <a:rPr sz="1200" b="0">
                <a:solidFill>
                  <a:schemeClr val="tx2"/>
                </a:solidFill>
                <a:latin typeface="+mn-lt"/>
                <a:ea typeface="+mn-ea"/>
              </a:rPr>
              <a:t>XML read back</a:t>
            </a:r>
          </a:p>
        </p:txBody>
      </p:sp>
      <p:sp>
        <p:nvSpPr>
          <p:cNvPr id="13" name="shape s8.2.0.4"/>
          <p:cNvSpPr/>
          <p:nvPr/>
        </p:nvSpPr>
        <p:spPr>
          <a:xfrm>
            <a:off x="5029200" y="3244155"/>
            <a:ext cx="914400" cy="9144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152400" dist="38100" dir="5400000" rotWithShape="1">
              <a:schemeClr val="tx1">
                <a:alpha val="15000"/>
              </a:schemeClr>
            </a:outerShdw>
          </a:effectLst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4320"/>
              </a:lnSpc>
            </a:pPr>
            <a:r>
              <a:rPr sz="3600" b="1">
                <a:solidFill>
                  <a:schemeClr val="bg1"/>
                </a:solidFill>
                <a:latin typeface="+mj-lt"/>
                <a:ea typeface="+mj-ea"/>
              </a:rPr>
              <a:t>=</a:t>
            </a:r>
          </a:p>
        </p:txBody>
      </p:sp>
      <p:sp>
        <p:nvSpPr>
          <p:cNvPr id="14" name="shape s8.2.1.0.0"/>
          <p:cNvSpPr/>
          <p:nvPr/>
        </p:nvSpPr>
        <p:spPr>
          <a:xfrm>
            <a:off x="6400800" y="2552998"/>
            <a:ext cx="342900" cy="342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890"/>
              </a:lnSpc>
            </a:pPr>
            <a:r>
              <a:rPr sz="1350" b="1" i="0" u="none">
                <a:solidFill>
                  <a:schemeClr val="bg1"/>
                </a:solidFill>
                <a:latin typeface="+mn-lt"/>
                <a:ea typeface="+mn-ea"/>
              </a:rPr>
              <a:t>✓</a:t>
            </a:r>
          </a:p>
        </p:txBody>
      </p:sp>
      <p:sp>
        <p:nvSpPr>
          <p:cNvPr id="15" name="text s8.2.1.0.1.0"/>
          <p:cNvSpPr txBox="1"/>
          <p:nvPr/>
        </p:nvSpPr>
        <p:spPr>
          <a:xfrm>
            <a:off x="6972300" y="2552998"/>
            <a:ext cx="4610100" cy="2970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340"/>
              </a:lnSpc>
            </a:pPr>
            <a:r>
              <a:rPr sz="1800" b="1">
                <a:solidFill>
                  <a:schemeClr val="tx1"/>
                </a:solidFill>
                <a:latin typeface="+mj-lt"/>
                <a:ea typeface="+mj-ea"/>
              </a:rPr>
              <a:t>Parity</a:t>
            </a:r>
          </a:p>
        </p:txBody>
      </p:sp>
      <p:sp>
        <p:nvSpPr>
          <p:cNvPr id="16" name="text s8.2.1.0.1.1"/>
          <p:cNvSpPr txBox="1"/>
          <p:nvPr/>
        </p:nvSpPr>
        <p:spPr>
          <a:xfrm>
            <a:off x="6972300" y="2850059"/>
            <a:ext cx="4610100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Same kind · rect · style · order · text runs</a:t>
            </a:r>
          </a:p>
        </p:txBody>
      </p:sp>
      <p:sp>
        <p:nvSpPr>
          <p:cNvPr id="17" name="shape s8.2.1.1.0"/>
          <p:cNvSpPr/>
          <p:nvPr/>
        </p:nvSpPr>
        <p:spPr>
          <a:xfrm>
            <a:off x="6400800" y="3432870"/>
            <a:ext cx="342900" cy="342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890"/>
              </a:lnSpc>
            </a:pPr>
            <a:r>
              <a:rPr sz="1350" b="1" i="0" u="none">
                <a:solidFill>
                  <a:schemeClr val="bg1"/>
                </a:solidFill>
                <a:latin typeface="+mn-lt"/>
                <a:ea typeface="+mn-ea"/>
              </a:rPr>
              <a:t>✓</a:t>
            </a:r>
          </a:p>
        </p:txBody>
      </p:sp>
      <p:sp>
        <p:nvSpPr>
          <p:cNvPr id="18" name="text s8.2.1.1.1.0"/>
          <p:cNvSpPr txBox="1"/>
          <p:nvPr/>
        </p:nvSpPr>
        <p:spPr>
          <a:xfrm>
            <a:off x="6972300" y="3432870"/>
            <a:ext cx="4610100" cy="2970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340"/>
              </a:lnSpc>
            </a:pPr>
            <a:r>
              <a:rPr sz="1800" b="1">
                <a:solidFill>
                  <a:schemeClr val="tx1"/>
                </a:solidFill>
                <a:latin typeface="+mj-lt"/>
                <a:ea typeface="+mj-ea"/>
              </a:rPr>
              <a:t>Schema</a:t>
            </a:r>
          </a:p>
        </p:txBody>
      </p:sp>
      <p:sp>
        <p:nvSpPr>
          <p:cNvPr id="19" name="text s8.2.1.1.1.1"/>
          <p:cNvSpPr txBox="1"/>
          <p:nvPr/>
        </p:nvSpPr>
        <p:spPr>
          <a:xfrm>
            <a:off x="6972300" y="3729930"/>
            <a:ext cx="4610100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Every XML part validates against ECMA-376</a:t>
            </a:r>
          </a:p>
        </p:txBody>
      </p:sp>
      <p:sp>
        <p:nvSpPr>
          <p:cNvPr id="20" name="shape s8.2.1.2.0"/>
          <p:cNvSpPr/>
          <p:nvPr/>
        </p:nvSpPr>
        <p:spPr>
          <a:xfrm>
            <a:off x="6400800" y="4312741"/>
            <a:ext cx="342900" cy="342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890"/>
              </a:lnSpc>
            </a:pPr>
            <a:r>
              <a:rPr sz="1350" b="1" i="0" u="none">
                <a:solidFill>
                  <a:schemeClr val="bg1"/>
                </a:solidFill>
                <a:latin typeface="+mn-lt"/>
                <a:ea typeface="+mn-ea"/>
              </a:rPr>
              <a:t>✓</a:t>
            </a:r>
          </a:p>
        </p:txBody>
      </p:sp>
      <p:sp>
        <p:nvSpPr>
          <p:cNvPr id="21" name="text s8.2.1.2.1.0"/>
          <p:cNvSpPr txBox="1"/>
          <p:nvPr/>
        </p:nvSpPr>
        <p:spPr>
          <a:xfrm>
            <a:off x="6972300" y="4312741"/>
            <a:ext cx="4610100" cy="2970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340"/>
              </a:lnSpc>
            </a:pPr>
            <a:r>
              <a:rPr sz="1800" b="1">
                <a:solidFill>
                  <a:schemeClr val="tx1"/>
                </a:solidFill>
                <a:latin typeface="+mj-lt"/>
                <a:ea typeface="+mj-ea"/>
              </a:rPr>
              <a:t>Determinism</a:t>
            </a:r>
          </a:p>
        </p:txBody>
      </p:sp>
      <p:sp>
        <p:nvSpPr>
          <p:cNvPr id="22" name="text s8.2.1.2.1.1"/>
          <p:cNvSpPr txBox="1"/>
          <p:nvPr/>
        </p:nvSpPr>
        <p:spPr>
          <a:xfrm>
            <a:off x="6972300" y="4609802"/>
            <a:ext cx="4610100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Same input, same bytes</a:t>
            </a:r>
          </a:p>
        </p:txBody>
      </p:sp>
      <p:sp>
        <p:nvSpPr>
          <p:cNvPr id="23" name="shape s8.7"/>
          <p:cNvSpPr/>
          <p:nvPr/>
        </p:nvSpPr>
        <p:spPr>
          <a:xfrm>
            <a:off x="609600" y="5667375"/>
            <a:ext cx="10972800" cy="581025"/>
          </a:xfrm>
          <a:prstGeom prst="roundRect">
            <a:avLst>
              <a:gd name="adj" fmla="val 19672"/>
            </a:avLst>
          </a:prstGeom>
          <a:solidFill>
            <a:schemeClr val="bg2"/>
          </a:solidFill>
          <a:ln>
            <a:noFill/>
          </a:ln>
        </p:spPr>
        <p:txBody>
          <a:bodyPr wrap="square" lIns="228600" tIns="114300" rIns="228600" bIns="114300" anchor="t">
            <a:normAutofit/>
          </a:bodyPr>
          <a:lstStyle/>
          <a:p/>
        </p:txBody>
      </p:sp>
      <p:sp>
        <p:nvSpPr>
          <p:cNvPr id="24" name="text s8.7.0.0"/>
          <p:cNvSpPr txBox="1"/>
          <p:nvPr/>
        </p:nvSpPr>
        <p:spPr>
          <a:xfrm>
            <a:off x="871538" y="5815013"/>
            <a:ext cx="17145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chemeClr val="accent3"/>
                </a:solidFill>
                <a:latin typeface="Noto Sans Mono"/>
                <a:ea typeface="Noto Sans Mono CJK KR"/>
              </a:rPr>
              <a:t>$</a:t>
            </a:r>
            <a:r>
              <a:rPr sz="1500" b="0">
                <a:solidFill>
                  <a:schemeClr val="tx1"/>
                </a:solidFill>
                <a:latin typeface="Noto Sans Mono"/>
                <a:ea typeface="Noto Sans Mono CJK KR"/>
              </a:rPr>
              <a:t> go test ./...</a:t>
            </a:r>
          </a:p>
        </p:txBody>
      </p:sp>
      <p:sp>
        <p:nvSpPr>
          <p:cNvPr id="25" name="text s8.7.0.1"/>
          <p:cNvSpPr txBox="1"/>
          <p:nvPr/>
        </p:nvSpPr>
        <p:spPr>
          <a:xfrm>
            <a:off x="6343799" y="5837932"/>
            <a:ext cx="4976664" cy="2399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Where lines wrap is up to each engine — outside the contract.</a:t>
            </a:r>
          </a:p>
        </p:txBody>
      </p:sp>
      <p:cxnSp>
        <p:nvCxnSpPr>
          <p:cNvPr id="26" name="connector s8.3"/>
          <p:cNvCxnSpPr>
            <a:stCxn id="4" idx="3"/>
            <a:endCxn id="7" idx="1"/>
          </p:cNvCxnSpPr>
          <p:nvPr/>
        </p:nvCxnSpPr>
        <p:spPr>
          <a:xfrm flipV="1">
            <a:off x="1847850" y="2958405"/>
            <a:ext cx="685800" cy="742950"/>
          </a:xfrm>
          <a:prstGeom prst="bentConnector3">
            <a:avLst/>
          </a:prstGeom>
          <a:ln w="19050">
            <a:solidFill>
              <a:schemeClr val="tx2"/>
            </a:solidFill>
            <a:prstDash val="solid"/>
            <a:headEnd type="none"/>
            <a:tailEnd type="triangle" w="lg" len="lg"/>
          </a:ln>
        </p:spPr>
      </p:cxnSp>
      <p:cxnSp>
        <p:nvCxnSpPr>
          <p:cNvPr id="27" name="connector s8.4"/>
          <p:cNvCxnSpPr>
            <a:stCxn id="4" idx="3"/>
            <a:endCxn id="10" idx="1"/>
          </p:cNvCxnSpPr>
          <p:nvPr/>
        </p:nvCxnSpPr>
        <p:spPr>
          <a:xfrm>
            <a:off x="1847850" y="3701355"/>
            <a:ext cx="685800" cy="742950"/>
          </a:xfrm>
          <a:prstGeom prst="bentConnector3">
            <a:avLst/>
          </a:prstGeom>
          <a:ln w="19050">
            <a:solidFill>
              <a:schemeClr val="tx2"/>
            </a:solidFill>
            <a:prstDash val="solid"/>
            <a:headEnd type="none"/>
            <a:tailEnd type="triangle" w="lg" len="lg"/>
          </a:ln>
        </p:spPr>
      </p:cxnSp>
      <p:cxnSp>
        <p:nvCxnSpPr>
          <p:cNvPr id="28" name="connector s8.5"/>
          <p:cNvCxnSpPr>
            <a:stCxn id="7" idx="3"/>
            <a:endCxn id="13" idx="2"/>
          </p:cNvCxnSpPr>
          <p:nvPr/>
        </p:nvCxnSpPr>
        <p:spPr>
          <a:xfrm>
            <a:off x="4343400" y="2958405"/>
            <a:ext cx="685800" cy="742950"/>
          </a:xfrm>
          <a:prstGeom prst="bentConnector3">
            <a:avLst/>
          </a:prstGeom>
          <a:ln w="19050">
            <a:solidFill>
              <a:schemeClr val="accent1"/>
            </a:solidFill>
            <a:prstDash val="solid"/>
            <a:headEnd type="none"/>
            <a:tailEnd type="triangle" w="lg" len="lg"/>
          </a:ln>
        </p:spPr>
      </p:cxnSp>
      <p:cxnSp>
        <p:nvCxnSpPr>
          <p:cNvPr id="29" name="connector s8.6"/>
          <p:cNvCxnSpPr>
            <a:stCxn id="10" idx="3"/>
            <a:endCxn id="13" idx="2"/>
          </p:cNvCxnSpPr>
          <p:nvPr/>
        </p:nvCxnSpPr>
        <p:spPr>
          <a:xfrm flipV="1">
            <a:off x="4343400" y="3701355"/>
            <a:ext cx="685800" cy="742950"/>
          </a:xfrm>
          <a:prstGeom prst="bentConnector3">
            <a:avLst/>
          </a:prstGeom>
          <a:ln w="19050">
            <a:solidFill>
              <a:schemeClr val="accent1"/>
            </a:solidFill>
            <a:prstDash val="solid"/>
            <a:headEnd type="none"/>
            <a:tailEnd type="triangle" w="lg" len="lg"/>
          </a:ln>
        </p:spPr>
      </p:cxnSp>
      <p:sp>
        <p:nvSpPr>
          <p:cNvPr id="30" name="chrome footer"/>
          <p:cNvSpPr txBox="1"/>
          <p:nvPr/>
        </p:nvSpPr>
        <p:spPr>
          <a:xfrm>
            <a:off x="609600" y="6248400"/>
            <a:ext cx="153010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Introducing balpyo</a:t>
            </a:r>
          </a:p>
        </p:txBody>
      </p:sp>
      <p:sp>
        <p:nvSpPr>
          <p:cNvPr id="31" name="chrome pageNumber"/>
          <p:cNvSpPr txBox="1"/>
          <p:nvPr/>
        </p:nvSpPr>
        <p:spPr>
          <a:xfrm>
            <a:off x="11484322" y="6248400"/>
            <a:ext cx="9807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ts val="1890"/>
              </a:lnSpc>
            </a:pPr>
            <a:fld id="{B9A1C0E4-6F3D-4A5B-8C7E-2D1F0A9B8C7D}" type="slidenum">
              <a:rPr sz="1350" b="0">
                <a:solidFill>
                  <a:schemeClr val="tx2"/>
                </a:solidFill>
                <a:latin typeface="+mn-lt"/>
                <a:ea typeface="+mn-ea"/>
              </a:rPr>
              <a:t>9</a:t>
            </a:fld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53" presetClass="entr" presetSubtype="16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9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9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2" presetClass="entr" presetSubtype="4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1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1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4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13" grpId="0" animBg="1"/>
      <p:bldP spid="23" grpId="0" animBg="1"/>
      <p:bldP spid="24" grpId="0" animBg="1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s9.0"/>
          <p:cNvSpPr txBox="1"/>
          <p:nvPr/>
        </p:nvSpPr>
        <p:spPr>
          <a:xfrm>
            <a:off x="609600" y="1266825"/>
            <a:ext cx="10972800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4400"/>
              </a:lnSpc>
            </a:pPr>
            <a:r>
              <a:rPr sz="12000" b="1">
                <a:solidFill>
                  <a:schemeClr val="accent1"/>
                </a:solidFill>
                <a:latin typeface="+mj-lt"/>
                <a:ea typeface="+mj-ea"/>
              </a:rPr>
              <a:t>“</a:t>
            </a:r>
          </a:p>
        </p:txBody>
      </p:sp>
      <p:sp>
        <p:nvSpPr>
          <p:cNvPr id="3" name="blockquote s9.1"/>
          <p:cNvSpPr txBox="1"/>
          <p:nvPr/>
        </p:nvSpPr>
        <p:spPr>
          <a:xfrm>
            <a:off x="609600" y="3324225"/>
            <a:ext cx="10972800" cy="1428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5625"/>
              </a:lnSpc>
            </a:pPr>
            <a:r>
              <a:rPr sz="3750" b="0">
                <a:solidFill>
                  <a:schemeClr val="tx1"/>
                </a:solidFill>
                <a:latin typeface="+mn-lt"/>
                <a:ea typeface="+mn-ea"/>
              </a:rPr>
              <a:t>The gap between “a file that opens” and</a:t>
            </a:r>
            <a:br/>
            <a:r>
              <a:rPr sz="3750" b="0" i="0" u="none">
                <a:solidFill>
                  <a:schemeClr val="accent1"/>
                </a:solidFill>
                <a:latin typeface="+mn-lt"/>
                <a:ea typeface="+mn-ea"/>
              </a:rPr>
              <a:t>“a file you can edit”</a:t>
            </a:r>
            <a:r>
              <a:rPr sz="3750" b="0">
                <a:solidFill>
                  <a:schemeClr val="tx1"/>
                </a:solidFill>
                <a:latin typeface="+mn-lt"/>
                <a:ea typeface="+mn-ea"/>
              </a:rPr>
              <a:t> is the product.</a:t>
            </a:r>
          </a:p>
        </p:txBody>
      </p:sp>
      <p:sp>
        <p:nvSpPr>
          <p:cNvPr id="4" name="shape s9.2"/>
          <p:cNvSpPr/>
          <p:nvPr/>
        </p:nvSpPr>
        <p:spPr>
          <a:xfrm>
            <a:off x="5753100" y="4981575"/>
            <a:ext cx="6858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5" name="text s9.3"/>
          <p:cNvSpPr txBox="1"/>
          <p:nvPr/>
        </p:nvSpPr>
        <p:spPr>
          <a:xfrm>
            <a:off x="609600" y="5248275"/>
            <a:ext cx="109728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2700"/>
              </a:lnSpc>
            </a:pPr>
            <a:r>
              <a:rPr sz="1800" b="0">
                <a:solidFill>
                  <a:schemeClr val="tx2"/>
                </a:solidFill>
                <a:latin typeface="+mn-lt"/>
                <a:ea typeface="+mn-ea"/>
              </a:rPr>
              <a:t>— from the testing guide, on why a person still opens the PPTX by hand</a:t>
            </a:r>
          </a:p>
        </p:txBody>
      </p:sp>
      <p:sp>
        <p:nvSpPr>
          <p:cNvPr id="6" name="chrome footer"/>
          <p:cNvSpPr txBox="1"/>
          <p:nvPr/>
        </p:nvSpPr>
        <p:spPr>
          <a:xfrm>
            <a:off x="609600" y="6248400"/>
            <a:ext cx="153010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Introducing balpyo</a:t>
            </a:r>
          </a:p>
        </p:txBody>
      </p:sp>
      <p:sp>
        <p:nvSpPr>
          <p:cNvPr id="7" name="chrome pageNumber"/>
          <p:cNvSpPr txBox="1"/>
          <p:nvPr/>
        </p:nvSpPr>
        <p:spPr>
          <a:xfrm>
            <a:off x="11386245" y="6248400"/>
            <a:ext cx="196155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ts val="1890"/>
              </a:lnSpc>
            </a:pPr>
            <a:fld id="{B9A1C0E4-6F3D-4A5B-8C7E-2D1F0A9B8C7D}" type="slidenum">
              <a:rPr sz="1350" b="0">
                <a:solidFill>
                  <a:schemeClr val="tx2"/>
                </a:solidFill>
                <a:latin typeface="+mn-lt"/>
                <a:ea typeface="+mn-ea"/>
              </a:rPr>
              <a:t>10</a:t>
            </a:fld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tat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s10.0"/>
          <p:cNvSpPr txBox="1"/>
          <p:nvPr/>
        </p:nvSpPr>
        <p:spPr>
          <a:xfrm>
            <a:off x="609600" y="609600"/>
            <a:ext cx="109728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1" spc="135" cap="all">
                <a:solidFill>
                  <a:schemeClr val="accent1"/>
                </a:solidFill>
                <a:latin typeface="+mn-lt"/>
                <a:ea typeface="+mn-ea"/>
              </a:rPr>
              <a:t>Now</a:t>
            </a:r>
          </a:p>
        </p:txBody>
      </p:sp>
      <p:sp>
        <p:nvSpPr>
          <p:cNvPr id="3" name="h1 s10.1"/>
          <p:cNvSpPr txBox="1"/>
          <p:nvPr/>
        </p:nvSpPr>
        <p:spPr>
          <a:xfrm>
            <a:off x="609600" y="1095375"/>
            <a:ext cx="10972800" cy="6399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5040"/>
              </a:lnSpc>
            </a:pPr>
            <a:r>
              <a:rPr sz="4200" b="1">
                <a:solidFill>
                  <a:schemeClr val="tx1"/>
                </a:solidFill>
                <a:latin typeface="+mj-lt"/>
                <a:ea typeface="+mj-ea"/>
              </a:rPr>
              <a:t>What works, what's next</a:t>
            </a:r>
          </a:p>
        </p:txBody>
      </p:sp>
      <p:sp>
        <p:nvSpPr>
          <p:cNvPr id="4" name="shape s10.2.0"/>
          <p:cNvSpPr/>
          <p:nvPr/>
        </p:nvSpPr>
        <p:spPr>
          <a:xfrm>
            <a:off x="609600" y="1963936"/>
            <a:ext cx="6377880" cy="4284464"/>
          </a:xfrm>
          <a:prstGeom prst="roundRect">
            <a:avLst>
              <a:gd name="adj" fmla="val 5336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  <p:txBody>
          <a:bodyPr wrap="square" lIns="342900" tIns="342900" rIns="342900" bIns="342900" anchor="t">
            <a:normAutofit/>
          </a:bodyPr>
          <a:lstStyle/>
          <a:p/>
        </p:txBody>
      </p:sp>
      <p:sp>
        <p:nvSpPr>
          <p:cNvPr id="5" name="text s10.2.0.0.0"/>
          <p:cNvSpPr txBox="1"/>
          <p:nvPr/>
        </p:nvSpPr>
        <p:spPr>
          <a:xfrm>
            <a:off x="1019324" y="2373660"/>
            <a:ext cx="5558433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1" spc="135" cap="all">
                <a:solidFill>
                  <a:schemeClr val="accent3"/>
                </a:solidFill>
                <a:latin typeface="+mn-lt"/>
                <a:ea typeface="+mn-ea"/>
              </a:rPr>
              <a:t>Works today</a:t>
            </a:r>
          </a:p>
        </p:txBody>
      </p:sp>
      <p:sp>
        <p:nvSpPr>
          <p:cNvPr id="6" name="shape s10.2.0.0.1.0"/>
          <p:cNvSpPr/>
          <p:nvPr/>
        </p:nvSpPr>
        <p:spPr>
          <a:xfrm>
            <a:off x="1019324" y="2859435"/>
            <a:ext cx="1847552" cy="505123"/>
          </a:xfrm>
          <a:prstGeom prst="roundRect">
            <a:avLst>
              <a:gd name="adj" fmla="val 45256"/>
            </a:avLst>
          </a:prstGeom>
          <a:solidFill>
            <a:schemeClr val="bg2"/>
          </a:solidFill>
          <a:ln w="9525">
            <a:solidFill>
              <a:schemeClr val="accent1"/>
            </a:solidFill>
            <a:prstDash val="solid"/>
          </a:ln>
        </p:spPr>
        <p:txBody>
          <a:bodyPr wrap="square" lIns="114300" tIns="57150" rIns="114300" bIns="5715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0">
                <a:solidFill>
                  <a:schemeClr val="tx1"/>
                </a:solidFill>
                <a:latin typeface="+mn-lt"/>
                <a:ea typeface="+mn-ea"/>
              </a:rPr>
              <a:t>Web + native PPTX</a:t>
            </a:r>
          </a:p>
        </p:txBody>
      </p:sp>
      <p:sp>
        <p:nvSpPr>
          <p:cNvPr id="7" name="shape s10.2.0.0.1.1"/>
          <p:cNvSpPr/>
          <p:nvPr/>
        </p:nvSpPr>
        <p:spPr>
          <a:xfrm>
            <a:off x="2924026" y="2859435"/>
            <a:ext cx="1693813" cy="505123"/>
          </a:xfrm>
          <a:prstGeom prst="roundRect">
            <a:avLst>
              <a:gd name="adj" fmla="val 45256"/>
            </a:avLst>
          </a:prstGeom>
          <a:solidFill>
            <a:schemeClr val="bg2"/>
          </a:solidFill>
          <a:ln w="9525">
            <a:solidFill>
              <a:schemeClr val="accent1"/>
            </a:solidFill>
            <a:prstDash val="solid"/>
          </a:ln>
        </p:spPr>
        <p:txBody>
          <a:bodyPr wrap="square" lIns="114300" tIns="57150" rIns="114300" bIns="5715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0">
                <a:solidFill>
                  <a:schemeClr val="tx1"/>
                </a:solidFill>
                <a:latin typeface="+mn-lt"/>
                <a:ea typeface="+mn-ea"/>
              </a:rPr>
              <a:t>11 layouts · slots</a:t>
            </a:r>
          </a:p>
        </p:txBody>
      </p:sp>
      <p:sp>
        <p:nvSpPr>
          <p:cNvPr id="8" name="shape s10.2.0.0.1.2"/>
          <p:cNvSpPr/>
          <p:nvPr/>
        </p:nvSpPr>
        <p:spPr>
          <a:xfrm>
            <a:off x="4674989" y="2859435"/>
            <a:ext cx="1676102" cy="505123"/>
          </a:xfrm>
          <a:prstGeom prst="roundRect">
            <a:avLst>
              <a:gd name="adj" fmla="val 45256"/>
            </a:avLst>
          </a:prstGeom>
          <a:solidFill>
            <a:schemeClr val="bg2"/>
          </a:solidFill>
          <a:ln w="9525">
            <a:solidFill>
              <a:schemeClr val="accent1"/>
            </a:solidFill>
            <a:prstDash val="solid"/>
          </a:ln>
        </p:spPr>
        <p:txBody>
          <a:bodyPr wrap="square" lIns="114300" tIns="57150" rIns="114300" bIns="5715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0">
                <a:solidFill>
                  <a:schemeClr val="tx1"/>
                </a:solidFill>
                <a:latin typeface="+mn-lt"/>
                <a:ea typeface="+mn-ea"/>
              </a:rPr>
              <a:t>16 shapes · path</a:t>
            </a:r>
          </a:p>
        </p:txBody>
      </p:sp>
      <p:sp>
        <p:nvSpPr>
          <p:cNvPr id="9" name="shape s10.2.0.0.1.3"/>
          <p:cNvSpPr/>
          <p:nvPr/>
        </p:nvSpPr>
        <p:spPr>
          <a:xfrm>
            <a:off x="1019324" y="3421707"/>
            <a:ext cx="868561" cy="505123"/>
          </a:xfrm>
          <a:prstGeom prst="roundRect">
            <a:avLst>
              <a:gd name="adj" fmla="val 45256"/>
            </a:avLst>
          </a:prstGeom>
          <a:solidFill>
            <a:schemeClr val="bg2"/>
          </a:solidFill>
          <a:ln w="9525">
            <a:solidFill>
              <a:schemeClr val="accent1"/>
            </a:solidFill>
            <a:prstDash val="solid"/>
          </a:ln>
        </p:spPr>
        <p:txBody>
          <a:bodyPr wrap="square" lIns="114300" tIns="57150" rIns="114300" bIns="5715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0">
                <a:solidFill>
                  <a:schemeClr val="tx1"/>
                </a:solidFill>
                <a:latin typeface="+mn-lt"/>
                <a:ea typeface="+mn-ea"/>
              </a:rPr>
              <a:t>Tables</a:t>
            </a:r>
          </a:p>
        </p:txBody>
      </p:sp>
      <p:sp>
        <p:nvSpPr>
          <p:cNvPr id="10" name="shape s10.2.0.0.1.4"/>
          <p:cNvSpPr/>
          <p:nvPr/>
        </p:nvSpPr>
        <p:spPr>
          <a:xfrm>
            <a:off x="1945035" y="3421707"/>
            <a:ext cx="1495425" cy="505123"/>
          </a:xfrm>
          <a:prstGeom prst="roundRect">
            <a:avLst>
              <a:gd name="adj" fmla="val 45256"/>
            </a:avLst>
          </a:prstGeom>
          <a:solidFill>
            <a:schemeClr val="bg2"/>
          </a:solidFill>
          <a:ln w="9525">
            <a:solidFill>
              <a:schemeClr val="accent1"/>
            </a:solidFill>
            <a:prstDash val="solid"/>
          </a:ln>
        </p:spPr>
        <p:txBody>
          <a:bodyPr wrap="square" lIns="114300" tIns="57150" rIns="114300" bIns="5715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0">
                <a:solidFill>
                  <a:schemeClr val="tx1"/>
                </a:solidFill>
                <a:latin typeface="+mn-lt"/>
                <a:ea typeface="+mn-ea"/>
              </a:rPr>
              <a:t>Charts · series</a:t>
            </a:r>
          </a:p>
        </p:txBody>
      </p:sp>
      <p:sp>
        <p:nvSpPr>
          <p:cNvPr id="11" name="shape s10.2.0.0.1.5"/>
          <p:cNvSpPr/>
          <p:nvPr/>
        </p:nvSpPr>
        <p:spPr>
          <a:xfrm>
            <a:off x="3497610" y="3421707"/>
            <a:ext cx="1283791" cy="505123"/>
          </a:xfrm>
          <a:prstGeom prst="roundRect">
            <a:avLst>
              <a:gd name="adj" fmla="val 45256"/>
            </a:avLst>
          </a:prstGeom>
          <a:solidFill>
            <a:schemeClr val="bg2"/>
          </a:solidFill>
          <a:ln w="9525">
            <a:solidFill>
              <a:schemeClr val="accent1"/>
            </a:solidFill>
            <a:prstDash val="solid"/>
          </a:ln>
        </p:spPr>
        <p:txBody>
          <a:bodyPr wrap="square" lIns="114300" tIns="57150" rIns="114300" bIns="5715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0">
                <a:solidFill>
                  <a:schemeClr val="tx1"/>
                </a:solidFill>
                <a:latin typeface="+mn-lt"/>
                <a:ea typeface="+mn-ea"/>
              </a:rPr>
              <a:t>Connectors</a:t>
            </a:r>
          </a:p>
        </p:txBody>
      </p:sp>
      <p:sp>
        <p:nvSpPr>
          <p:cNvPr id="12" name="shape s10.2.0.0.1.6"/>
          <p:cNvSpPr/>
          <p:nvPr/>
        </p:nvSpPr>
        <p:spPr>
          <a:xfrm>
            <a:off x="4838551" y="3421707"/>
            <a:ext cx="1276499" cy="505123"/>
          </a:xfrm>
          <a:prstGeom prst="roundRect">
            <a:avLst>
              <a:gd name="adj" fmla="val 45256"/>
            </a:avLst>
          </a:prstGeom>
          <a:solidFill>
            <a:schemeClr val="bg2"/>
          </a:solidFill>
          <a:ln w="9525">
            <a:solidFill>
              <a:schemeClr val="accent1"/>
            </a:solidFill>
            <a:prstDash val="solid"/>
          </a:ln>
        </p:spPr>
        <p:txBody>
          <a:bodyPr wrap="square" lIns="114300" tIns="57150" rIns="114300" bIns="5715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0">
                <a:solidFill>
                  <a:schemeClr val="tx1"/>
                </a:solidFill>
                <a:latin typeface="+mn-lt"/>
                <a:ea typeface="+mn-ea"/>
              </a:rPr>
              <a:t>Animations</a:t>
            </a:r>
          </a:p>
        </p:txBody>
      </p:sp>
      <p:sp>
        <p:nvSpPr>
          <p:cNvPr id="13" name="shape s10.2.0.0.1.7"/>
          <p:cNvSpPr/>
          <p:nvPr/>
        </p:nvSpPr>
        <p:spPr>
          <a:xfrm>
            <a:off x="1019324" y="3983980"/>
            <a:ext cx="1800076" cy="505123"/>
          </a:xfrm>
          <a:prstGeom prst="roundRect">
            <a:avLst>
              <a:gd name="adj" fmla="val 45256"/>
            </a:avLst>
          </a:prstGeom>
          <a:solidFill>
            <a:schemeClr val="bg2"/>
          </a:solidFill>
          <a:ln w="9525">
            <a:solidFill>
              <a:schemeClr val="accent1"/>
            </a:solidFill>
            <a:prstDash val="solid"/>
          </a:ln>
        </p:spPr>
        <p:txBody>
          <a:bodyPr wrap="square" lIns="114300" tIns="57150" rIns="114300" bIns="5715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0">
                <a:solidFill>
                  <a:schemeClr val="tx1"/>
                </a:solidFill>
                <a:latin typeface="+mn-lt"/>
                <a:ea typeface="+mn-ea"/>
              </a:rPr>
              <a:t>Code highlighting</a:t>
            </a:r>
          </a:p>
        </p:txBody>
      </p:sp>
      <p:sp>
        <p:nvSpPr>
          <p:cNvPr id="14" name="shape s10.2.0.0.1.8"/>
          <p:cNvSpPr/>
          <p:nvPr/>
        </p:nvSpPr>
        <p:spPr>
          <a:xfrm>
            <a:off x="2876550" y="3983980"/>
            <a:ext cx="1311920" cy="505123"/>
          </a:xfrm>
          <a:prstGeom prst="roundRect">
            <a:avLst>
              <a:gd name="adj" fmla="val 45256"/>
            </a:avLst>
          </a:prstGeom>
          <a:solidFill>
            <a:schemeClr val="bg2"/>
          </a:solidFill>
          <a:ln w="9525">
            <a:solidFill>
              <a:schemeClr val="accent1"/>
            </a:solidFill>
            <a:prstDash val="solid"/>
          </a:ln>
        </p:spPr>
        <p:txBody>
          <a:bodyPr wrap="square" lIns="114300" tIns="57150" rIns="114300" bIns="5715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0">
                <a:solidFill>
                  <a:schemeClr val="tx1"/>
                </a:solidFill>
                <a:latin typeface="+mn-lt"/>
                <a:ea typeface="+mn-ea"/>
              </a:rPr>
              <a:t>SVG images</a:t>
            </a:r>
          </a:p>
        </p:txBody>
      </p:sp>
      <p:sp>
        <p:nvSpPr>
          <p:cNvPr id="15" name="shape s10.2.0.0.1.9"/>
          <p:cNvSpPr/>
          <p:nvPr/>
        </p:nvSpPr>
        <p:spPr>
          <a:xfrm>
            <a:off x="4245620" y="3983980"/>
            <a:ext cx="1914971" cy="505123"/>
          </a:xfrm>
          <a:prstGeom prst="roundRect">
            <a:avLst>
              <a:gd name="adj" fmla="val 45256"/>
            </a:avLst>
          </a:prstGeom>
          <a:solidFill>
            <a:schemeClr val="bg2"/>
          </a:solidFill>
          <a:ln w="9525">
            <a:solidFill>
              <a:schemeClr val="accent1"/>
            </a:solidFill>
            <a:prstDash val="solid"/>
          </a:ln>
        </p:spPr>
        <p:txBody>
          <a:bodyPr wrap="square" lIns="114300" tIns="57150" rIns="114300" bIns="5715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0">
                <a:solidFill>
                  <a:schemeClr val="tx1"/>
                </a:solidFill>
                <a:latin typeface="+mn-lt"/>
                <a:ea typeface="+mn-ea"/>
              </a:rPr>
              <a:t>Hatches · gradients</a:t>
            </a:r>
          </a:p>
        </p:txBody>
      </p:sp>
      <p:sp>
        <p:nvSpPr>
          <p:cNvPr id="16" name="shape s10.2.0.0.1.10"/>
          <p:cNvSpPr/>
          <p:nvPr/>
        </p:nvSpPr>
        <p:spPr>
          <a:xfrm>
            <a:off x="1019324" y="4546253"/>
            <a:ext cx="1544389" cy="505123"/>
          </a:xfrm>
          <a:prstGeom prst="roundRect">
            <a:avLst>
              <a:gd name="adj" fmla="val 45256"/>
            </a:avLst>
          </a:prstGeom>
          <a:solidFill>
            <a:schemeClr val="bg2"/>
          </a:solidFill>
          <a:ln w="9525">
            <a:solidFill>
              <a:schemeClr val="accent1"/>
            </a:solidFill>
            <a:prstDash val="solid"/>
          </a:ln>
        </p:spPr>
        <p:txBody>
          <a:bodyPr wrap="square" lIns="114300" tIns="57150" rIns="114300" bIns="5715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0">
                <a:solidFill>
                  <a:schemeClr val="tx1"/>
                </a:solidFill>
                <a:latin typeface="+mn-lt"/>
                <a:ea typeface="+mn-ea"/>
              </a:rPr>
              <a:t>Inverted slides</a:t>
            </a:r>
          </a:p>
        </p:txBody>
      </p:sp>
      <p:sp>
        <p:nvSpPr>
          <p:cNvPr id="17" name="shape s10.2.0.0.1.11"/>
          <p:cNvSpPr/>
          <p:nvPr/>
        </p:nvSpPr>
        <p:spPr>
          <a:xfrm>
            <a:off x="2620863" y="4546253"/>
            <a:ext cx="1994148" cy="505123"/>
          </a:xfrm>
          <a:prstGeom prst="roundRect">
            <a:avLst>
              <a:gd name="adj" fmla="val 45256"/>
            </a:avLst>
          </a:prstGeom>
          <a:solidFill>
            <a:schemeClr val="bg2"/>
          </a:solidFill>
          <a:ln w="9525">
            <a:solidFill>
              <a:schemeClr val="accent1"/>
            </a:solidFill>
            <a:prstDash val="solid"/>
          </a:ln>
        </p:spPr>
        <p:txBody>
          <a:bodyPr wrap="square" lIns="114300" tIns="57150" rIns="114300" bIns="5715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0">
                <a:solidFill>
                  <a:schemeClr val="tx1"/>
                </a:solidFill>
                <a:latin typeface="+mn-lt"/>
                <a:ea typeface="+mn-ea"/>
              </a:rPr>
              <a:t>Backgrounds · logos</a:t>
            </a:r>
          </a:p>
        </p:txBody>
      </p:sp>
      <p:sp>
        <p:nvSpPr>
          <p:cNvPr id="18" name="shape s10.2.0.0.1.12"/>
          <p:cNvSpPr/>
          <p:nvPr/>
        </p:nvSpPr>
        <p:spPr>
          <a:xfrm>
            <a:off x="4672161" y="4546253"/>
            <a:ext cx="1407319" cy="505123"/>
          </a:xfrm>
          <a:prstGeom prst="roundRect">
            <a:avLst>
              <a:gd name="adj" fmla="val 45256"/>
            </a:avLst>
          </a:prstGeom>
          <a:solidFill>
            <a:schemeClr val="bg2"/>
          </a:solidFill>
          <a:ln w="9525">
            <a:solidFill>
              <a:schemeClr val="accent1"/>
            </a:solidFill>
            <a:prstDash val="solid"/>
          </a:ln>
        </p:spPr>
        <p:txBody>
          <a:bodyPr wrap="square" lIns="114300" tIns="57150" rIns="114300" bIns="5715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0">
                <a:solidFill>
                  <a:schemeClr val="tx1"/>
                </a:solidFill>
                <a:latin typeface="+mn-lt"/>
                <a:ea typeface="+mn-ea"/>
              </a:rPr>
              <a:t>theme install</a:t>
            </a:r>
          </a:p>
        </p:txBody>
      </p:sp>
      <p:sp>
        <p:nvSpPr>
          <p:cNvPr id="19" name="shape s10.2.0.0.1.13"/>
          <p:cNvSpPr/>
          <p:nvPr/>
        </p:nvSpPr>
        <p:spPr>
          <a:xfrm>
            <a:off x="1019324" y="5108525"/>
            <a:ext cx="1887885" cy="505123"/>
          </a:xfrm>
          <a:prstGeom prst="roundRect">
            <a:avLst>
              <a:gd name="adj" fmla="val 45256"/>
            </a:avLst>
          </a:prstGeom>
          <a:solidFill>
            <a:schemeClr val="bg2"/>
          </a:solidFill>
          <a:ln w="9525">
            <a:solidFill>
              <a:schemeClr val="accent1"/>
            </a:solidFill>
            <a:prstDash val="solid"/>
          </a:ln>
        </p:spPr>
        <p:txBody>
          <a:bodyPr wrap="square" lIns="114300" tIns="57150" rIns="114300" bIns="5715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0">
                <a:solidFill>
                  <a:schemeClr val="tx1"/>
                </a:solidFill>
                <a:latin typeface="+mn-lt"/>
                <a:ea typeface="+mn-ea"/>
              </a:rPr>
              <a:t>line:col diagnostics</a:t>
            </a:r>
          </a:p>
        </p:txBody>
      </p:sp>
      <p:sp>
        <p:nvSpPr>
          <p:cNvPr id="20" name="shape s10.2.0.0.1.14"/>
          <p:cNvSpPr/>
          <p:nvPr/>
        </p:nvSpPr>
        <p:spPr>
          <a:xfrm>
            <a:off x="2964359" y="5108525"/>
            <a:ext cx="3129707" cy="505123"/>
          </a:xfrm>
          <a:prstGeom prst="roundRect">
            <a:avLst>
              <a:gd name="adj" fmla="val 45256"/>
            </a:avLst>
          </a:prstGeom>
          <a:solidFill>
            <a:schemeClr val="bg2"/>
          </a:solidFill>
          <a:ln w="9525">
            <a:solidFill>
              <a:schemeClr val="accent1"/>
            </a:solidFill>
            <a:prstDash val="solid"/>
          </a:ln>
        </p:spPr>
        <p:txBody>
          <a:bodyPr wrap="square" lIns="114300" tIns="57150" rIns="114300" bIns="5715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0">
                <a:solidFill>
                  <a:schemeClr val="tx1"/>
                </a:solidFill>
                <a:latin typeface="+mn-lt"/>
                <a:ea typeface="+mn-ea"/>
              </a:rPr>
              <a:t>init · build · check · watch · preview</a:t>
            </a:r>
          </a:p>
        </p:txBody>
      </p:sp>
      <p:sp>
        <p:nvSpPr>
          <p:cNvPr id="21" name="shape s10.2.1"/>
          <p:cNvSpPr/>
          <p:nvPr/>
        </p:nvSpPr>
        <p:spPr>
          <a:xfrm>
            <a:off x="7330380" y="1963936"/>
            <a:ext cx="4251871" cy="4284464"/>
          </a:xfrm>
          <a:prstGeom prst="roundRect">
            <a:avLst>
              <a:gd name="adj" fmla="val 5376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  <p:txBody>
          <a:bodyPr wrap="square" lIns="342900" tIns="342900" rIns="342900" bIns="342900" anchor="t">
            <a:normAutofit/>
          </a:bodyPr>
          <a:lstStyle/>
          <a:p/>
        </p:txBody>
      </p:sp>
      <p:sp>
        <p:nvSpPr>
          <p:cNvPr id="22" name="text s10.2.1.0.0"/>
          <p:cNvSpPr txBox="1"/>
          <p:nvPr/>
        </p:nvSpPr>
        <p:spPr>
          <a:xfrm>
            <a:off x="7740104" y="2373660"/>
            <a:ext cx="3432423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1" spc="135" cap="all">
                <a:solidFill>
                  <a:schemeClr val="tx2"/>
                </a:solidFill>
                <a:latin typeface="+mn-lt"/>
                <a:ea typeface="+mn-ea"/>
              </a:rPr>
              <a:t>Next</a:t>
            </a:r>
          </a:p>
        </p:txBody>
      </p:sp>
      <p:sp>
        <p:nvSpPr>
          <p:cNvPr id="23" name="shape s10.2.1.0.1.0.0"/>
          <p:cNvSpPr/>
          <p:nvPr/>
        </p:nvSpPr>
        <p:spPr>
          <a:xfrm>
            <a:off x="7740104" y="2940397"/>
            <a:ext cx="152400" cy="152400"/>
          </a:xfrm>
          <a:prstGeom prst="ellipse">
            <a:avLst/>
          </a:prstGeom>
          <a:noFill/>
          <a:ln w="19050">
            <a:solidFill>
              <a:schemeClr val="tx2"/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24" name="text s10.2.1.0.1.0.1"/>
          <p:cNvSpPr txBox="1"/>
          <p:nvPr/>
        </p:nvSpPr>
        <p:spPr>
          <a:xfrm>
            <a:off x="8006804" y="2859435"/>
            <a:ext cx="3165723" cy="314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475"/>
              </a:lnSpc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</a:rPr>
              <a:t>Chapters as PPTX sections</a:t>
            </a:r>
          </a:p>
        </p:txBody>
      </p:sp>
      <p:sp>
        <p:nvSpPr>
          <p:cNvPr id="25" name="shape s10.2.1.0.1.1.0"/>
          <p:cNvSpPr/>
          <p:nvPr/>
        </p:nvSpPr>
        <p:spPr>
          <a:xfrm>
            <a:off x="7740104" y="3483322"/>
            <a:ext cx="152400" cy="152400"/>
          </a:xfrm>
          <a:prstGeom prst="ellipse">
            <a:avLst/>
          </a:prstGeom>
          <a:noFill/>
          <a:ln w="19050">
            <a:solidFill>
              <a:schemeClr val="tx2"/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26" name="text s10.2.1.0.1.1.1"/>
          <p:cNvSpPr txBox="1"/>
          <p:nvPr/>
        </p:nvSpPr>
        <p:spPr>
          <a:xfrm>
            <a:off x="8006804" y="3402360"/>
            <a:ext cx="3165723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ts val="2475"/>
              </a:lnSpc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</a:rPr>
              <a:t>Chart value prefixes · thousands</a:t>
            </a:r>
          </a:p>
        </p:txBody>
      </p:sp>
      <p:sp>
        <p:nvSpPr>
          <p:cNvPr id="27" name="shape s10.2.1.0.1.2.0"/>
          <p:cNvSpPr/>
          <p:nvPr/>
        </p:nvSpPr>
        <p:spPr>
          <a:xfrm>
            <a:off x="7740104" y="4026247"/>
            <a:ext cx="152400" cy="152400"/>
          </a:xfrm>
          <a:prstGeom prst="ellipse">
            <a:avLst/>
          </a:prstGeom>
          <a:noFill/>
          <a:ln w="19050">
            <a:solidFill>
              <a:schemeClr val="tx2"/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28" name="text s10.2.1.0.1.2.1"/>
          <p:cNvSpPr txBox="1"/>
          <p:nvPr/>
        </p:nvSpPr>
        <p:spPr>
          <a:xfrm>
            <a:off x="8006804" y="3945285"/>
            <a:ext cx="3165723" cy="314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475"/>
              </a:lnSpc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</a:rPr>
              <a:t>Font size in table cells</a:t>
            </a:r>
          </a:p>
        </p:txBody>
      </p:sp>
      <p:sp>
        <p:nvSpPr>
          <p:cNvPr id="29" name="shape s10.2.1.0.1.3.0"/>
          <p:cNvSpPr/>
          <p:nvPr/>
        </p:nvSpPr>
        <p:spPr>
          <a:xfrm>
            <a:off x="7740104" y="4569172"/>
            <a:ext cx="152400" cy="152400"/>
          </a:xfrm>
          <a:prstGeom prst="ellipse">
            <a:avLst/>
          </a:prstGeom>
          <a:noFill/>
          <a:ln w="19050">
            <a:solidFill>
              <a:schemeClr val="tx2"/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30" name="text s10.2.1.0.1.3.1"/>
          <p:cNvSpPr txBox="1"/>
          <p:nvPr/>
        </p:nvSpPr>
        <p:spPr>
          <a:xfrm>
            <a:off x="8006804" y="4488210"/>
            <a:ext cx="3165723" cy="314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475"/>
              </a:lnSpc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</a:rPr>
              <a:t>Stretched preset parameters</a:t>
            </a:r>
          </a:p>
        </p:txBody>
      </p:sp>
      <p:sp>
        <p:nvSpPr>
          <p:cNvPr id="31" name="shape s10.2.1.0.1.4.0"/>
          <p:cNvSpPr/>
          <p:nvPr/>
        </p:nvSpPr>
        <p:spPr>
          <a:xfrm>
            <a:off x="7740104" y="5112097"/>
            <a:ext cx="152400" cy="152400"/>
          </a:xfrm>
          <a:prstGeom prst="ellipse">
            <a:avLst/>
          </a:prstGeom>
          <a:noFill/>
          <a:ln w="19050">
            <a:solidFill>
              <a:schemeClr val="tx2"/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32" name="text s10.2.1.0.1.4.1"/>
          <p:cNvSpPr txBox="1"/>
          <p:nvPr/>
        </p:nvSpPr>
        <p:spPr>
          <a:xfrm>
            <a:off x="8006804" y="5031135"/>
            <a:ext cx="3165723" cy="314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475"/>
              </a:lnSpc>
            </a:pPr>
            <a:r>
              <a:rPr sz="1650" b="0">
                <a:solidFill>
                  <a:schemeClr val="tx1"/>
                </a:solidFill>
                <a:latin typeface="+mn-lt"/>
                <a:ea typeface="+mn-ea"/>
              </a:rPr>
              <a:t>English reference docs</a:t>
            </a:r>
          </a:p>
        </p:txBody>
      </p:sp>
      <p:sp>
        <p:nvSpPr>
          <p:cNvPr id="33" name="chrome footer"/>
          <p:cNvSpPr txBox="1"/>
          <p:nvPr/>
        </p:nvSpPr>
        <p:spPr>
          <a:xfrm>
            <a:off x="609600" y="6248400"/>
            <a:ext cx="153010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Introducing balpyo</a:t>
            </a:r>
          </a:p>
        </p:txBody>
      </p:sp>
      <p:sp>
        <p:nvSpPr>
          <p:cNvPr id="34" name="chrome pageNumber"/>
          <p:cNvSpPr txBox="1"/>
          <p:nvPr/>
        </p:nvSpPr>
        <p:spPr>
          <a:xfrm>
            <a:off x="11386245" y="6248400"/>
            <a:ext cx="196155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ts val="1890"/>
              </a:lnSpc>
            </a:pPr>
            <a:fld id="{B9A1C0E4-6F3D-4A5B-8C7E-2D1F0A9B8C7D}" type="slidenum">
              <a:rPr sz="1350" b="0">
                <a:solidFill>
                  <a:schemeClr val="tx2"/>
                </a:solidFill>
                <a:latin typeface="+mn-lt"/>
                <a:ea typeface="+mn-ea"/>
              </a:rPr>
              <a:t>11</a:t>
            </a:fld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6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6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6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6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6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6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6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6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6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6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s11.0"/>
          <p:cNvSpPr txBox="1"/>
          <p:nvPr/>
        </p:nvSpPr>
        <p:spPr>
          <a:xfrm>
            <a:off x="609600" y="2233613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7200"/>
              </a:lnSpc>
            </a:pPr>
            <a:r>
              <a:rPr sz="6000" b="1" i="0" u="none"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0" scaled="0"/>
                </a:gradFill>
                <a:latin typeface="+mj-lt"/>
                <a:ea typeface="+mj-ea"/>
              </a:rPr>
              <a:t>Write once</a:t>
            </a:r>
            <a:r>
              <a:rPr sz="6000" b="1">
                <a:solidFill>
                  <a:schemeClr val="tx1"/>
                </a:solidFill>
                <a:latin typeface="+mj-lt"/>
                <a:ea typeface="+mj-ea"/>
              </a:rPr>
              <a:t> in SOML</a:t>
            </a:r>
          </a:p>
        </p:txBody>
      </p:sp>
      <p:sp>
        <p:nvSpPr>
          <p:cNvPr id="3" name="text s11.1"/>
          <p:cNvSpPr txBox="1"/>
          <p:nvPr/>
        </p:nvSpPr>
        <p:spPr>
          <a:xfrm>
            <a:off x="609600" y="3376613"/>
            <a:ext cx="10972800" cy="371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2925"/>
              </a:lnSpc>
            </a:pPr>
            <a:r>
              <a:rPr sz="2250" b="1">
                <a:solidFill>
                  <a:schemeClr val="tx2"/>
                </a:solidFill>
                <a:latin typeface="+mj-lt"/>
                <a:ea typeface="+mj-ea"/>
              </a:rPr>
              <a:t>balpyo renders the rest, to both targets</a:t>
            </a:r>
          </a:p>
        </p:txBody>
      </p:sp>
      <p:sp>
        <p:nvSpPr>
          <p:cNvPr id="4" name="shape s11.2.0"/>
          <p:cNvSpPr/>
          <p:nvPr/>
        </p:nvSpPr>
        <p:spPr>
          <a:xfrm>
            <a:off x="609600" y="3976688"/>
            <a:ext cx="3505200" cy="647700"/>
          </a:xfrm>
          <a:prstGeom prst="roundRect">
            <a:avLst>
              <a:gd name="adj" fmla="val 17647"/>
            </a:avLst>
          </a:prstGeom>
          <a:solidFill>
            <a:schemeClr val="tx1"/>
          </a:solidFill>
          <a:ln>
            <a:noFill/>
          </a:ln>
          <a:effectLst>
            <a:outerShdw blurRad="152400" dist="38100" dir="5400000" rotWithShape="1">
              <a:schemeClr val="tx1">
                <a:alpha val="15000"/>
              </a:schemeClr>
            </a:outerShdw>
          </a:effectLst>
        </p:spPr>
        <p:txBody>
          <a:bodyPr wrap="square" lIns="114300" tIns="114300" rIns="114300" bIns="114300" anchor="ctr">
            <a:norm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chemeClr val="accent3"/>
                </a:solidFill>
                <a:latin typeface="Noto Sans Mono"/>
                <a:ea typeface="Noto Sans Mono CJK KR"/>
              </a:rPr>
              <a:t>$</a:t>
            </a:r>
            <a:r>
              <a:rPr sz="1500" b="0">
                <a:solidFill>
                  <a:schemeClr val="bg1"/>
                </a:solidFill>
                <a:latin typeface="Noto Sans Mono"/>
                <a:ea typeface="Noto Sans Mono CJK KR"/>
              </a:rPr>
              <a:t> balpyo init my-talk</a:t>
            </a:r>
          </a:p>
        </p:txBody>
      </p:sp>
      <p:sp>
        <p:nvSpPr>
          <p:cNvPr id="5" name="shape s11.2.1"/>
          <p:cNvSpPr/>
          <p:nvPr/>
        </p:nvSpPr>
        <p:spPr>
          <a:xfrm>
            <a:off x="4343400" y="3976688"/>
            <a:ext cx="3505200" cy="647700"/>
          </a:xfrm>
          <a:prstGeom prst="roundRect">
            <a:avLst>
              <a:gd name="adj" fmla="val 17647"/>
            </a:avLst>
          </a:prstGeom>
          <a:solidFill>
            <a:schemeClr val="tx1"/>
          </a:solidFill>
          <a:ln>
            <a:noFill/>
          </a:ln>
          <a:effectLst>
            <a:outerShdw blurRad="152400" dist="38100" dir="5400000" rotWithShape="1">
              <a:schemeClr val="tx1">
                <a:alpha val="15000"/>
              </a:schemeClr>
            </a:outerShdw>
          </a:effectLst>
        </p:spPr>
        <p:txBody>
          <a:bodyPr wrap="square" lIns="114300" tIns="114300" rIns="114300" bIns="114300" anchor="ctr">
            <a:norm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chemeClr val="accent3"/>
                </a:solidFill>
                <a:latin typeface="Noto Sans Mono"/>
                <a:ea typeface="Noto Sans Mono CJK KR"/>
              </a:rPr>
              <a:t>$</a:t>
            </a:r>
            <a:r>
              <a:rPr sz="1500" b="0">
                <a:solidFill>
                  <a:schemeClr val="bg1"/>
                </a:solidFill>
                <a:latin typeface="Noto Sans Mono"/>
                <a:ea typeface="Noto Sans Mono CJK KR"/>
              </a:rPr>
              <a:t> balpyo build</a:t>
            </a:r>
          </a:p>
        </p:txBody>
      </p:sp>
      <p:sp>
        <p:nvSpPr>
          <p:cNvPr id="6" name="shape s11.2.2"/>
          <p:cNvSpPr/>
          <p:nvPr/>
        </p:nvSpPr>
        <p:spPr>
          <a:xfrm>
            <a:off x="8077200" y="3976688"/>
            <a:ext cx="3505200" cy="647700"/>
          </a:xfrm>
          <a:prstGeom prst="roundRect">
            <a:avLst>
              <a:gd name="adj" fmla="val 17647"/>
            </a:avLst>
          </a:prstGeom>
          <a:solidFill>
            <a:schemeClr val="tx1"/>
          </a:solidFill>
          <a:ln>
            <a:noFill/>
          </a:ln>
          <a:effectLst>
            <a:outerShdw blurRad="152400" dist="38100" dir="5400000" rotWithShape="1">
              <a:schemeClr val="tx1">
                <a:alpha val="15000"/>
              </a:schemeClr>
            </a:outerShdw>
          </a:effectLst>
        </p:spPr>
        <p:txBody>
          <a:bodyPr wrap="square" lIns="114300" tIns="114300" rIns="114300" bIns="114300" anchor="ctr">
            <a:norm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chemeClr val="accent3"/>
                </a:solidFill>
                <a:latin typeface="Noto Sans Mono"/>
                <a:ea typeface="Noto Sans Mono CJK KR"/>
              </a:rPr>
              <a:t>$</a:t>
            </a:r>
            <a:r>
              <a:rPr sz="1500" b="0">
                <a:solidFill>
                  <a:schemeClr val="bg1"/>
                </a:solidFill>
                <a:latin typeface="Noto Sans Mono"/>
                <a:ea typeface="Noto Sans Mono CJK KR"/>
              </a:rPr>
              <a:t> balpyo watch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</p:bldLst>
  </p:timing>
</p:sld>
</file>

<file path=ppt/theme/theme1.xml><?xml version="1.0" encoding="utf-8"?>
<a:theme xmlns:a="http://schemas.openxmlformats.org/drawingml/2006/main" name="minimal">
  <a:themeElements>
    <a:clrScheme name="minimal">
      <a:dk1>
        <a:srgbClr val="1A1A1A"/>
      </a:dk1>
      <a:lt1>
        <a:srgbClr val="FFFFFF"/>
      </a:lt1>
      <a:dk2>
        <a:srgbClr val="6B7280"/>
      </a:dk2>
      <a:lt2>
        <a:srgbClr val="F3F4F6"/>
      </a:lt2>
      <a:accent1>
        <a:srgbClr val="0F65F9"/>
      </a:accent1>
      <a:accent2>
        <a:srgbClr val="0E8174"/>
      </a:accent2>
      <a:accent3>
        <a:srgbClr val="15803D"/>
      </a:accent3>
      <a:accent4>
        <a:srgbClr val="B45309"/>
      </a:accent4>
      <a:accent5>
        <a:srgbClr val="DC2626"/>
      </a:accent5>
      <a:accent6>
        <a:srgbClr val="9333EA"/>
      </a:accent6>
      <a:hlink>
        <a:srgbClr val="0F65F9"/>
      </a:hlink>
      <a:folHlink>
        <a:srgbClr val="0F65F9"/>
      </a:folHlink>
    </a:clrScheme>
    <a:fontScheme name="minimal">
      <a:majorFont>
        <a:latin typeface="Noto Sans"/>
        <a:ea typeface="Noto Sans CJK KR"/>
        <a:cs typeface=""/>
      </a:majorFont>
      <a:minorFont>
        <a:latin typeface="Noto Sans"/>
        <a:ea typeface="Noto Sans CJK KR"/>
        <a:cs typeface=""/>
      </a:minorFont>
    </a:fontScheme>
    <a:fmtScheme name="minima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minimal">
  <a:themeElements>
    <a:clrScheme name="minimal">
      <a:dk1>
        <a:srgbClr val="1A1A1A"/>
      </a:dk1>
      <a:lt1>
        <a:srgbClr val="FFFFFF"/>
      </a:lt1>
      <a:dk2>
        <a:srgbClr val="6B7280"/>
      </a:dk2>
      <a:lt2>
        <a:srgbClr val="F3F4F6"/>
      </a:lt2>
      <a:accent1>
        <a:srgbClr val="0F65F9"/>
      </a:accent1>
      <a:accent2>
        <a:srgbClr val="0E8174"/>
      </a:accent2>
      <a:accent3>
        <a:srgbClr val="15803D"/>
      </a:accent3>
      <a:accent4>
        <a:srgbClr val="B45309"/>
      </a:accent4>
      <a:accent5>
        <a:srgbClr val="DC2626"/>
      </a:accent5>
      <a:accent6>
        <a:srgbClr val="9333EA"/>
      </a:accent6>
      <a:hlink>
        <a:srgbClr val="0F65F9"/>
      </a:hlink>
      <a:folHlink>
        <a:srgbClr val="0F65F9"/>
      </a:folHlink>
    </a:clrScheme>
    <a:fontScheme name="minimal">
      <a:majorFont>
        <a:latin typeface="Noto Sans"/>
        <a:ea typeface="Noto Sans CJK KR"/>
        <a:cs typeface=""/>
      </a:majorFont>
      <a:minorFont>
        <a:latin typeface="Noto Sans"/>
        <a:ea typeface="Noto Sans CJK KR"/>
        <a:cs typeface=""/>
      </a:minorFont>
    </a:fontScheme>
    <a:fmtScheme name="minima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balpyo</Application>
  <Slides>12</Slides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Introducing balpyo</dc:title>
  <dc:creator>balpyo</dc:creator>
  <dc:language>en-US</dc:language>
  <cp:lastModifiedBy>balpyo</cp:lastModifiedBy>
  <cp:revision>1</cp:revision>
</cp:coreProperties>
</file>