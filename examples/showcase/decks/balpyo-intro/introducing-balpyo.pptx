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deck is itself the output — what you are looking at and the PPTX we shipped come from the same source.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lose one or the other: expressiveness, or an editable output. balpyo aims for the spot where you keep both.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where the product started. If the author still has something to calculate, it isn't automation.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soml parses, core resolves, render/geom measures, and render/web and render/pptx render. The PPTX renderer computes no coordinates — it bakes what the browser measured.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deck settings live in balpyo.json — title, author, language, aspect, theme, output path, footer, page numbers.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second insight — borrow the browser as the layout engine.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PowerPoint you can edit the text, and click into a table cell to add a row. Drag a box and its connectors follow. This is where "a file that opens" and "a file you can edit" part ways.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moment a token flattens into a literal, the product's promise breaks. The tests watch for exactly that.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only goldens are the layout tree without coordinates and the diagnostics — the parity check re-measures coordinates every run, so a diff only ever says "one more shape".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every time something changes, we open it in PowerPoint or Keynote ourselves.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Left is what works today, right is what comes next. The order isn't decided.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questions. Encourage everyone to download the deck as PPTX and edit it themselves.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251573" y="1323082"/>
            <a:ext cx="368885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567535" y="1808857"/>
            <a:ext cx="3056930" cy="10971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8640"/>
              </a:lnSpc>
            </a:pPr>
            <a:r>
              <a:rPr sz="72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0"/>
                </a:gra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075581" y="3134618"/>
            <a:ext cx="10040838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Write your slides once — get the web and an editable PPTX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4532263" y="4723358"/>
            <a:ext cx="312732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Render engine · Themes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019699" y="5294858"/>
            <a:ext cx="415245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This deck is twelve SOML slides, rendered by balpyo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Why another tool</a:t>
            </a:r>
          </a:p>
        </p:txBody>
      </p:sp>
      <p:sp>
        <p:nvSpPr>
          <p:cNvPr id="3" name="h1 s1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Slides as text force a trade-off</a:t>
            </a:r>
          </a:p>
        </p:txBody>
      </p:sp>
      <p:sp>
        <p:nvSpPr>
          <p:cNvPr id="4" name="shape s1.2.0.0"/>
          <p:cNvSpPr/>
          <p:nvPr/>
        </p:nvSpPr>
        <p:spPr>
          <a:xfrm>
            <a:off x="6096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.2.0.0.0.0.0"/>
          <p:cNvSpPr txBox="1"/>
          <p:nvPr/>
        </p:nvSpPr>
        <p:spPr>
          <a:xfrm>
            <a:off x="10193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Markdown-based · Marp · Slidev</a:t>
            </a:r>
          </a:p>
        </p:txBody>
      </p:sp>
      <p:sp>
        <p:nvSpPr>
          <p:cNvPr id="6" name="shape s1.2.0.0.0.0.1.0"/>
          <p:cNvSpPr/>
          <p:nvPr/>
        </p:nvSpPr>
        <p:spPr>
          <a:xfrm>
            <a:off x="1019324" y="2859435"/>
            <a:ext cx="4324052" cy="723900"/>
          </a:xfrm>
          <a:prstGeom prst="roundRect">
            <a:avLst>
              <a:gd name="adj" fmla="val 7895"/>
            </a:avLst>
          </a:prstGeom>
          <a:pattFill prst="wdUpDiag">
            <a:fgClr>
              <a:schemeClr val="tx2">
                <a:alpha val="35000"/>
              </a:schemeClr>
            </a:fgClr>
            <a:bgClr>
              <a:schemeClr val="bg1">
                <a:alpha val="0"/>
              </a:schemeClr>
            </a:bgClr>
          </a:pattFill>
          <a:ln w="9525">
            <a:solidFill>
              <a:schemeClr val="tx2"/>
            </a:solidFill>
            <a:prstDash val="dash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1.2.0.0.0.0.1.1"/>
          <p:cNvSpPr/>
          <p:nvPr/>
        </p:nvSpPr>
        <p:spPr>
          <a:xfrm>
            <a:off x="1884462" y="3026122"/>
            <a:ext cx="2593777" cy="390525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913"/>
              </a:lnSpc>
            </a:pPr>
            <a:r>
              <a:rPr sz="1275" b="0">
                <a:solidFill>
                  <a:schemeClr val="tx2"/>
                </a:solidFill>
                <a:latin typeface="Noto Sans Mono"/>
                <a:ea typeface="Noto Sans Mono CJK KR"/>
              </a:rPr>
              <a:t>slide-03.png · one image</a:t>
            </a:r>
          </a:p>
        </p:txBody>
      </p:sp>
      <p:sp>
        <p:nvSpPr>
          <p:cNvPr id="8" name="ul s1.2.0.0.0.0.2"/>
          <p:cNvSpPr txBox="1"/>
          <p:nvPr/>
        </p:nvSpPr>
        <p:spPr>
          <a:xfrm>
            <a:off x="10193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Document markup, no slide vocabulary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PPTX export is a single image</a:t>
            </a:r>
          </a:p>
        </p:txBody>
      </p:sp>
      <p:sp>
        <p:nvSpPr>
          <p:cNvPr id="9" name="text s1.2.0.0.0.1"/>
          <p:cNvSpPr txBox="1"/>
          <p:nvPr/>
        </p:nvSpPr>
        <p:spPr>
          <a:xfrm>
            <a:off x="10193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You lose the editable output</a:t>
            </a:r>
          </a:p>
        </p:txBody>
      </p:sp>
      <p:sp>
        <p:nvSpPr>
          <p:cNvPr id="10" name="shape s1.2.0.1"/>
          <p:cNvSpPr/>
          <p:nvPr/>
        </p:nvSpPr>
        <p:spPr>
          <a:xfrm>
            <a:off x="64389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1" name="text s1.2.0.1.0.0.0"/>
          <p:cNvSpPr txBox="1"/>
          <p:nvPr/>
        </p:nvSpPr>
        <p:spPr>
          <a:xfrm>
            <a:off x="68486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Library-based · python-pptx</a:t>
            </a:r>
          </a:p>
        </p:txBody>
      </p:sp>
      <p:sp>
        <p:nvSpPr>
          <p:cNvPr id="12" name="shape s1.2.0.1.0.0.1"/>
          <p:cNvSpPr/>
          <p:nvPr/>
        </p:nvSpPr>
        <p:spPr>
          <a:xfrm>
            <a:off x="6848624" y="2859435"/>
            <a:ext cx="4324052" cy="72390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box.left = Emu(1219200)  # measured by hand</a:t>
            </a:r>
            <a:br/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box.top  = Emu(2286000)</a:t>
            </a:r>
          </a:p>
        </p:txBody>
      </p:sp>
      <p:sp>
        <p:nvSpPr>
          <p:cNvPr id="13" name="ul s1.2.0.1.0.0.2"/>
          <p:cNvSpPr txBox="1"/>
          <p:nvPr/>
        </p:nvSpPr>
        <p:spPr>
          <a:xfrm>
            <a:off x="68486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Every element placed by hand in EMU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No design API, so you assemble XML</a:t>
            </a:r>
          </a:p>
        </p:txBody>
      </p:sp>
      <p:sp>
        <p:nvSpPr>
          <p:cNvPr id="14" name="text s1.2.0.1.0.1"/>
          <p:cNvSpPr txBox="1"/>
          <p:nvPr/>
        </p:nvSpPr>
        <p:spPr>
          <a:xfrm>
            <a:off x="68486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You lose ease of writing</a:t>
            </a:r>
          </a:p>
        </p:txBody>
      </p:sp>
      <p:sp>
        <p:nvSpPr>
          <p:cNvPr id="15" name="shape s1.2.1"/>
          <p:cNvSpPr/>
          <p:nvPr/>
        </p:nvSpPr>
        <p:spPr>
          <a:xfrm>
            <a:off x="5791200" y="3801368"/>
            <a:ext cx="609600" cy="6096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2145"/>
              </a:lnSpc>
            </a:pPr>
            <a:r>
              <a:rPr sz="1650" b="1">
                <a:solidFill>
                  <a:schemeClr val="tx2"/>
                </a:solidFill>
                <a:latin typeface="+mj-lt"/>
                <a:ea typeface="+mj-ea"/>
              </a:rPr>
              <a:t>vs</a:t>
            </a:r>
          </a:p>
        </p:txBody>
      </p:sp>
      <p:sp>
        <p:nvSpPr>
          <p:cNvPr id="16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Rebuilding one card-grid slide from a corporate deck in python-pptx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95375"/>
            <a:ext cx="6377880" cy="5153025"/>
          </a:xfrm>
          <a:prstGeom prst="roundRect">
            <a:avLst>
              <a:gd name="adj" fmla="val 44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143125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14600"/>
            <a:ext cx="5558433" cy="1920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5120"/>
              </a:lnSpc>
            </a:pPr>
            <a:r>
              <a:rPr sz="12600" b="1">
                <a:solidFill>
                  <a:schemeClr val="accent5"/>
                </a:solidFill>
                <a:latin typeface="+mj-lt"/>
                <a:ea typeface="+mj-ea"/>
              </a:rPr>
              <a:t>128</a:t>
            </a:r>
            <a:r>
              <a:rPr sz="3600" b="1" i="0" u="none">
                <a:solidFill>
                  <a:schemeClr val="accent5"/>
                </a:solidFill>
                <a:latin typeface="+mj-lt"/>
                <a:ea typeface="+mj-ea"/>
              </a:rPr>
              <a:t> times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549080"/>
            <a:ext cx="5558433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Manual coordinates · 10 raw-XML patches</a:t>
            </a:r>
          </a:p>
        </p:txBody>
      </p:sp>
      <p:sp>
        <p:nvSpPr>
          <p:cNvPr id="7" name="shape s2.1.0.0.3"/>
          <p:cNvSpPr/>
          <p:nvPr/>
        </p:nvSpPr>
        <p:spPr>
          <a:xfrm>
            <a:off x="1019324" y="5010001"/>
            <a:ext cx="5558433" cy="190500"/>
          </a:xfrm>
          <a:prstGeom prst="rect">
            <a:avLst/>
          </a:prstGeom>
          <a:pattFill prst="vert">
            <a:fgClr>
              <a:schemeClr val="accent5">
                <a:alpha val="70000"/>
              </a:schemeClr>
            </a:fgClr>
            <a:bgClr>
              <a:schemeClr val="bg1">
                <a:alpha val="0"/>
              </a:schemeClr>
            </a:bgClr>
          </a:patt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1.1"/>
          <p:cNvSpPr/>
          <p:nvPr/>
        </p:nvSpPr>
        <p:spPr>
          <a:xfrm>
            <a:off x="7330380" y="1095375"/>
            <a:ext cx="4251871" cy="5153025"/>
          </a:xfrm>
          <a:prstGeom prst="roundRect">
            <a:avLst>
              <a:gd name="adj" fmla="val 5376"/>
            </a:avLst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7740104" y="2203549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7740104" y="2689324"/>
            <a:ext cx="3432423" cy="11886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9360"/>
              </a:lnSpc>
            </a:pPr>
            <a:r>
              <a:rPr sz="7800" b="1">
                <a:solidFill>
                  <a:schemeClr val="bg1"/>
                </a:solidFill>
                <a:latin typeface="+mj-lt"/>
                <a:ea typeface="+mj-ea"/>
              </a:rPr>
              <a:t>1</a:t>
            </a:r>
            <a:r>
              <a:rPr sz="3600" b="1" i="0" u="none">
                <a:solidFill>
                  <a:schemeClr val="bg1"/>
                </a:solidFill>
                <a:latin typeface="+mj-lt"/>
                <a:ea typeface="+mj-ea"/>
              </a:rPr>
              <a:t> line</a:t>
            </a:r>
          </a:p>
        </p:txBody>
      </p:sp>
      <p:sp>
        <p:nvSpPr>
          <p:cNvPr id="11" name="shape s2.1.1.0.2"/>
          <p:cNvSpPr/>
          <p:nvPr/>
        </p:nvSpPr>
        <p:spPr>
          <a:xfrm>
            <a:off x="7740104" y="4106614"/>
            <a:ext cx="3432423" cy="461963"/>
          </a:xfrm>
          <a:prstGeom prst="roundRect">
            <a:avLst>
              <a:gd name="adj" fmla="val 12371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2" name="text s2.1.1.0.3"/>
          <p:cNvSpPr txBox="1"/>
          <p:nvPr/>
        </p:nvSpPr>
        <p:spPr>
          <a:xfrm>
            <a:off x="7740104" y="4797177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The browser measures layout.</a:t>
            </a:r>
          </a:p>
        </p:txBody>
      </p:sp>
      <p:sp>
        <p:nvSpPr>
          <p:cNvPr id="13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1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The path of one build</a:t>
            </a:r>
          </a:p>
        </p:txBody>
      </p:sp>
      <p:sp>
        <p:nvSpPr>
          <p:cNvPr id="3" name="h1 s3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One source, two outputs</a:t>
            </a:r>
          </a:p>
        </p:txBody>
      </p:sp>
      <p:sp>
        <p:nvSpPr>
          <p:cNvPr id="4" name="shape s3.2.0"/>
          <p:cNvSpPr/>
          <p:nvPr/>
        </p:nvSpPr>
        <p:spPr>
          <a:xfrm>
            <a:off x="60960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790724" y="3148310"/>
            <a:ext cx="1066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.slide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790724" y="3405485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SOML source</a:t>
            </a:r>
          </a:p>
        </p:txBody>
      </p:sp>
      <p:sp>
        <p:nvSpPr>
          <p:cNvPr id="7" name="shape s3.2.2"/>
          <p:cNvSpPr/>
          <p:nvPr/>
        </p:nvSpPr>
        <p:spPr>
          <a:xfrm>
            <a:off x="2828925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8" name="text s3.2.2.0.0"/>
          <p:cNvSpPr txBox="1"/>
          <p:nvPr/>
        </p:nvSpPr>
        <p:spPr>
          <a:xfrm>
            <a:off x="3010049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9" name="text s3.2.2.0.1"/>
          <p:cNvSpPr txBox="1"/>
          <p:nvPr/>
        </p:nvSpPr>
        <p:spPr>
          <a:xfrm>
            <a:off x="3010049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Parse · check</a:t>
            </a:r>
          </a:p>
        </p:txBody>
      </p:sp>
      <p:sp>
        <p:nvSpPr>
          <p:cNvPr id="10" name="shape s3.2.4"/>
          <p:cNvSpPr/>
          <p:nvPr/>
        </p:nvSpPr>
        <p:spPr>
          <a:xfrm>
            <a:off x="504825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11" name="text s3.2.4.0.0"/>
          <p:cNvSpPr txBox="1"/>
          <p:nvPr/>
        </p:nvSpPr>
        <p:spPr>
          <a:xfrm>
            <a:off x="5229374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core</a:t>
            </a:r>
          </a:p>
        </p:txBody>
      </p:sp>
      <p:sp>
        <p:nvSpPr>
          <p:cNvPr id="12" name="text s3.2.4.0.1"/>
          <p:cNvSpPr txBox="1"/>
          <p:nvPr/>
        </p:nvSpPr>
        <p:spPr>
          <a:xfrm>
            <a:off x="5229374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Style · assets</a:t>
            </a:r>
          </a:p>
        </p:txBody>
      </p:sp>
      <p:sp>
        <p:nvSpPr>
          <p:cNvPr id="13" name="shape s3.2.6.0"/>
          <p:cNvSpPr/>
          <p:nvPr/>
        </p:nvSpPr>
        <p:spPr>
          <a:xfrm>
            <a:off x="7267575" y="2069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4" name="text s3.2.6.0.0.0"/>
          <p:cNvSpPr txBox="1"/>
          <p:nvPr/>
        </p:nvSpPr>
        <p:spPr>
          <a:xfrm>
            <a:off x="7448699" y="2200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render/web</a:t>
            </a:r>
          </a:p>
        </p:txBody>
      </p:sp>
      <p:sp>
        <p:nvSpPr>
          <p:cNvPr id="15" name="text s3.2.6.0.0.1"/>
          <p:cNvSpPr txBox="1"/>
          <p:nvPr/>
        </p:nvSpPr>
        <p:spPr>
          <a:xfrm>
            <a:off x="7448699" y="2448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HTML + CSS</a:t>
            </a:r>
          </a:p>
        </p:txBody>
      </p:sp>
      <p:sp>
        <p:nvSpPr>
          <p:cNvPr id="16" name="shape s3.2.6.1"/>
          <p:cNvSpPr/>
          <p:nvPr/>
        </p:nvSpPr>
        <p:spPr>
          <a:xfrm>
            <a:off x="7267575" y="3021657"/>
            <a:ext cx="2000250" cy="723900"/>
          </a:xfrm>
          <a:prstGeom prst="roundRect">
            <a:avLst>
              <a:gd name="adj" fmla="val 15789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7" name="text s3.2.6.1.0.0"/>
          <p:cNvSpPr txBox="1"/>
          <p:nvPr/>
        </p:nvSpPr>
        <p:spPr>
          <a:xfrm>
            <a:off x="7415213" y="3153073"/>
            <a:ext cx="1704975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accent1"/>
                </a:solidFill>
                <a:latin typeface="+mj-lt"/>
                <a:ea typeface="+mj-ea"/>
              </a:rPr>
              <a:t>render/geom</a:t>
            </a:r>
          </a:p>
        </p:txBody>
      </p:sp>
      <p:sp>
        <p:nvSpPr>
          <p:cNvPr id="18" name="text s3.2.6.1.0.1"/>
          <p:cNvSpPr txBox="1"/>
          <p:nvPr/>
        </p:nvSpPr>
        <p:spPr>
          <a:xfrm>
            <a:off x="7415213" y="3400723"/>
            <a:ext cx="1704975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 measures</a:t>
            </a:r>
          </a:p>
        </p:txBody>
      </p:sp>
      <p:sp>
        <p:nvSpPr>
          <p:cNvPr id="19" name="shape s3.2.6.2"/>
          <p:cNvSpPr/>
          <p:nvPr/>
        </p:nvSpPr>
        <p:spPr>
          <a:xfrm>
            <a:off x="7267575" y="3974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20" name="text s3.2.6.2.0.0"/>
          <p:cNvSpPr txBox="1"/>
          <p:nvPr/>
        </p:nvSpPr>
        <p:spPr>
          <a:xfrm>
            <a:off x="7448699" y="4105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render/pptx</a:t>
            </a:r>
          </a:p>
        </p:txBody>
      </p:sp>
      <p:sp>
        <p:nvSpPr>
          <p:cNvPr id="21" name="text s3.2.6.2.0.1"/>
          <p:cNvSpPr txBox="1"/>
          <p:nvPr/>
        </p:nvSpPr>
        <p:spPr>
          <a:xfrm>
            <a:off x="7448699" y="4353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Measured rect → EMU</a:t>
            </a:r>
          </a:p>
        </p:txBody>
      </p:sp>
      <p:sp>
        <p:nvSpPr>
          <p:cNvPr id="22" name="shape s3.2.8.0"/>
          <p:cNvSpPr/>
          <p:nvPr/>
        </p:nvSpPr>
        <p:spPr>
          <a:xfrm>
            <a:off x="10058400" y="2069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index.html</a:t>
            </a:r>
          </a:p>
        </p:txBody>
      </p:sp>
      <p:sp>
        <p:nvSpPr>
          <p:cNvPr id="23" name="shape s3.2.8.1"/>
          <p:cNvSpPr/>
          <p:nvPr/>
        </p:nvSpPr>
        <p:spPr>
          <a:xfrm>
            <a:off x="10058400" y="3021657"/>
            <a:ext cx="15240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3.2.8.2"/>
          <p:cNvSpPr/>
          <p:nvPr/>
        </p:nvSpPr>
        <p:spPr>
          <a:xfrm>
            <a:off x="10058400" y="3974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6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deck.pptx</a:t>
            </a:r>
          </a:p>
        </p:txBody>
      </p:sp>
      <p:sp>
        <p:nvSpPr>
          <p:cNvPr id="25" name="shape s3.11.0"/>
          <p:cNvSpPr/>
          <p:nvPr/>
        </p:nvSpPr>
        <p:spPr>
          <a:xfrm>
            <a:off x="60960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6" name="shape s3.11.0.0.0"/>
          <p:cNvSpPr/>
          <p:nvPr/>
        </p:nvSpPr>
        <p:spPr>
          <a:xfrm>
            <a:off x="905024" y="5327303"/>
            <a:ext cx="38100" cy="6256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text s3.11.0.0.1.0"/>
          <p:cNvSpPr txBox="1"/>
          <p:nvPr/>
        </p:nvSpPr>
        <p:spPr>
          <a:xfrm>
            <a:off x="117172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Web · one file</a:t>
            </a:r>
          </a:p>
        </p:txBody>
      </p:sp>
      <p:sp>
        <p:nvSpPr>
          <p:cNvPr id="28" name="text s3.11.0.0.1.1"/>
          <p:cNvSpPr txBox="1"/>
          <p:nvPr/>
        </p:nvSpPr>
        <p:spPr>
          <a:xfrm>
            <a:off x="117172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Inline CSS · presenter · overview · PDF</a:t>
            </a:r>
          </a:p>
        </p:txBody>
      </p:sp>
      <p:sp>
        <p:nvSpPr>
          <p:cNvPr id="29" name="shape s3.11.1"/>
          <p:cNvSpPr/>
          <p:nvPr/>
        </p:nvSpPr>
        <p:spPr>
          <a:xfrm>
            <a:off x="626745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30" name="shape s3.11.1.0.0"/>
          <p:cNvSpPr/>
          <p:nvPr/>
        </p:nvSpPr>
        <p:spPr>
          <a:xfrm>
            <a:off x="6562874" y="5327303"/>
            <a:ext cx="38100" cy="62567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1" name="text s3.11.1.0.1.0"/>
          <p:cNvSpPr txBox="1"/>
          <p:nvPr/>
        </p:nvSpPr>
        <p:spPr>
          <a:xfrm>
            <a:off x="682957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PPTX · an editable original</a:t>
            </a:r>
          </a:p>
        </p:txBody>
      </p:sp>
      <p:sp>
        <p:nvSpPr>
          <p:cNvPr id="32" name="text s3.11.1.0.1.1"/>
          <p:cNvSpPr txBox="1"/>
          <p:nvPr/>
        </p:nvSpPr>
        <p:spPr>
          <a:xfrm>
            <a:off x="682957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Text · shapes · tables · lines — not images</a:t>
            </a:r>
          </a:p>
        </p:txBody>
      </p:sp>
      <p:cxnSp>
        <p:nvCxnSpPr>
          <p:cNvPr id="33" name="connector s3.3"/>
          <p:cNvCxnSpPr>
            <a:stCxn id="4" idx="3"/>
            <a:endCxn id="7" idx="1"/>
          </p:cNvCxnSpPr>
          <p:nvPr/>
        </p:nvCxnSpPr>
        <p:spPr>
          <a:xfrm>
            <a:off x="2038350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4" name="connector s3.4"/>
          <p:cNvCxnSpPr>
            <a:stCxn id="7" idx="3"/>
            <a:endCxn id="10" idx="1"/>
          </p:cNvCxnSpPr>
          <p:nvPr/>
        </p:nvCxnSpPr>
        <p:spPr>
          <a:xfrm>
            <a:off x="4257675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5" name="connector s3.5"/>
          <p:cNvCxnSpPr>
            <a:stCxn id="10" idx="3"/>
            <a:endCxn id="13" idx="1"/>
          </p:cNvCxnSpPr>
          <p:nvPr/>
        </p:nvCxnSpPr>
        <p:spPr>
          <a:xfrm flipV="1">
            <a:off x="6477000" y="24311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6" name="connector s3.6"/>
          <p:cNvCxnSpPr>
            <a:stCxn id="10" idx="3"/>
            <a:endCxn id="19" idx="1"/>
          </p:cNvCxnSpPr>
          <p:nvPr/>
        </p:nvCxnSpPr>
        <p:spPr>
          <a:xfrm>
            <a:off x="6477000" y="33836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7" name="connector s3.7"/>
          <p:cNvCxnSpPr>
            <a:stCxn id="13" idx="2"/>
            <a:endCxn id="16" idx="0"/>
          </p:cNvCxnSpPr>
          <p:nvPr/>
        </p:nvCxnSpPr>
        <p:spPr>
          <a:xfrm>
            <a:off x="8267700" y="27930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8" name="connector s3.8"/>
          <p:cNvCxnSpPr>
            <a:stCxn id="16" idx="2"/>
            <a:endCxn id="19" idx="0"/>
          </p:cNvCxnSpPr>
          <p:nvPr/>
        </p:nvCxnSpPr>
        <p:spPr>
          <a:xfrm>
            <a:off x="8267700" y="37455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9" name="connector s3.9"/>
          <p:cNvCxnSpPr>
            <a:stCxn id="13" idx="3"/>
            <a:endCxn id="22" idx="1"/>
          </p:cNvCxnSpPr>
          <p:nvPr/>
        </p:nvCxnSpPr>
        <p:spPr>
          <a:xfrm>
            <a:off x="9267825" y="2431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40" name="connector s3.10"/>
          <p:cNvCxnSpPr>
            <a:stCxn id="19" idx="3"/>
            <a:endCxn id="24" idx="1"/>
          </p:cNvCxnSpPr>
          <p:nvPr/>
        </p:nvCxnSpPr>
        <p:spPr>
          <a:xfrm>
            <a:off x="9267825" y="4336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sp>
        <p:nvSpPr>
          <p:cNvPr id="4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4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1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2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Project</a:t>
            </a:r>
          </a:p>
        </p:txBody>
      </p:sp>
      <p:sp>
        <p:nvSpPr>
          <p:cNvPr id="3" name="h1 s4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One project is one deck</a:t>
            </a:r>
          </a:p>
        </p:txBody>
      </p:sp>
      <p:sp>
        <p:nvSpPr>
          <p:cNvPr id="4" name="shape s4.2.0"/>
          <p:cNvSpPr/>
          <p:nvPr/>
        </p:nvSpPr>
        <p:spPr>
          <a:xfrm>
            <a:off x="609600" y="1963936"/>
            <a:ext cx="4779764" cy="3476923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shape s4.2.0.0.0"/>
          <p:cNvSpPr/>
          <p:nvPr/>
        </p:nvSpPr>
        <p:spPr>
          <a:xfrm>
            <a:off x="676424" y="2030760"/>
            <a:ext cx="4646116" cy="4429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6" name="shape s4.2.0.0.0.0.0"/>
          <p:cNvSpPr/>
          <p:nvPr/>
        </p:nvSpPr>
        <p:spPr>
          <a:xfrm>
            <a:off x="905024" y="2195066"/>
            <a:ext cx="114300" cy="114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4.2.0.0.0.0.1"/>
          <p:cNvSpPr/>
          <p:nvPr/>
        </p:nvSpPr>
        <p:spPr>
          <a:xfrm>
            <a:off x="1076474" y="2195066"/>
            <a:ext cx="114300" cy="114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4.2.0.0.0.0.2"/>
          <p:cNvSpPr/>
          <p:nvPr/>
        </p:nvSpPr>
        <p:spPr>
          <a:xfrm>
            <a:off x="1247924" y="2195066"/>
            <a:ext cx="114300" cy="114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4.2.0.0.0.0.3"/>
          <p:cNvSpPr txBox="1"/>
          <p:nvPr/>
        </p:nvSpPr>
        <p:spPr>
          <a:xfrm>
            <a:off x="1419374" y="2145060"/>
            <a:ext cx="1286024" cy="21431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Noto Sans Mono"/>
                <a:ea typeface="Noto Sans Mono CJK KR"/>
              </a:rPr>
              <a:t>~/talks/my-deck</a:t>
            </a:r>
          </a:p>
        </p:txBody>
      </p:sp>
      <p:sp>
        <p:nvSpPr>
          <p:cNvPr id="10" name="pre s4.2.0.0.1.0"/>
          <p:cNvSpPr txBox="1"/>
          <p:nvPr/>
        </p:nvSpPr>
        <p:spPr>
          <a:xfrm>
            <a:off x="1019324" y="2702272"/>
            <a:ext cx="3960316" cy="24431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balpyo.json        ⑤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  ①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_draft.slide     ③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chapter-2/       ④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themes/my-brand/</a:t>
            </a:r>
          </a:p>
        </p:txBody>
      </p:sp>
      <p:sp>
        <p:nvSpPr>
          <p:cNvPr id="11" name="shape s4.2.1.0.0"/>
          <p:cNvSpPr/>
          <p:nvPr/>
        </p:nvSpPr>
        <p:spPr>
          <a:xfrm>
            <a:off x="5846564" y="22926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1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6456164" y="23260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One slide is one file</a:t>
            </a:r>
          </a:p>
        </p:txBody>
      </p:sp>
      <p:sp>
        <p:nvSpPr>
          <p:cNvPr id="13" name="shape s4.2.1.1.0"/>
          <p:cNvSpPr/>
          <p:nvPr/>
        </p:nvSpPr>
        <p:spPr>
          <a:xfrm>
            <a:off x="5846564" y="29022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2</a:t>
            </a:r>
          </a:p>
        </p:txBody>
      </p:sp>
      <p:sp>
        <p:nvSpPr>
          <p:cNvPr id="14" name="text s4.2.1.1.1"/>
          <p:cNvSpPr txBox="1"/>
          <p:nvPr/>
        </p:nvSpPr>
        <p:spPr>
          <a:xfrm>
            <a:off x="6456164" y="29356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Sorted by path — numeric prefixes set the order</a:t>
            </a:r>
          </a:p>
        </p:txBody>
      </p:sp>
      <p:sp>
        <p:nvSpPr>
          <p:cNvPr id="15" name="shape s4.2.1.2.0"/>
          <p:cNvSpPr/>
          <p:nvPr/>
        </p:nvSpPr>
        <p:spPr>
          <a:xfrm>
            <a:off x="5846564" y="35118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3</a:t>
            </a:r>
          </a:p>
        </p:txBody>
      </p:sp>
      <p:sp>
        <p:nvSpPr>
          <p:cNvPr id="16" name="text s4.2.1.2.1"/>
          <p:cNvSpPr txBox="1"/>
          <p:nvPr/>
        </p:nvSpPr>
        <p:spPr>
          <a:xfrm>
            <a:off x="6456164" y="35452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_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-prefixed files are skipped (drafts)</a:t>
            </a:r>
          </a:p>
        </p:txBody>
      </p:sp>
      <p:sp>
        <p:nvSpPr>
          <p:cNvPr id="17" name="shape s4.2.1.3.0"/>
          <p:cNvSpPr/>
          <p:nvPr/>
        </p:nvSpPr>
        <p:spPr>
          <a:xfrm>
            <a:off x="5846564" y="41214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4</a:t>
            </a:r>
          </a:p>
        </p:txBody>
      </p:sp>
      <p:sp>
        <p:nvSpPr>
          <p:cNvPr id="18" name="text s4.2.1.3.1"/>
          <p:cNvSpPr txBox="1"/>
          <p:nvPr/>
        </p:nvSpPr>
        <p:spPr>
          <a:xfrm>
            <a:off x="6456164" y="41548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Subdirectories become chapters</a:t>
            </a:r>
          </a:p>
        </p:txBody>
      </p:sp>
      <p:sp>
        <p:nvSpPr>
          <p:cNvPr id="19" name="shape s4.2.1.4.0"/>
          <p:cNvSpPr/>
          <p:nvPr/>
        </p:nvSpPr>
        <p:spPr>
          <a:xfrm>
            <a:off x="5846564" y="4731097"/>
            <a:ext cx="381000" cy="381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5</a:t>
            </a:r>
          </a:p>
        </p:txBody>
      </p:sp>
      <p:sp>
        <p:nvSpPr>
          <p:cNvPr id="20" name="text s4.2.1.4.1"/>
          <p:cNvSpPr txBox="1"/>
          <p:nvPr/>
        </p:nvSpPr>
        <p:spPr>
          <a:xfrm>
            <a:off x="6456164" y="47644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Deck settings live in one file: </a:t>
            </a:r>
            <a:r>
              <a:rPr sz="165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balpyo.json</a:t>
            </a:r>
          </a:p>
        </p:txBody>
      </p:sp>
      <p:sp>
        <p:nvSpPr>
          <p:cNvPr id="21" name="shape s4.3"/>
          <p:cNvSpPr/>
          <p:nvPr/>
        </p:nvSpPr>
        <p:spPr>
          <a:xfrm>
            <a:off x="609600" y="5669459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tx1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 --project my-deck --target html,pptx</a:t>
            </a:r>
          </a:p>
        </p:txBody>
      </p:sp>
      <p:sp>
        <p:nvSpPr>
          <p:cNvPr id="22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3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5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Geometry pass</a:t>
            </a:r>
          </a:p>
        </p:txBody>
      </p:sp>
      <p:sp>
        <p:nvSpPr>
          <p:cNvPr id="3" name="h1 s5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The browser computes the coordinates</a:t>
            </a:r>
          </a:p>
        </p:txBody>
      </p:sp>
      <p:sp>
        <p:nvSpPr>
          <p:cNvPr id="4" name="shape s5.2.0"/>
          <p:cNvSpPr/>
          <p:nvPr/>
        </p:nvSpPr>
        <p:spPr>
          <a:xfrm>
            <a:off x="6096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shape s5.2.0.0.0.0"/>
          <p:cNvSpPr/>
          <p:nvPr/>
        </p:nvSpPr>
        <p:spPr>
          <a:xfrm>
            <a:off x="9050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① Declare</a:t>
            </a:r>
          </a:p>
        </p:txBody>
      </p:sp>
      <p:sp>
        <p:nvSpPr>
          <p:cNvPr id="6" name="shape s5.2.0.0.0.1"/>
          <p:cNvSpPr/>
          <p:nvPr/>
        </p:nvSpPr>
        <p:spPr>
          <a:xfrm>
            <a:off x="9050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&lt;row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gap=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"md"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&lt;/row&gt;</a:t>
            </a:r>
          </a:p>
        </p:txBody>
      </p:sp>
      <p:sp>
        <p:nvSpPr>
          <p:cNvPr id="7" name="p s5.2.0.0.0.2"/>
          <p:cNvSpPr txBox="1"/>
          <p:nvPr/>
        </p:nvSpPr>
        <p:spPr>
          <a:xfrm>
            <a:off x="9050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Authors declare layout with flex and grid. Coordinates have no place in it.</a:t>
            </a:r>
          </a:p>
        </p:txBody>
      </p:sp>
      <p:sp>
        <p:nvSpPr>
          <p:cNvPr id="8" name="text s5.2.0.0.1"/>
          <p:cNvSpPr txBox="1"/>
          <p:nvPr/>
        </p:nvSpPr>
        <p:spPr>
          <a:xfrm>
            <a:off x="9050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row · col · grid · stack</a:t>
            </a:r>
          </a:p>
        </p:txBody>
      </p:sp>
      <p:sp>
        <p:nvSpPr>
          <p:cNvPr id="9" name="shape s5.2.1"/>
          <p:cNvSpPr/>
          <p:nvPr/>
        </p:nvSpPr>
        <p:spPr>
          <a:xfrm>
            <a:off x="43815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shape s5.2.1.0.0.0"/>
          <p:cNvSpPr/>
          <p:nvPr/>
        </p:nvSpPr>
        <p:spPr>
          <a:xfrm>
            <a:off x="46769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② Measure</a:t>
            </a:r>
          </a:p>
        </p:txBody>
      </p:sp>
      <p:sp>
        <p:nvSpPr>
          <p:cNvPr id="11" name="shape s5.2.1.0.0.1.0"/>
          <p:cNvSpPr/>
          <p:nvPr/>
        </p:nvSpPr>
        <p:spPr>
          <a:xfrm>
            <a:off x="4676924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2" name="shape s5.2.1.0.0.1.1"/>
          <p:cNvSpPr/>
          <p:nvPr/>
        </p:nvSpPr>
        <p:spPr>
          <a:xfrm>
            <a:off x="6153150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3" name="p s5.2.1.0.0.2"/>
          <p:cNvSpPr txBox="1"/>
          <p:nvPr/>
        </p:nvSpPr>
        <p:spPr>
          <a:xfrm>
            <a:off x="46769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Headless Chromium measures every element's box. The pass reads only rects.</a:t>
            </a:r>
          </a:p>
        </p:txBody>
      </p:sp>
      <p:sp>
        <p:nvSpPr>
          <p:cNvPr id="14" name="text s5.2.1.0.1"/>
          <p:cNvSpPr txBox="1"/>
          <p:nvPr/>
        </p:nvSpPr>
        <p:spPr>
          <a:xfrm>
            <a:off x="46769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5" name="shape s5.2.2"/>
          <p:cNvSpPr/>
          <p:nvPr/>
        </p:nvSpPr>
        <p:spPr>
          <a:xfrm>
            <a:off x="81534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shape s5.2.2.0.0.0"/>
          <p:cNvSpPr/>
          <p:nvPr/>
        </p:nvSpPr>
        <p:spPr>
          <a:xfrm>
            <a:off x="84488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③ Bake</a:t>
            </a:r>
          </a:p>
        </p:txBody>
      </p:sp>
      <p:sp>
        <p:nvSpPr>
          <p:cNvPr id="17" name="shape s5.2.2.0.0.1"/>
          <p:cNvSpPr/>
          <p:nvPr/>
        </p:nvSpPr>
        <p:spPr>
          <a:xfrm>
            <a:off x="84488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&lt;a:off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"609600"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"1714500"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&lt;a:ext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"1562100"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"1066800"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</a:p>
        </p:txBody>
      </p:sp>
      <p:sp>
        <p:nvSpPr>
          <p:cNvPr id="18" name="p s5.2.2.0.0.2"/>
          <p:cNvSpPr txBox="1"/>
          <p:nvPr/>
        </p:nvSpPr>
        <p:spPr>
          <a:xfrm>
            <a:off x="84488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Measured rects are the PPTX coordinates. 1px = 9525 EMU, converted once.</a:t>
            </a:r>
          </a:p>
        </p:txBody>
      </p:sp>
      <p:sp>
        <p:nvSpPr>
          <p:cNvPr id="19" name="text s5.2.2.0.1"/>
          <p:cNvSpPr txBox="1"/>
          <p:nvPr/>
        </p:nvSpPr>
        <p:spPr>
          <a:xfrm>
            <a:off x="84488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20" name="shape s5.3"/>
          <p:cNvSpPr/>
          <p:nvPr/>
        </p:nvSpPr>
        <p:spPr>
          <a:xfrm>
            <a:off x="609600" y="5646241"/>
            <a:ext cx="10972800" cy="602159"/>
          </a:xfrm>
          <a:prstGeom prst="roundRect">
            <a:avLst>
              <a:gd name="adj" fmla="val 37963"/>
            </a:avLst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wrap="square" lIns="228600" tIns="114300" rIns="228600" bIns="1143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The pipeline speaks logical stage px (16:9 is 1280×720). EMU and pt exist only inside the PPTX renderer.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What each tag becomes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5529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991421"/>
                <a:gridCol w="6981379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output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&lt;ul&gt;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text box — carries the resolved rPr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(16 presets · path)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· custGeom — holds text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 (PNG · JPEG · SVG)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— SVG stays vector, with a PNG fallback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No shape — dissolves into children's absolute positions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(this slide)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an editable table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&lt;series&gt;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Shapes + text — one bar is one shape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&lt;connector&gt;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p:cxnSp — connectors glued to boxes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enter= · transition=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p:timing · p:transition — native entrance effects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5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Graphic spid="3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Themes</a:t>
            </a:r>
          </a:p>
        </p:txBody>
      </p:sp>
      <p:sp>
        <p:nvSpPr>
          <p:cNvPr id="3" name="h1 s7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A theme is a design system</a:t>
            </a:r>
          </a:p>
        </p:txBody>
      </p:sp>
      <p:sp>
        <p:nvSpPr>
          <p:cNvPr id="4" name="shape s7.2.0"/>
          <p:cNvSpPr/>
          <p:nvPr/>
        </p:nvSpPr>
        <p:spPr>
          <a:xfrm>
            <a:off x="60960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fg</a:t>
            </a:r>
          </a:p>
        </p:txBody>
      </p:sp>
      <p:sp>
        <p:nvSpPr>
          <p:cNvPr id="5" name="shape s7.2.1"/>
          <p:cNvSpPr/>
          <p:nvPr/>
        </p:nvSpPr>
        <p:spPr>
          <a:xfrm>
            <a:off x="171256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bg</a:t>
            </a:r>
          </a:p>
        </p:txBody>
      </p:sp>
      <p:sp>
        <p:nvSpPr>
          <p:cNvPr id="6" name="shape s7.2.2"/>
          <p:cNvSpPr/>
          <p:nvPr/>
        </p:nvSpPr>
        <p:spPr>
          <a:xfrm>
            <a:off x="281553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muted</a:t>
            </a:r>
          </a:p>
        </p:txBody>
      </p:sp>
      <p:sp>
        <p:nvSpPr>
          <p:cNvPr id="7" name="shape s7.2.3"/>
          <p:cNvSpPr/>
          <p:nvPr/>
        </p:nvSpPr>
        <p:spPr>
          <a:xfrm>
            <a:off x="3918496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surface</a:t>
            </a:r>
          </a:p>
        </p:txBody>
      </p:sp>
      <p:sp>
        <p:nvSpPr>
          <p:cNvPr id="8" name="shape s7.2.4"/>
          <p:cNvSpPr/>
          <p:nvPr/>
        </p:nvSpPr>
        <p:spPr>
          <a:xfrm>
            <a:off x="5021461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accent1</a:t>
            </a:r>
          </a:p>
        </p:txBody>
      </p:sp>
      <p:sp>
        <p:nvSpPr>
          <p:cNvPr id="9" name="shape s7.2.5"/>
          <p:cNvSpPr/>
          <p:nvPr/>
        </p:nvSpPr>
        <p:spPr>
          <a:xfrm>
            <a:off x="612457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accent2</a:t>
            </a:r>
          </a:p>
        </p:txBody>
      </p:sp>
      <p:sp>
        <p:nvSpPr>
          <p:cNvPr id="10" name="shape s7.2.6"/>
          <p:cNvSpPr/>
          <p:nvPr/>
        </p:nvSpPr>
        <p:spPr>
          <a:xfrm>
            <a:off x="722754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3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accent3</a:t>
            </a:r>
          </a:p>
        </p:txBody>
      </p:sp>
      <p:sp>
        <p:nvSpPr>
          <p:cNvPr id="11" name="shape s7.2.7"/>
          <p:cNvSpPr/>
          <p:nvPr/>
        </p:nvSpPr>
        <p:spPr>
          <a:xfrm>
            <a:off x="833050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4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accent4</a:t>
            </a:r>
          </a:p>
        </p:txBody>
      </p:sp>
      <p:sp>
        <p:nvSpPr>
          <p:cNvPr id="12" name="shape s7.2.8"/>
          <p:cNvSpPr/>
          <p:nvPr/>
        </p:nvSpPr>
        <p:spPr>
          <a:xfrm>
            <a:off x="9433471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accent5</a:t>
            </a:r>
          </a:p>
        </p:txBody>
      </p:sp>
      <p:sp>
        <p:nvSpPr>
          <p:cNvPr id="13" name="shape s7.2.9"/>
          <p:cNvSpPr/>
          <p:nvPr/>
        </p:nvSpPr>
        <p:spPr>
          <a:xfrm>
            <a:off x="10536436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accent6</a:t>
            </a:r>
          </a:p>
        </p:txBody>
      </p:sp>
      <p:sp>
        <p:nvSpPr>
          <p:cNvPr id="14" name="shape s7.3.0"/>
          <p:cNvSpPr/>
          <p:nvPr/>
        </p:nvSpPr>
        <p:spPr>
          <a:xfrm>
            <a:off x="60960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7.3.0.0.0"/>
          <p:cNvSpPr txBox="1"/>
          <p:nvPr/>
        </p:nvSpPr>
        <p:spPr>
          <a:xfrm>
            <a:off x="101932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Four files make a theme</a:t>
            </a:r>
          </a:p>
        </p:txBody>
      </p:sp>
      <p:sp>
        <p:nvSpPr>
          <p:cNvPr id="16" name="ul s7.3.0.0.1"/>
          <p:cNvSpPr txBox="1"/>
          <p:nvPr/>
        </p:nvSpPr>
        <p:spPr>
          <a:xfrm>
            <a:off x="1019324" y="3888135"/>
            <a:ext cx="4495502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tokens.json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color · type · spacing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components.json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roles and variants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layouts/*.css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placement, not styling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assets/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backgrounds · logos · icons</a:t>
            </a:r>
          </a:p>
        </p:txBody>
      </p:sp>
      <p:sp>
        <p:nvSpPr>
          <p:cNvPr id="17" name="shape s7.3.1"/>
          <p:cNvSpPr/>
          <p:nvPr/>
        </p:nvSpPr>
        <p:spPr>
          <a:xfrm>
            <a:off x="626745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8" name="text s7.3.1.0.0.0"/>
          <p:cNvSpPr txBox="1"/>
          <p:nvPr/>
        </p:nvSpPr>
        <p:spPr>
          <a:xfrm>
            <a:off x="667717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Tokens stay names</a:t>
            </a:r>
          </a:p>
        </p:txBody>
      </p:sp>
      <p:sp>
        <p:nvSpPr>
          <p:cNvPr id="19" name="p s7.3.1.0.0.1"/>
          <p:cNvSpPr txBox="1"/>
          <p:nvPr/>
        </p:nvSpPr>
        <p:spPr>
          <a:xfrm>
            <a:off x="6677174" y="3888135"/>
            <a:ext cx="4495502" cy="9001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63"/>
              </a:lnSpc>
            </a:pP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A token color stays a CSS variable on the web and an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a:schemeClr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in PPTX. Only literals become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srgbClr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.</a:t>
            </a:r>
          </a:p>
        </p:txBody>
      </p:sp>
      <p:sp>
        <p:nvSpPr>
          <p:cNvPr id="20" name="text s7.3.1.0.1"/>
          <p:cNvSpPr txBox="1"/>
          <p:nvPr/>
        </p:nvSpPr>
        <p:spPr>
          <a:xfrm>
            <a:off x="6677174" y="5244554"/>
            <a:ext cx="4495502" cy="5941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1"/>
                </a:solidFill>
                <a:latin typeface="+mj-lt"/>
                <a:ea typeface="+mj-ea"/>
              </a:rPr>
              <a:t>→ Change the theme colors in PowerPoint and the deck follows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8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What decides</a:t>
            </a:r>
          </a:p>
        </p:txBody>
      </p:sp>
      <p:sp>
        <p:nvSpPr>
          <p:cNvPr id="3" name="h1 s8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Both renders, same components</a:t>
            </a:r>
          </a:p>
        </p:txBody>
      </p:sp>
      <p:sp>
        <p:nvSpPr>
          <p:cNvPr id="4" name="shape s8.2.0.0"/>
          <p:cNvSpPr/>
          <p:nvPr/>
        </p:nvSpPr>
        <p:spPr>
          <a:xfrm>
            <a:off x="609600" y="3244155"/>
            <a:ext cx="1238250" cy="9144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8.2.0.0.0.0"/>
          <p:cNvSpPr txBox="1"/>
          <p:nvPr/>
        </p:nvSpPr>
        <p:spPr>
          <a:xfrm>
            <a:off x="790724" y="3458468"/>
            <a:ext cx="8760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6" name="text s8.2.0.0.0.1"/>
          <p:cNvSpPr txBox="1"/>
          <p:nvPr/>
        </p:nvSpPr>
        <p:spPr>
          <a:xfrm>
            <a:off x="790724" y="3730823"/>
            <a:ext cx="876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Deck tree</a:t>
            </a:r>
          </a:p>
        </p:txBody>
      </p:sp>
      <p:sp>
        <p:nvSpPr>
          <p:cNvPr id="7" name="shape s8.2.0.2.0"/>
          <p:cNvSpPr/>
          <p:nvPr/>
        </p:nvSpPr>
        <p:spPr>
          <a:xfrm>
            <a:off x="2533650" y="25583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8" name="text s8.2.0.2.0.0.0"/>
          <p:cNvSpPr txBox="1"/>
          <p:nvPr/>
        </p:nvSpPr>
        <p:spPr>
          <a:xfrm>
            <a:off x="2714774" y="27278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Web tree</a:t>
            </a:r>
          </a:p>
        </p:txBody>
      </p:sp>
      <p:sp>
        <p:nvSpPr>
          <p:cNvPr id="9" name="text s8.2.0.2.0.0.1"/>
          <p:cNvSpPr txBox="1"/>
          <p:nvPr/>
        </p:nvSpPr>
        <p:spPr>
          <a:xfrm>
            <a:off x="2714774" y="29755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 · rect</a:t>
            </a:r>
          </a:p>
        </p:txBody>
      </p:sp>
      <p:sp>
        <p:nvSpPr>
          <p:cNvPr id="10" name="shape s8.2.0.2.1"/>
          <p:cNvSpPr/>
          <p:nvPr/>
        </p:nvSpPr>
        <p:spPr>
          <a:xfrm>
            <a:off x="2533650" y="40442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1" name="text s8.2.0.2.1.0.0"/>
          <p:cNvSpPr txBox="1"/>
          <p:nvPr/>
        </p:nvSpPr>
        <p:spPr>
          <a:xfrm>
            <a:off x="2714774" y="42137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PPTX tree</a:t>
            </a:r>
          </a:p>
        </p:txBody>
      </p:sp>
      <p:sp>
        <p:nvSpPr>
          <p:cNvPr id="12" name="text s8.2.0.2.1.0.1"/>
          <p:cNvSpPr txBox="1"/>
          <p:nvPr/>
        </p:nvSpPr>
        <p:spPr>
          <a:xfrm>
            <a:off x="2714774" y="44614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XML read back</a:t>
            </a:r>
          </a:p>
        </p:txBody>
      </p:sp>
      <p:sp>
        <p:nvSpPr>
          <p:cNvPr id="13" name="shape s8.2.0.4"/>
          <p:cNvSpPr/>
          <p:nvPr/>
        </p:nvSpPr>
        <p:spPr>
          <a:xfrm>
            <a:off x="5029200" y="3244155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4320"/>
              </a:lnSpc>
            </a:pPr>
            <a:r>
              <a:rPr sz="3600" b="1">
                <a:solidFill>
                  <a:schemeClr val="bg1"/>
                </a:solidFill>
                <a:latin typeface="+mj-lt"/>
                <a:ea typeface="+mj-ea"/>
              </a:rPr>
              <a:t>=</a:t>
            </a:r>
          </a:p>
        </p:txBody>
      </p:sp>
      <p:sp>
        <p:nvSpPr>
          <p:cNvPr id="14" name="shape s8.2.1.0.0"/>
          <p:cNvSpPr/>
          <p:nvPr/>
        </p:nvSpPr>
        <p:spPr>
          <a:xfrm>
            <a:off x="6400800" y="2552998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5" name="text s8.2.1.0.1.0"/>
          <p:cNvSpPr txBox="1"/>
          <p:nvPr/>
        </p:nvSpPr>
        <p:spPr>
          <a:xfrm>
            <a:off x="6972300" y="2552998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Parity</a:t>
            </a:r>
          </a:p>
        </p:txBody>
      </p:sp>
      <p:sp>
        <p:nvSpPr>
          <p:cNvPr id="16" name="text s8.2.1.0.1.1"/>
          <p:cNvSpPr txBox="1"/>
          <p:nvPr/>
        </p:nvSpPr>
        <p:spPr>
          <a:xfrm>
            <a:off x="6972300" y="2850059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Same kind · rect · style · order · text runs</a:t>
            </a:r>
          </a:p>
        </p:txBody>
      </p:sp>
      <p:sp>
        <p:nvSpPr>
          <p:cNvPr id="17" name="shape s8.2.1.1.0"/>
          <p:cNvSpPr/>
          <p:nvPr/>
        </p:nvSpPr>
        <p:spPr>
          <a:xfrm>
            <a:off x="6400800" y="3432870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8" name="text s8.2.1.1.1.0"/>
          <p:cNvSpPr txBox="1"/>
          <p:nvPr/>
        </p:nvSpPr>
        <p:spPr>
          <a:xfrm>
            <a:off x="6972300" y="3432870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Schema</a:t>
            </a:r>
          </a:p>
        </p:txBody>
      </p:sp>
      <p:sp>
        <p:nvSpPr>
          <p:cNvPr id="19" name="text s8.2.1.1.1.1"/>
          <p:cNvSpPr txBox="1"/>
          <p:nvPr/>
        </p:nvSpPr>
        <p:spPr>
          <a:xfrm>
            <a:off x="6972300" y="3729930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Every XML part validates against ECMA-376</a:t>
            </a:r>
          </a:p>
        </p:txBody>
      </p:sp>
      <p:sp>
        <p:nvSpPr>
          <p:cNvPr id="20" name="shape s8.2.1.2.0"/>
          <p:cNvSpPr/>
          <p:nvPr/>
        </p:nvSpPr>
        <p:spPr>
          <a:xfrm>
            <a:off x="6400800" y="4312741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21" name="text s8.2.1.2.1.0"/>
          <p:cNvSpPr txBox="1"/>
          <p:nvPr/>
        </p:nvSpPr>
        <p:spPr>
          <a:xfrm>
            <a:off x="6972300" y="4312741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Determinism</a:t>
            </a:r>
          </a:p>
        </p:txBody>
      </p:sp>
      <p:sp>
        <p:nvSpPr>
          <p:cNvPr id="22" name="text s8.2.1.2.1.1"/>
          <p:cNvSpPr txBox="1"/>
          <p:nvPr/>
        </p:nvSpPr>
        <p:spPr>
          <a:xfrm>
            <a:off x="6972300" y="4609802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Same input, same bytes</a:t>
            </a:r>
          </a:p>
        </p:txBody>
      </p:sp>
      <p:sp>
        <p:nvSpPr>
          <p:cNvPr id="23" name="shape s8.7"/>
          <p:cNvSpPr/>
          <p:nvPr/>
        </p:nvSpPr>
        <p:spPr>
          <a:xfrm>
            <a:off x="609600" y="5667375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24" name="text s8.7.0.0"/>
          <p:cNvSpPr txBox="1"/>
          <p:nvPr/>
        </p:nvSpPr>
        <p:spPr>
          <a:xfrm>
            <a:off x="871538" y="5815013"/>
            <a:ext cx="1714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go test ./...</a:t>
            </a:r>
          </a:p>
        </p:txBody>
      </p:sp>
      <p:sp>
        <p:nvSpPr>
          <p:cNvPr id="25" name="text s8.7.0.1"/>
          <p:cNvSpPr txBox="1"/>
          <p:nvPr/>
        </p:nvSpPr>
        <p:spPr>
          <a:xfrm>
            <a:off x="6343799" y="5837932"/>
            <a:ext cx="49766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Where lines wrap is up to each engine — outside the contract.</a:t>
            </a:r>
          </a:p>
        </p:txBody>
      </p:sp>
      <p:cxnSp>
        <p:nvCxnSpPr>
          <p:cNvPr id="26" name="connector s8.3"/>
          <p:cNvCxnSpPr>
            <a:stCxn id="4" idx="3"/>
            <a:endCxn id="7" idx="1"/>
          </p:cNvCxnSpPr>
          <p:nvPr/>
        </p:nvCxnSpPr>
        <p:spPr>
          <a:xfrm flipV="1">
            <a:off x="1847850" y="295840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7" name="connector s8.4"/>
          <p:cNvCxnSpPr>
            <a:stCxn id="4" idx="3"/>
            <a:endCxn id="10" idx="1"/>
          </p:cNvCxnSpPr>
          <p:nvPr/>
        </p:nvCxnSpPr>
        <p:spPr>
          <a:xfrm>
            <a:off x="1847850" y="370135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8" name="connector s8.5"/>
          <p:cNvCxnSpPr>
            <a:stCxn id="7" idx="3"/>
            <a:endCxn id="13" idx="2"/>
          </p:cNvCxnSpPr>
          <p:nvPr/>
        </p:nvCxnSpPr>
        <p:spPr>
          <a:xfrm>
            <a:off x="4343400" y="295840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29" name="connector s8.6"/>
          <p:cNvCxnSpPr>
            <a:stCxn id="10" idx="3"/>
            <a:endCxn id="13" idx="2"/>
          </p:cNvCxnSpPr>
          <p:nvPr/>
        </p:nvCxnSpPr>
        <p:spPr>
          <a:xfrm flipV="1">
            <a:off x="4343400" y="370135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30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31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1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13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/>
        </p:nvSpPr>
        <p:spPr>
          <a:xfrm>
            <a:off x="609600" y="1266825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400"/>
              </a:lnSpc>
            </a:pPr>
            <a:r>
              <a:rPr sz="12000" b="1">
                <a:solidFill>
                  <a:schemeClr val="accent1"/>
                </a:solidFill>
                <a:latin typeface="+mj-lt"/>
                <a:ea typeface="+mj-ea"/>
              </a:rPr>
              <a:t>“</a:t>
            </a:r>
          </a:p>
        </p:txBody>
      </p:sp>
      <p:sp>
        <p:nvSpPr>
          <p:cNvPr id="3" name="blockquote s9.1"/>
          <p:cNvSpPr txBox="1"/>
          <p:nvPr/>
        </p:nvSpPr>
        <p:spPr>
          <a:xfrm>
            <a:off x="609600" y="3324225"/>
            <a:ext cx="1097280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625"/>
              </a:lnSpc>
            </a:pP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The gap between “a file that opens” and</a:t>
            </a:r>
            <a:br/>
            <a:r>
              <a:rPr sz="3750" b="0" i="0" u="none">
                <a:solidFill>
                  <a:schemeClr val="accent1"/>
                </a:solidFill>
                <a:latin typeface="+mn-lt"/>
                <a:ea typeface="+mn-ea"/>
              </a:rPr>
              <a:t>“a file you can edit”</a:t>
            </a: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 is the product.</a:t>
            </a:r>
          </a:p>
        </p:txBody>
      </p:sp>
      <p:sp>
        <p:nvSpPr>
          <p:cNvPr id="4" name="shape s9.2"/>
          <p:cNvSpPr/>
          <p:nvPr/>
        </p:nvSpPr>
        <p:spPr>
          <a:xfrm>
            <a:off x="5753100" y="4981575"/>
            <a:ext cx="6858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9.3"/>
          <p:cNvSpPr txBox="1"/>
          <p:nvPr/>
        </p:nvSpPr>
        <p:spPr>
          <a:xfrm>
            <a:off x="609600" y="5248275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from the testing guide, on why a person still opens the PPTX by hand</a:t>
            </a:r>
          </a:p>
        </p:txBody>
      </p:sp>
      <p:sp>
        <p:nvSpPr>
          <p:cNvPr id="6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7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10</a:t>
            </a:fld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0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Now</a:t>
            </a:r>
          </a:p>
        </p:txBody>
      </p:sp>
      <p:sp>
        <p:nvSpPr>
          <p:cNvPr id="3" name="h1 s10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What works, what's next</a:t>
            </a:r>
          </a:p>
        </p:txBody>
      </p:sp>
      <p:sp>
        <p:nvSpPr>
          <p:cNvPr id="4" name="shape s10.2.0"/>
          <p:cNvSpPr/>
          <p:nvPr/>
        </p:nvSpPr>
        <p:spPr>
          <a:xfrm>
            <a:off x="609600" y="1963936"/>
            <a:ext cx="637788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0.2.0.0.0"/>
          <p:cNvSpPr txBox="1"/>
          <p:nvPr/>
        </p:nvSpPr>
        <p:spPr>
          <a:xfrm>
            <a:off x="1019324" y="237366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3"/>
                </a:solidFill>
                <a:latin typeface="+mn-lt"/>
                <a:ea typeface="+mn-ea"/>
              </a:rPr>
              <a:t>Works today</a:t>
            </a:r>
          </a:p>
        </p:txBody>
      </p:sp>
      <p:sp>
        <p:nvSpPr>
          <p:cNvPr id="6" name="shape s10.2.0.0.1.0"/>
          <p:cNvSpPr/>
          <p:nvPr/>
        </p:nvSpPr>
        <p:spPr>
          <a:xfrm>
            <a:off x="1019324" y="2859435"/>
            <a:ext cx="184755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Web + native PPTX</a:t>
            </a:r>
          </a:p>
        </p:txBody>
      </p:sp>
      <p:sp>
        <p:nvSpPr>
          <p:cNvPr id="7" name="shape s10.2.0.0.1.1"/>
          <p:cNvSpPr/>
          <p:nvPr/>
        </p:nvSpPr>
        <p:spPr>
          <a:xfrm>
            <a:off x="2924026" y="2859435"/>
            <a:ext cx="1693813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11 layouts · slots</a:t>
            </a:r>
          </a:p>
        </p:txBody>
      </p:sp>
      <p:sp>
        <p:nvSpPr>
          <p:cNvPr id="8" name="shape s10.2.0.0.1.2"/>
          <p:cNvSpPr/>
          <p:nvPr/>
        </p:nvSpPr>
        <p:spPr>
          <a:xfrm>
            <a:off x="4674989" y="2859435"/>
            <a:ext cx="167610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16 shapes · path</a:t>
            </a:r>
          </a:p>
        </p:txBody>
      </p:sp>
      <p:sp>
        <p:nvSpPr>
          <p:cNvPr id="9" name="shape s10.2.0.0.1.3"/>
          <p:cNvSpPr/>
          <p:nvPr/>
        </p:nvSpPr>
        <p:spPr>
          <a:xfrm>
            <a:off x="1019324" y="3421707"/>
            <a:ext cx="86856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Tables</a:t>
            </a:r>
          </a:p>
        </p:txBody>
      </p:sp>
      <p:sp>
        <p:nvSpPr>
          <p:cNvPr id="10" name="shape s10.2.0.0.1.4"/>
          <p:cNvSpPr/>
          <p:nvPr/>
        </p:nvSpPr>
        <p:spPr>
          <a:xfrm>
            <a:off x="1945035" y="3421707"/>
            <a:ext cx="149542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Charts · series</a:t>
            </a:r>
          </a:p>
        </p:txBody>
      </p:sp>
      <p:sp>
        <p:nvSpPr>
          <p:cNvPr id="11" name="shape s10.2.0.0.1.5"/>
          <p:cNvSpPr/>
          <p:nvPr/>
        </p:nvSpPr>
        <p:spPr>
          <a:xfrm>
            <a:off x="3497610" y="3421707"/>
            <a:ext cx="128379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Connectors</a:t>
            </a:r>
          </a:p>
        </p:txBody>
      </p:sp>
      <p:sp>
        <p:nvSpPr>
          <p:cNvPr id="12" name="shape s10.2.0.0.1.6"/>
          <p:cNvSpPr/>
          <p:nvPr/>
        </p:nvSpPr>
        <p:spPr>
          <a:xfrm>
            <a:off x="4838551" y="3421707"/>
            <a:ext cx="127649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Animations</a:t>
            </a:r>
          </a:p>
        </p:txBody>
      </p:sp>
      <p:sp>
        <p:nvSpPr>
          <p:cNvPr id="13" name="shape s10.2.0.0.1.7"/>
          <p:cNvSpPr/>
          <p:nvPr/>
        </p:nvSpPr>
        <p:spPr>
          <a:xfrm>
            <a:off x="1019324" y="3983980"/>
            <a:ext cx="1800076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Code highlighting</a:t>
            </a:r>
          </a:p>
        </p:txBody>
      </p:sp>
      <p:sp>
        <p:nvSpPr>
          <p:cNvPr id="14" name="shape s10.2.0.0.1.8"/>
          <p:cNvSpPr/>
          <p:nvPr/>
        </p:nvSpPr>
        <p:spPr>
          <a:xfrm>
            <a:off x="2876550" y="3983980"/>
            <a:ext cx="1311920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SVG images</a:t>
            </a:r>
          </a:p>
        </p:txBody>
      </p:sp>
      <p:sp>
        <p:nvSpPr>
          <p:cNvPr id="15" name="shape s10.2.0.0.1.9"/>
          <p:cNvSpPr/>
          <p:nvPr/>
        </p:nvSpPr>
        <p:spPr>
          <a:xfrm>
            <a:off x="4245620" y="3983980"/>
            <a:ext cx="191497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Hatches · gradients</a:t>
            </a:r>
          </a:p>
        </p:txBody>
      </p:sp>
      <p:sp>
        <p:nvSpPr>
          <p:cNvPr id="16" name="shape s10.2.0.0.1.10"/>
          <p:cNvSpPr/>
          <p:nvPr/>
        </p:nvSpPr>
        <p:spPr>
          <a:xfrm>
            <a:off x="1019324" y="4546253"/>
            <a:ext cx="154438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Inverted slides</a:t>
            </a:r>
          </a:p>
        </p:txBody>
      </p:sp>
      <p:sp>
        <p:nvSpPr>
          <p:cNvPr id="17" name="shape s10.2.0.0.1.11"/>
          <p:cNvSpPr/>
          <p:nvPr/>
        </p:nvSpPr>
        <p:spPr>
          <a:xfrm>
            <a:off x="2620863" y="4546253"/>
            <a:ext cx="1994148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Backgrounds · logos</a:t>
            </a:r>
          </a:p>
        </p:txBody>
      </p:sp>
      <p:sp>
        <p:nvSpPr>
          <p:cNvPr id="18" name="shape s10.2.0.0.1.12"/>
          <p:cNvSpPr/>
          <p:nvPr/>
        </p:nvSpPr>
        <p:spPr>
          <a:xfrm>
            <a:off x="4672161" y="4546253"/>
            <a:ext cx="140731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theme install</a:t>
            </a:r>
          </a:p>
        </p:txBody>
      </p:sp>
      <p:sp>
        <p:nvSpPr>
          <p:cNvPr id="19" name="shape s10.2.0.0.1.13"/>
          <p:cNvSpPr/>
          <p:nvPr/>
        </p:nvSpPr>
        <p:spPr>
          <a:xfrm>
            <a:off x="1019324" y="5108525"/>
            <a:ext cx="188788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line:col diagnostics</a:t>
            </a:r>
          </a:p>
        </p:txBody>
      </p:sp>
      <p:sp>
        <p:nvSpPr>
          <p:cNvPr id="20" name="shape s10.2.0.0.1.14"/>
          <p:cNvSpPr/>
          <p:nvPr/>
        </p:nvSpPr>
        <p:spPr>
          <a:xfrm>
            <a:off x="2964359" y="5108525"/>
            <a:ext cx="3129707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21" name="shape s10.2.1"/>
          <p:cNvSpPr/>
          <p:nvPr/>
        </p:nvSpPr>
        <p:spPr>
          <a:xfrm>
            <a:off x="7330380" y="1963936"/>
            <a:ext cx="4251871" cy="4284464"/>
          </a:xfrm>
          <a:prstGeom prst="roundRect">
            <a:avLst>
              <a:gd name="adj" fmla="val 537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22" name="text s10.2.1.0.0"/>
          <p:cNvSpPr txBox="1"/>
          <p:nvPr/>
        </p:nvSpPr>
        <p:spPr>
          <a:xfrm>
            <a:off x="7740104" y="2373660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Next</a:t>
            </a:r>
          </a:p>
        </p:txBody>
      </p:sp>
      <p:sp>
        <p:nvSpPr>
          <p:cNvPr id="23" name="shape s10.2.1.0.1.0.0"/>
          <p:cNvSpPr/>
          <p:nvPr/>
        </p:nvSpPr>
        <p:spPr>
          <a:xfrm>
            <a:off x="7740104" y="29403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text s10.2.1.0.1.0.1"/>
          <p:cNvSpPr txBox="1"/>
          <p:nvPr/>
        </p:nvSpPr>
        <p:spPr>
          <a:xfrm>
            <a:off x="8006804" y="28594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Chapters as PPTX sections</a:t>
            </a:r>
          </a:p>
        </p:txBody>
      </p:sp>
      <p:sp>
        <p:nvSpPr>
          <p:cNvPr id="25" name="shape s10.2.1.0.1.1.0"/>
          <p:cNvSpPr/>
          <p:nvPr/>
        </p:nvSpPr>
        <p:spPr>
          <a:xfrm>
            <a:off x="7740104" y="348332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6" name="text s10.2.1.0.1.1.1"/>
          <p:cNvSpPr txBox="1"/>
          <p:nvPr/>
        </p:nvSpPr>
        <p:spPr>
          <a:xfrm>
            <a:off x="8006804" y="340236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Chart value prefixes · thousands</a:t>
            </a:r>
          </a:p>
        </p:txBody>
      </p:sp>
      <p:sp>
        <p:nvSpPr>
          <p:cNvPr id="27" name="shape s10.2.1.0.1.2.0"/>
          <p:cNvSpPr/>
          <p:nvPr/>
        </p:nvSpPr>
        <p:spPr>
          <a:xfrm>
            <a:off x="7740104" y="402624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text s10.2.1.0.1.2.1"/>
          <p:cNvSpPr txBox="1"/>
          <p:nvPr/>
        </p:nvSpPr>
        <p:spPr>
          <a:xfrm>
            <a:off x="8006804" y="394528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Font size in table cells</a:t>
            </a:r>
          </a:p>
        </p:txBody>
      </p:sp>
      <p:sp>
        <p:nvSpPr>
          <p:cNvPr id="29" name="shape s10.2.1.0.1.3.0"/>
          <p:cNvSpPr/>
          <p:nvPr/>
        </p:nvSpPr>
        <p:spPr>
          <a:xfrm>
            <a:off x="7740104" y="456917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0" name="text s10.2.1.0.1.3.1"/>
          <p:cNvSpPr txBox="1"/>
          <p:nvPr/>
        </p:nvSpPr>
        <p:spPr>
          <a:xfrm>
            <a:off x="8006804" y="448821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Stretched preset parameters</a:t>
            </a:r>
          </a:p>
        </p:txBody>
      </p:sp>
      <p:sp>
        <p:nvSpPr>
          <p:cNvPr id="31" name="shape s10.2.1.0.1.4.0"/>
          <p:cNvSpPr/>
          <p:nvPr/>
        </p:nvSpPr>
        <p:spPr>
          <a:xfrm>
            <a:off x="7740104" y="51120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2" name="text s10.2.1.0.1.4.1"/>
          <p:cNvSpPr txBox="1"/>
          <p:nvPr/>
        </p:nvSpPr>
        <p:spPr>
          <a:xfrm>
            <a:off x="8006804" y="50311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English reference docs</a:t>
            </a:r>
          </a:p>
        </p:txBody>
      </p:sp>
      <p:sp>
        <p:nvSpPr>
          <p:cNvPr id="33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34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11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33613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0"/>
                </a:gradFill>
                <a:latin typeface="+mj-lt"/>
                <a:ea typeface="+mj-ea"/>
              </a:rPr>
              <a:t>Write once</a:t>
            </a: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 in SOML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76613"/>
            <a:ext cx="109728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balpyo renders the rest, to both targets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watch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balpyo</dc:title>
  <dc:creator>balpyo</dc:creator>
  <cp:lastModifiedBy>balpyo</cp:lastModifiedBy>
  <cp:revision>1</cp:revision>
</cp:coreProperties>
</file>