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theme" Target="theme/theme1.xml"/>
  <Relationship Id="rId15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자체가 산출물이다 — 지금 보고 있는 화면과 배포한 pptx가 같은 소스에서 나왔다.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둘 중 하나를 잃는다: 표현력이냐, 편집 가능한 산출물이냐.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여기가 제품의 출발점이다. 저자가 계산할 것이 남아 있으면 자동화가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파싱은 soml, 해석은 core, 측정은 render/geom, 렌더는 render/web과 render/pptx다.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설정은 balpyo.json 한 파일이다 — 제목·저자·언어·비율·출력 경로.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이것이 두 번째 통찰이다 — 브라우저를 레이아웃 엔진으로 빌려 쓴다.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"열리는 파일"과 "편집 가능한 파일"의 차이가 여기서 갈린다.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토큰이 리터럴로 눕는 순간 제품의 약속이 깨진다. 골든 테스트가 그것을 감시한다.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골든은 좌표 없는 레이아웃 트리와 진단 둘뿐이다 — 좌표는 동일성 판정이 매번 다시 재므로, diff에는 "도형이 하나 늘었다"만 남는다.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그래서 바뀔 때마다 PowerPoint나 Keynote로 직접 연다.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오른쪽 열이 다음에 할 일이다.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질문을 받는다. 덱을 pptx로 내려받아 직접 고쳐 보라고 권한다.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621857" y="609600"/>
            <a:ext cx="2948136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SLIDE ORIENTED MARKUP LANGUAGE</a:t>
            </a:r>
          </a:p>
        </p:txBody>
      </p:sp>
      <p:sp>
        <p:nvSpPr>
          <p:cNvPr id="3" name="h1 s0.1"/>
          <p:cNvSpPr txBox="1"/>
          <p:nvPr>
            <p:ph type="ctrTitle"/>
          </p:nvPr>
        </p:nvSpPr>
        <p:spPr>
          <a:xfrm>
            <a:off x="4836170" y="1095375"/>
            <a:ext cx="2519660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tx1"/>
                </a:solidFill>
                <a:latin typeface="+mj-lt"/>
                <a:ea typeface="+mj-ea"/>
              </a:rPr>
              <a:t>balpyo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2014389" y="2329755"/>
            <a:ext cx="8163223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2"/>
                </a:solidFill>
                <a:latin typeface="+mj-lt"/>
                <a:ea typeface="+mj-ea"/>
              </a:rPr>
              <a:t>슬라이드를 한 번 쓰면 웹과 편집 가능한 PPTX가 같이 나온다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130701" y="5436989"/>
            <a:ext cx="193059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렌더 엔진 · 테마 · CLI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4523482" y="6008489"/>
            <a:ext cx="3145036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이 덱은 SOML 열두 장이고, balpyo가 렌더했다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1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텍스트로 슬라이드를 쓰면 둘 중 하나를 잃는다</a:t>
            </a:r>
          </a:p>
        </p:txBody>
      </p:sp>
      <p:sp>
        <p:nvSpPr>
          <p:cNvPr id="3" name="text s1.1.0"/>
          <p:cNvSpPr txBox="1"/>
          <p:nvPr/>
        </p:nvSpPr>
        <p:spPr>
          <a:xfrm>
            <a:off x="609600" y="1478161"/>
            <a:ext cx="53721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Markdown 계열 · Marp · Slidev</a:t>
            </a:r>
          </a:p>
        </p:txBody>
      </p:sp>
      <p:sp>
        <p:nvSpPr>
          <p:cNvPr id="4" name="ul s1.1.1"/>
          <p:cNvSpPr txBox="1"/>
          <p:nvPr/>
        </p:nvSpPr>
        <p:spPr>
          <a:xfrm>
            <a:off x="609600" y="1963936"/>
            <a:ext cx="53721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Markdown은 문서 마크업이라 2단·도형·겹침 같은 슬라이드 어휘가 없다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PPTX 내보내기는 슬라이드를 이미지로 찍는다 — 열리지만 고칠 수 없다</a:t>
            </a:r>
          </a:p>
        </p:txBody>
      </p:sp>
      <p:sp>
        <p:nvSpPr>
          <p:cNvPr id="5" name="text s1.1.2"/>
          <p:cNvSpPr txBox="1"/>
          <p:nvPr/>
        </p:nvSpPr>
        <p:spPr>
          <a:xfrm>
            <a:off x="609600" y="3564136"/>
            <a:ext cx="5372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1"/>
                </a:solidFill>
                <a:latin typeface="+mj-lt"/>
                <a:ea typeface="+mj-ea"/>
              </a:rPr>
              <a:t>→ 편집 가능한 산출물을 잃는다</a:t>
            </a:r>
          </a:p>
        </p:txBody>
      </p:sp>
      <p:sp>
        <p:nvSpPr>
          <p:cNvPr id="6" name="text s1.2.0"/>
          <p:cNvSpPr txBox="1"/>
          <p:nvPr/>
        </p:nvSpPr>
        <p:spPr>
          <a:xfrm>
            <a:off x="6210300" y="1478161"/>
            <a:ext cx="53721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라이브러리 계열 · python-pptx</a:t>
            </a:r>
          </a:p>
        </p:txBody>
      </p:sp>
      <p:sp>
        <p:nvSpPr>
          <p:cNvPr id="7" name="ul s1.2.1"/>
          <p:cNvSpPr txBox="1"/>
          <p:nvPr/>
        </p:nvSpPr>
        <p:spPr>
          <a:xfrm>
            <a:off x="6210300" y="1963936"/>
            <a:ext cx="537210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모든 요소를 EMU 절대 좌표로 손으로 배치한다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그라디언트 테두리처럼 "디자인된 느낌"에는 API조차 없어 raw XML을 조립한다</a:t>
            </a:r>
          </a:p>
        </p:txBody>
      </p:sp>
      <p:sp>
        <p:nvSpPr>
          <p:cNvPr id="8" name="text s1.2.2"/>
          <p:cNvSpPr txBox="1"/>
          <p:nvPr/>
        </p:nvSpPr>
        <p:spPr>
          <a:xfrm>
            <a:off x="6210300" y="3221236"/>
            <a:ext cx="53721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1"/>
                </a:solidFill>
                <a:latin typeface="+mj-lt"/>
                <a:ea typeface="+mj-ea"/>
              </a:rPr>
              <a:t>→ 쓰기 쉬움을 잃는다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1538288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기업 덱의 카드 그리드 슬라이드 한 장을 python-pptx로 다시 만들었을 때</a:t>
            </a:r>
          </a:p>
        </p:txBody>
      </p:sp>
      <p:sp>
        <p:nvSpPr>
          <p:cNvPr id="3" name="text s2.1"/>
          <p:cNvSpPr txBox="1"/>
          <p:nvPr/>
        </p:nvSpPr>
        <p:spPr>
          <a:xfrm>
            <a:off x="609600" y="2006798"/>
            <a:ext cx="10972800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6200"/>
              </a:lnSpc>
            </a:pPr>
            <a:r>
              <a:rPr sz="13500" b="1">
                <a:solidFill>
                  <a:schemeClr val="accent1"/>
                </a:solidFill>
                <a:latin typeface="+mj-lt"/>
                <a:ea typeface="+mj-ea"/>
              </a:rPr>
              <a:t>128</a:t>
            </a:r>
          </a:p>
        </p:txBody>
      </p:sp>
      <p:sp>
        <p:nvSpPr>
          <p:cNvPr id="4" name="text s2.2"/>
          <p:cNvSpPr txBox="1"/>
          <p:nvPr/>
        </p:nvSpPr>
        <p:spPr>
          <a:xfrm>
            <a:off x="609600" y="4292798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수동 좌표 계산 · 그리고 raw XML 수술 10회</a:t>
            </a:r>
          </a:p>
        </p:txBody>
      </p:sp>
      <p:sp>
        <p:nvSpPr>
          <p:cNvPr id="5" name="text s2.3"/>
          <p:cNvSpPr txBox="1"/>
          <p:nvPr/>
        </p:nvSpPr>
        <p:spPr>
          <a:xfrm>
            <a:off x="609600" y="4967139"/>
            <a:ext cx="10972800" cy="3524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balpyo는 그 128회를 </a:t>
            </a:r>
            <a:r>
              <a:rPr sz="1800" b="0" i="0" u="none">
                <a:solidFill>
                  <a:schemeClr val="tx2"/>
                </a:solidFill>
                <a:latin typeface="Noto Sans Mono"/>
                <a:ea typeface="Noto Sans Mono CJK KR"/>
              </a:rPr>
              <a:t>&lt;grid cols="4"&gt;</a:t>
            </a: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 한 줄로 대체한다.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3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한 소스, 두 산출물</a:t>
            </a:r>
          </a:p>
        </p:txBody>
      </p:sp>
      <p:sp>
        <p:nvSpPr>
          <p:cNvPr id="3" name="shape s3.1.0.0"/>
          <p:cNvSpPr/>
          <p:nvPr/>
        </p:nvSpPr>
        <p:spPr>
          <a:xfrm>
            <a:off x="609600" y="1478161"/>
            <a:ext cx="2657475" cy="685800"/>
          </a:xfrm>
          <a:prstGeom prst="chevron">
            <a:avLst>
              <a:gd name="adj" fmla="val 19375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328738" tIns="0" rIns="-1328738" bIns="0" anchor="t">
            <a:normAutofit/>
          </a:bodyPr>
          <a:lstStyle/>
          <a:p/>
        </p:txBody>
      </p:sp>
      <p:sp>
        <p:nvSpPr>
          <p:cNvPr id="4" name="text s3.1.0.1"/>
          <p:cNvSpPr txBox="1"/>
          <p:nvPr/>
        </p:nvSpPr>
        <p:spPr>
          <a:xfrm>
            <a:off x="609600" y="2278261"/>
            <a:ext cx="265747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1 · SOML 파싱</a:t>
            </a:r>
          </a:p>
        </p:txBody>
      </p:sp>
      <p:sp>
        <p:nvSpPr>
          <p:cNvPr id="5" name="shape s3.1.1.0"/>
          <p:cNvSpPr/>
          <p:nvPr/>
        </p:nvSpPr>
        <p:spPr>
          <a:xfrm>
            <a:off x="3381375" y="1478161"/>
            <a:ext cx="2657475" cy="685800"/>
          </a:xfrm>
          <a:prstGeom prst="chevron">
            <a:avLst>
              <a:gd name="adj" fmla="val 19375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328738" tIns="0" rIns="-1328738" bIns="0" anchor="t">
            <a:normAutofit/>
          </a:bodyPr>
          <a:lstStyle/>
          <a:p/>
        </p:txBody>
      </p:sp>
      <p:sp>
        <p:nvSpPr>
          <p:cNvPr id="6" name="text s3.1.1.1"/>
          <p:cNvSpPr txBox="1"/>
          <p:nvPr/>
        </p:nvSpPr>
        <p:spPr>
          <a:xfrm>
            <a:off x="3381375" y="2278261"/>
            <a:ext cx="265747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2 · 외관·배치 해석</a:t>
            </a:r>
          </a:p>
        </p:txBody>
      </p:sp>
      <p:sp>
        <p:nvSpPr>
          <p:cNvPr id="7" name="shape s3.1.2.0"/>
          <p:cNvSpPr/>
          <p:nvPr/>
        </p:nvSpPr>
        <p:spPr>
          <a:xfrm>
            <a:off x="6153150" y="1478161"/>
            <a:ext cx="2657475" cy="685800"/>
          </a:xfrm>
          <a:prstGeom prst="chevron">
            <a:avLst>
              <a:gd name="adj" fmla="val 19375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328738" tIns="0" rIns="-1328738" bIns="0" anchor="t">
            <a:normAutofit/>
          </a:bodyPr>
          <a:lstStyle/>
          <a:p/>
        </p:txBody>
      </p:sp>
      <p:sp>
        <p:nvSpPr>
          <p:cNvPr id="8" name="text s3.1.2.1"/>
          <p:cNvSpPr txBox="1"/>
          <p:nvPr/>
        </p:nvSpPr>
        <p:spPr>
          <a:xfrm>
            <a:off x="6153150" y="2278261"/>
            <a:ext cx="265747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+mn-lt"/>
                <a:ea typeface="+mn-ea"/>
              </a:rPr>
              <a:t>3 · 지오메트리 측정</a:t>
            </a:r>
          </a:p>
        </p:txBody>
      </p:sp>
      <p:sp>
        <p:nvSpPr>
          <p:cNvPr id="9" name="shape s3.1.3.0"/>
          <p:cNvSpPr/>
          <p:nvPr/>
        </p:nvSpPr>
        <p:spPr>
          <a:xfrm>
            <a:off x="8924925" y="1478161"/>
            <a:ext cx="2657475" cy="685800"/>
          </a:xfrm>
          <a:prstGeom prst="chevron">
            <a:avLst>
              <a:gd name="adj" fmla="val 193750"/>
            </a:avLst>
          </a:prstGeom>
          <a:solidFill>
            <a:schemeClr val="accent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-1328738" tIns="0" rIns="-1328738" bIns="0" anchor="t">
            <a:normAutofit/>
          </a:bodyPr>
          <a:lstStyle/>
          <a:p/>
        </p:txBody>
      </p:sp>
      <p:sp>
        <p:nvSpPr>
          <p:cNvPr id="10" name="text s3.1.3.1"/>
          <p:cNvSpPr txBox="1"/>
          <p:nvPr/>
        </p:nvSpPr>
        <p:spPr>
          <a:xfrm>
            <a:off x="8924925" y="2278261"/>
            <a:ext cx="2657475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025"/>
              </a:lnSpc>
            </a:pPr>
            <a:r>
              <a:rPr sz="1350" b="0">
                <a:solidFill>
                  <a:schemeClr val="accent1"/>
                </a:solidFill>
                <a:latin typeface="+mn-lt"/>
                <a:ea typeface="+mn-ea"/>
              </a:rPr>
              <a:t>4 · 두 타깃 렌더</a:t>
            </a:r>
          </a:p>
        </p:txBody>
      </p:sp>
      <p:sp>
        <p:nvSpPr>
          <p:cNvPr id="11" name="shape s3.2.0"/>
          <p:cNvSpPr/>
          <p:nvPr/>
        </p:nvSpPr>
        <p:spPr>
          <a:xfrm>
            <a:off x="609600" y="2764036"/>
            <a:ext cx="5314950" cy="19050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1"/>
                </a:solidFill>
                <a:latin typeface="+mj-lt"/>
                <a:ea typeface="+mj-ea"/>
              </a:rPr>
              <a:t>웹</a:t>
            </a:r>
          </a:p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HTML 한 장 + 인라인 발표 런타임. 확정된 외관은 요소의 style 선언으로, 색과 폰트는 테마 CSS 변수 참조로 나간다.</a:t>
            </a:r>
          </a:p>
        </p:txBody>
      </p:sp>
      <p:sp>
        <p:nvSpPr>
          <p:cNvPr id="12" name="shape s3.2.1"/>
          <p:cNvSpPr/>
          <p:nvPr/>
        </p:nvSpPr>
        <p:spPr>
          <a:xfrm>
            <a:off x="6267450" y="2764036"/>
            <a:ext cx="5314950" cy="19050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1"/>
                </a:solidFill>
                <a:latin typeface="+mj-lt"/>
                <a:ea typeface="+mj-ea"/>
              </a:rPr>
              <a:t>PPTX</a:t>
            </a:r>
          </a:p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네이티브 OOXML. 텍스트 박스는 p:sp, 도형은 prstGeom, 슬롯은 p:ph다 — 슬라이드를 이미지로 찍지 않는다.</a:t>
            </a:r>
          </a:p>
        </p:txBody>
      </p:sp>
      <p:sp>
        <p:nvSpPr>
          <p:cNvPr id="13" name="text s3.3"/>
          <p:cNvSpPr txBox="1"/>
          <p:nvPr/>
        </p:nvSpPr>
        <p:spPr>
          <a:xfrm>
            <a:off x="609600" y="4897636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같은 SOML 트리가 두 번 렌더된다. 갈라지는 지점은 마지막 단계 하나뿐이다.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4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프로젝트 하나가 덱 하나다</a:t>
            </a:r>
          </a:p>
        </p:txBody>
      </p:sp>
      <p:sp>
        <p:nvSpPr>
          <p:cNvPr id="3" name="pre s4.1.0"/>
          <p:cNvSpPr txBox="1"/>
          <p:nvPr/>
        </p:nvSpPr>
        <p:spPr>
          <a:xfrm>
            <a:off x="609600" y="1478161"/>
            <a:ext cx="5257800" cy="2314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my-deck/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balpyo.json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slides/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001_cover.slide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002_problem.slide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_draft_ideas.slide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dist/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index.html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my-deck.pptx</a:t>
            </a:r>
          </a:p>
        </p:txBody>
      </p:sp>
      <p:sp>
        <p:nvSpPr>
          <p:cNvPr id="4" name="text s4.1.1.0"/>
          <p:cNvSpPr txBox="1"/>
          <p:nvPr/>
        </p:nvSpPr>
        <p:spPr>
          <a:xfrm>
            <a:off x="6324600" y="1478161"/>
            <a:ext cx="5257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수집 규칙</a:t>
            </a:r>
          </a:p>
        </p:txBody>
      </p:sp>
      <p:sp>
        <p:nvSpPr>
          <p:cNvPr id="5" name="ul s4.1.1.1"/>
          <p:cNvSpPr txBox="1"/>
          <p:nvPr/>
        </p:nvSpPr>
        <p:spPr>
          <a:xfrm>
            <a:off x="6324600" y="1963936"/>
            <a:ext cx="5257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슬라이드 한 장이 파일 한 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순서는 경로 사전순 — 숫자 접두가 순서를 만든다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밑줄로 시작하는 파일은 건너뛴다 (초안·보류)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하위 디렉토리는 챕터가 된다</a:t>
            </a:r>
          </a:p>
        </p:txBody>
      </p:sp>
      <p:sp>
        <p:nvSpPr>
          <p:cNvPr id="6" name="shape s4.2"/>
          <p:cNvSpPr/>
          <p:nvPr/>
        </p:nvSpPr>
        <p:spPr>
          <a:xfrm>
            <a:off x="609600" y="4021336"/>
            <a:ext cx="10972800" cy="809625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build --project my-deck --target html,pptx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5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좌표는 브라우저가 계산한다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478161"/>
            <a:ext cx="3429000" cy="209550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4" name="shape s5.1.0.0.0"/>
          <p:cNvSpPr/>
          <p:nvPr/>
        </p:nvSpPr>
        <p:spPr>
          <a:xfrm>
            <a:off x="9050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선언</a:t>
            </a:r>
          </a:p>
        </p:txBody>
      </p:sp>
      <p:sp>
        <p:nvSpPr>
          <p:cNvPr id="5" name="p s5.1.0.0.1"/>
          <p:cNvSpPr txBox="1"/>
          <p:nvPr/>
        </p:nvSpPr>
        <p:spPr>
          <a:xfrm>
            <a:off x="905024" y="2345085"/>
            <a:ext cx="2838152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저자는 flex와 grid로 배치를 선언한다. 좌표를 쓰는 자리가 어휘에 없다.</a:t>
            </a:r>
          </a:p>
        </p:txBody>
      </p:sp>
      <p:sp>
        <p:nvSpPr>
          <p:cNvPr id="6" name="shape s5.1.1"/>
          <p:cNvSpPr/>
          <p:nvPr/>
        </p:nvSpPr>
        <p:spPr>
          <a:xfrm>
            <a:off x="4381500" y="1478161"/>
            <a:ext cx="3429000" cy="209550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7" name="shape s5.1.1.0.0"/>
          <p:cNvSpPr/>
          <p:nvPr/>
        </p:nvSpPr>
        <p:spPr>
          <a:xfrm>
            <a:off x="46769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측정</a:t>
            </a:r>
          </a:p>
        </p:txBody>
      </p:sp>
      <p:sp>
        <p:nvSpPr>
          <p:cNvPr id="8" name="p s5.1.1.0.1"/>
          <p:cNvSpPr txBox="1"/>
          <p:nvPr/>
        </p:nvSpPr>
        <p:spPr>
          <a:xfrm>
            <a:off x="46769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헤드리스 Chromium이 요소마다 박스를 재고, 패스는 그 지오메트리만 읽는다.</a:t>
            </a:r>
          </a:p>
        </p:txBody>
      </p:sp>
      <p:sp>
        <p:nvSpPr>
          <p:cNvPr id="9" name="shape s5.1.2"/>
          <p:cNvSpPr/>
          <p:nvPr/>
        </p:nvSpPr>
        <p:spPr>
          <a:xfrm>
            <a:off x="8153400" y="1478161"/>
            <a:ext cx="3429000" cy="209550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0" name="shape s5.1.2.0.0"/>
          <p:cNvSpPr/>
          <p:nvPr/>
        </p:nvSpPr>
        <p:spPr>
          <a:xfrm>
            <a:off x="84488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굽기</a:t>
            </a:r>
          </a:p>
        </p:txBody>
      </p:sp>
      <p:sp>
        <p:nvSpPr>
          <p:cNvPr id="11" name="p s5.1.2.0.1"/>
          <p:cNvSpPr txBox="1"/>
          <p:nvPr/>
        </p:nvSpPr>
        <p:spPr>
          <a:xfrm>
            <a:off x="84488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잰 rect가 곧 PPTX 좌표다 — 1px은 9525 EMU이고 환산은 한 곳에만 있다.</a:t>
            </a:r>
          </a:p>
        </p:txBody>
      </p:sp>
      <p:sp>
        <p:nvSpPr>
          <p:cNvPr id="12" name="shape s5.2"/>
          <p:cNvSpPr/>
          <p:nvPr/>
        </p:nvSpPr>
        <p:spPr>
          <a:xfrm>
            <a:off x="609600" y="3802261"/>
            <a:ext cx="10972800" cy="830759"/>
          </a:xfrm>
          <a:prstGeom prst="roundRect">
            <a:avLst>
              <a:gd name="adj" fmla="val 27517"/>
            </a:avLst>
          </a:prstGeom>
          <a:solidFill>
            <a:schemeClr val="bg2"/>
          </a:solidFill>
          <a:ln w="28575">
            <a:solidFill>
              <a:schemeClr val="accent1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파이프라인이 주고받는 수치는 전부 논리 스테이지 px다 (16:9는 1280×720). EMU와 pt는 PPTX 렌더러 안에서만 존재한다.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6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태그가 무엇이 되는가</a:t>
            </a:r>
          </a:p>
        </p:txBody>
      </p:sp>
      <p:graphicFrame>
        <p:nvGraphicFramePr>
          <p:cNvPr id="3" name="table s6.1"/>
          <p:cNvGraphicFramePr/>
          <p:nvPr/>
        </p:nvGraphicFramePr>
        <p:xfrm>
          <a:off x="609600" y="1478161"/>
          <a:ext cx="10972800" cy="35433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5072360"/>
                <a:gridCol w="5900440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SOML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PPTX 산출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&lt;text&gt; · &lt;h1&gt; · &lt;p&gt; · &lt;blockquote&gt;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텍스트 박스 — 확정된 rPr을 싣는다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&lt;shape&gt; (프리셋 12종)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+ prstGeom — 자식 텍스트를 흡수한다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&lt;image&gt;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p:pic + ppt/media 파트 (바이트 그대로)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&lt;ul&gt; · &lt;ol&gt;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하나 — 불릿 문단이 한 박스에 산다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&lt;row&gt; · &lt;col&gt; · &lt;grid&gt; · &lt;stack&gt;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0개 — 자식의 절대 좌표에 녹는다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&lt;table&gt; (이 슬라이드)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p:graphicFrame + a:tbl — 편집 가능한 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s6.2"/>
          <p:cNvSpPr txBox="1"/>
          <p:nvPr/>
        </p:nvSpPr>
        <p:spPr>
          <a:xfrm>
            <a:off x="609600" y="5250061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PowerPoint에서 글자를 고칠 수 있고, 표는 셀을 클릭해 행을 더할 수 있다. 이 목록이 그 약속이다.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7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테마는 디자인 시스템이다</a:t>
            </a:r>
          </a:p>
        </p:txBody>
      </p:sp>
      <p:sp>
        <p:nvSpPr>
          <p:cNvPr id="3" name="shape s7.1.0"/>
          <p:cNvSpPr/>
          <p:nvPr/>
        </p:nvSpPr>
        <p:spPr>
          <a:xfrm>
            <a:off x="609600" y="1478161"/>
            <a:ext cx="2103090" cy="838200"/>
          </a:xfrm>
          <a:prstGeom prst="roundRect">
            <a:avLst>
              <a:gd name="adj" fmla="val 13636"/>
            </a:avLst>
          </a:prstGeom>
          <a:solidFill>
            <a:schemeClr val="tx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1800"/>
              </a:lnSpc>
            </a:pPr>
            <a:r>
              <a:rPr sz="1200" b="0">
                <a:solidFill>
                  <a:schemeClr val="bg1"/>
                </a:solidFill>
                <a:latin typeface="+mn-lt"/>
                <a:ea typeface="+mn-ea"/>
              </a:rPr>
              <a:t>fg</a:t>
            </a:r>
          </a:p>
        </p:txBody>
      </p:sp>
      <p:sp>
        <p:nvSpPr>
          <p:cNvPr id="4" name="shape s7.1.1"/>
          <p:cNvSpPr/>
          <p:nvPr/>
        </p:nvSpPr>
        <p:spPr>
          <a:xfrm>
            <a:off x="2826990" y="1478161"/>
            <a:ext cx="2103090" cy="838200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1800"/>
              </a:lnSpc>
            </a:pPr>
            <a:r>
              <a:rPr sz="1200" b="0">
                <a:solidFill>
                  <a:schemeClr val="tx1"/>
                </a:solidFill>
                <a:latin typeface="+mn-lt"/>
                <a:ea typeface="+mn-ea"/>
              </a:rPr>
              <a:t>bg</a:t>
            </a:r>
          </a:p>
        </p:txBody>
      </p:sp>
      <p:sp>
        <p:nvSpPr>
          <p:cNvPr id="5" name="shape s7.1.2"/>
          <p:cNvSpPr/>
          <p:nvPr/>
        </p:nvSpPr>
        <p:spPr>
          <a:xfrm>
            <a:off x="5044380" y="1478161"/>
            <a:ext cx="2103090" cy="838200"/>
          </a:xfrm>
          <a:prstGeom prst="roundRect">
            <a:avLst>
              <a:gd name="adj" fmla="val 13636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1800"/>
              </a:lnSpc>
            </a:pPr>
            <a:r>
              <a:rPr sz="1200" b="0">
                <a:solidFill>
                  <a:schemeClr val="bg1"/>
                </a:solidFill>
                <a:latin typeface="+mn-lt"/>
                <a:ea typeface="+mn-ea"/>
              </a:rPr>
              <a:t>muted</a:t>
            </a:r>
          </a:p>
        </p:txBody>
      </p:sp>
      <p:sp>
        <p:nvSpPr>
          <p:cNvPr id="6" name="shape s7.1.3"/>
          <p:cNvSpPr/>
          <p:nvPr/>
        </p:nvSpPr>
        <p:spPr>
          <a:xfrm>
            <a:off x="7261771" y="1478161"/>
            <a:ext cx="2103090" cy="83820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1800"/>
              </a:lnSpc>
            </a:pPr>
            <a:r>
              <a:rPr sz="1200" b="0">
                <a:solidFill>
                  <a:schemeClr val="tx1"/>
                </a:solidFill>
                <a:latin typeface="+mn-lt"/>
                <a:ea typeface="+mn-ea"/>
              </a:rPr>
              <a:t>surface</a:t>
            </a:r>
          </a:p>
        </p:txBody>
      </p:sp>
      <p:sp>
        <p:nvSpPr>
          <p:cNvPr id="7" name="shape s7.1.4"/>
          <p:cNvSpPr/>
          <p:nvPr/>
        </p:nvSpPr>
        <p:spPr>
          <a:xfrm>
            <a:off x="9479161" y="1478161"/>
            <a:ext cx="2103239" cy="83820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1800"/>
              </a:lnSpc>
            </a:pPr>
            <a:r>
              <a:rPr sz="1200" b="0">
                <a:solidFill>
                  <a:schemeClr val="bg1"/>
                </a:solidFill>
                <a:latin typeface="+mn-lt"/>
                <a:ea typeface="+mn-ea"/>
              </a:rPr>
              <a:t>accent1</a:t>
            </a:r>
          </a:p>
        </p:txBody>
      </p:sp>
      <p:sp>
        <p:nvSpPr>
          <p:cNvPr id="8" name="text s7.2.0.0"/>
          <p:cNvSpPr txBox="1"/>
          <p:nvPr/>
        </p:nvSpPr>
        <p:spPr>
          <a:xfrm>
            <a:off x="609600" y="2544961"/>
            <a:ext cx="5257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토큰과 컴포넌트가 파일이다</a:t>
            </a:r>
          </a:p>
        </p:txBody>
      </p:sp>
      <p:sp>
        <p:nvSpPr>
          <p:cNvPr id="9" name="ul s7.2.0.1"/>
          <p:cNvSpPr txBox="1"/>
          <p:nvPr/>
        </p:nvSpPr>
        <p:spPr>
          <a:xfrm>
            <a:off x="609600" y="2916436"/>
            <a:ext cx="5257800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tokens.json — 색 5 · 폰트 3 · 공간 6 · 반경 3 · 그림자 1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components.json — 역할 5종과 variant (kicker · card · stat-card · badge)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layouts 아래 CSS — 배치만 쓸 수 있고 외관을 쓰면 경고다</a:t>
            </a:r>
          </a:p>
        </p:txBody>
      </p:sp>
      <p:sp>
        <p:nvSpPr>
          <p:cNvPr id="10" name="text s7.2.1.0"/>
          <p:cNvSpPr txBox="1"/>
          <p:nvPr/>
        </p:nvSpPr>
        <p:spPr>
          <a:xfrm>
            <a:off x="6324600" y="2544961"/>
            <a:ext cx="5257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토큰은 눕지 않는다</a:t>
            </a:r>
          </a:p>
        </p:txBody>
      </p:sp>
      <p:sp>
        <p:nvSpPr>
          <p:cNvPr id="11" name="p s7.2.1.1"/>
          <p:cNvSpPr txBox="1"/>
          <p:nvPr/>
        </p:nvSpPr>
        <p:spPr>
          <a:xfrm>
            <a:off x="6324600" y="2916436"/>
            <a:ext cx="52578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토큰으로 쓴 색은 웹에서 CSS 변수로, PPTX에서 a:schemeClr로 남는다. 리터럴만 srgbClr가 된다 — PowerPoint에서 테마 색을 바꾸면 덱이 따라온다.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8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두 렌더가 같은 컴포넌트를 낸다</a:t>
            </a:r>
          </a:p>
        </p:txBody>
      </p:sp>
      <p:sp>
        <p:nvSpPr>
          <p:cNvPr id="3" name="text s8.1.0"/>
          <p:cNvSpPr txBox="1"/>
          <p:nvPr/>
        </p:nvSpPr>
        <p:spPr>
          <a:xfrm>
            <a:off x="609600" y="1478161"/>
            <a:ext cx="53721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무엇이 같은가</a:t>
            </a:r>
          </a:p>
        </p:txBody>
      </p:sp>
      <p:sp>
        <p:nvSpPr>
          <p:cNvPr id="4" name="ul s8.1.1"/>
          <p:cNvSpPr txBox="1"/>
          <p:nvPr/>
        </p:nvSpPr>
        <p:spPr>
          <a:xfrm>
            <a:off x="609600" y="1963936"/>
            <a:ext cx="537210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요소 하나는 두 타깃에서 같은 종류의 객체다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자리는 브라우저가 잰 rect, 외관은 해석된 값이다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줄이 어디서 접히는지는 각 엔진의 몫이다</a:t>
            </a:r>
          </a:p>
        </p:txBody>
      </p:sp>
      <p:sp>
        <p:nvSpPr>
          <p:cNvPr id="5" name="text s8.2.0"/>
          <p:cNvSpPr txBox="1"/>
          <p:nvPr/>
        </p:nvSpPr>
        <p:spPr>
          <a:xfrm>
            <a:off x="6210300" y="1478161"/>
            <a:ext cx="53721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무엇이 판정하는가</a:t>
            </a:r>
          </a:p>
        </p:txBody>
      </p:sp>
      <p:sp>
        <p:nvSpPr>
          <p:cNvPr id="6" name="ul s8.2.1"/>
          <p:cNvSpPr txBox="1"/>
          <p:nvPr/>
        </p:nvSpPr>
        <p:spPr>
          <a:xfrm>
            <a:off x="6210300" y="1963936"/>
            <a:ext cx="537210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PPTX에서 읽은 트리가 웹이 잰 트리와 같다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모든 XML 파트가 ECMA-376 스키마를 통과한다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같은 입력은 같은 바이트를 낸다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9.0"/>
          <p:cNvSpPr txBox="1"/>
          <p:nvPr/>
        </p:nvSpPr>
        <p:spPr>
          <a:xfrm>
            <a:off x="609600" y="2937570"/>
            <a:ext cx="1097280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4050"/>
              </a:lnSpc>
            </a:pPr>
            <a:r>
              <a:rPr sz="2700" b="0">
                <a:solidFill>
                  <a:schemeClr val="tx1"/>
                </a:solidFill>
                <a:latin typeface="+mn-lt"/>
                <a:ea typeface="+mn-ea"/>
              </a:rPr>
              <a:t>“열리는 파일”과 “편집 가능한 파일”의 차이가 이 제품의 핵심이다.</a:t>
            </a:r>
          </a:p>
        </p:txBody>
      </p:sp>
      <p:sp>
        <p:nvSpPr>
          <p:cNvPr id="3" name="text s9.1"/>
          <p:cNvSpPr txBox="1"/>
          <p:nvPr/>
        </p:nvSpPr>
        <p:spPr>
          <a:xfrm>
            <a:off x="609600" y="368052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— 테스트 문서, 사람이 직접 pptx를 열어 확인하는 단계를 자동화하지 않는 이유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10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지금 되는 것과 다음</a:t>
            </a:r>
          </a:p>
        </p:txBody>
      </p:sp>
      <p:sp>
        <p:nvSpPr>
          <p:cNvPr id="3" name="text s10.1.0"/>
          <p:cNvSpPr txBox="1"/>
          <p:nvPr/>
        </p:nvSpPr>
        <p:spPr>
          <a:xfrm>
            <a:off x="609600" y="1478161"/>
            <a:ext cx="53721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동작한다</a:t>
            </a:r>
          </a:p>
        </p:txBody>
      </p:sp>
      <p:sp>
        <p:nvSpPr>
          <p:cNvPr id="4" name="ul s10.1.1"/>
          <p:cNvSpPr txBox="1"/>
          <p:nvPr/>
        </p:nvSpPr>
        <p:spPr>
          <a:xfrm>
            <a:off x="609600" y="1963936"/>
            <a:ext cx="53721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파싱에서 두 타깃까지 전 구간 — 웹 + 편집 가능한 네이티브 PPTX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텍스트 서브셋 · 레이아웃 컨테이너 · 도형 12종 · 그림 · 겹침 · 그라디언트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슬라이드 레이아웃 11종과 슬롯 — 슬롯은 PPTX에서 진짜 플레이스홀더가 된다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테마 패키지 로딩 — 토큰 · 컴포넌트 · 배치 CSS가 파일이다</a:t>
            </a:r>
          </a:p>
        </p:txBody>
      </p:sp>
      <p:sp>
        <p:nvSpPr>
          <p:cNvPr id="5" name="text s10.2.0"/>
          <p:cNvSpPr txBox="1"/>
          <p:nvPr/>
        </p:nvSpPr>
        <p:spPr>
          <a:xfrm>
            <a:off x="6210300" y="1478161"/>
            <a:ext cx="53721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다음</a:t>
            </a:r>
          </a:p>
        </p:txBody>
      </p:sp>
      <p:sp>
        <p:nvSpPr>
          <p:cNvPr id="6" name="ul s10.2.1"/>
          <p:cNvSpPr txBox="1"/>
          <p:nvPr/>
        </p:nvSpPr>
        <p:spPr>
          <a:xfrm>
            <a:off x="6210300" y="1963936"/>
            <a:ext cx="5372100" cy="1428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표 렌더러와 차트 — 데이터를 담는 어휘 (표는 아직 문법까지만 있다)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테마 여러 개와 색 팔레트 확장, 외부 테마 패키지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합성 컴포넌트와 아이콘 — 반복 카드를 복사하지 않는다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커넥터 · 그룹, 그리고 작성 도구 (init · server · check)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1.0"/>
          <p:cNvSpPr txBox="1"/>
          <p:nvPr/>
        </p:nvSpPr>
        <p:spPr>
          <a:xfrm>
            <a:off x="609600" y="2364135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SOML로 한 번 쓴다</a:t>
            </a:r>
          </a:p>
        </p:txBody>
      </p:sp>
      <p:sp>
        <p:nvSpPr>
          <p:cNvPr id="3" name="text s11.1"/>
          <p:cNvSpPr txBox="1"/>
          <p:nvPr/>
        </p:nvSpPr>
        <p:spPr>
          <a:xfrm>
            <a:off x="609600" y="3232696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나머지는 balpyo가 두 곳으로 렌더한다</a:t>
            </a:r>
          </a:p>
        </p:txBody>
      </p:sp>
      <p:sp>
        <p:nvSpPr>
          <p:cNvPr id="4" name="shape s11.2"/>
          <p:cNvSpPr/>
          <p:nvPr/>
        </p:nvSpPr>
        <p:spPr>
          <a:xfrm>
            <a:off x="3048000" y="3807916"/>
            <a:ext cx="60960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build --target html,pptx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12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balpyo 소개</dc:title>
  <dc:creator>balpyo</dc:creator>
  <cp:lastModifiedBy>balpyo</cp:lastModifiedBy>
  <cp:revision>1</cp:revision>
</cp:coreProperties>
</file>