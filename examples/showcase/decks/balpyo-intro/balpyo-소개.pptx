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6877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694932" y="1854547"/>
            <a:ext cx="2802136" cy="1005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3088928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4677668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5249168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5" name="ul s1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6" name="text s1.1.0.0.1"/>
          <p:cNvSpPr txBox="1"/>
          <p:nvPr/>
        </p:nvSpPr>
        <p:spPr>
          <a:xfrm>
            <a:off x="10193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7" name="shape s1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9" name="ul s1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10" name="text s1.2.0.0.1"/>
          <p:cNvSpPr txBox="1"/>
          <p:nvPr/>
        </p:nvSpPr>
        <p:spPr>
          <a:xfrm>
            <a:off x="66200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78111"/>
            <a:ext cx="6377880" cy="5170289"/>
          </a:xfrm>
          <a:prstGeom prst="roundRect">
            <a:avLst>
              <a:gd name="adj" fmla="val 4421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20593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77405"/>
            <a:ext cx="5558433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749105"/>
            <a:ext cx="5558433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1"/>
          <p:cNvSpPr/>
          <p:nvPr/>
        </p:nvSpPr>
        <p:spPr>
          <a:xfrm>
            <a:off x="7330380" y="1078111"/>
            <a:ext cx="4251871" cy="5170289"/>
          </a:xfrm>
          <a:prstGeom prst="roundRect">
            <a:avLst>
              <a:gd name="adj" fmla="val 5376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2.1.1.0.0"/>
          <p:cNvSpPr txBox="1"/>
          <p:nvPr/>
        </p:nvSpPr>
        <p:spPr>
          <a:xfrm>
            <a:off x="7740104" y="2360265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9" name="text s2.1.1.0.1"/>
          <p:cNvSpPr txBox="1"/>
          <p:nvPr/>
        </p:nvSpPr>
        <p:spPr>
          <a:xfrm>
            <a:off x="7740104" y="2846040"/>
            <a:ext cx="3432423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bg1"/>
                </a:solidFill>
                <a:latin typeface="+mj-lt"/>
                <a:ea typeface="+mj-ea"/>
              </a:rPr>
              <a:t>1줄</a:t>
            </a:r>
          </a:p>
        </p:txBody>
      </p:sp>
      <p:sp>
        <p:nvSpPr>
          <p:cNvPr id="10" name="text s2.1.1.0.2"/>
          <p:cNvSpPr txBox="1"/>
          <p:nvPr/>
        </p:nvSpPr>
        <p:spPr>
          <a:xfrm>
            <a:off x="7740104" y="4080421"/>
            <a:ext cx="34324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1" name="text s2.1.1.0.3"/>
          <p:cNvSpPr txBox="1"/>
          <p:nvPr/>
        </p:nvSpPr>
        <p:spPr>
          <a:xfrm>
            <a:off x="7740104" y="4623346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1" i="0" u="none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3.2.0.0.0"/>
          <p:cNvSpPr txBox="1"/>
          <p:nvPr/>
        </p:nvSpPr>
        <p:spPr>
          <a:xfrm>
            <a:off x="101932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웹 · index.html 한 장</a:t>
            </a:r>
          </a:p>
        </p:txBody>
      </p:sp>
      <p:sp>
        <p:nvSpPr>
          <p:cNvPr id="13" name="ul s3.2.0.0.1"/>
          <p:cNvSpPr txBox="1"/>
          <p:nvPr/>
        </p:nvSpPr>
        <p:spPr>
          <a:xfrm>
            <a:off x="1019324" y="3688110"/>
            <a:ext cx="4495502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CSS와 발표 런타임이 인라인 — 파일 하나로 배포한다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발표자 화면 · 개요 그리드 · 노트 · 장 링크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브라우저 인쇄가 곧 PDF다</a:t>
            </a:r>
          </a:p>
        </p:txBody>
      </p:sp>
      <p:sp>
        <p:nvSpPr>
          <p:cNvPr id="14" name="shape s3.2.1"/>
          <p:cNvSpPr/>
          <p:nvPr/>
        </p:nvSpPr>
        <p:spPr>
          <a:xfrm>
            <a:off x="626745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3.2.1.0.0"/>
          <p:cNvSpPr txBox="1"/>
          <p:nvPr/>
        </p:nvSpPr>
        <p:spPr>
          <a:xfrm>
            <a:off x="667717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16" name="ul s3.2.1.0.1"/>
          <p:cNvSpPr txBox="1"/>
          <p:nvPr/>
        </p:nvSpPr>
        <p:spPr>
          <a:xfrm>
            <a:off x="6677174" y="368811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텍스트 박스는 p:sp, 도형은 prstGeom, 표는 a:tbl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슬롯은 p:ph 플레이스홀더 — 레이아웃이 살아 있다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테마 색은 schemeClr — 이미지로 찍지 않는다</a:t>
            </a:r>
          </a:p>
        </p:txBody>
      </p:sp>
      <p:sp>
        <p:nvSpPr>
          <p:cNvPr id="17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478161"/>
            <a:ext cx="5257800" cy="3732014"/>
          </a:xfrm>
          <a:prstGeom prst="roundRect">
            <a:avLst>
              <a:gd name="adj" fmla="val 612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diagram.png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themes/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my-brand/</a:t>
            </a:r>
          </a:p>
        </p:txBody>
      </p:sp>
      <p:sp>
        <p:nvSpPr>
          <p:cNvPr id="4" name="text s4.1.1.0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0.1"/>
          <p:cNvSpPr txBox="1"/>
          <p:nvPr/>
        </p:nvSpPr>
        <p:spPr>
          <a:xfrm>
            <a:off x="6324600" y="18496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text s4.1.1.1.0"/>
          <p:cNvSpPr txBox="1"/>
          <p:nvPr/>
        </p:nvSpPr>
        <p:spPr>
          <a:xfrm>
            <a:off x="6324600" y="3564136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balpyo.json</a:t>
            </a:r>
          </a:p>
        </p:txBody>
      </p:sp>
      <p:sp>
        <p:nvSpPr>
          <p:cNvPr id="7" name="p s4.1.1.1.1"/>
          <p:cNvSpPr txBox="1"/>
          <p:nvPr/>
        </p:nvSpPr>
        <p:spPr>
          <a:xfrm>
            <a:off x="6324600" y="3935611"/>
            <a:ext cx="5257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제목 · 저자 · 언어 · 비율(16:9 · 4:3) · 테마 · 출력 경로 · 꼬리말 · 쪽 번호</a:t>
            </a:r>
          </a:p>
        </p:txBody>
      </p:sp>
      <p:sp>
        <p:nvSpPr>
          <p:cNvPr id="8" name="shape s4.2"/>
          <p:cNvSpPr/>
          <p:nvPr/>
        </p:nvSpPr>
        <p:spPr>
          <a:xfrm>
            <a:off x="609600" y="5438775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0.1"/>
          <p:cNvSpPr txBox="1"/>
          <p:nvPr/>
        </p:nvSpPr>
        <p:spPr>
          <a:xfrm>
            <a:off x="9050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4379268"/>
            <a:ext cx="283815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&lt;row&gt; · &lt;col&gt; · &lt;grid&gt; · &lt;stack&gt;</a:t>
            </a:r>
          </a:p>
        </p:txBody>
      </p:sp>
      <p:sp>
        <p:nvSpPr>
          <p:cNvPr id="7" name="shape s5.1.1"/>
          <p:cNvSpPr/>
          <p:nvPr/>
        </p:nvSpPr>
        <p:spPr>
          <a:xfrm>
            <a:off x="43815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shape s5.1.1.0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9" name="p s5.1.1.0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46769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1" name="shape s5.1.2"/>
          <p:cNvSpPr/>
          <p:nvPr/>
        </p:nvSpPr>
        <p:spPr>
          <a:xfrm>
            <a:off x="81534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shape s5.1.2.0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3" name="p s5.1.2.0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84488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15" name="shape s5.2"/>
          <p:cNvSpPr/>
          <p:nvPr/>
        </p:nvSpPr>
        <p:spPr>
          <a:xfrm>
            <a:off x="609600" y="541764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0481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850755"/>
                <a:gridCol w="612204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텍스트로 풀린다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1143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shape s7.2.0"/>
          <p:cNvSpPr/>
          <p:nvPr/>
        </p:nvSpPr>
        <p:spPr>
          <a:xfrm>
            <a:off x="60960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7.2.0.0.0"/>
          <p:cNvSpPr txBox="1"/>
          <p:nvPr/>
        </p:nvSpPr>
        <p:spPr>
          <a:xfrm>
            <a:off x="101932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10" name="ul s7.2.0.0.1"/>
          <p:cNvSpPr txBox="1"/>
          <p:nvPr/>
        </p:nvSpPr>
        <p:spPr>
          <a:xfrm>
            <a:off x="1019324" y="363096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tokens.json — 색 · 폰트 · 공간 · 반경 · 그림자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1" name="shape s7.2.1"/>
          <p:cNvSpPr/>
          <p:nvPr/>
        </p:nvSpPr>
        <p:spPr>
          <a:xfrm>
            <a:off x="626745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7.2.1.0.0.0"/>
          <p:cNvSpPr txBox="1"/>
          <p:nvPr/>
        </p:nvSpPr>
        <p:spPr>
          <a:xfrm>
            <a:off x="667717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3" name="p s7.2.1.0.0.1"/>
          <p:cNvSpPr txBox="1"/>
          <p:nvPr/>
        </p:nvSpPr>
        <p:spPr>
          <a:xfrm>
            <a:off x="6677174" y="3630960"/>
            <a:ext cx="449550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된다.</a:t>
            </a:r>
          </a:p>
        </p:txBody>
      </p:sp>
      <p:sp>
        <p:nvSpPr>
          <p:cNvPr id="14" name="text s7.2.1.0.1"/>
          <p:cNvSpPr txBox="1"/>
          <p:nvPr/>
        </p:nvSpPr>
        <p:spPr>
          <a:xfrm>
            <a:off x="6677174" y="5194846"/>
            <a:ext cx="449550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shape s8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8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5" name="ul s8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문서 순서가 곧 도형 순서다</a:t>
            </a:r>
          </a:p>
        </p:txBody>
      </p:sp>
      <p:sp>
        <p:nvSpPr>
          <p:cNvPr id="6" name="text s8.1.0.0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sp>
        <p:nvSpPr>
          <p:cNvPr id="7" name="shape s8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8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9" name="ul s8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10" name="text s8.2.0.0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셋 다 go test ./... 한 줄에 들어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400300"/>
            <a:ext cx="109728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850"/>
              </a:lnSpc>
            </a:pPr>
            <a:r>
              <a:rPr sz="39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411480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shape s10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0.1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5" name="ul s10.1.0.0.1"/>
          <p:cNvSpPr txBox="1"/>
          <p:nvPr/>
        </p:nvSpPr>
        <p:spPr>
          <a:xfrm>
            <a:off x="1019324" y="2373660"/>
            <a:ext cx="4552652" cy="257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표와 차트 · 코드 강조 · 단계별 공개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내장 테마 셋과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6" name="shape s10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7" name="text s10.2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8" name="ul s10.2.0.0.1"/>
          <p:cNvSpPr txBox="1"/>
          <p:nvPr/>
        </p:nvSpPr>
        <p:spPr>
          <a:xfrm>
            <a:off x="6620024" y="2373660"/>
            <a:ext cx="455265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테마가 소유하는 배경과 자산 — 배경 그림 · 로고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variant의 그라디언트 토큰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측정 브라우저에 없는 테마 글꼴 경고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진단 다듬기 — 오타 후보 · 정렬 · 한 사고 한 경고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0221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45210"/>
            <a:ext cx="10972800" cy="396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120"/>
              </a:lnSpc>
            </a:pPr>
            <a:r>
              <a:rPr sz="24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