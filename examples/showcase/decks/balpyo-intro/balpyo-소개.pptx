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theme" Target="theme/theme1.xml"/>
  <Relationship Id="rId15" Type="http://schemas.openxmlformats.org/officeDocument/2006/relationships/notesMaster" Target="notesMasters/notesMaster1.xml"/>
</Relationships>
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686300"/>
            <a:ext cx="5486400" cy="37719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덱 자체가 산출물이다 — 지금 보고 있는 화면과 배포한 pptx가 같은 소스에서 나왔다.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둘 중 하나를 잃는다: 표현력이냐, 편집 가능한 산출물이냐.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co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여기가 제품의 출발점이다. 저자가 계산할 것이 남아 있으면 자동화가 아니다.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pip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파싱은 soml, 해석은 core, 측정은 render/geom, 렌더는 render/web과 render/pptx다.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덱 설정은 balpyo.json 한 파일이다 — 제목·저자·언어·비율·출력 경로.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geome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이것이 두 번째 통찰이다 — 브라우저를 레이아웃 엔진으로 빌려 쓴다.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ppt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PowerPoint에서 글자를 고칠 수 있고, 표는 셀을 클릭해 행을 더할 수 있다. "열리는 파일"과 "편집 가능한 파일"의 차이가 여기서 갈린다.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토큰이 리터럴로 눕는 순간 제품의 약속이 깨진다. 골든 테스트가 그것을 감시한다.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determinis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골든은 좌표 없는 레이아웃 트리와 진단 둘뿐이다 — 좌표는 동일성 판정이 매번 다시 재므로, diff에는 "도형이 하나 늘었다"만 남는다.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그래서 바뀔 때마다 PowerPoint나 Keynote로 직접 연다.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ta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오른쪽 열이 다음에 할 일이다.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질문을 받는다. 덱을 pptx로 내려받아 직접 고쳐 보라고 권한다.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author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date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lef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ight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  <Relationship Id="rId3" Type="http://schemas.openxmlformats.org/officeDocument/2006/relationships/slideLayout" Target="../slideLayouts/slideLayout2.xml"/>
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600" cy="48006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</p:sldLayoutIdLst>
  <p:txStyles>
    <p:titleStyle>
      <a:lvl1pPr algn="l">
        <a:defRPr sz="4400"/>
      </a:lvl1pPr>
    </p:titleStyle>
    <p:bodyStyle>
      <a:lvl1pPr>
        <a:defRPr sz="2400"/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notesSlide" Target="../notesSlides/notesSlide2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notesSlide" Target="../notesSlides/notesSlide9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notesSlide" Target="../notesSlides/notesSlide1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0.0"/>
          <p:cNvSpPr txBox="1"/>
          <p:nvPr>
            <p:ph type="body" idx="2"/>
          </p:nvPr>
        </p:nvSpPr>
        <p:spPr>
          <a:xfrm>
            <a:off x="4621857" y="609600"/>
            <a:ext cx="2948136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>
                <a:solidFill>
                  <a:schemeClr val="accent1"/>
                </a:solidFill>
                <a:latin typeface="+mn-lt"/>
                <a:ea typeface="+mn-ea"/>
              </a:rPr>
              <a:t>SLIDE ORIENTED MARKUP LANGUAGE</a:t>
            </a:r>
          </a:p>
        </p:txBody>
      </p:sp>
      <p:sp>
        <p:nvSpPr>
          <p:cNvPr id="3" name="h1 s0.1"/>
          <p:cNvSpPr txBox="1"/>
          <p:nvPr>
            <p:ph type="ctrTitle"/>
          </p:nvPr>
        </p:nvSpPr>
        <p:spPr>
          <a:xfrm>
            <a:off x="4836170" y="1095375"/>
            <a:ext cx="2519660" cy="1005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7920"/>
              </a:lnSpc>
            </a:pPr>
            <a:r>
              <a:rPr sz="6600" b="1">
                <a:solidFill>
                  <a:schemeClr val="tx1"/>
                </a:solidFill>
                <a:latin typeface="+mj-lt"/>
                <a:ea typeface="+mj-ea"/>
              </a:rPr>
              <a:t>balpyo</a:t>
            </a:r>
          </a:p>
        </p:txBody>
      </p:sp>
      <p:sp>
        <p:nvSpPr>
          <p:cNvPr id="4" name="text s0.2"/>
          <p:cNvSpPr txBox="1"/>
          <p:nvPr>
            <p:ph type="subTitle" idx="1"/>
          </p:nvPr>
        </p:nvSpPr>
        <p:spPr>
          <a:xfrm>
            <a:off x="2014389" y="2329755"/>
            <a:ext cx="8163223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2"/>
                </a:solidFill>
                <a:latin typeface="+mj-lt"/>
                <a:ea typeface="+mj-ea"/>
              </a:rPr>
              <a:t>슬라이드를 한 번 쓰면 웹과 편집 가능한 PPTX가 같이 나온다</a:t>
            </a:r>
          </a:p>
        </p:txBody>
      </p:sp>
      <p:sp>
        <p:nvSpPr>
          <p:cNvPr id="5" name="text s0.3"/>
          <p:cNvSpPr txBox="1"/>
          <p:nvPr>
            <p:ph type="body" idx="3"/>
          </p:nvPr>
        </p:nvSpPr>
        <p:spPr>
          <a:xfrm>
            <a:off x="5130701" y="5436989"/>
            <a:ext cx="1930598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렌더 엔진 · 테마 · CLI</a:t>
            </a:r>
          </a:p>
        </p:txBody>
      </p:sp>
      <p:sp>
        <p:nvSpPr>
          <p:cNvPr id="6" name="text s0.4"/>
          <p:cNvSpPr txBox="1"/>
          <p:nvPr>
            <p:ph type="body" idx="4"/>
          </p:nvPr>
        </p:nvSpPr>
        <p:spPr>
          <a:xfrm>
            <a:off x="4523482" y="6008489"/>
            <a:ext cx="3145036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이 덱은 SOML 열두 장이고, balpyo가 렌더했다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s1.0"/>
          <p:cNvSpPr txBox="1"/>
          <p:nvPr>
            <p:ph type="title"/>
          </p:nvPr>
        </p:nvSpPr>
        <p:spPr>
          <a:xfrm>
            <a:off x="609600" y="609600"/>
            <a:ext cx="10972800" cy="639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040"/>
              </a:lnSpc>
            </a:pPr>
            <a:r>
              <a:rPr sz="4200" b="1">
                <a:solidFill>
                  <a:schemeClr val="tx1"/>
                </a:solidFill>
                <a:latin typeface="+mj-lt"/>
                <a:ea typeface="+mj-ea"/>
              </a:rPr>
              <a:t>텍스트로 슬라이드를 쓰면 둘 중 하나를 잃는다</a:t>
            </a:r>
          </a:p>
        </p:txBody>
      </p:sp>
      <p:sp>
        <p:nvSpPr>
          <p:cNvPr id="3" name="shape s1.1.0"/>
          <p:cNvSpPr/>
          <p:nvPr/>
        </p:nvSpPr>
        <p:spPr>
          <a:xfrm>
            <a:off x="609600" y="1478161"/>
            <a:ext cx="5372100" cy="4770239"/>
          </a:xfrm>
          <a:prstGeom prst="roundRect">
            <a:avLst>
              <a:gd name="adj" fmla="val 4792"/>
            </a:avLst>
          </a:prstGeom>
          <a:solidFill>
            <a:schemeClr val="bg2"/>
          </a:solidFill>
          <a:ln>
            <a:noFill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4" name="text s1.1.0.0.0.0"/>
          <p:cNvSpPr txBox="1"/>
          <p:nvPr/>
        </p:nvSpPr>
        <p:spPr>
          <a:xfrm>
            <a:off x="1019324" y="1887885"/>
            <a:ext cx="45526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>
                <a:solidFill>
                  <a:schemeClr val="accent1"/>
                </a:solidFill>
                <a:latin typeface="+mn-lt"/>
                <a:ea typeface="+mn-ea"/>
              </a:rPr>
              <a:t>Markdown 계열 · Marp · Slidev</a:t>
            </a:r>
          </a:p>
        </p:txBody>
      </p:sp>
      <p:sp>
        <p:nvSpPr>
          <p:cNvPr id="5" name="ul s1.1.0.0.0.1"/>
          <p:cNvSpPr txBox="1"/>
          <p:nvPr/>
        </p:nvSpPr>
        <p:spPr>
          <a:xfrm>
            <a:off x="1019324" y="2373660"/>
            <a:ext cx="4552652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ts val="2700"/>
              </a:lnSpc>
              <a:buFont typeface="+mn-lt"/>
              <a:buChar char="•"/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Markdown은 문서 마크업이라 2단·도형·겹침 같은 슬라이드 어휘가 없다</a:t>
            </a:r>
          </a:p>
          <a:p>
            <a:pPr marL="342900" indent="-342900" algn="l">
              <a:lnSpc>
                <a:spcPts val="2700"/>
              </a:lnSpc>
              <a:buFont typeface="+mn-lt"/>
              <a:buChar char="•"/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PPTX 내보내기는 슬라이드를 이미지로 찍는다 — 열리지만 고칠 수 없다</a:t>
            </a:r>
          </a:p>
        </p:txBody>
      </p:sp>
      <p:sp>
        <p:nvSpPr>
          <p:cNvPr id="6" name="text s1.1.0.0.1"/>
          <p:cNvSpPr txBox="1"/>
          <p:nvPr/>
        </p:nvSpPr>
        <p:spPr>
          <a:xfrm>
            <a:off x="1019324" y="5492055"/>
            <a:ext cx="4552652" cy="3466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30"/>
              </a:lnSpc>
            </a:pPr>
            <a:r>
              <a:rPr sz="2100" b="1">
                <a:solidFill>
                  <a:schemeClr val="accent1"/>
                </a:solidFill>
                <a:latin typeface="+mj-lt"/>
                <a:ea typeface="+mj-ea"/>
              </a:rPr>
              <a:t>→ 편집 가능한 산출물을 잃는다</a:t>
            </a:r>
          </a:p>
        </p:txBody>
      </p:sp>
      <p:sp>
        <p:nvSpPr>
          <p:cNvPr id="7" name="shape s1.2.0"/>
          <p:cNvSpPr/>
          <p:nvPr/>
        </p:nvSpPr>
        <p:spPr>
          <a:xfrm>
            <a:off x="6210300" y="1478161"/>
            <a:ext cx="5372100" cy="4770239"/>
          </a:xfrm>
          <a:prstGeom prst="roundRect">
            <a:avLst>
              <a:gd name="adj" fmla="val 4792"/>
            </a:avLst>
          </a:prstGeom>
          <a:solidFill>
            <a:schemeClr val="bg2"/>
          </a:solidFill>
          <a:ln>
            <a:noFill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8" name="text s1.2.0.0.0.0"/>
          <p:cNvSpPr txBox="1"/>
          <p:nvPr/>
        </p:nvSpPr>
        <p:spPr>
          <a:xfrm>
            <a:off x="6620024" y="1887885"/>
            <a:ext cx="45526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>
                <a:solidFill>
                  <a:schemeClr val="accent1"/>
                </a:solidFill>
                <a:latin typeface="+mn-lt"/>
                <a:ea typeface="+mn-ea"/>
              </a:rPr>
              <a:t>라이브러리 계열 · python-pptx</a:t>
            </a:r>
          </a:p>
        </p:txBody>
      </p:sp>
      <p:sp>
        <p:nvSpPr>
          <p:cNvPr id="9" name="ul s1.2.0.0.0.1"/>
          <p:cNvSpPr txBox="1"/>
          <p:nvPr/>
        </p:nvSpPr>
        <p:spPr>
          <a:xfrm>
            <a:off x="6620024" y="2373660"/>
            <a:ext cx="4552652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ts val="2700"/>
              </a:lnSpc>
              <a:buFont typeface="+mn-lt"/>
              <a:buChar char="•"/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모든 요소를 EMU 절대 좌표로 손으로 배치한다</a:t>
            </a:r>
          </a:p>
          <a:p>
            <a:pPr marL="342900" indent="-342900" algn="l">
              <a:lnSpc>
                <a:spcPts val="2700"/>
              </a:lnSpc>
              <a:buFont typeface="+mn-lt"/>
              <a:buChar char="•"/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그라디언트 테두리처럼 "디자인된 느낌"에는 API조차 없어 raw XML을 조립한다</a:t>
            </a:r>
          </a:p>
        </p:txBody>
      </p:sp>
      <p:sp>
        <p:nvSpPr>
          <p:cNvPr id="10" name="text s1.2.0.0.1"/>
          <p:cNvSpPr txBox="1"/>
          <p:nvPr/>
        </p:nvSpPr>
        <p:spPr>
          <a:xfrm>
            <a:off x="6620024" y="5492055"/>
            <a:ext cx="4552652" cy="3466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30"/>
              </a:lnSpc>
            </a:pPr>
            <a:r>
              <a:rPr sz="2100" b="1">
                <a:solidFill>
                  <a:schemeClr val="accent1"/>
                </a:solidFill>
                <a:latin typeface="+mj-lt"/>
                <a:ea typeface="+mj-ea"/>
              </a:rPr>
              <a:t>→ 쓰기 쉬움을 잃는다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2.0"/>
          <p:cNvSpPr txBox="1"/>
          <p:nvPr/>
        </p:nvSpPr>
        <p:spPr>
          <a:xfrm>
            <a:off x="609600" y="609600"/>
            <a:ext cx="109728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기업 덱의 카드 그리드 슬라이드 한 장을 python-pptx로 다시 만들었을 때</a:t>
            </a:r>
          </a:p>
        </p:txBody>
      </p:sp>
      <p:sp>
        <p:nvSpPr>
          <p:cNvPr id="3" name="shape s2.1.0"/>
          <p:cNvSpPr/>
          <p:nvPr/>
        </p:nvSpPr>
        <p:spPr>
          <a:xfrm>
            <a:off x="609600" y="1078111"/>
            <a:ext cx="6377880" cy="5170289"/>
          </a:xfrm>
          <a:prstGeom prst="roundRect">
            <a:avLst>
              <a:gd name="adj" fmla="val 4421"/>
            </a:avLst>
          </a:prstGeom>
          <a:solidFill>
            <a:schemeClr val="bg2"/>
          </a:solidFill>
          <a:ln>
            <a:noFill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4" name="text s2.1.0.0.0"/>
          <p:cNvSpPr txBox="1"/>
          <p:nvPr/>
        </p:nvSpPr>
        <p:spPr>
          <a:xfrm>
            <a:off x="1019324" y="2205930"/>
            <a:ext cx="5558433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>
                <a:solidFill>
                  <a:schemeClr val="accent1"/>
                </a:solidFill>
                <a:latin typeface="+mn-lt"/>
                <a:ea typeface="+mn-ea"/>
              </a:rPr>
              <a:t>python-pptx</a:t>
            </a:r>
          </a:p>
        </p:txBody>
      </p:sp>
      <p:sp>
        <p:nvSpPr>
          <p:cNvPr id="5" name="text s2.1.0.0.1"/>
          <p:cNvSpPr txBox="1"/>
          <p:nvPr/>
        </p:nvSpPr>
        <p:spPr>
          <a:xfrm>
            <a:off x="1019324" y="2577405"/>
            <a:ext cx="5558433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200"/>
              </a:lnSpc>
            </a:pPr>
            <a:r>
              <a:rPr sz="13500" b="1">
                <a:solidFill>
                  <a:schemeClr val="accent1"/>
                </a:solidFill>
                <a:latin typeface="+mj-lt"/>
                <a:ea typeface="+mj-ea"/>
              </a:rPr>
              <a:t>128</a:t>
            </a:r>
          </a:p>
        </p:txBody>
      </p:sp>
      <p:sp>
        <p:nvSpPr>
          <p:cNvPr id="6" name="text s2.1.0.0.2"/>
          <p:cNvSpPr txBox="1"/>
          <p:nvPr/>
        </p:nvSpPr>
        <p:spPr>
          <a:xfrm>
            <a:off x="1019324" y="4749105"/>
            <a:ext cx="5558433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925"/>
              </a:lnSpc>
            </a:pPr>
            <a:r>
              <a:rPr sz="2250" b="1">
                <a:solidFill>
                  <a:schemeClr val="tx1"/>
                </a:solidFill>
                <a:latin typeface="+mj-lt"/>
                <a:ea typeface="+mj-ea"/>
              </a:rPr>
              <a:t>수동 좌표 계산 · 그리고 raw XML 수술 10회</a:t>
            </a:r>
          </a:p>
        </p:txBody>
      </p:sp>
      <p:sp>
        <p:nvSpPr>
          <p:cNvPr id="7" name="shape s2.1.1"/>
          <p:cNvSpPr/>
          <p:nvPr/>
        </p:nvSpPr>
        <p:spPr>
          <a:xfrm>
            <a:off x="7330380" y="1078111"/>
            <a:ext cx="4251871" cy="5170289"/>
          </a:xfrm>
          <a:prstGeom prst="roundRect">
            <a:avLst>
              <a:gd name="adj" fmla="val 5376"/>
            </a:avLst>
          </a:prstGeom>
          <a:solidFill>
            <a:schemeClr val="accent1"/>
          </a:solidFill>
          <a:ln>
            <a:noFill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8" name="text s2.1.1.0.0"/>
          <p:cNvSpPr txBox="1"/>
          <p:nvPr/>
        </p:nvSpPr>
        <p:spPr>
          <a:xfrm>
            <a:off x="7740104" y="2360265"/>
            <a:ext cx="3432423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>
                <a:solidFill>
                  <a:schemeClr val="bg1"/>
                </a:solidFill>
                <a:latin typeface="+mn-lt"/>
                <a:ea typeface="+mn-ea"/>
              </a:rPr>
              <a:t>balpyo</a:t>
            </a:r>
          </a:p>
        </p:txBody>
      </p:sp>
      <p:sp>
        <p:nvSpPr>
          <p:cNvPr id="9" name="text s2.1.1.0.1"/>
          <p:cNvSpPr txBox="1"/>
          <p:nvPr/>
        </p:nvSpPr>
        <p:spPr>
          <a:xfrm>
            <a:off x="7740104" y="2846040"/>
            <a:ext cx="3432423" cy="1005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7920"/>
              </a:lnSpc>
            </a:pPr>
            <a:r>
              <a:rPr sz="6600" b="1">
                <a:solidFill>
                  <a:schemeClr val="bg1"/>
                </a:solidFill>
                <a:latin typeface="+mj-lt"/>
                <a:ea typeface="+mj-ea"/>
              </a:rPr>
              <a:t>1줄</a:t>
            </a:r>
          </a:p>
        </p:txBody>
      </p:sp>
      <p:sp>
        <p:nvSpPr>
          <p:cNvPr id="10" name="text s2.1.1.0.2"/>
          <p:cNvSpPr txBox="1"/>
          <p:nvPr/>
        </p:nvSpPr>
        <p:spPr>
          <a:xfrm>
            <a:off x="7740104" y="4080421"/>
            <a:ext cx="3432423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475"/>
              </a:lnSpc>
            </a:pPr>
            <a:r>
              <a:rPr sz="1650" b="0">
                <a:solidFill>
                  <a:schemeClr val="bg1"/>
                </a:solidFill>
                <a:latin typeface="Noto Sans Mono"/>
                <a:ea typeface="Noto Sans Mono CJK KR"/>
              </a:rPr>
              <a:t>&lt;grid cols="4"&gt;</a:t>
            </a:r>
          </a:p>
        </p:txBody>
      </p:sp>
      <p:sp>
        <p:nvSpPr>
          <p:cNvPr id="11" name="text s2.1.1.0.3"/>
          <p:cNvSpPr txBox="1"/>
          <p:nvPr/>
        </p:nvSpPr>
        <p:spPr>
          <a:xfrm>
            <a:off x="7740104" y="4623346"/>
            <a:ext cx="343242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bg1"/>
                </a:solidFill>
                <a:latin typeface="+mn-lt"/>
                <a:ea typeface="+mn-ea"/>
              </a:rPr>
              <a:t>좌표는 브라우저가 잰다.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ip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s3.0"/>
          <p:cNvSpPr txBox="1"/>
          <p:nvPr/>
        </p:nvSpPr>
        <p:spPr>
          <a:xfrm>
            <a:off x="609600" y="609600"/>
            <a:ext cx="10972800" cy="639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040"/>
              </a:lnSpc>
            </a:pPr>
            <a:r>
              <a:rPr sz="4200" b="1">
                <a:solidFill>
                  <a:schemeClr val="tx1"/>
                </a:solidFill>
                <a:latin typeface="+mj-lt"/>
                <a:ea typeface="+mj-ea"/>
              </a:rPr>
              <a:t>한 소스, 두 산출물</a:t>
            </a:r>
          </a:p>
        </p:txBody>
      </p:sp>
      <p:sp>
        <p:nvSpPr>
          <p:cNvPr id="3" name="shape s3.1.0.0"/>
          <p:cNvSpPr/>
          <p:nvPr/>
        </p:nvSpPr>
        <p:spPr>
          <a:xfrm>
            <a:off x="609600" y="1478161"/>
            <a:ext cx="2657475" cy="685800"/>
          </a:xfrm>
          <a:prstGeom prst="chevron">
            <a:avLst>
              <a:gd name="adj" fmla="val 193750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-1328738" tIns="0" rIns="-1328738" bIns="0" anchor="t">
            <a:normAutofit/>
          </a:bodyPr>
          <a:lstStyle/>
          <a:p/>
        </p:txBody>
      </p:sp>
      <p:sp>
        <p:nvSpPr>
          <p:cNvPr id="4" name="text s3.1.0.1"/>
          <p:cNvSpPr txBox="1"/>
          <p:nvPr/>
        </p:nvSpPr>
        <p:spPr>
          <a:xfrm>
            <a:off x="609600" y="2278261"/>
            <a:ext cx="26574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1 · SOML 파싱</a:t>
            </a:r>
          </a:p>
        </p:txBody>
      </p:sp>
      <p:sp>
        <p:nvSpPr>
          <p:cNvPr id="5" name="shape s3.1.1.0"/>
          <p:cNvSpPr/>
          <p:nvPr/>
        </p:nvSpPr>
        <p:spPr>
          <a:xfrm>
            <a:off x="3381375" y="1478161"/>
            <a:ext cx="2657475" cy="685800"/>
          </a:xfrm>
          <a:prstGeom prst="chevron">
            <a:avLst>
              <a:gd name="adj" fmla="val 193750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-1328738" tIns="0" rIns="-1328738" bIns="0" anchor="t">
            <a:normAutofit/>
          </a:bodyPr>
          <a:lstStyle/>
          <a:p/>
        </p:txBody>
      </p:sp>
      <p:sp>
        <p:nvSpPr>
          <p:cNvPr id="6" name="text s3.1.1.1"/>
          <p:cNvSpPr txBox="1"/>
          <p:nvPr/>
        </p:nvSpPr>
        <p:spPr>
          <a:xfrm>
            <a:off x="3381375" y="2278261"/>
            <a:ext cx="26574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2 · 외관·배치 해석</a:t>
            </a:r>
          </a:p>
        </p:txBody>
      </p:sp>
      <p:sp>
        <p:nvSpPr>
          <p:cNvPr id="7" name="shape s3.1.2.0"/>
          <p:cNvSpPr/>
          <p:nvPr/>
        </p:nvSpPr>
        <p:spPr>
          <a:xfrm>
            <a:off x="6153150" y="1478161"/>
            <a:ext cx="2657475" cy="685800"/>
          </a:xfrm>
          <a:prstGeom prst="chevron">
            <a:avLst>
              <a:gd name="adj" fmla="val 193750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-1328738" tIns="0" rIns="-1328738" bIns="0" anchor="t">
            <a:normAutofit/>
          </a:bodyPr>
          <a:lstStyle/>
          <a:p/>
        </p:txBody>
      </p:sp>
      <p:sp>
        <p:nvSpPr>
          <p:cNvPr id="8" name="text s3.1.2.1"/>
          <p:cNvSpPr txBox="1"/>
          <p:nvPr/>
        </p:nvSpPr>
        <p:spPr>
          <a:xfrm>
            <a:off x="6153150" y="2278261"/>
            <a:ext cx="26574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3 · 지오메트리 측정</a:t>
            </a:r>
          </a:p>
        </p:txBody>
      </p:sp>
      <p:sp>
        <p:nvSpPr>
          <p:cNvPr id="9" name="shape s3.1.3.0"/>
          <p:cNvSpPr/>
          <p:nvPr/>
        </p:nvSpPr>
        <p:spPr>
          <a:xfrm>
            <a:off x="8924925" y="1478161"/>
            <a:ext cx="2657475" cy="685800"/>
          </a:xfrm>
          <a:prstGeom prst="chevron">
            <a:avLst>
              <a:gd name="adj" fmla="val 193750"/>
            </a:avLst>
          </a:prstGeom>
          <a:solidFill>
            <a:schemeClr val="accent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-1328738" tIns="0" rIns="-1328738" bIns="0" anchor="t">
            <a:normAutofit/>
          </a:bodyPr>
          <a:lstStyle/>
          <a:p/>
        </p:txBody>
      </p:sp>
      <p:sp>
        <p:nvSpPr>
          <p:cNvPr id="10" name="text s3.1.3.1"/>
          <p:cNvSpPr txBox="1"/>
          <p:nvPr/>
        </p:nvSpPr>
        <p:spPr>
          <a:xfrm>
            <a:off x="8924925" y="2278261"/>
            <a:ext cx="26574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chemeClr val="accent1"/>
                </a:solidFill>
                <a:latin typeface="+mn-lt"/>
                <a:ea typeface="+mn-ea"/>
              </a:rPr>
              <a:t>4 · 두 타깃 렌더</a:t>
            </a:r>
          </a:p>
        </p:txBody>
      </p:sp>
      <p:sp>
        <p:nvSpPr>
          <p:cNvPr id="11" name="shape s3.2.0"/>
          <p:cNvSpPr/>
          <p:nvPr/>
        </p:nvSpPr>
        <p:spPr>
          <a:xfrm>
            <a:off x="609600" y="2792611"/>
            <a:ext cx="5314950" cy="2987278"/>
          </a:xfrm>
          <a:prstGeom prst="roundRect">
            <a:avLst>
              <a:gd name="adj" fmla="val 7652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12" name="text s3.2.0.0.0"/>
          <p:cNvSpPr txBox="1"/>
          <p:nvPr/>
        </p:nvSpPr>
        <p:spPr>
          <a:xfrm>
            <a:off x="1019324" y="3202335"/>
            <a:ext cx="4495502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925"/>
              </a:lnSpc>
            </a:pPr>
            <a:r>
              <a:rPr sz="2250" b="1">
                <a:solidFill>
                  <a:schemeClr val="accent1"/>
                </a:solidFill>
                <a:latin typeface="+mj-lt"/>
                <a:ea typeface="+mj-ea"/>
              </a:rPr>
              <a:t>웹 · index.html 한 장</a:t>
            </a:r>
          </a:p>
        </p:txBody>
      </p:sp>
      <p:sp>
        <p:nvSpPr>
          <p:cNvPr id="13" name="ul s3.2.0.0.1"/>
          <p:cNvSpPr txBox="1"/>
          <p:nvPr/>
        </p:nvSpPr>
        <p:spPr>
          <a:xfrm>
            <a:off x="1019324" y="3688110"/>
            <a:ext cx="4495502" cy="125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ts val="2475"/>
              </a:lnSpc>
              <a:buFont typeface="+mn-lt"/>
              <a:buChar char="•"/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CSS와 발표 런타임이 인라인 — 파일 하나로 배포한다</a:t>
            </a:r>
          </a:p>
          <a:p>
            <a:pPr marL="342900" indent="-342900" algn="l">
              <a:lnSpc>
                <a:spcPts val="2475"/>
              </a:lnSpc>
              <a:buFont typeface="+mn-lt"/>
              <a:buChar char="•"/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발표자 화면 · 개요 그리드 · 노트 · 장 링크</a:t>
            </a:r>
          </a:p>
          <a:p>
            <a:pPr marL="342900" indent="-342900" algn="l">
              <a:lnSpc>
                <a:spcPts val="2475"/>
              </a:lnSpc>
              <a:buFont typeface="+mn-lt"/>
              <a:buChar char="•"/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브라우저 인쇄가 곧 PDF다</a:t>
            </a:r>
          </a:p>
        </p:txBody>
      </p:sp>
      <p:sp>
        <p:nvSpPr>
          <p:cNvPr id="14" name="shape s3.2.1"/>
          <p:cNvSpPr/>
          <p:nvPr/>
        </p:nvSpPr>
        <p:spPr>
          <a:xfrm>
            <a:off x="6267450" y="2792611"/>
            <a:ext cx="5314950" cy="2987278"/>
          </a:xfrm>
          <a:prstGeom prst="roundRect">
            <a:avLst>
              <a:gd name="adj" fmla="val 7652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15" name="text s3.2.1.0.0"/>
          <p:cNvSpPr txBox="1"/>
          <p:nvPr/>
        </p:nvSpPr>
        <p:spPr>
          <a:xfrm>
            <a:off x="6677174" y="3202335"/>
            <a:ext cx="4495502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925"/>
              </a:lnSpc>
            </a:pPr>
            <a:r>
              <a:rPr sz="2250" b="1">
                <a:solidFill>
                  <a:schemeClr val="accent1"/>
                </a:solidFill>
                <a:latin typeface="+mj-lt"/>
                <a:ea typeface="+mj-ea"/>
              </a:rPr>
              <a:t>PPTX · 편집 가능한 원본</a:t>
            </a:r>
          </a:p>
        </p:txBody>
      </p:sp>
      <p:sp>
        <p:nvSpPr>
          <p:cNvPr id="16" name="ul s3.2.1.0.1"/>
          <p:cNvSpPr txBox="1"/>
          <p:nvPr/>
        </p:nvSpPr>
        <p:spPr>
          <a:xfrm>
            <a:off x="6677174" y="3688110"/>
            <a:ext cx="4495502" cy="125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ts val="2475"/>
              </a:lnSpc>
              <a:buFont typeface="+mn-lt"/>
              <a:buChar char="•"/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텍스트 박스는 p:sp, 도형은 prstGeom, 표는 a:tbl</a:t>
            </a:r>
          </a:p>
          <a:p>
            <a:pPr marL="342900" indent="-342900" algn="l">
              <a:lnSpc>
                <a:spcPts val="2475"/>
              </a:lnSpc>
              <a:buFont typeface="+mn-lt"/>
              <a:buChar char="•"/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슬롯은 p:ph 플레이스홀더 — 레이아웃이 살아 있다</a:t>
            </a:r>
          </a:p>
          <a:p>
            <a:pPr marL="342900" indent="-342900" algn="l">
              <a:lnSpc>
                <a:spcPts val="2475"/>
              </a:lnSpc>
              <a:buFont typeface="+mn-lt"/>
              <a:buChar char="•"/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테마 색은 schemeClr — 이미지로 찍지 않는다</a:t>
            </a:r>
          </a:p>
        </p:txBody>
      </p:sp>
      <p:sp>
        <p:nvSpPr>
          <p:cNvPr id="17" name="text s3.3"/>
          <p:cNvSpPr txBox="1"/>
          <p:nvPr/>
        </p:nvSpPr>
        <p:spPr>
          <a:xfrm>
            <a:off x="609600" y="6008489"/>
            <a:ext cx="109728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같은 SOML 트리가 두 번 렌더된다. 갈라지는 지점은 마지막 단계 하나뿐이다.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s4.0"/>
          <p:cNvSpPr txBox="1"/>
          <p:nvPr/>
        </p:nvSpPr>
        <p:spPr>
          <a:xfrm>
            <a:off x="609600" y="609600"/>
            <a:ext cx="10972800" cy="639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040"/>
              </a:lnSpc>
            </a:pPr>
            <a:r>
              <a:rPr sz="4200" b="1">
                <a:solidFill>
                  <a:schemeClr val="tx1"/>
                </a:solidFill>
                <a:latin typeface="+mj-lt"/>
                <a:ea typeface="+mj-ea"/>
              </a:rPr>
              <a:t>프로젝트 하나가 덱 하나다</a:t>
            </a:r>
          </a:p>
        </p:txBody>
      </p:sp>
      <p:sp>
        <p:nvSpPr>
          <p:cNvPr id="3" name="shape s4.1.0"/>
          <p:cNvSpPr/>
          <p:nvPr/>
        </p:nvSpPr>
        <p:spPr>
          <a:xfrm>
            <a:off x="609600" y="1478161"/>
            <a:ext cx="5257800" cy="3732014"/>
          </a:xfrm>
          <a:prstGeom prst="roundRect">
            <a:avLst>
              <a:gd name="adj" fmla="val 6125"/>
            </a:avLst>
          </a:prstGeom>
          <a:solidFill>
            <a:schemeClr val="bg2"/>
          </a:solidFill>
          <a:ln>
            <a:noFill/>
          </a:ln>
        </p:spPr>
        <p:txBody>
          <a:bodyPr wrap="square" lIns="342900" tIns="342900" rIns="342900" bIns="34290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Noto Sans Mono"/>
                <a:ea typeface="Noto Sans Mono CJK KR"/>
              </a:rPr>
              <a:t>my-deck/</a:t>
            </a:r>
            <a:br/>
            <a:r>
              <a:rPr sz="1350" b="0">
                <a:solidFill>
                  <a:schemeClr val="tx1"/>
                </a:solidFill>
                <a:latin typeface="Noto Sans Mono"/>
                <a:ea typeface="Noto Sans Mono CJK KR"/>
              </a:rPr>
              <a:t>  balpyo.json</a:t>
            </a:r>
            <a:br/>
            <a:r>
              <a:rPr sz="1350" b="0">
                <a:solidFill>
                  <a:schemeClr val="tx1"/>
                </a:solidFill>
                <a:latin typeface="Noto Sans Mono"/>
                <a:ea typeface="Noto Sans Mono CJK KR"/>
              </a:rPr>
              <a:t>  slides/</a:t>
            </a:r>
            <a:br/>
            <a:r>
              <a:rPr sz="1350" b="0">
                <a:solidFill>
                  <a:schemeClr val="tx1"/>
                </a:solidFill>
                <a:latin typeface="Noto Sans Mono"/>
                <a:ea typeface="Noto Sans Mono CJK KR"/>
              </a:rPr>
              <a:t>    001_cover.slide</a:t>
            </a:r>
            <a:br/>
            <a:r>
              <a:rPr sz="1350" b="0">
                <a:solidFill>
                  <a:schemeClr val="tx1"/>
                </a:solidFill>
                <a:latin typeface="Noto Sans Mono"/>
                <a:ea typeface="Noto Sans Mono CJK KR"/>
              </a:rPr>
              <a:t>    002_problem.slide</a:t>
            </a:r>
            <a:br/>
            <a:r>
              <a:rPr sz="1350" b="0">
                <a:solidFill>
                  <a:schemeClr val="tx1"/>
                </a:solidFill>
                <a:latin typeface="Noto Sans Mono"/>
                <a:ea typeface="Noto Sans Mono CJK KR"/>
              </a:rPr>
              <a:t>    _draft_ideas.slide</a:t>
            </a:r>
            <a:br/>
            <a:r>
              <a:rPr sz="1350" b="0">
                <a:solidFill>
                  <a:schemeClr val="tx1"/>
                </a:solidFill>
                <a:latin typeface="Noto Sans Mono"/>
                <a:ea typeface="Noto Sans Mono CJK KR"/>
              </a:rPr>
              <a:t>  assets/</a:t>
            </a:r>
            <a:br/>
            <a:r>
              <a:rPr sz="1350" b="0">
                <a:solidFill>
                  <a:schemeClr val="tx1"/>
                </a:solidFill>
                <a:latin typeface="Noto Sans Mono"/>
                <a:ea typeface="Noto Sans Mono CJK KR"/>
              </a:rPr>
              <a:t>    diagram.png</a:t>
            </a:r>
            <a:br/>
            <a:r>
              <a:rPr sz="1350" b="0">
                <a:solidFill>
                  <a:schemeClr val="tx1"/>
                </a:solidFill>
                <a:latin typeface="Noto Sans Mono"/>
                <a:ea typeface="Noto Sans Mono CJK KR"/>
              </a:rPr>
              <a:t>  themes/</a:t>
            </a:r>
            <a:br/>
            <a:r>
              <a:rPr sz="1350" b="0">
                <a:solidFill>
                  <a:schemeClr val="tx1"/>
                </a:solidFill>
                <a:latin typeface="Noto Sans Mono"/>
                <a:ea typeface="Noto Sans Mono CJK KR"/>
              </a:rPr>
              <a:t>    my-brand/</a:t>
            </a:r>
          </a:p>
        </p:txBody>
      </p:sp>
      <p:sp>
        <p:nvSpPr>
          <p:cNvPr id="4" name="text s4.1.1.0.0"/>
          <p:cNvSpPr txBox="1"/>
          <p:nvPr/>
        </p:nvSpPr>
        <p:spPr>
          <a:xfrm>
            <a:off x="6324600" y="1478161"/>
            <a:ext cx="5257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>
                <a:solidFill>
                  <a:schemeClr val="accent1"/>
                </a:solidFill>
                <a:latin typeface="+mn-lt"/>
                <a:ea typeface="+mn-ea"/>
              </a:rPr>
              <a:t>수집 규칙</a:t>
            </a:r>
          </a:p>
        </p:txBody>
      </p:sp>
      <p:sp>
        <p:nvSpPr>
          <p:cNvPr id="5" name="ul s4.1.1.0.1"/>
          <p:cNvSpPr txBox="1"/>
          <p:nvPr/>
        </p:nvSpPr>
        <p:spPr>
          <a:xfrm>
            <a:off x="6324600" y="1849636"/>
            <a:ext cx="52578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ts val="2700"/>
              </a:lnSpc>
              <a:buFont typeface="+mn-lt"/>
              <a:buChar char="•"/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슬라이드 한 장이 파일 한 개다</a:t>
            </a:r>
          </a:p>
          <a:p>
            <a:pPr marL="342900" indent="-342900" algn="l">
              <a:lnSpc>
                <a:spcPts val="2700"/>
              </a:lnSpc>
              <a:buFont typeface="+mn-lt"/>
              <a:buChar char="•"/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순서는 경로 사전순 — 숫자 접두가 순서를 만든다</a:t>
            </a:r>
          </a:p>
          <a:p>
            <a:pPr marL="342900" indent="-342900" algn="l">
              <a:lnSpc>
                <a:spcPts val="2700"/>
              </a:lnSpc>
              <a:buFont typeface="+mn-lt"/>
              <a:buChar char="•"/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밑줄로 시작하는 파일은 건너뛴다 (초안·보류)</a:t>
            </a:r>
          </a:p>
          <a:p>
            <a:pPr marL="342900" indent="-342900" algn="l">
              <a:lnSpc>
                <a:spcPts val="2700"/>
              </a:lnSpc>
              <a:buFont typeface="+mn-lt"/>
              <a:buChar char="•"/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하위 디렉토리는 챕터가 된다</a:t>
            </a:r>
          </a:p>
        </p:txBody>
      </p:sp>
      <p:sp>
        <p:nvSpPr>
          <p:cNvPr id="6" name="text s4.1.1.1.0"/>
          <p:cNvSpPr txBox="1"/>
          <p:nvPr/>
        </p:nvSpPr>
        <p:spPr>
          <a:xfrm>
            <a:off x="6324600" y="3564136"/>
            <a:ext cx="5257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>
                <a:solidFill>
                  <a:schemeClr val="accent1"/>
                </a:solidFill>
                <a:latin typeface="+mn-lt"/>
                <a:ea typeface="+mn-ea"/>
              </a:rPr>
              <a:t>balpyo.json</a:t>
            </a:r>
          </a:p>
        </p:txBody>
      </p:sp>
      <p:sp>
        <p:nvSpPr>
          <p:cNvPr id="7" name="p s4.1.1.1.1"/>
          <p:cNvSpPr txBox="1"/>
          <p:nvPr/>
        </p:nvSpPr>
        <p:spPr>
          <a:xfrm>
            <a:off x="6324600" y="3935611"/>
            <a:ext cx="5257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제목 · 저자 · 언어 · 비율(16:9 · 4:3) · 테마 · 출력 경로 · 꼬리말 · 쪽 번호</a:t>
            </a:r>
          </a:p>
        </p:txBody>
      </p:sp>
      <p:sp>
        <p:nvSpPr>
          <p:cNvPr id="8" name="shape s4.2"/>
          <p:cNvSpPr/>
          <p:nvPr/>
        </p:nvSpPr>
        <p:spPr>
          <a:xfrm>
            <a:off x="609600" y="5438775"/>
            <a:ext cx="10972800" cy="809625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228600" tIns="228600" rIns="228600" bIns="22860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balpyo build --project my-deck --target html,pptx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eome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s5.0"/>
          <p:cNvSpPr txBox="1"/>
          <p:nvPr/>
        </p:nvSpPr>
        <p:spPr>
          <a:xfrm>
            <a:off x="609600" y="609600"/>
            <a:ext cx="10972800" cy="639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040"/>
              </a:lnSpc>
            </a:pPr>
            <a:r>
              <a:rPr sz="4200" b="1">
                <a:solidFill>
                  <a:schemeClr val="tx1"/>
                </a:solidFill>
                <a:latin typeface="+mj-lt"/>
                <a:ea typeface="+mj-ea"/>
              </a:rPr>
              <a:t>좌표는 브라우저가 계산한다</a:t>
            </a:r>
          </a:p>
        </p:txBody>
      </p:sp>
      <p:sp>
        <p:nvSpPr>
          <p:cNvPr id="3" name="shape s5.1.0"/>
          <p:cNvSpPr/>
          <p:nvPr/>
        </p:nvSpPr>
        <p:spPr>
          <a:xfrm>
            <a:off x="609600" y="1478161"/>
            <a:ext cx="3429000" cy="37108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4" name="shape s5.1.0.0.0.0"/>
          <p:cNvSpPr/>
          <p:nvPr/>
        </p:nvSpPr>
        <p:spPr>
          <a:xfrm>
            <a:off x="905024" y="1773585"/>
            <a:ext cx="2838152" cy="45720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noFill/>
          </a:ln>
        </p:spPr>
        <p:txBody>
          <a:bodyPr wrap="square" lIns="57150" tIns="57150" rIns="57150" bIns="57150" anchor="t">
            <a:normAutofit/>
          </a:bodyPr>
          <a:lstStyle/>
          <a:p>
            <a:pPr algn="ctr">
              <a:lnSpc>
                <a:spcPts val="2700"/>
              </a:lnSpc>
            </a:pPr>
            <a:r>
              <a:rPr sz="1800" b="0">
                <a:solidFill>
                  <a:schemeClr val="bg1"/>
                </a:solidFill>
                <a:latin typeface="+mn-lt"/>
                <a:ea typeface="+mn-ea"/>
              </a:rPr>
              <a:t>선언</a:t>
            </a:r>
          </a:p>
        </p:txBody>
      </p:sp>
      <p:sp>
        <p:nvSpPr>
          <p:cNvPr id="5" name="p s5.1.0.0.0.1"/>
          <p:cNvSpPr txBox="1"/>
          <p:nvPr/>
        </p:nvSpPr>
        <p:spPr>
          <a:xfrm>
            <a:off x="905024" y="2345085"/>
            <a:ext cx="2838152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저자는 flex와 grid로 배치를 선언한다. 좌표를 쓰는 자리가 어휘에 없다.</a:t>
            </a:r>
          </a:p>
        </p:txBody>
      </p:sp>
      <p:sp>
        <p:nvSpPr>
          <p:cNvPr id="6" name="text s5.1.0.0.1"/>
          <p:cNvSpPr txBox="1"/>
          <p:nvPr/>
        </p:nvSpPr>
        <p:spPr>
          <a:xfrm>
            <a:off x="905024" y="4379268"/>
            <a:ext cx="2838152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2"/>
                </a:solidFill>
                <a:latin typeface="Noto Sans Mono"/>
                <a:ea typeface="Noto Sans Mono CJK KR"/>
              </a:rPr>
              <a:t>&lt;row&gt; · &lt;col&gt; · &lt;grid&gt; · &lt;stack&gt;</a:t>
            </a:r>
          </a:p>
        </p:txBody>
      </p:sp>
      <p:sp>
        <p:nvSpPr>
          <p:cNvPr id="7" name="shape s5.1.1"/>
          <p:cNvSpPr/>
          <p:nvPr/>
        </p:nvSpPr>
        <p:spPr>
          <a:xfrm>
            <a:off x="4381500" y="1478161"/>
            <a:ext cx="3429000" cy="37108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8" name="shape s5.1.1.0.0.0"/>
          <p:cNvSpPr/>
          <p:nvPr/>
        </p:nvSpPr>
        <p:spPr>
          <a:xfrm>
            <a:off x="4676924" y="1773585"/>
            <a:ext cx="2838152" cy="45720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noFill/>
          </a:ln>
        </p:spPr>
        <p:txBody>
          <a:bodyPr wrap="square" lIns="57150" tIns="57150" rIns="57150" bIns="57150" anchor="t">
            <a:normAutofit/>
          </a:bodyPr>
          <a:lstStyle/>
          <a:p>
            <a:pPr algn="ctr">
              <a:lnSpc>
                <a:spcPts val="2700"/>
              </a:lnSpc>
            </a:pPr>
            <a:r>
              <a:rPr sz="1800" b="0">
                <a:solidFill>
                  <a:schemeClr val="bg1"/>
                </a:solidFill>
                <a:latin typeface="+mn-lt"/>
                <a:ea typeface="+mn-ea"/>
              </a:rPr>
              <a:t>측정</a:t>
            </a:r>
          </a:p>
        </p:txBody>
      </p:sp>
      <p:sp>
        <p:nvSpPr>
          <p:cNvPr id="9" name="p s5.1.1.0.0.1"/>
          <p:cNvSpPr txBox="1"/>
          <p:nvPr/>
        </p:nvSpPr>
        <p:spPr>
          <a:xfrm>
            <a:off x="4676924" y="2345085"/>
            <a:ext cx="2838152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헤드리스 Chromium이 요소마다 박스를 재고, 패스는 그 지오메트리만 읽는다.</a:t>
            </a:r>
          </a:p>
        </p:txBody>
      </p:sp>
      <p:sp>
        <p:nvSpPr>
          <p:cNvPr id="10" name="text s5.1.1.0.1"/>
          <p:cNvSpPr txBox="1"/>
          <p:nvPr/>
        </p:nvSpPr>
        <p:spPr>
          <a:xfrm>
            <a:off x="4676924" y="4636443"/>
            <a:ext cx="28381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2"/>
                </a:solidFill>
                <a:latin typeface="Noto Sans Mono"/>
                <a:ea typeface="Noto Sans Mono CJK KR"/>
              </a:rPr>
              <a:t>getBoundingClientRect</a:t>
            </a:r>
          </a:p>
        </p:txBody>
      </p:sp>
      <p:sp>
        <p:nvSpPr>
          <p:cNvPr id="11" name="shape s5.1.2"/>
          <p:cNvSpPr/>
          <p:nvPr/>
        </p:nvSpPr>
        <p:spPr>
          <a:xfrm>
            <a:off x="8153400" y="1478161"/>
            <a:ext cx="3429000" cy="37108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12" name="shape s5.1.2.0.0.0"/>
          <p:cNvSpPr/>
          <p:nvPr/>
        </p:nvSpPr>
        <p:spPr>
          <a:xfrm>
            <a:off x="8448824" y="1773585"/>
            <a:ext cx="2838152" cy="45720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noFill/>
          </a:ln>
        </p:spPr>
        <p:txBody>
          <a:bodyPr wrap="square" lIns="57150" tIns="57150" rIns="57150" bIns="57150" anchor="t">
            <a:normAutofit/>
          </a:bodyPr>
          <a:lstStyle/>
          <a:p>
            <a:pPr algn="ctr">
              <a:lnSpc>
                <a:spcPts val="2700"/>
              </a:lnSpc>
            </a:pPr>
            <a:r>
              <a:rPr sz="1800" b="0">
                <a:solidFill>
                  <a:schemeClr val="bg1"/>
                </a:solidFill>
                <a:latin typeface="+mn-lt"/>
                <a:ea typeface="+mn-ea"/>
              </a:rPr>
              <a:t>굽기</a:t>
            </a:r>
          </a:p>
        </p:txBody>
      </p:sp>
      <p:sp>
        <p:nvSpPr>
          <p:cNvPr id="13" name="p s5.1.2.0.0.1"/>
          <p:cNvSpPr txBox="1"/>
          <p:nvPr/>
        </p:nvSpPr>
        <p:spPr>
          <a:xfrm>
            <a:off x="8448824" y="2345085"/>
            <a:ext cx="2838152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잰 rect가 곧 PPTX 좌표다 — 1px은 9525 EMU이고 환산은 한 곳에만 있다.</a:t>
            </a:r>
          </a:p>
        </p:txBody>
      </p:sp>
      <p:sp>
        <p:nvSpPr>
          <p:cNvPr id="14" name="text s5.1.2.0.1"/>
          <p:cNvSpPr txBox="1"/>
          <p:nvPr/>
        </p:nvSpPr>
        <p:spPr>
          <a:xfrm>
            <a:off x="8448824" y="4636443"/>
            <a:ext cx="28381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2"/>
                </a:solidFill>
                <a:latin typeface="Noto Sans Mono"/>
                <a:ea typeface="Noto Sans Mono CJK KR"/>
              </a:rPr>
              <a:t>a:off · a:ext</a:t>
            </a:r>
          </a:p>
        </p:txBody>
      </p:sp>
      <p:sp>
        <p:nvSpPr>
          <p:cNvPr id="15" name="shape s5.2"/>
          <p:cNvSpPr/>
          <p:nvPr/>
        </p:nvSpPr>
        <p:spPr>
          <a:xfrm>
            <a:off x="609600" y="5417641"/>
            <a:ext cx="10972800" cy="830759"/>
          </a:xfrm>
          <a:prstGeom prst="roundRect">
            <a:avLst>
              <a:gd name="adj" fmla="val 27517"/>
            </a:avLst>
          </a:prstGeom>
          <a:solidFill>
            <a:schemeClr val="bg2"/>
          </a:solidFill>
          <a:ln w="28575">
            <a:solidFill>
              <a:schemeClr val="accent1"/>
            </a:solidFill>
            <a:prstDash val="solid"/>
          </a:ln>
        </p:spPr>
        <p:txBody>
          <a:bodyPr wrap="square" lIns="228600" tIns="228600" rIns="228600" bIns="22860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파이프라인이 주고받는 수치는 전부 논리 스테이지 px다 (16:9는 1280×720). EMU와 pt는 PPTX 렌더러 안에서만 존재한다.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s6.0"/>
          <p:cNvSpPr txBox="1"/>
          <p:nvPr/>
        </p:nvSpPr>
        <p:spPr>
          <a:xfrm>
            <a:off x="609600" y="609600"/>
            <a:ext cx="10972800" cy="639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040"/>
              </a:lnSpc>
            </a:pPr>
            <a:r>
              <a:rPr sz="4200" b="1">
                <a:solidFill>
                  <a:schemeClr val="tx1"/>
                </a:solidFill>
                <a:latin typeface="+mj-lt"/>
                <a:ea typeface="+mj-ea"/>
              </a:rPr>
              <a:t>태그가 무엇이 되는가</a:t>
            </a:r>
          </a:p>
        </p:txBody>
      </p:sp>
      <p:graphicFrame>
        <p:nvGraphicFramePr>
          <p:cNvPr id="3" name="table s6.1"/>
          <p:cNvGraphicFramePr/>
          <p:nvPr/>
        </p:nvGraphicFramePr>
        <p:xfrm>
          <a:off x="609600" y="1478161"/>
          <a:ext cx="10972800" cy="4048125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856857"/>
                <a:gridCol w="6115943"/>
              </a:tblGrid>
              <a:tr h="509588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SOML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PPTX 산출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&lt;text&gt; · &lt;h1&gt; · &lt;p&gt; · &lt;blockquote&gt;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p:sp 텍스트 박스 — 확정된 rPr을 싣는다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&lt;shape&gt; (프리셋 12종)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p:sp + prstGeom — 자식 텍스트를 흡수한다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&lt;image&gt;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p:pic + ppt/media 파트 (바이트 그대로)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&lt;ul&gt; · &lt;ol&gt;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도형 하나 — 불릿 문단이 한 박스에 산다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&lt;row&gt; · &lt;col&gt; · &lt;grid&gt; · &lt;stack&gt;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도형 0개 — 자식의 절대 좌표에 녹는다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&lt;table&gt; (이 슬라이드)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p:graphicFrame + a:tbl — 편집 가능한 표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09587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&lt;chart&gt; · &lt;point&gt;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도형 + 텍스트로 풀린다 — 막대 하나가 도형 하나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s7.0"/>
          <p:cNvSpPr txBox="1"/>
          <p:nvPr/>
        </p:nvSpPr>
        <p:spPr>
          <a:xfrm>
            <a:off x="609600" y="609600"/>
            <a:ext cx="10972800" cy="639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040"/>
              </a:lnSpc>
            </a:pPr>
            <a:r>
              <a:rPr sz="4200" b="1">
                <a:solidFill>
                  <a:schemeClr val="tx1"/>
                </a:solidFill>
                <a:latin typeface="+mj-lt"/>
                <a:ea typeface="+mj-ea"/>
              </a:rPr>
              <a:t>테마는 디자인 시스템이다</a:t>
            </a:r>
          </a:p>
        </p:txBody>
      </p:sp>
      <p:sp>
        <p:nvSpPr>
          <p:cNvPr id="3" name="shape s7.1.0"/>
          <p:cNvSpPr/>
          <p:nvPr/>
        </p:nvSpPr>
        <p:spPr>
          <a:xfrm>
            <a:off x="609600" y="1478161"/>
            <a:ext cx="2103090" cy="11430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114300" tIns="114300" rIns="114300" bIns="114300" anchor="ctr">
            <a:normAutofit/>
          </a:bodyPr>
          <a:lstStyle/>
          <a:p>
            <a:pPr algn="ctr">
              <a:lnSpc>
                <a:spcPts val="2250"/>
              </a:lnSpc>
            </a:pPr>
            <a:r>
              <a:rPr sz="1500" b="0">
                <a:solidFill>
                  <a:schemeClr val="bg1"/>
                </a:solidFill>
                <a:latin typeface="+mn-lt"/>
                <a:ea typeface="+mn-ea"/>
              </a:rPr>
              <a:t>fg</a:t>
            </a:r>
          </a:p>
        </p:txBody>
      </p:sp>
      <p:sp>
        <p:nvSpPr>
          <p:cNvPr id="4" name="shape s7.1.1"/>
          <p:cNvSpPr/>
          <p:nvPr/>
        </p:nvSpPr>
        <p:spPr>
          <a:xfrm>
            <a:off x="2826990" y="1478161"/>
            <a:ext cx="2103090" cy="11430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114300" tIns="114300" rIns="114300" bIns="114300" anchor="ctr">
            <a:normAutofit/>
          </a:bodyPr>
          <a:lstStyle/>
          <a:p>
            <a:pPr algn="ctr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bg</a:t>
            </a:r>
          </a:p>
        </p:txBody>
      </p:sp>
      <p:sp>
        <p:nvSpPr>
          <p:cNvPr id="5" name="shape s7.1.2"/>
          <p:cNvSpPr/>
          <p:nvPr/>
        </p:nvSpPr>
        <p:spPr>
          <a:xfrm>
            <a:off x="5044380" y="1478161"/>
            <a:ext cx="2103090" cy="11430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114300" tIns="114300" rIns="114300" bIns="114300" anchor="ctr">
            <a:normAutofit/>
          </a:bodyPr>
          <a:lstStyle/>
          <a:p>
            <a:pPr algn="ctr">
              <a:lnSpc>
                <a:spcPts val="2250"/>
              </a:lnSpc>
            </a:pPr>
            <a:r>
              <a:rPr sz="1500" b="0">
                <a:solidFill>
                  <a:schemeClr val="bg1"/>
                </a:solidFill>
                <a:latin typeface="+mn-lt"/>
                <a:ea typeface="+mn-ea"/>
              </a:rPr>
              <a:t>muted</a:t>
            </a:r>
          </a:p>
        </p:txBody>
      </p:sp>
      <p:sp>
        <p:nvSpPr>
          <p:cNvPr id="6" name="shape s7.1.3"/>
          <p:cNvSpPr/>
          <p:nvPr/>
        </p:nvSpPr>
        <p:spPr>
          <a:xfrm>
            <a:off x="7261771" y="1478161"/>
            <a:ext cx="2103090" cy="11430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114300" tIns="114300" rIns="114300" bIns="114300" anchor="ctr">
            <a:normAutofit/>
          </a:bodyPr>
          <a:lstStyle/>
          <a:p>
            <a:pPr algn="ctr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surface</a:t>
            </a:r>
          </a:p>
        </p:txBody>
      </p:sp>
      <p:sp>
        <p:nvSpPr>
          <p:cNvPr id="7" name="shape s7.1.4"/>
          <p:cNvSpPr/>
          <p:nvPr/>
        </p:nvSpPr>
        <p:spPr>
          <a:xfrm>
            <a:off x="9479161" y="1478161"/>
            <a:ext cx="2103239" cy="1143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114300" tIns="114300" rIns="114300" bIns="114300" anchor="ctr">
            <a:normAutofit/>
          </a:bodyPr>
          <a:lstStyle/>
          <a:p>
            <a:pPr algn="ctr">
              <a:lnSpc>
                <a:spcPts val="2250"/>
              </a:lnSpc>
            </a:pPr>
            <a:r>
              <a:rPr sz="1500" b="0">
                <a:solidFill>
                  <a:schemeClr val="bg1"/>
                </a:solidFill>
                <a:latin typeface="+mn-lt"/>
                <a:ea typeface="+mn-ea"/>
              </a:rPr>
              <a:t>accent1</a:t>
            </a:r>
          </a:p>
        </p:txBody>
      </p:sp>
      <p:sp>
        <p:nvSpPr>
          <p:cNvPr id="8" name="shape s7.2.0"/>
          <p:cNvSpPr/>
          <p:nvPr/>
        </p:nvSpPr>
        <p:spPr>
          <a:xfrm>
            <a:off x="609600" y="2849761"/>
            <a:ext cx="5314950" cy="3398639"/>
          </a:xfrm>
          <a:prstGeom prst="roundRect">
            <a:avLst>
              <a:gd name="adj" fmla="val 6726"/>
            </a:avLst>
          </a:prstGeom>
          <a:solidFill>
            <a:schemeClr val="bg2"/>
          </a:solidFill>
          <a:ln>
            <a:noFill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9" name="text s7.2.0.0.0"/>
          <p:cNvSpPr txBox="1"/>
          <p:nvPr/>
        </p:nvSpPr>
        <p:spPr>
          <a:xfrm>
            <a:off x="1019324" y="3259485"/>
            <a:ext cx="449550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>
                <a:solidFill>
                  <a:schemeClr val="accent1"/>
                </a:solidFill>
                <a:latin typeface="+mn-lt"/>
                <a:ea typeface="+mn-ea"/>
              </a:rPr>
              <a:t>토큰과 컴포넌트가 파일이다</a:t>
            </a:r>
          </a:p>
        </p:txBody>
      </p:sp>
      <p:sp>
        <p:nvSpPr>
          <p:cNvPr id="10" name="ul s7.2.0.0.1"/>
          <p:cNvSpPr txBox="1"/>
          <p:nvPr/>
        </p:nvSpPr>
        <p:spPr>
          <a:xfrm>
            <a:off x="1019324" y="3630960"/>
            <a:ext cx="4495502" cy="1571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ts val="2475"/>
              </a:lnSpc>
              <a:buFont typeface="+mn-lt"/>
              <a:buChar char="•"/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tokens.json — 색 · 폰트 · 공간 · 반경 · 그림자</a:t>
            </a:r>
          </a:p>
          <a:p>
            <a:pPr marL="342900" indent="-342900" algn="l">
              <a:lnSpc>
                <a:spcPts val="2475"/>
              </a:lnSpc>
              <a:buFont typeface="+mn-lt"/>
              <a:buChar char="•"/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components.json — 역할 5종과 variant (kicker · card · stat-card · badge)</a:t>
            </a:r>
          </a:p>
          <a:p>
            <a:pPr marL="342900" indent="-342900" algn="l">
              <a:lnSpc>
                <a:spcPts val="2475"/>
              </a:lnSpc>
              <a:buFont typeface="+mn-lt"/>
              <a:buChar char="•"/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layouts 아래 CSS — 배치만 쓸 수 있고 외관을 쓰면 경고다</a:t>
            </a:r>
          </a:p>
        </p:txBody>
      </p:sp>
      <p:sp>
        <p:nvSpPr>
          <p:cNvPr id="11" name="shape s7.2.1"/>
          <p:cNvSpPr/>
          <p:nvPr/>
        </p:nvSpPr>
        <p:spPr>
          <a:xfrm>
            <a:off x="6267450" y="2849761"/>
            <a:ext cx="5314950" cy="3398639"/>
          </a:xfrm>
          <a:prstGeom prst="roundRect">
            <a:avLst>
              <a:gd name="adj" fmla="val 6726"/>
            </a:avLst>
          </a:prstGeom>
          <a:solidFill>
            <a:schemeClr val="bg2"/>
          </a:solidFill>
          <a:ln>
            <a:noFill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12" name="text s7.2.1.0.0.0"/>
          <p:cNvSpPr txBox="1"/>
          <p:nvPr/>
        </p:nvSpPr>
        <p:spPr>
          <a:xfrm>
            <a:off x="6677174" y="3259485"/>
            <a:ext cx="449550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>
                <a:solidFill>
                  <a:schemeClr val="accent1"/>
                </a:solidFill>
                <a:latin typeface="+mn-lt"/>
                <a:ea typeface="+mn-ea"/>
              </a:rPr>
              <a:t>토큰은 눕지 않는다</a:t>
            </a:r>
          </a:p>
        </p:txBody>
      </p:sp>
      <p:sp>
        <p:nvSpPr>
          <p:cNvPr id="13" name="p s7.2.1.0.0.1"/>
          <p:cNvSpPr txBox="1"/>
          <p:nvPr/>
        </p:nvSpPr>
        <p:spPr>
          <a:xfrm>
            <a:off x="6677174" y="3630960"/>
            <a:ext cx="4495502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475"/>
              </a:lnSpc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토큰으로 쓴 색은 웹에서 CSS 변수로, PPTX에서 a:schemeClr로 남는다. 리터럴만 srgbClr가 된다.</a:t>
            </a:r>
          </a:p>
        </p:txBody>
      </p:sp>
      <p:sp>
        <p:nvSpPr>
          <p:cNvPr id="14" name="text s7.2.1.0.1"/>
          <p:cNvSpPr txBox="1"/>
          <p:nvPr/>
        </p:nvSpPr>
        <p:spPr>
          <a:xfrm>
            <a:off x="6677174" y="5194846"/>
            <a:ext cx="4495502" cy="6438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chemeClr val="accent1"/>
                </a:solidFill>
                <a:latin typeface="+mj-lt"/>
                <a:ea typeface="+mj-ea"/>
              </a:rPr>
              <a:t>→ PowerPoint에서 테마 색을 바꾸면 덱이 따라온다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terminis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s8.0"/>
          <p:cNvSpPr txBox="1"/>
          <p:nvPr>
            <p:ph type="title"/>
          </p:nvPr>
        </p:nvSpPr>
        <p:spPr>
          <a:xfrm>
            <a:off x="609600" y="609600"/>
            <a:ext cx="10972800" cy="639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040"/>
              </a:lnSpc>
            </a:pPr>
            <a:r>
              <a:rPr sz="4200" b="1">
                <a:solidFill>
                  <a:schemeClr val="tx1"/>
                </a:solidFill>
                <a:latin typeface="+mj-lt"/>
                <a:ea typeface="+mj-ea"/>
              </a:rPr>
              <a:t>두 렌더가 같은 컴포넌트를 낸다</a:t>
            </a:r>
          </a:p>
        </p:txBody>
      </p:sp>
      <p:sp>
        <p:nvSpPr>
          <p:cNvPr id="3" name="shape s8.1.0"/>
          <p:cNvSpPr/>
          <p:nvPr/>
        </p:nvSpPr>
        <p:spPr>
          <a:xfrm>
            <a:off x="609600" y="1478161"/>
            <a:ext cx="5372100" cy="4770239"/>
          </a:xfrm>
          <a:prstGeom prst="roundRect">
            <a:avLst>
              <a:gd name="adj" fmla="val 4792"/>
            </a:avLst>
          </a:prstGeom>
          <a:solidFill>
            <a:schemeClr val="bg2"/>
          </a:solidFill>
          <a:ln>
            <a:noFill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4" name="text s8.1.0.0.0.0"/>
          <p:cNvSpPr txBox="1"/>
          <p:nvPr/>
        </p:nvSpPr>
        <p:spPr>
          <a:xfrm>
            <a:off x="1019324" y="1887885"/>
            <a:ext cx="45526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>
                <a:solidFill>
                  <a:schemeClr val="accent1"/>
                </a:solidFill>
                <a:latin typeface="+mn-lt"/>
                <a:ea typeface="+mn-ea"/>
              </a:rPr>
              <a:t>무엇이 같은가</a:t>
            </a:r>
          </a:p>
        </p:txBody>
      </p:sp>
      <p:sp>
        <p:nvSpPr>
          <p:cNvPr id="5" name="ul s8.1.0.0.0.1"/>
          <p:cNvSpPr txBox="1"/>
          <p:nvPr/>
        </p:nvSpPr>
        <p:spPr>
          <a:xfrm>
            <a:off x="1019324" y="2373660"/>
            <a:ext cx="4552652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ts val="2700"/>
              </a:lnSpc>
              <a:buFont typeface="+mn-lt"/>
              <a:buChar char="•"/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요소 하나는 두 타깃에서 같은 종류의 객체다</a:t>
            </a:r>
          </a:p>
          <a:p>
            <a:pPr marL="342900" indent="-342900" algn="l">
              <a:lnSpc>
                <a:spcPts val="2700"/>
              </a:lnSpc>
              <a:buFont typeface="+mn-lt"/>
              <a:buChar char="•"/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자리는 브라우저가 잰 rect, 외관은 해석된 값이다</a:t>
            </a:r>
          </a:p>
          <a:p>
            <a:pPr marL="342900" indent="-342900" algn="l">
              <a:lnSpc>
                <a:spcPts val="2700"/>
              </a:lnSpc>
              <a:buFont typeface="+mn-lt"/>
              <a:buChar char="•"/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문서 순서가 곧 도형 순서다</a:t>
            </a:r>
          </a:p>
        </p:txBody>
      </p:sp>
      <p:sp>
        <p:nvSpPr>
          <p:cNvPr id="6" name="text s8.1.0.0.1"/>
          <p:cNvSpPr txBox="1"/>
          <p:nvPr/>
        </p:nvSpPr>
        <p:spPr>
          <a:xfrm>
            <a:off x="1019324" y="5598765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줄이 어디서 접히는지는 각 엔진의 몫이다 — 약속 밖이다.</a:t>
            </a:r>
          </a:p>
        </p:txBody>
      </p:sp>
      <p:sp>
        <p:nvSpPr>
          <p:cNvPr id="7" name="shape s8.2.0"/>
          <p:cNvSpPr/>
          <p:nvPr/>
        </p:nvSpPr>
        <p:spPr>
          <a:xfrm>
            <a:off x="6210300" y="1478161"/>
            <a:ext cx="5372100" cy="4770239"/>
          </a:xfrm>
          <a:prstGeom prst="roundRect">
            <a:avLst>
              <a:gd name="adj" fmla="val 4792"/>
            </a:avLst>
          </a:prstGeom>
          <a:solidFill>
            <a:schemeClr val="accent1"/>
          </a:solidFill>
          <a:ln>
            <a:noFill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8" name="text s8.2.0.0.0.0"/>
          <p:cNvSpPr txBox="1"/>
          <p:nvPr/>
        </p:nvSpPr>
        <p:spPr>
          <a:xfrm>
            <a:off x="6620024" y="1887885"/>
            <a:ext cx="45526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>
                <a:solidFill>
                  <a:schemeClr val="bg1"/>
                </a:solidFill>
                <a:latin typeface="+mn-lt"/>
                <a:ea typeface="+mn-ea"/>
              </a:rPr>
              <a:t>무엇이 판정하는가</a:t>
            </a:r>
          </a:p>
        </p:txBody>
      </p:sp>
      <p:sp>
        <p:nvSpPr>
          <p:cNvPr id="9" name="ul s8.2.0.0.0.1"/>
          <p:cNvSpPr txBox="1"/>
          <p:nvPr/>
        </p:nvSpPr>
        <p:spPr>
          <a:xfrm>
            <a:off x="6620024" y="2373660"/>
            <a:ext cx="4552652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ts val="2700"/>
              </a:lnSpc>
              <a:buFont typeface="+mn-lt"/>
              <a:buChar char="•"/>
            </a:pPr>
            <a:r>
              <a:rPr sz="1800" b="0">
                <a:solidFill>
                  <a:schemeClr val="bg1"/>
                </a:solidFill>
                <a:latin typeface="+mn-lt"/>
                <a:ea typeface="+mn-ea"/>
              </a:rPr>
              <a:t>PPTX에서 읽은 트리가 웹이 잰 트리와 같다</a:t>
            </a:r>
          </a:p>
          <a:p>
            <a:pPr marL="342900" indent="-342900" algn="l">
              <a:lnSpc>
                <a:spcPts val="2700"/>
              </a:lnSpc>
              <a:buFont typeface="+mn-lt"/>
              <a:buChar char="•"/>
            </a:pPr>
            <a:r>
              <a:rPr sz="1800" b="0">
                <a:solidFill>
                  <a:schemeClr val="bg1"/>
                </a:solidFill>
                <a:latin typeface="+mn-lt"/>
                <a:ea typeface="+mn-ea"/>
              </a:rPr>
              <a:t>모든 XML 파트가 ECMA-376 스키마를 통과한다</a:t>
            </a:r>
          </a:p>
          <a:p>
            <a:pPr marL="342900" indent="-342900" algn="l">
              <a:lnSpc>
                <a:spcPts val="2700"/>
              </a:lnSpc>
              <a:buFont typeface="+mn-lt"/>
              <a:buChar char="•"/>
            </a:pPr>
            <a:r>
              <a:rPr sz="1800" b="0">
                <a:solidFill>
                  <a:schemeClr val="bg1"/>
                </a:solidFill>
                <a:latin typeface="+mn-lt"/>
                <a:ea typeface="+mn-ea"/>
              </a:rPr>
              <a:t>같은 입력은 같은 바이트를 낸다</a:t>
            </a:r>
          </a:p>
        </p:txBody>
      </p:sp>
      <p:sp>
        <p:nvSpPr>
          <p:cNvPr id="10" name="text s8.2.0.0.1"/>
          <p:cNvSpPr txBox="1"/>
          <p:nvPr/>
        </p:nvSpPr>
        <p:spPr>
          <a:xfrm>
            <a:off x="6620024" y="5598765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bg1"/>
                </a:solidFill>
                <a:latin typeface="+mn-lt"/>
                <a:ea typeface="+mn-ea"/>
              </a:rPr>
              <a:t>셋 다 go test ./... 한 줄에 들어 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quote s9.0"/>
          <p:cNvSpPr txBox="1"/>
          <p:nvPr/>
        </p:nvSpPr>
        <p:spPr>
          <a:xfrm>
            <a:off x="609600" y="2400300"/>
            <a:ext cx="10972800" cy="148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5850"/>
              </a:lnSpc>
            </a:pPr>
            <a:r>
              <a:rPr sz="3900" b="0">
                <a:solidFill>
                  <a:schemeClr val="tx1"/>
                </a:solidFill>
                <a:latin typeface="+mn-lt"/>
                <a:ea typeface="+mn-ea"/>
              </a:rPr>
              <a:t>“열리는 파일”과 “편집 가능한 파일”의 차이가 이 제품의 핵심이다.</a:t>
            </a:r>
          </a:p>
        </p:txBody>
      </p:sp>
      <p:sp>
        <p:nvSpPr>
          <p:cNvPr id="3" name="text s9.1"/>
          <p:cNvSpPr txBox="1"/>
          <p:nvPr/>
        </p:nvSpPr>
        <p:spPr>
          <a:xfrm>
            <a:off x="609600" y="4114800"/>
            <a:ext cx="109728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700"/>
              </a:lnSpc>
            </a:pPr>
            <a:r>
              <a:rPr sz="1800" b="0">
                <a:solidFill>
                  <a:schemeClr val="tx2"/>
                </a:solidFill>
                <a:latin typeface="+mn-lt"/>
                <a:ea typeface="+mn-ea"/>
              </a:rPr>
              <a:t>— 테스트 문서, 사람이 직접 pptx를 열어 확인하는 단계를 자동화하지 않는 이유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s10.0"/>
          <p:cNvSpPr txBox="1"/>
          <p:nvPr>
            <p:ph type="title"/>
          </p:nvPr>
        </p:nvSpPr>
        <p:spPr>
          <a:xfrm>
            <a:off x="609600" y="609600"/>
            <a:ext cx="10972800" cy="639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040"/>
              </a:lnSpc>
            </a:pPr>
            <a:r>
              <a:rPr sz="4200" b="1">
                <a:solidFill>
                  <a:schemeClr val="tx1"/>
                </a:solidFill>
                <a:latin typeface="+mj-lt"/>
                <a:ea typeface="+mj-ea"/>
              </a:rPr>
              <a:t>지금 되는 것과 다음</a:t>
            </a:r>
          </a:p>
        </p:txBody>
      </p:sp>
      <p:sp>
        <p:nvSpPr>
          <p:cNvPr id="3" name="shape s10.1.0"/>
          <p:cNvSpPr/>
          <p:nvPr/>
        </p:nvSpPr>
        <p:spPr>
          <a:xfrm>
            <a:off x="609600" y="1478161"/>
            <a:ext cx="5372100" cy="4770239"/>
          </a:xfrm>
          <a:prstGeom prst="roundRect">
            <a:avLst>
              <a:gd name="adj" fmla="val 4792"/>
            </a:avLst>
          </a:prstGeom>
          <a:solidFill>
            <a:schemeClr val="bg2"/>
          </a:solidFill>
          <a:ln>
            <a:noFill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4" name="text s10.1.0.0.0"/>
          <p:cNvSpPr txBox="1"/>
          <p:nvPr/>
        </p:nvSpPr>
        <p:spPr>
          <a:xfrm>
            <a:off x="1019324" y="1887885"/>
            <a:ext cx="45526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>
                <a:solidFill>
                  <a:schemeClr val="accent1"/>
                </a:solidFill>
                <a:latin typeface="+mn-lt"/>
                <a:ea typeface="+mn-ea"/>
              </a:rPr>
              <a:t>동작한다</a:t>
            </a:r>
          </a:p>
        </p:txBody>
      </p:sp>
      <p:sp>
        <p:nvSpPr>
          <p:cNvPr id="5" name="ul s10.1.0.0.1"/>
          <p:cNvSpPr txBox="1"/>
          <p:nvPr/>
        </p:nvSpPr>
        <p:spPr>
          <a:xfrm>
            <a:off x="1019324" y="2373660"/>
            <a:ext cx="4552652" cy="257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ts val="2250"/>
              </a:lnSpc>
              <a:buFont typeface="+mn-lt"/>
              <a:buChar char="•"/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파싱에서 두 타깃까지 전 구간 — 웹 + 편집 가능한 네이티브 PPTX</a:t>
            </a:r>
          </a:p>
          <a:p>
            <a:pPr marL="342900" indent="-342900" algn="l">
              <a:lnSpc>
                <a:spcPts val="2250"/>
              </a:lnSpc>
              <a:buFont typeface="+mn-lt"/>
              <a:buChar char="•"/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텍스트 서브셋 · 레이아웃 컨테이너 · 도형 12종 · 그림 · 겹침 · 그라디언트</a:t>
            </a:r>
          </a:p>
          <a:p>
            <a:pPr marL="342900" indent="-342900" algn="l">
              <a:lnSpc>
                <a:spcPts val="2250"/>
              </a:lnSpc>
              <a:buFont typeface="+mn-lt"/>
              <a:buChar char="•"/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레이아웃 11종과 슬롯 — 슬롯은 PPTX에서 진짜 플레이스홀더가 된다</a:t>
            </a:r>
          </a:p>
          <a:p>
            <a:pPr marL="342900" indent="-342900" algn="l">
              <a:lnSpc>
                <a:spcPts val="2250"/>
              </a:lnSpc>
              <a:buFont typeface="+mn-lt"/>
              <a:buChar char="•"/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표와 차트 · 코드 강조 · 단계별 공개</a:t>
            </a:r>
          </a:p>
          <a:p>
            <a:pPr marL="342900" indent="-342900" algn="l">
              <a:lnSpc>
                <a:spcPts val="2250"/>
              </a:lnSpc>
              <a:buFont typeface="+mn-lt"/>
              <a:buChar char="•"/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내장 테마 셋과 외부 테마 패키지</a:t>
            </a:r>
          </a:p>
          <a:p>
            <a:pPr marL="342900" indent="-342900" algn="l">
              <a:lnSpc>
                <a:spcPts val="2250"/>
              </a:lnSpc>
              <a:buFont typeface="+mn-lt"/>
              <a:buChar char="•"/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init · build · check · watch · preview</a:t>
            </a:r>
          </a:p>
        </p:txBody>
      </p:sp>
      <p:sp>
        <p:nvSpPr>
          <p:cNvPr id="6" name="shape s10.2.0"/>
          <p:cNvSpPr/>
          <p:nvPr/>
        </p:nvSpPr>
        <p:spPr>
          <a:xfrm>
            <a:off x="6210300" y="1478161"/>
            <a:ext cx="5372100" cy="4770239"/>
          </a:xfrm>
          <a:prstGeom prst="roundRect">
            <a:avLst>
              <a:gd name="adj" fmla="val 4792"/>
            </a:avLst>
          </a:prstGeom>
          <a:solidFill>
            <a:schemeClr val="bg2"/>
          </a:solidFill>
          <a:ln>
            <a:noFill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7" name="text s10.2.0.0.0"/>
          <p:cNvSpPr txBox="1"/>
          <p:nvPr/>
        </p:nvSpPr>
        <p:spPr>
          <a:xfrm>
            <a:off x="6620024" y="1887885"/>
            <a:ext cx="45526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>
                <a:solidFill>
                  <a:schemeClr val="accent1"/>
                </a:solidFill>
                <a:latin typeface="+mn-lt"/>
                <a:ea typeface="+mn-ea"/>
              </a:rPr>
              <a:t>다음</a:t>
            </a:r>
          </a:p>
        </p:txBody>
      </p:sp>
      <p:sp>
        <p:nvSpPr>
          <p:cNvPr id="8" name="ul s10.2.0.0.1"/>
          <p:cNvSpPr txBox="1"/>
          <p:nvPr/>
        </p:nvSpPr>
        <p:spPr>
          <a:xfrm>
            <a:off x="6620024" y="2373660"/>
            <a:ext cx="4552652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ts val="2250"/>
              </a:lnSpc>
              <a:buFont typeface="+mn-lt"/>
              <a:buChar char="•"/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테마가 소유하는 배경과 자산 — 배경 그림 · 로고</a:t>
            </a:r>
          </a:p>
          <a:p>
            <a:pPr marL="342900" indent="-342900" algn="l">
              <a:lnSpc>
                <a:spcPts val="2250"/>
              </a:lnSpc>
              <a:buFont typeface="+mn-lt"/>
              <a:buChar char="•"/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테마 variant의 그라디언트 토큰</a:t>
            </a:r>
          </a:p>
          <a:p>
            <a:pPr marL="342900" indent="-342900" algn="l">
              <a:lnSpc>
                <a:spcPts val="2250"/>
              </a:lnSpc>
              <a:buFont typeface="+mn-lt"/>
              <a:buChar char="•"/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측정 브라우저에 없는 테마 글꼴 경고</a:t>
            </a:r>
          </a:p>
          <a:p>
            <a:pPr marL="342900" indent="-342900" algn="l">
              <a:lnSpc>
                <a:spcPts val="2250"/>
              </a:lnSpc>
              <a:buFont typeface="+mn-lt"/>
              <a:buChar char="•"/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진단 다듬기 — 오타 후보 · 정렬 · 한 사고 한 경고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11.0"/>
          <p:cNvSpPr txBox="1"/>
          <p:nvPr/>
        </p:nvSpPr>
        <p:spPr>
          <a:xfrm>
            <a:off x="609600" y="220221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7200"/>
              </a:lnSpc>
            </a:pPr>
            <a:r>
              <a:rPr sz="6000" b="1">
                <a:solidFill>
                  <a:schemeClr val="tx1"/>
                </a:solidFill>
                <a:latin typeface="+mj-lt"/>
                <a:ea typeface="+mj-ea"/>
              </a:rPr>
              <a:t>SOML로 한 번 쓴다</a:t>
            </a:r>
          </a:p>
        </p:txBody>
      </p:sp>
      <p:sp>
        <p:nvSpPr>
          <p:cNvPr id="3" name="text s11.1"/>
          <p:cNvSpPr txBox="1"/>
          <p:nvPr/>
        </p:nvSpPr>
        <p:spPr>
          <a:xfrm>
            <a:off x="609600" y="3345210"/>
            <a:ext cx="10972800" cy="396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3120"/>
              </a:lnSpc>
            </a:pPr>
            <a:r>
              <a:rPr sz="2400" b="1">
                <a:solidFill>
                  <a:schemeClr val="tx2"/>
                </a:solidFill>
                <a:latin typeface="+mj-lt"/>
                <a:ea typeface="+mj-ea"/>
              </a:rPr>
              <a:t>나머지는 balpyo가 두 곳으로 렌더한다</a:t>
            </a:r>
          </a:p>
        </p:txBody>
      </p:sp>
      <p:sp>
        <p:nvSpPr>
          <p:cNvPr id="4" name="shape s11.2.0"/>
          <p:cNvSpPr/>
          <p:nvPr/>
        </p:nvSpPr>
        <p:spPr>
          <a:xfrm>
            <a:off x="609600" y="3969990"/>
            <a:ext cx="3505200" cy="685800"/>
          </a:xfrm>
          <a:prstGeom prst="roundRect">
            <a:avLst>
              <a:gd name="adj" fmla="val 33333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114300" rIns="114300" bIns="114300" anchor="ctr">
            <a:normAutofit/>
          </a:bodyPr>
          <a:lstStyle/>
          <a:p>
            <a:pPr algn="ctr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balpyo init my-talk</a:t>
            </a:r>
          </a:p>
        </p:txBody>
      </p:sp>
      <p:sp>
        <p:nvSpPr>
          <p:cNvPr id="5" name="shape s11.2.1"/>
          <p:cNvSpPr/>
          <p:nvPr/>
        </p:nvSpPr>
        <p:spPr>
          <a:xfrm>
            <a:off x="4343400" y="3969990"/>
            <a:ext cx="3505200" cy="685800"/>
          </a:xfrm>
          <a:prstGeom prst="roundRect">
            <a:avLst>
              <a:gd name="adj" fmla="val 33333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114300" rIns="114300" bIns="114300" anchor="ctr">
            <a:normAutofit/>
          </a:bodyPr>
          <a:lstStyle/>
          <a:p>
            <a:pPr algn="ctr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balpyo build</a:t>
            </a:r>
          </a:p>
        </p:txBody>
      </p:sp>
      <p:sp>
        <p:nvSpPr>
          <p:cNvPr id="6" name="shape s11.2.2"/>
          <p:cNvSpPr/>
          <p:nvPr/>
        </p:nvSpPr>
        <p:spPr>
          <a:xfrm>
            <a:off x="8077200" y="3969990"/>
            <a:ext cx="3505200" cy="685800"/>
          </a:xfrm>
          <a:prstGeom prst="roundRect">
            <a:avLst>
              <a:gd name="adj" fmla="val 33333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114300" rIns="114300" bIns="114300" anchor="ctr">
            <a:normAutofit/>
          </a:bodyPr>
          <a:lstStyle/>
          <a:p>
            <a:pPr algn="ctr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balpyo watch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1A1A1A"/>
      </a:dk1>
      <a:lt1>
        <a:srgbClr val="FFFFFF"/>
      </a:lt1>
      <a:dk2>
        <a:srgbClr val="6B7280"/>
      </a:dk2>
      <a:lt2>
        <a:srgbClr val="F3F4F6"/>
      </a:lt2>
      <a:accent1>
        <a:srgbClr val="0F65F9"/>
      </a:accent1>
      <a:accent2>
        <a:srgbClr val="0E8174"/>
      </a:accent2>
      <a:accent3>
        <a:srgbClr val="15803D"/>
      </a:accent3>
      <a:accent4>
        <a:srgbClr val="B45309"/>
      </a:accent4>
      <a:accent5>
        <a:srgbClr val="DC2626"/>
      </a:accent5>
      <a:accent6>
        <a:srgbClr val="9333EA"/>
      </a:accent6>
      <a:hlink>
        <a:srgbClr val="0F65F9"/>
      </a:hlink>
      <a:folHlink>
        <a:srgbClr val="0F65F9"/>
      </a:folHlink>
    </a:clrScheme>
    <a:fontScheme name="minimal">
      <a:majorFont>
        <a:latin typeface="Noto Sans"/>
        <a:ea typeface="Noto Sans CJK KR"/>
        <a:cs typeface=""/>
      </a:majorFont>
      <a:minorFont>
        <a:latin typeface="Noto Sans"/>
        <a:ea typeface="Noto Sans CJK KR"/>
        <a:cs typeface="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balpyo</Application>
  <Slides>12</Slide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balpyo 소개</dc:title>
  <dc:creator>balpyo</dc:creator>
  <cp:lastModifiedBy>balpyo</cp:lastModifiedBy>
  <cp:revision>1</cp:revision>
</cp:coreProperties>
</file>