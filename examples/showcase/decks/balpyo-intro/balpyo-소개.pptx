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자체가 산출물이다 — 지금 보고 있는 화면과 배포한 pptx가 같은 소스에서 나왔다.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둘 중 하나를 잃는다: 표현력이냐, 편집 가능한 산출물이냐. balpyo는 둘 다 갖는 자리를 노린다.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여기가 제품의 출발점이다. 저자가 계산할 것이 남아 있으면 자동화가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파싱은 soml, 해석은 core, 측정은 render/geom, 렌더는 render/web과 render/pptx다. PPTX 렌더러는 좌표를 계산하지 않는다 — 브라우저가 잰 값을 굽는다.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설정은 balpyo.json 한 파일이다 — 제목·저자·언어·비율·테마·출력 경로·꼬리말·쪽 번호.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이것이 두 번째 통찰이다 — 브라우저를 레이아웃 엔진으로 빌려 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PowerPoint에서 글자를 고칠 수 있고, 표는 셀을 클릭해 행을 더할 수 있다. 연결선은 상자를 끌면 따라온다. "열리는 파일"과 "편집 가능한 파일"의 차이가 여기서 갈린다.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토큰이 리터럴로 눕는 순간 제품의 약속이 깨진다. 골든 테스트가 그것을 감시한다.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골든은 좌표 없는 레이아웃 트리와 진단 둘뿐이다 — 좌표는 동일성 판정이 매번 다시 재므로, diff에는 "도형이 하나 늘었다"만 남는다.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그래서 바뀔 때마다 PowerPoint나 Keynote로 직접 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왼쪽이 지금 되는 것, 오른쪽이 다음에 할 일이다. 순서는 정하지 않았다.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질문을 받는다. 덱을 pptx로 내려받아 직접 고쳐 보라고 권한다.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251573" y="1323082"/>
            <a:ext cx="368885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567535" y="1808857"/>
            <a:ext cx="3056930" cy="10971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8640"/>
              </a:lnSpc>
            </a:pPr>
            <a:r>
              <a:rPr sz="72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1"/>
                </a:gra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795611" y="3134618"/>
            <a:ext cx="8600629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슬라이드를 한 번 쓰면 웹과 편집 가능한 PPTX가 같이 나온다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084266" y="4723358"/>
            <a:ext cx="202346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렌더 엔진 · 테마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407694" y="5294858"/>
            <a:ext cx="33764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 덱은 SOML 열두 장이고, balpyo가 렌더했다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왜 또 하나의 도구인가</a:t>
            </a:r>
          </a:p>
        </p:txBody>
      </p:sp>
      <p:sp>
        <p:nvSpPr>
          <p:cNvPr id="3" name="h1 s1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텍스트로 슬라이드를 쓰면 둘 중 하나를 잃는다</a:t>
            </a:r>
          </a:p>
        </p:txBody>
      </p:sp>
      <p:sp>
        <p:nvSpPr>
          <p:cNvPr id="4" name="shape s1.2.0.0"/>
          <p:cNvSpPr/>
          <p:nvPr/>
        </p:nvSpPr>
        <p:spPr>
          <a:xfrm>
            <a:off x="609600" y="1963936"/>
            <a:ext cx="514350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1.2.0.0.0.0.0"/>
          <p:cNvSpPr txBox="1"/>
          <p:nvPr/>
        </p:nvSpPr>
        <p:spPr>
          <a:xfrm>
            <a:off x="1019324" y="2373660"/>
            <a:ext cx="43240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Markdown 계열 · Marp · Slidev</a:t>
            </a:r>
          </a:p>
        </p:txBody>
      </p:sp>
      <p:sp>
        <p:nvSpPr>
          <p:cNvPr id="6" name="shape s1.2.0.0.0.0.1.0"/>
          <p:cNvSpPr/>
          <p:nvPr/>
        </p:nvSpPr>
        <p:spPr>
          <a:xfrm>
            <a:off x="1019324" y="2859435"/>
            <a:ext cx="4324052" cy="723900"/>
          </a:xfrm>
          <a:prstGeom prst="roundRect">
            <a:avLst>
              <a:gd name="adj" fmla="val 7895"/>
            </a:avLst>
          </a:prstGeom>
          <a:pattFill prst="wdUpDiag">
            <a:fgClr>
              <a:schemeClr val="tx2">
                <a:alpha val="35000"/>
              </a:schemeClr>
            </a:fgClr>
            <a:bgClr>
              <a:schemeClr val="bg1">
                <a:alpha val="0"/>
              </a:schemeClr>
            </a:bgClr>
          </a:pattFill>
          <a:ln w="9525">
            <a:solidFill>
              <a:schemeClr val="tx2"/>
            </a:solidFill>
            <a:prstDash val="dash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1.2.0.0.0.0.1.1"/>
          <p:cNvSpPr/>
          <p:nvPr/>
        </p:nvSpPr>
        <p:spPr>
          <a:xfrm>
            <a:off x="1926580" y="3026122"/>
            <a:ext cx="2509540" cy="390525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913"/>
              </a:lnSpc>
            </a:pPr>
            <a:r>
              <a:rPr sz="1275" b="0">
                <a:solidFill>
                  <a:schemeClr val="tx2"/>
                </a:solidFill>
                <a:latin typeface="Noto Sans Mono"/>
                <a:ea typeface="Noto Sans Mono CJK KR"/>
              </a:rPr>
              <a:t>slide-03.png · 그림 한 장</a:t>
            </a:r>
          </a:p>
        </p:txBody>
      </p:sp>
      <p:sp>
        <p:nvSpPr>
          <p:cNvPr id="8" name="ul s1.2.0.0.0.0.2"/>
          <p:cNvSpPr txBox="1"/>
          <p:nvPr/>
        </p:nvSpPr>
        <p:spPr>
          <a:xfrm>
            <a:off x="1019324" y="3811935"/>
            <a:ext cx="432405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문서 마크업이라 슬라이드 어휘가 없다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PPTX 내보내기는 그림 한 장이다</a:t>
            </a:r>
          </a:p>
        </p:txBody>
      </p:sp>
      <p:sp>
        <p:nvSpPr>
          <p:cNvPr id="9" name="text s1.2.0.0.0.1"/>
          <p:cNvSpPr txBox="1"/>
          <p:nvPr/>
        </p:nvSpPr>
        <p:spPr>
          <a:xfrm>
            <a:off x="1019324" y="5492055"/>
            <a:ext cx="43240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5"/>
                </a:solidFill>
                <a:latin typeface="+mj-lt"/>
                <a:ea typeface="+mj-ea"/>
              </a:rPr>
              <a:t>✕ 편집 가능한 산출물을 잃는다</a:t>
            </a:r>
          </a:p>
        </p:txBody>
      </p:sp>
      <p:sp>
        <p:nvSpPr>
          <p:cNvPr id="10" name="shape s1.2.0.1"/>
          <p:cNvSpPr/>
          <p:nvPr/>
        </p:nvSpPr>
        <p:spPr>
          <a:xfrm>
            <a:off x="6438900" y="1963936"/>
            <a:ext cx="514350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1" name="text s1.2.0.1.0.0.0"/>
          <p:cNvSpPr txBox="1"/>
          <p:nvPr/>
        </p:nvSpPr>
        <p:spPr>
          <a:xfrm>
            <a:off x="6848624" y="2373660"/>
            <a:ext cx="43240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라이브러리 계열 · python-pptx</a:t>
            </a:r>
          </a:p>
        </p:txBody>
      </p:sp>
      <p:sp>
        <p:nvSpPr>
          <p:cNvPr id="12" name="shape s1.2.0.1.0.0.1"/>
          <p:cNvSpPr/>
          <p:nvPr/>
        </p:nvSpPr>
        <p:spPr>
          <a:xfrm>
            <a:off x="6848624" y="2859435"/>
            <a:ext cx="4324052" cy="72390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1"/>
                </a:solidFill>
                <a:latin typeface="Noto Sans Mono"/>
                <a:ea typeface="Noto Sans Mono CJK KR"/>
              </a:rPr>
              <a:t>box.left = Emu(1219200)  # 손으로 잰 값</a:t>
            </a:r>
            <a:br/>
            <a:r>
              <a:rPr sz="1200" b="0">
                <a:solidFill>
                  <a:schemeClr val="tx1"/>
                </a:solidFill>
                <a:latin typeface="Noto Sans Mono"/>
                <a:ea typeface="Noto Sans Mono CJK KR"/>
              </a:rPr>
              <a:t>box.top  = Emu(2286000)</a:t>
            </a:r>
          </a:p>
        </p:txBody>
      </p:sp>
      <p:sp>
        <p:nvSpPr>
          <p:cNvPr id="13" name="ul s1.2.0.1.0.0.2"/>
          <p:cNvSpPr txBox="1"/>
          <p:nvPr/>
        </p:nvSpPr>
        <p:spPr>
          <a:xfrm>
            <a:off x="6848624" y="3811935"/>
            <a:ext cx="432405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모든 요소를 EMU 좌표로 손으로 놓는다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디자인에는 API가 없어 XML을 조립한다</a:t>
            </a:r>
          </a:p>
        </p:txBody>
      </p:sp>
      <p:sp>
        <p:nvSpPr>
          <p:cNvPr id="14" name="text s1.2.0.1.0.1"/>
          <p:cNvSpPr txBox="1"/>
          <p:nvPr/>
        </p:nvSpPr>
        <p:spPr>
          <a:xfrm>
            <a:off x="6848624" y="5492055"/>
            <a:ext cx="43240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5"/>
                </a:solidFill>
                <a:latin typeface="+mj-lt"/>
                <a:ea typeface="+mj-ea"/>
              </a:rPr>
              <a:t>✕ 쓰기 쉬움을 잃는다</a:t>
            </a:r>
          </a:p>
        </p:txBody>
      </p:sp>
      <p:sp>
        <p:nvSpPr>
          <p:cNvPr id="15" name="shape s1.2.1"/>
          <p:cNvSpPr/>
          <p:nvPr/>
        </p:nvSpPr>
        <p:spPr>
          <a:xfrm>
            <a:off x="5791200" y="3801368"/>
            <a:ext cx="609600" cy="6096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2145"/>
              </a:lnSpc>
            </a:pPr>
            <a:r>
              <a:rPr sz="1650" b="1">
                <a:solidFill>
                  <a:schemeClr val="tx2"/>
                </a:solidFill>
                <a:latin typeface="+mj-lt"/>
                <a:ea typeface="+mj-ea"/>
              </a:rPr>
              <a:t>vs</a:t>
            </a:r>
          </a:p>
        </p:txBody>
      </p:sp>
      <p:sp>
        <p:nvSpPr>
          <p:cNvPr id="16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기업 덱의 카드 그리드 한 장을 python-pptx로 다시 만들었을 때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95375"/>
            <a:ext cx="6377880" cy="5153025"/>
          </a:xfrm>
          <a:prstGeom prst="roundRect">
            <a:avLst>
              <a:gd name="adj" fmla="val 44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143125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14600"/>
            <a:ext cx="5558433" cy="1920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5120"/>
              </a:lnSpc>
            </a:pPr>
            <a:r>
              <a:rPr sz="12600" b="1">
                <a:solidFill>
                  <a:schemeClr val="accent5"/>
                </a:solidFill>
                <a:latin typeface="+mj-lt"/>
                <a:ea typeface="+mj-ea"/>
              </a:rPr>
              <a:t>128</a:t>
            </a:r>
            <a:r>
              <a:rPr sz="3600" b="1" i="0" u="none">
                <a:solidFill>
                  <a:schemeClr val="accent5"/>
                </a:solidFill>
                <a:latin typeface="+mj-lt"/>
                <a:ea typeface="+mj-ea"/>
              </a:rPr>
              <a:t>회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549080"/>
            <a:ext cx="5558433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수동 좌표 계산 · 그리고 raw XML 수술 10회</a:t>
            </a:r>
          </a:p>
        </p:txBody>
      </p:sp>
      <p:sp>
        <p:nvSpPr>
          <p:cNvPr id="7" name="shape s2.1.0.0.3"/>
          <p:cNvSpPr/>
          <p:nvPr/>
        </p:nvSpPr>
        <p:spPr>
          <a:xfrm>
            <a:off x="1019324" y="5010001"/>
            <a:ext cx="5558433" cy="190500"/>
          </a:xfrm>
          <a:prstGeom prst="rect">
            <a:avLst/>
          </a:prstGeom>
          <a:pattFill prst="vert">
            <a:fgClr>
              <a:schemeClr val="accent5">
                <a:alpha val="70000"/>
              </a:schemeClr>
            </a:fgClr>
            <a:bgClr>
              <a:schemeClr val="bg1">
                <a:alpha val="0"/>
              </a:schemeClr>
            </a:bgClr>
          </a:patt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1.1"/>
          <p:cNvSpPr/>
          <p:nvPr/>
        </p:nvSpPr>
        <p:spPr>
          <a:xfrm>
            <a:off x="7330380" y="1095375"/>
            <a:ext cx="4251871" cy="5153025"/>
          </a:xfrm>
          <a:prstGeom prst="roundRect">
            <a:avLst>
              <a:gd name="adj" fmla="val 5376"/>
            </a:avLst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27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2.1.1.0.0"/>
          <p:cNvSpPr txBox="1"/>
          <p:nvPr/>
        </p:nvSpPr>
        <p:spPr>
          <a:xfrm>
            <a:off x="7740104" y="2203549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10" name="text s2.1.1.0.1"/>
          <p:cNvSpPr txBox="1"/>
          <p:nvPr/>
        </p:nvSpPr>
        <p:spPr>
          <a:xfrm>
            <a:off x="7740104" y="2689324"/>
            <a:ext cx="3432423" cy="11886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9360"/>
              </a:lnSpc>
            </a:pPr>
            <a:r>
              <a:rPr sz="7800" b="1">
                <a:solidFill>
                  <a:schemeClr val="bg1"/>
                </a:solidFill>
                <a:latin typeface="+mj-lt"/>
                <a:ea typeface="+mj-ea"/>
              </a:rPr>
              <a:t>1</a:t>
            </a:r>
            <a:r>
              <a:rPr sz="3600" b="1" i="0" u="none">
                <a:solidFill>
                  <a:schemeClr val="bg1"/>
                </a:solidFill>
                <a:latin typeface="+mj-lt"/>
                <a:ea typeface="+mj-ea"/>
              </a:rPr>
              <a:t>줄</a:t>
            </a:r>
          </a:p>
        </p:txBody>
      </p:sp>
      <p:sp>
        <p:nvSpPr>
          <p:cNvPr id="11" name="shape s2.1.1.0.2"/>
          <p:cNvSpPr/>
          <p:nvPr/>
        </p:nvSpPr>
        <p:spPr>
          <a:xfrm>
            <a:off x="7740104" y="4106614"/>
            <a:ext cx="3432423" cy="461963"/>
          </a:xfrm>
          <a:prstGeom prst="roundRect">
            <a:avLst>
              <a:gd name="adj" fmla="val 12371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2" name="text s2.1.1.0.3"/>
          <p:cNvSpPr txBox="1"/>
          <p:nvPr/>
        </p:nvSpPr>
        <p:spPr>
          <a:xfrm>
            <a:off x="7740104" y="4797177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좌표는 브라우저가 잰다.</a:t>
            </a:r>
          </a:p>
        </p:txBody>
      </p:sp>
      <p:sp>
        <p:nvSpPr>
          <p:cNvPr id="13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1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빌드 한 번의 경로</a:t>
            </a:r>
          </a:p>
        </p:txBody>
      </p:sp>
      <p:sp>
        <p:nvSpPr>
          <p:cNvPr id="3" name="h1 s3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한 소스, 두 산출물</a:t>
            </a:r>
          </a:p>
        </p:txBody>
      </p:sp>
      <p:sp>
        <p:nvSpPr>
          <p:cNvPr id="4" name="shape s3.2.0"/>
          <p:cNvSpPr/>
          <p:nvPr/>
        </p:nvSpPr>
        <p:spPr>
          <a:xfrm>
            <a:off x="609600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790724" y="3148310"/>
            <a:ext cx="1066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.slide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790724" y="3405485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SOML 원고</a:t>
            </a:r>
          </a:p>
        </p:txBody>
      </p:sp>
      <p:sp>
        <p:nvSpPr>
          <p:cNvPr id="7" name="shape s3.2.2"/>
          <p:cNvSpPr/>
          <p:nvPr/>
        </p:nvSpPr>
        <p:spPr>
          <a:xfrm>
            <a:off x="2828925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8" name="text s3.2.2.0.0"/>
          <p:cNvSpPr txBox="1"/>
          <p:nvPr/>
        </p:nvSpPr>
        <p:spPr>
          <a:xfrm>
            <a:off x="3010049" y="3140869"/>
            <a:ext cx="10665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soml</a:t>
            </a:r>
          </a:p>
        </p:txBody>
      </p:sp>
      <p:sp>
        <p:nvSpPr>
          <p:cNvPr id="9" name="text s3.2.2.0.1"/>
          <p:cNvSpPr txBox="1"/>
          <p:nvPr/>
        </p:nvSpPr>
        <p:spPr>
          <a:xfrm>
            <a:off x="3010049" y="3413224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파싱 · 진단</a:t>
            </a:r>
          </a:p>
        </p:txBody>
      </p:sp>
      <p:sp>
        <p:nvSpPr>
          <p:cNvPr id="10" name="shape s3.2.4"/>
          <p:cNvSpPr/>
          <p:nvPr/>
        </p:nvSpPr>
        <p:spPr>
          <a:xfrm>
            <a:off x="5048250" y="2964507"/>
            <a:ext cx="1428750" cy="838200"/>
          </a:xfrm>
          <a:prstGeom prst="roundRect">
            <a:avLst>
              <a:gd name="adj" fmla="val 27273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11" name="text s3.2.4.0.0"/>
          <p:cNvSpPr txBox="1"/>
          <p:nvPr/>
        </p:nvSpPr>
        <p:spPr>
          <a:xfrm>
            <a:off x="5229374" y="3140869"/>
            <a:ext cx="10665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core</a:t>
            </a:r>
          </a:p>
        </p:txBody>
      </p:sp>
      <p:sp>
        <p:nvSpPr>
          <p:cNvPr id="12" name="text s3.2.4.0.1"/>
          <p:cNvSpPr txBox="1"/>
          <p:nvPr/>
        </p:nvSpPr>
        <p:spPr>
          <a:xfrm>
            <a:off x="5229374" y="3413224"/>
            <a:ext cx="1066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외관 · 자산 해석</a:t>
            </a:r>
          </a:p>
        </p:txBody>
      </p:sp>
      <p:sp>
        <p:nvSpPr>
          <p:cNvPr id="13" name="shape s3.2.6.0"/>
          <p:cNvSpPr/>
          <p:nvPr/>
        </p:nvSpPr>
        <p:spPr>
          <a:xfrm>
            <a:off x="7267575" y="2069157"/>
            <a:ext cx="2000250" cy="723900"/>
          </a:xfrm>
          <a:prstGeom prst="roundRect">
            <a:avLst>
              <a:gd name="adj" fmla="val 31579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4" name="text s3.2.6.0.0.0"/>
          <p:cNvSpPr txBox="1"/>
          <p:nvPr/>
        </p:nvSpPr>
        <p:spPr>
          <a:xfrm>
            <a:off x="7448699" y="2200573"/>
            <a:ext cx="16380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render/web</a:t>
            </a:r>
          </a:p>
        </p:txBody>
      </p:sp>
      <p:sp>
        <p:nvSpPr>
          <p:cNvPr id="15" name="text s3.2.6.0.0.1"/>
          <p:cNvSpPr txBox="1"/>
          <p:nvPr/>
        </p:nvSpPr>
        <p:spPr>
          <a:xfrm>
            <a:off x="7448699" y="2448223"/>
            <a:ext cx="1638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HTML + CSS</a:t>
            </a:r>
          </a:p>
        </p:txBody>
      </p:sp>
      <p:sp>
        <p:nvSpPr>
          <p:cNvPr id="16" name="shape s3.2.6.1"/>
          <p:cNvSpPr/>
          <p:nvPr/>
        </p:nvSpPr>
        <p:spPr>
          <a:xfrm>
            <a:off x="7267575" y="3021657"/>
            <a:ext cx="2000250" cy="723900"/>
          </a:xfrm>
          <a:prstGeom prst="roundRect">
            <a:avLst>
              <a:gd name="adj" fmla="val 15789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7" name="text s3.2.6.1.0.0"/>
          <p:cNvSpPr txBox="1"/>
          <p:nvPr/>
        </p:nvSpPr>
        <p:spPr>
          <a:xfrm>
            <a:off x="7415213" y="3153073"/>
            <a:ext cx="1704975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accent1"/>
                </a:solidFill>
                <a:latin typeface="+mj-lt"/>
                <a:ea typeface="+mj-ea"/>
              </a:rPr>
              <a:t>render/geom</a:t>
            </a:r>
          </a:p>
        </p:txBody>
      </p:sp>
      <p:sp>
        <p:nvSpPr>
          <p:cNvPr id="18" name="text s3.2.6.1.0.1"/>
          <p:cNvSpPr txBox="1"/>
          <p:nvPr/>
        </p:nvSpPr>
        <p:spPr>
          <a:xfrm>
            <a:off x="7415213" y="3400723"/>
            <a:ext cx="1704975" cy="213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Chromium이 박스를 잰다</a:t>
            </a:r>
          </a:p>
        </p:txBody>
      </p:sp>
      <p:sp>
        <p:nvSpPr>
          <p:cNvPr id="19" name="shape s3.2.6.2"/>
          <p:cNvSpPr/>
          <p:nvPr/>
        </p:nvSpPr>
        <p:spPr>
          <a:xfrm>
            <a:off x="7267575" y="3974157"/>
            <a:ext cx="2000250" cy="723900"/>
          </a:xfrm>
          <a:prstGeom prst="roundRect">
            <a:avLst>
              <a:gd name="adj" fmla="val 31579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20" name="text s3.2.6.2.0.0"/>
          <p:cNvSpPr txBox="1"/>
          <p:nvPr/>
        </p:nvSpPr>
        <p:spPr>
          <a:xfrm>
            <a:off x="7448699" y="4105573"/>
            <a:ext cx="16380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render/pptx</a:t>
            </a:r>
          </a:p>
        </p:txBody>
      </p:sp>
      <p:sp>
        <p:nvSpPr>
          <p:cNvPr id="21" name="text s3.2.6.2.0.1"/>
          <p:cNvSpPr txBox="1"/>
          <p:nvPr/>
        </p:nvSpPr>
        <p:spPr>
          <a:xfrm>
            <a:off x="7448699" y="4353223"/>
            <a:ext cx="1638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잰 rect → EMU</a:t>
            </a:r>
          </a:p>
        </p:txBody>
      </p:sp>
      <p:sp>
        <p:nvSpPr>
          <p:cNvPr id="22" name="shape s3.2.8.0"/>
          <p:cNvSpPr/>
          <p:nvPr/>
        </p:nvSpPr>
        <p:spPr>
          <a:xfrm>
            <a:off x="10058400" y="2069157"/>
            <a:ext cx="1524000" cy="723900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57150" rIns="114300" bIns="57150" anchor="ctr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bg1"/>
                </a:solidFill>
                <a:latin typeface="Noto Sans Mono"/>
                <a:ea typeface="Noto Sans Mono CJK KR"/>
              </a:rPr>
              <a:t>index.html</a:t>
            </a:r>
          </a:p>
        </p:txBody>
      </p:sp>
      <p:sp>
        <p:nvSpPr>
          <p:cNvPr id="23" name="shape s3.2.8.1"/>
          <p:cNvSpPr/>
          <p:nvPr/>
        </p:nvSpPr>
        <p:spPr>
          <a:xfrm>
            <a:off x="10058400" y="3021657"/>
            <a:ext cx="152400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3.2.8.2"/>
          <p:cNvSpPr/>
          <p:nvPr/>
        </p:nvSpPr>
        <p:spPr>
          <a:xfrm>
            <a:off x="10058400" y="3974157"/>
            <a:ext cx="1524000" cy="723900"/>
          </a:xfrm>
          <a:prstGeom prst="roundRect">
            <a:avLst>
              <a:gd name="adj" fmla="val 15789"/>
            </a:avLst>
          </a:prstGeom>
          <a:solidFill>
            <a:schemeClr val="accent6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57150" rIns="114300" bIns="57150" anchor="ctr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bg1"/>
                </a:solidFill>
                <a:latin typeface="Noto Sans Mono"/>
                <a:ea typeface="Noto Sans Mono CJK KR"/>
              </a:rPr>
              <a:t>deck.pptx</a:t>
            </a:r>
          </a:p>
        </p:txBody>
      </p:sp>
      <p:sp>
        <p:nvSpPr>
          <p:cNvPr id="25" name="shape s3.11.0"/>
          <p:cNvSpPr/>
          <p:nvPr/>
        </p:nvSpPr>
        <p:spPr>
          <a:xfrm>
            <a:off x="609600" y="5031879"/>
            <a:ext cx="5314950" cy="1216521"/>
          </a:xfrm>
          <a:prstGeom prst="roundRect">
            <a:avLst>
              <a:gd name="adj" fmla="val 1879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6" name="shape s3.11.0.0.0"/>
          <p:cNvSpPr/>
          <p:nvPr/>
        </p:nvSpPr>
        <p:spPr>
          <a:xfrm>
            <a:off x="905024" y="5327303"/>
            <a:ext cx="38100" cy="6256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text s3.11.0.0.1.0"/>
          <p:cNvSpPr txBox="1"/>
          <p:nvPr/>
        </p:nvSpPr>
        <p:spPr>
          <a:xfrm>
            <a:off x="1171724" y="5327303"/>
            <a:ext cx="4457402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웹 · 파일 한 장</a:t>
            </a:r>
          </a:p>
        </p:txBody>
      </p:sp>
      <p:sp>
        <p:nvSpPr>
          <p:cNvPr id="28" name="text s3.11.0.0.1.1"/>
          <p:cNvSpPr txBox="1"/>
          <p:nvPr/>
        </p:nvSpPr>
        <p:spPr>
          <a:xfrm>
            <a:off x="1171724" y="5681514"/>
            <a:ext cx="4457402" cy="2714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</a:rPr>
              <a:t>인라인 CSS · 발표자 화면 · 개요 · 인쇄(PDF)</a:t>
            </a:r>
          </a:p>
        </p:txBody>
      </p:sp>
      <p:sp>
        <p:nvSpPr>
          <p:cNvPr id="29" name="shape s3.11.1"/>
          <p:cNvSpPr/>
          <p:nvPr/>
        </p:nvSpPr>
        <p:spPr>
          <a:xfrm>
            <a:off x="6267450" y="5031879"/>
            <a:ext cx="5314950" cy="1216521"/>
          </a:xfrm>
          <a:prstGeom prst="roundRect">
            <a:avLst>
              <a:gd name="adj" fmla="val 1879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30" name="shape s3.11.1.0.0"/>
          <p:cNvSpPr/>
          <p:nvPr/>
        </p:nvSpPr>
        <p:spPr>
          <a:xfrm>
            <a:off x="6562874" y="5327303"/>
            <a:ext cx="38100" cy="62567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1" name="text s3.11.1.0.1.0"/>
          <p:cNvSpPr txBox="1"/>
          <p:nvPr/>
        </p:nvSpPr>
        <p:spPr>
          <a:xfrm>
            <a:off x="6829574" y="5327303"/>
            <a:ext cx="4457402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PPTX · 편집 가능한 원본</a:t>
            </a:r>
          </a:p>
        </p:txBody>
      </p:sp>
      <p:sp>
        <p:nvSpPr>
          <p:cNvPr id="32" name="text s3.11.1.0.1.1"/>
          <p:cNvSpPr txBox="1"/>
          <p:nvPr/>
        </p:nvSpPr>
        <p:spPr>
          <a:xfrm>
            <a:off x="6829574" y="5681514"/>
            <a:ext cx="4457402" cy="27146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</a:rPr>
              <a:t>텍스트 박스 · 도형 · 표 · 연결선 — 그림이 아니다</a:t>
            </a:r>
          </a:p>
        </p:txBody>
      </p:sp>
      <p:cxnSp>
        <p:nvCxnSpPr>
          <p:cNvPr id="33" name="connector s3.3"/>
          <p:cNvCxnSpPr>
            <a:stCxn id="4" idx="3"/>
            <a:endCxn id="7" idx="1"/>
          </p:cNvCxnSpPr>
          <p:nvPr/>
        </p:nvCxnSpPr>
        <p:spPr>
          <a:xfrm>
            <a:off x="2038350" y="33836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4" name="connector s3.4"/>
          <p:cNvCxnSpPr>
            <a:stCxn id="7" idx="3"/>
            <a:endCxn id="10" idx="1"/>
          </p:cNvCxnSpPr>
          <p:nvPr/>
        </p:nvCxnSpPr>
        <p:spPr>
          <a:xfrm>
            <a:off x="4257675" y="33836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5" name="connector s3.5"/>
          <p:cNvCxnSpPr>
            <a:stCxn id="10" idx="3"/>
            <a:endCxn id="13" idx="1"/>
          </p:cNvCxnSpPr>
          <p:nvPr/>
        </p:nvCxnSpPr>
        <p:spPr>
          <a:xfrm flipV="1">
            <a:off x="6477000" y="2431107"/>
            <a:ext cx="790575" cy="95250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6" name="connector s3.6"/>
          <p:cNvCxnSpPr>
            <a:stCxn id="10" idx="3"/>
            <a:endCxn id="19" idx="1"/>
          </p:cNvCxnSpPr>
          <p:nvPr/>
        </p:nvCxnSpPr>
        <p:spPr>
          <a:xfrm>
            <a:off x="6477000" y="3383607"/>
            <a:ext cx="790575" cy="95250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37" name="connector s3.7"/>
          <p:cNvCxnSpPr>
            <a:stCxn id="13" idx="2"/>
            <a:endCxn id="16" idx="0"/>
          </p:cNvCxnSpPr>
          <p:nvPr/>
        </p:nvCxnSpPr>
        <p:spPr>
          <a:xfrm>
            <a:off x="8267700" y="2793057"/>
            <a:ext cx="0" cy="22860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38" name="connector s3.8"/>
          <p:cNvCxnSpPr>
            <a:stCxn id="16" idx="2"/>
            <a:endCxn id="19" idx="0"/>
          </p:cNvCxnSpPr>
          <p:nvPr/>
        </p:nvCxnSpPr>
        <p:spPr>
          <a:xfrm>
            <a:off x="8267700" y="3745557"/>
            <a:ext cx="0" cy="22860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39" name="connector s3.9"/>
          <p:cNvCxnSpPr>
            <a:stCxn id="13" idx="3"/>
            <a:endCxn id="22" idx="1"/>
          </p:cNvCxnSpPr>
          <p:nvPr/>
        </p:nvCxnSpPr>
        <p:spPr>
          <a:xfrm>
            <a:off x="9267825" y="24311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40" name="connector s3.10"/>
          <p:cNvCxnSpPr>
            <a:stCxn id="19" idx="3"/>
            <a:endCxn id="24" idx="1"/>
          </p:cNvCxnSpPr>
          <p:nvPr/>
        </p:nvCxnSpPr>
        <p:spPr>
          <a:xfrm>
            <a:off x="9267825" y="4336107"/>
            <a:ext cx="790575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sp>
        <p:nvSpPr>
          <p:cNvPr id="41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4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8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1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1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1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7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2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2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7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2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프로젝트</a:t>
            </a:r>
          </a:p>
        </p:txBody>
      </p:sp>
      <p:sp>
        <p:nvSpPr>
          <p:cNvPr id="3" name="h1 s4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프로젝트 하나가 덱 하나다</a:t>
            </a:r>
          </a:p>
        </p:txBody>
      </p:sp>
      <p:sp>
        <p:nvSpPr>
          <p:cNvPr id="4" name="shape s4.2.0"/>
          <p:cNvSpPr/>
          <p:nvPr/>
        </p:nvSpPr>
        <p:spPr>
          <a:xfrm>
            <a:off x="609600" y="1963936"/>
            <a:ext cx="4779764" cy="3476923"/>
          </a:xfrm>
          <a:prstGeom prst="roundRect">
            <a:avLst>
              <a:gd name="adj" fmla="val 657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shape s4.2.0.0.0"/>
          <p:cNvSpPr/>
          <p:nvPr/>
        </p:nvSpPr>
        <p:spPr>
          <a:xfrm>
            <a:off x="676424" y="2030760"/>
            <a:ext cx="4646116" cy="4429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/>
        </p:txBody>
      </p:sp>
      <p:sp>
        <p:nvSpPr>
          <p:cNvPr id="6" name="shape s4.2.0.0.0.0.0"/>
          <p:cNvSpPr/>
          <p:nvPr/>
        </p:nvSpPr>
        <p:spPr>
          <a:xfrm>
            <a:off x="905024" y="2195066"/>
            <a:ext cx="114300" cy="114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4.2.0.0.0.0.1"/>
          <p:cNvSpPr/>
          <p:nvPr/>
        </p:nvSpPr>
        <p:spPr>
          <a:xfrm>
            <a:off x="1076474" y="2195066"/>
            <a:ext cx="114300" cy="114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4.2.0.0.0.0.2"/>
          <p:cNvSpPr/>
          <p:nvPr/>
        </p:nvSpPr>
        <p:spPr>
          <a:xfrm>
            <a:off x="1247924" y="2195066"/>
            <a:ext cx="114300" cy="114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4.2.0.0.0.0.3"/>
          <p:cNvSpPr txBox="1"/>
          <p:nvPr/>
        </p:nvSpPr>
        <p:spPr>
          <a:xfrm>
            <a:off x="1419374" y="2145060"/>
            <a:ext cx="1286024" cy="21431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Noto Sans Mono"/>
                <a:ea typeface="Noto Sans Mono CJK KR"/>
              </a:rPr>
              <a:t>~/talks/my-deck</a:t>
            </a:r>
          </a:p>
        </p:txBody>
      </p:sp>
      <p:sp>
        <p:nvSpPr>
          <p:cNvPr id="10" name="pre s4.2.0.0.1.0"/>
          <p:cNvSpPr txBox="1"/>
          <p:nvPr/>
        </p:nvSpPr>
        <p:spPr>
          <a:xfrm>
            <a:off x="1019324" y="2702272"/>
            <a:ext cx="3960316" cy="24431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balpyo.json        ⑤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  ①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_draft.slide     ③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chapter-2/       ④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themes/my-brand/</a:t>
            </a:r>
          </a:p>
        </p:txBody>
      </p:sp>
      <p:sp>
        <p:nvSpPr>
          <p:cNvPr id="11" name="shape s4.2.1.0.0"/>
          <p:cNvSpPr/>
          <p:nvPr/>
        </p:nvSpPr>
        <p:spPr>
          <a:xfrm>
            <a:off x="5846564" y="22926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1</a:t>
            </a:r>
          </a:p>
        </p:txBody>
      </p:sp>
      <p:sp>
        <p:nvSpPr>
          <p:cNvPr id="12" name="text s4.2.1.0.1"/>
          <p:cNvSpPr txBox="1"/>
          <p:nvPr/>
        </p:nvSpPr>
        <p:spPr>
          <a:xfrm>
            <a:off x="6456164" y="23260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슬라이드 한 장이 파일 한 개다</a:t>
            </a:r>
          </a:p>
        </p:txBody>
      </p:sp>
      <p:sp>
        <p:nvSpPr>
          <p:cNvPr id="13" name="shape s4.2.1.1.0"/>
          <p:cNvSpPr/>
          <p:nvPr/>
        </p:nvSpPr>
        <p:spPr>
          <a:xfrm>
            <a:off x="5846564" y="29022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2</a:t>
            </a:r>
          </a:p>
        </p:txBody>
      </p:sp>
      <p:sp>
        <p:nvSpPr>
          <p:cNvPr id="14" name="text s4.2.1.1.1"/>
          <p:cNvSpPr txBox="1"/>
          <p:nvPr/>
        </p:nvSpPr>
        <p:spPr>
          <a:xfrm>
            <a:off x="6456164" y="29356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순서는 경로 사전순 — 숫자 접두가 순서다</a:t>
            </a:r>
          </a:p>
        </p:txBody>
      </p:sp>
      <p:sp>
        <p:nvSpPr>
          <p:cNvPr id="15" name="shape s4.2.1.2.0"/>
          <p:cNvSpPr/>
          <p:nvPr/>
        </p:nvSpPr>
        <p:spPr>
          <a:xfrm>
            <a:off x="5846564" y="35118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3</a:t>
            </a:r>
          </a:p>
        </p:txBody>
      </p:sp>
      <p:sp>
        <p:nvSpPr>
          <p:cNvPr id="16" name="text s4.2.1.2.1"/>
          <p:cNvSpPr txBox="1"/>
          <p:nvPr/>
        </p:nvSpPr>
        <p:spPr>
          <a:xfrm>
            <a:off x="6456164" y="35452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밑줄로 시작하는 파일은 건너뛴다 (초안)</a:t>
            </a:r>
          </a:p>
        </p:txBody>
      </p:sp>
      <p:sp>
        <p:nvSpPr>
          <p:cNvPr id="17" name="shape s4.2.1.3.0"/>
          <p:cNvSpPr/>
          <p:nvPr/>
        </p:nvSpPr>
        <p:spPr>
          <a:xfrm>
            <a:off x="5846564" y="4121497"/>
            <a:ext cx="381000" cy="381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4</a:t>
            </a:r>
          </a:p>
        </p:txBody>
      </p:sp>
      <p:sp>
        <p:nvSpPr>
          <p:cNvPr id="18" name="text s4.2.1.3.1"/>
          <p:cNvSpPr txBox="1"/>
          <p:nvPr/>
        </p:nvSpPr>
        <p:spPr>
          <a:xfrm>
            <a:off x="6456164" y="41548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하위 디렉토리는 챕터가 된다</a:t>
            </a:r>
          </a:p>
        </p:txBody>
      </p:sp>
      <p:sp>
        <p:nvSpPr>
          <p:cNvPr id="19" name="shape s4.2.1.4.0"/>
          <p:cNvSpPr/>
          <p:nvPr/>
        </p:nvSpPr>
        <p:spPr>
          <a:xfrm>
            <a:off x="5846564" y="4731097"/>
            <a:ext cx="381000" cy="381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5</a:t>
            </a:r>
          </a:p>
        </p:txBody>
      </p:sp>
      <p:sp>
        <p:nvSpPr>
          <p:cNvPr id="20" name="text s4.2.1.4.1"/>
          <p:cNvSpPr txBox="1"/>
          <p:nvPr/>
        </p:nvSpPr>
        <p:spPr>
          <a:xfrm>
            <a:off x="6456164" y="4764435"/>
            <a:ext cx="5126236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덱 설정은 </a:t>
            </a:r>
            <a:r>
              <a:rPr sz="165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balpyo.json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 한 파일</a:t>
            </a:r>
          </a:p>
        </p:txBody>
      </p:sp>
      <p:sp>
        <p:nvSpPr>
          <p:cNvPr id="21" name="shape s4.3"/>
          <p:cNvSpPr/>
          <p:nvPr/>
        </p:nvSpPr>
        <p:spPr>
          <a:xfrm>
            <a:off x="609600" y="5669459"/>
            <a:ext cx="10972800" cy="581025"/>
          </a:xfrm>
          <a:prstGeom prst="roundRect">
            <a:avLst>
              <a:gd name="adj" fmla="val 19672"/>
            </a:avLst>
          </a:prstGeom>
          <a:solidFill>
            <a:schemeClr val="tx1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build --project my-deck --target html,pptx</a:t>
            </a:r>
          </a:p>
        </p:txBody>
      </p:sp>
      <p:sp>
        <p:nvSpPr>
          <p:cNvPr id="22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23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5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지오메트리 패스</a:t>
            </a:r>
          </a:p>
        </p:txBody>
      </p:sp>
      <p:sp>
        <p:nvSpPr>
          <p:cNvPr id="3" name="h1 s5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좌표는 브라우저가 계산한다</a:t>
            </a:r>
          </a:p>
        </p:txBody>
      </p:sp>
      <p:sp>
        <p:nvSpPr>
          <p:cNvPr id="4" name="shape s5.2.0"/>
          <p:cNvSpPr/>
          <p:nvPr/>
        </p:nvSpPr>
        <p:spPr>
          <a:xfrm>
            <a:off x="6096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shape s5.2.0.0.0.0"/>
          <p:cNvSpPr/>
          <p:nvPr/>
        </p:nvSpPr>
        <p:spPr>
          <a:xfrm>
            <a:off x="9050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① 선언</a:t>
            </a:r>
          </a:p>
        </p:txBody>
      </p:sp>
      <p:sp>
        <p:nvSpPr>
          <p:cNvPr id="6" name="shape s5.2.0.0.0.1"/>
          <p:cNvSpPr/>
          <p:nvPr/>
        </p:nvSpPr>
        <p:spPr>
          <a:xfrm>
            <a:off x="905024" y="2792760"/>
            <a:ext cx="2838152" cy="990600"/>
          </a:xfrm>
          <a:prstGeom prst="roundRect">
            <a:avLst>
              <a:gd name="adj" fmla="val 5769"/>
            </a:avLst>
          </a:prstGeom>
          <a:solidFill>
            <a:schemeClr val="tx1">
              <a:alpha val="5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&lt;row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gap=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"md"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&gt;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&lt;shape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w=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"fill"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&lt;shape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w=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"fill"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&lt;/row&gt;</a:t>
            </a:r>
          </a:p>
        </p:txBody>
      </p:sp>
      <p:sp>
        <p:nvSpPr>
          <p:cNvPr id="7" name="p s5.2.0.0.0.2"/>
          <p:cNvSpPr txBox="1"/>
          <p:nvPr/>
        </p:nvSpPr>
        <p:spPr>
          <a:xfrm>
            <a:off x="9050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저자는 flex와 grid로 배치를 선언한다. 좌표를 쓰는 자리가 어휘에 없다.</a:t>
            </a:r>
          </a:p>
        </p:txBody>
      </p:sp>
      <p:sp>
        <p:nvSpPr>
          <p:cNvPr id="8" name="text s5.2.0.0.1"/>
          <p:cNvSpPr txBox="1"/>
          <p:nvPr/>
        </p:nvSpPr>
        <p:spPr>
          <a:xfrm>
            <a:off x="9050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row · col · grid · stack</a:t>
            </a:r>
          </a:p>
        </p:txBody>
      </p:sp>
      <p:sp>
        <p:nvSpPr>
          <p:cNvPr id="9" name="shape s5.2.1"/>
          <p:cNvSpPr/>
          <p:nvPr/>
        </p:nvSpPr>
        <p:spPr>
          <a:xfrm>
            <a:off x="43815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shape s5.2.1.0.0.0"/>
          <p:cNvSpPr/>
          <p:nvPr/>
        </p:nvSpPr>
        <p:spPr>
          <a:xfrm>
            <a:off x="46769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② 측정</a:t>
            </a:r>
          </a:p>
        </p:txBody>
      </p:sp>
      <p:sp>
        <p:nvSpPr>
          <p:cNvPr id="11" name="shape s5.2.1.0.0.1.0"/>
          <p:cNvSpPr/>
          <p:nvPr/>
        </p:nvSpPr>
        <p:spPr>
          <a:xfrm>
            <a:off x="4676924" y="2792760"/>
            <a:ext cx="1361926" cy="99060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accent1"/>
                </a:solidFill>
                <a:latin typeface="Noto Sans Mono"/>
                <a:ea typeface="Noto Sans Mono CJK KR"/>
              </a:rPr>
              <a:t>x · y · w · h</a:t>
            </a:r>
          </a:p>
        </p:txBody>
      </p:sp>
      <p:sp>
        <p:nvSpPr>
          <p:cNvPr id="12" name="shape s5.2.1.0.0.1.1"/>
          <p:cNvSpPr/>
          <p:nvPr/>
        </p:nvSpPr>
        <p:spPr>
          <a:xfrm>
            <a:off x="6153150" y="2792760"/>
            <a:ext cx="1361926" cy="99060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  <a:prstDash val="dash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688"/>
              </a:lnSpc>
            </a:pPr>
            <a:r>
              <a:rPr sz="1125" b="0">
                <a:solidFill>
                  <a:schemeClr val="accent1"/>
                </a:solidFill>
                <a:latin typeface="Noto Sans Mono"/>
                <a:ea typeface="Noto Sans Mono CJK KR"/>
              </a:rPr>
              <a:t>x · y · w · h</a:t>
            </a:r>
          </a:p>
        </p:txBody>
      </p:sp>
      <p:sp>
        <p:nvSpPr>
          <p:cNvPr id="13" name="p s5.2.1.0.0.2"/>
          <p:cNvSpPr txBox="1"/>
          <p:nvPr/>
        </p:nvSpPr>
        <p:spPr>
          <a:xfrm>
            <a:off x="46769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헤드리스 Chromium이 요소마다 박스를 잰다. 패스는 그 rect만 읽는다.</a:t>
            </a:r>
          </a:p>
        </p:txBody>
      </p:sp>
      <p:sp>
        <p:nvSpPr>
          <p:cNvPr id="14" name="text s5.2.1.0.1"/>
          <p:cNvSpPr txBox="1"/>
          <p:nvPr/>
        </p:nvSpPr>
        <p:spPr>
          <a:xfrm>
            <a:off x="46769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5" name="shape s5.2.2"/>
          <p:cNvSpPr/>
          <p:nvPr/>
        </p:nvSpPr>
        <p:spPr>
          <a:xfrm>
            <a:off x="8153400" y="1963936"/>
            <a:ext cx="3429000" cy="3453705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shape s5.2.2.0.0.0"/>
          <p:cNvSpPr/>
          <p:nvPr/>
        </p:nvSpPr>
        <p:spPr>
          <a:xfrm>
            <a:off x="8448824" y="2259360"/>
            <a:ext cx="2838152" cy="4191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③ 굽기</a:t>
            </a:r>
          </a:p>
        </p:txBody>
      </p:sp>
      <p:sp>
        <p:nvSpPr>
          <p:cNvPr id="17" name="shape s5.2.2.0.0.1"/>
          <p:cNvSpPr/>
          <p:nvPr/>
        </p:nvSpPr>
        <p:spPr>
          <a:xfrm>
            <a:off x="8448824" y="2792760"/>
            <a:ext cx="2838152" cy="990600"/>
          </a:xfrm>
          <a:prstGeom prst="roundRect">
            <a:avLst>
              <a:gd name="adj" fmla="val 5769"/>
            </a:avLst>
          </a:prstGeom>
          <a:solidFill>
            <a:schemeClr val="tx1">
              <a:alpha val="5000"/>
            </a:schemeClr>
          </a:solidFill>
          <a:ln>
            <a:noFill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&lt;a:off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x=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"609600"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    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y=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"1714500"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  <a:br/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&lt;a:ext</a:t>
            </a: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cx=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"1562100"</a:t>
            </a:r>
            <a:br/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       </a:t>
            </a:r>
            <a:r>
              <a:rPr sz="1050" b="0" i="0" u="none">
                <a:solidFill>
                  <a:schemeClr val="accent2"/>
                </a:solidFill>
                <a:latin typeface="Noto Sans Mono"/>
                <a:ea typeface="Noto Sans Mono CJK KR"/>
              </a:rPr>
              <a:t>cy=</a:t>
            </a:r>
            <a:r>
              <a:rPr sz="105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"1066800"</a:t>
            </a:r>
            <a:r>
              <a:rPr sz="105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/&gt;</a:t>
            </a:r>
          </a:p>
        </p:txBody>
      </p:sp>
      <p:sp>
        <p:nvSpPr>
          <p:cNvPr id="18" name="p s5.2.2.0.0.2"/>
          <p:cNvSpPr txBox="1"/>
          <p:nvPr/>
        </p:nvSpPr>
        <p:spPr>
          <a:xfrm>
            <a:off x="8448824" y="3897660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잰 rect가 곧 PPTX 좌표다 — 1px은 9525 EMU이고 환산은 한 곳에만 있다.</a:t>
            </a:r>
          </a:p>
        </p:txBody>
      </p:sp>
      <p:sp>
        <p:nvSpPr>
          <p:cNvPr id="19" name="text s5.2.2.0.1"/>
          <p:cNvSpPr txBox="1"/>
          <p:nvPr/>
        </p:nvSpPr>
        <p:spPr>
          <a:xfrm>
            <a:off x="8448824" y="4893618"/>
            <a:ext cx="283815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00"/>
              </a:lnSpc>
            </a:pPr>
            <a:r>
              <a:rPr sz="120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20" name="shape s5.3"/>
          <p:cNvSpPr/>
          <p:nvPr/>
        </p:nvSpPr>
        <p:spPr>
          <a:xfrm>
            <a:off x="609600" y="5646241"/>
            <a:ext cx="10972800" cy="602159"/>
          </a:xfrm>
          <a:prstGeom prst="roundRect">
            <a:avLst>
              <a:gd name="adj" fmla="val 37963"/>
            </a:avLst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wrap="square" lIns="228600" tIns="114300" rIns="228600" bIns="1143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파이프라인이 주고받는 수치는 전부 논리 스테이지 px다 (16:9는 1280×720). EMU와 pt는 PPTX 렌더러 안에서만 존재한다.</a:t>
            </a:r>
          </a:p>
        </p:txBody>
      </p:sp>
      <p:sp>
        <p:nvSpPr>
          <p:cNvPr id="21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2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태그가 무엇이 되는가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5529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597747"/>
                <a:gridCol w="6375053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산출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&lt;ul&gt;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텍스트 박스 — 확정된 rPr을 싣는다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(프리셋 16종 · path)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· custGeom — 글을 품는다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 (PNG · JPEG · SVG)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— SVG는 벡터 그대로, PNG 대체본과 함께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0개 — 자식의 절대 좌표에 녹는다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(이 슬라이드)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편집 가능한 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&lt;series&gt;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+ 텍스트 — 막대 하나가 도형 하나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&lt;connector&gt;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p:cxnSp — 상자에 붙은 연결선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enter= · transition=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p:timing · p:transition — 네이티브 등장 효과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5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Graphic spid="3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테마</a:t>
            </a:r>
          </a:p>
        </p:txBody>
      </p:sp>
      <p:sp>
        <p:nvSpPr>
          <p:cNvPr id="3" name="h1 s7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테마는 디자인 시스템이다</a:t>
            </a:r>
          </a:p>
        </p:txBody>
      </p:sp>
      <p:sp>
        <p:nvSpPr>
          <p:cNvPr id="4" name="shape s7.2.0"/>
          <p:cNvSpPr/>
          <p:nvPr/>
        </p:nvSpPr>
        <p:spPr>
          <a:xfrm>
            <a:off x="60960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fg</a:t>
            </a:r>
          </a:p>
        </p:txBody>
      </p:sp>
      <p:sp>
        <p:nvSpPr>
          <p:cNvPr id="5" name="shape s7.2.1"/>
          <p:cNvSpPr/>
          <p:nvPr/>
        </p:nvSpPr>
        <p:spPr>
          <a:xfrm>
            <a:off x="171256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bg</a:t>
            </a:r>
          </a:p>
        </p:txBody>
      </p:sp>
      <p:sp>
        <p:nvSpPr>
          <p:cNvPr id="6" name="shape s7.2.2"/>
          <p:cNvSpPr/>
          <p:nvPr/>
        </p:nvSpPr>
        <p:spPr>
          <a:xfrm>
            <a:off x="281553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muted</a:t>
            </a:r>
          </a:p>
        </p:txBody>
      </p:sp>
      <p:sp>
        <p:nvSpPr>
          <p:cNvPr id="7" name="shape s7.2.3"/>
          <p:cNvSpPr/>
          <p:nvPr/>
        </p:nvSpPr>
        <p:spPr>
          <a:xfrm>
            <a:off x="3918496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tx1"/>
                </a:solidFill>
                <a:latin typeface="Noto Sans Mono"/>
                <a:ea typeface="Noto Sans Mono CJK KR"/>
              </a:rPr>
              <a:t>surface</a:t>
            </a:r>
          </a:p>
        </p:txBody>
      </p:sp>
      <p:sp>
        <p:nvSpPr>
          <p:cNvPr id="8" name="shape s7.2.4"/>
          <p:cNvSpPr/>
          <p:nvPr/>
        </p:nvSpPr>
        <p:spPr>
          <a:xfrm>
            <a:off x="5021461" y="1963936"/>
            <a:ext cx="1045964" cy="9144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accent1</a:t>
            </a:r>
          </a:p>
        </p:txBody>
      </p:sp>
      <p:sp>
        <p:nvSpPr>
          <p:cNvPr id="9" name="shape s7.2.5"/>
          <p:cNvSpPr/>
          <p:nvPr/>
        </p:nvSpPr>
        <p:spPr>
          <a:xfrm>
            <a:off x="612457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2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accent2</a:t>
            </a:r>
          </a:p>
        </p:txBody>
      </p:sp>
      <p:sp>
        <p:nvSpPr>
          <p:cNvPr id="10" name="shape s7.2.6"/>
          <p:cNvSpPr/>
          <p:nvPr/>
        </p:nvSpPr>
        <p:spPr>
          <a:xfrm>
            <a:off x="7227540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3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accent3</a:t>
            </a:r>
          </a:p>
        </p:txBody>
      </p:sp>
      <p:sp>
        <p:nvSpPr>
          <p:cNvPr id="11" name="shape s7.2.7"/>
          <p:cNvSpPr/>
          <p:nvPr/>
        </p:nvSpPr>
        <p:spPr>
          <a:xfrm>
            <a:off x="8330505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4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accent4</a:t>
            </a:r>
          </a:p>
        </p:txBody>
      </p:sp>
      <p:sp>
        <p:nvSpPr>
          <p:cNvPr id="12" name="shape s7.2.8"/>
          <p:cNvSpPr/>
          <p:nvPr/>
        </p:nvSpPr>
        <p:spPr>
          <a:xfrm>
            <a:off x="9433471" y="1963936"/>
            <a:ext cx="1045815" cy="914400"/>
          </a:xfrm>
          <a:prstGeom prst="roundRect">
            <a:avLst>
              <a:gd name="adj" fmla="val 12500"/>
            </a:avLst>
          </a:prstGeom>
          <a:solidFill>
            <a:schemeClr val="accent5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accent5</a:t>
            </a:r>
          </a:p>
        </p:txBody>
      </p:sp>
      <p:sp>
        <p:nvSpPr>
          <p:cNvPr id="13" name="shape s7.2.9"/>
          <p:cNvSpPr/>
          <p:nvPr/>
        </p:nvSpPr>
        <p:spPr>
          <a:xfrm>
            <a:off x="10536436" y="1963936"/>
            <a:ext cx="1045964" cy="91440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>
            <a:noFill/>
          </a:ln>
        </p:spPr>
        <p:txBody>
          <a:bodyPr wrap="square" lIns="57150" tIns="57150" rIns="57150" bIns="57150" anchor="b">
            <a:normAutofit/>
          </a:bodyPr>
          <a:lstStyle/>
          <a:p>
            <a:pPr algn="ctr">
              <a:lnSpc>
                <a:spcPts val="1575"/>
              </a:lnSpc>
            </a:pPr>
            <a:r>
              <a:rPr sz="1050" b="0">
                <a:solidFill>
                  <a:schemeClr val="bg1"/>
                </a:solidFill>
                <a:latin typeface="Noto Sans Mono"/>
                <a:ea typeface="Noto Sans Mono CJK KR"/>
              </a:rPr>
              <a:t>accent6</a:t>
            </a:r>
          </a:p>
        </p:txBody>
      </p:sp>
      <p:sp>
        <p:nvSpPr>
          <p:cNvPr id="14" name="shape s7.3.0"/>
          <p:cNvSpPr/>
          <p:nvPr/>
        </p:nvSpPr>
        <p:spPr>
          <a:xfrm>
            <a:off x="609600" y="3106936"/>
            <a:ext cx="5314950" cy="3141464"/>
          </a:xfrm>
          <a:prstGeom prst="roundRect">
            <a:avLst>
              <a:gd name="adj" fmla="val 727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7.3.0.0.0"/>
          <p:cNvSpPr txBox="1"/>
          <p:nvPr/>
        </p:nvSpPr>
        <p:spPr>
          <a:xfrm>
            <a:off x="1019324" y="3516660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네 파일이 한 테마다</a:t>
            </a:r>
          </a:p>
        </p:txBody>
      </p:sp>
      <p:sp>
        <p:nvSpPr>
          <p:cNvPr id="16" name="ul s7.3.0.0.1"/>
          <p:cNvSpPr txBox="1"/>
          <p:nvPr/>
        </p:nvSpPr>
        <p:spPr>
          <a:xfrm>
            <a:off x="1019324" y="3888135"/>
            <a:ext cx="4495502" cy="15001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tokens.json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색 · 글꼴 · 간격 · 반경 · 그림자 · 움직임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components.json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역할 다섯과 variant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layouts/*.css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자리만 쓴다, 외관은 경고다</a:t>
            </a:r>
          </a:p>
          <a:p>
            <a:pPr marL="342900" indent="-342900" algn="l">
              <a:lnSpc>
                <a:spcPts val="2363"/>
              </a:lnSpc>
              <a:buFont typeface="+mn-lt"/>
              <a:buChar char="•"/>
            </a:pP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assets/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 — 배경 그림 · 로고 · 아이콘</a:t>
            </a:r>
          </a:p>
        </p:txBody>
      </p:sp>
      <p:sp>
        <p:nvSpPr>
          <p:cNvPr id="17" name="shape s7.3.1"/>
          <p:cNvSpPr/>
          <p:nvPr/>
        </p:nvSpPr>
        <p:spPr>
          <a:xfrm>
            <a:off x="6267450" y="3106936"/>
            <a:ext cx="5314950" cy="3141464"/>
          </a:xfrm>
          <a:prstGeom prst="roundRect">
            <a:avLst>
              <a:gd name="adj" fmla="val 7277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8" name="text s7.3.1.0.0.0"/>
          <p:cNvSpPr txBox="1"/>
          <p:nvPr/>
        </p:nvSpPr>
        <p:spPr>
          <a:xfrm>
            <a:off x="6677174" y="3516660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토큰은 눕지 않는다</a:t>
            </a:r>
          </a:p>
        </p:txBody>
      </p:sp>
      <p:sp>
        <p:nvSpPr>
          <p:cNvPr id="19" name="p s7.3.1.0.0.1"/>
          <p:cNvSpPr txBox="1"/>
          <p:nvPr/>
        </p:nvSpPr>
        <p:spPr>
          <a:xfrm>
            <a:off x="6677174" y="3888135"/>
            <a:ext cx="4495502" cy="9001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63"/>
              </a:lnSpc>
            </a:pP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토큰으로 쓴 색은 웹에서 CSS 변수로, PPTX에서 </a:t>
            </a: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a:schemeClr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로 남는다. 리터럴만 </a:t>
            </a:r>
            <a:r>
              <a:rPr sz="1575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srgbClr</a:t>
            </a:r>
            <a:r>
              <a:rPr sz="1575" b="0">
                <a:solidFill>
                  <a:schemeClr val="tx1"/>
                </a:solidFill>
                <a:latin typeface="+mn-lt"/>
                <a:ea typeface="+mn-ea"/>
              </a:rPr>
              <a:t>가 된다.</a:t>
            </a:r>
          </a:p>
        </p:txBody>
      </p:sp>
      <p:sp>
        <p:nvSpPr>
          <p:cNvPr id="20" name="text s7.3.1.0.1"/>
          <p:cNvSpPr txBox="1"/>
          <p:nvPr/>
        </p:nvSpPr>
        <p:spPr>
          <a:xfrm>
            <a:off x="6677174" y="5244554"/>
            <a:ext cx="4495502" cy="5941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1"/>
                </a:solidFill>
                <a:latin typeface="+mj-lt"/>
                <a:ea typeface="+mj-ea"/>
              </a:rPr>
              <a:t>→ PowerPoint에서 테마 색을 바꾸면 덱이 따라온다</a:t>
            </a:r>
          </a:p>
        </p:txBody>
      </p:sp>
      <p:sp>
        <p:nvSpPr>
          <p:cNvPr id="21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2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8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무엇이 판정하는가</a:t>
            </a:r>
          </a:p>
        </p:txBody>
      </p:sp>
      <p:sp>
        <p:nvSpPr>
          <p:cNvPr id="3" name="h1 s8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두 렌더가 같은 컴포넌트를 낸다</a:t>
            </a:r>
          </a:p>
        </p:txBody>
      </p:sp>
      <p:sp>
        <p:nvSpPr>
          <p:cNvPr id="4" name="shape s8.2.0.0"/>
          <p:cNvSpPr/>
          <p:nvPr/>
        </p:nvSpPr>
        <p:spPr>
          <a:xfrm>
            <a:off x="609600" y="3244155"/>
            <a:ext cx="1238250" cy="9144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t">
            <a:normAutofit/>
          </a:bodyPr>
          <a:lstStyle/>
          <a:p/>
        </p:txBody>
      </p:sp>
      <p:sp>
        <p:nvSpPr>
          <p:cNvPr id="5" name="text s8.2.0.0.0.0"/>
          <p:cNvSpPr txBox="1"/>
          <p:nvPr/>
        </p:nvSpPr>
        <p:spPr>
          <a:xfrm>
            <a:off x="790724" y="3458468"/>
            <a:ext cx="876002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SOML</a:t>
            </a:r>
          </a:p>
        </p:txBody>
      </p:sp>
      <p:sp>
        <p:nvSpPr>
          <p:cNvPr id="6" name="text s8.2.0.0.0.1"/>
          <p:cNvSpPr txBox="1"/>
          <p:nvPr/>
        </p:nvSpPr>
        <p:spPr>
          <a:xfrm>
            <a:off x="790724" y="3730823"/>
            <a:ext cx="8760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덱 트리</a:t>
            </a:r>
          </a:p>
        </p:txBody>
      </p:sp>
      <p:sp>
        <p:nvSpPr>
          <p:cNvPr id="7" name="shape s8.2.0.2.0"/>
          <p:cNvSpPr/>
          <p:nvPr/>
        </p:nvSpPr>
        <p:spPr>
          <a:xfrm>
            <a:off x="2533650" y="2558355"/>
            <a:ext cx="1809750" cy="800100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8" name="text s8.2.0.2.0.0.0"/>
          <p:cNvSpPr txBox="1"/>
          <p:nvPr/>
        </p:nvSpPr>
        <p:spPr>
          <a:xfrm>
            <a:off x="2714774" y="2727871"/>
            <a:ext cx="14475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웹이 잰 트리</a:t>
            </a:r>
          </a:p>
        </p:txBody>
      </p:sp>
      <p:sp>
        <p:nvSpPr>
          <p:cNvPr id="9" name="text s8.2.0.2.0.0.1"/>
          <p:cNvSpPr txBox="1"/>
          <p:nvPr/>
        </p:nvSpPr>
        <p:spPr>
          <a:xfrm>
            <a:off x="2714774" y="2975521"/>
            <a:ext cx="1447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Chromium · rect</a:t>
            </a:r>
          </a:p>
        </p:txBody>
      </p:sp>
      <p:sp>
        <p:nvSpPr>
          <p:cNvPr id="10" name="shape s8.2.0.2.1"/>
          <p:cNvSpPr/>
          <p:nvPr/>
        </p:nvSpPr>
        <p:spPr>
          <a:xfrm>
            <a:off x="2533650" y="4044255"/>
            <a:ext cx="1809750" cy="800100"/>
          </a:xfrm>
          <a:prstGeom prst="roundRect">
            <a:avLst>
              <a:gd name="adj" fmla="val 2857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/>
        </p:txBody>
      </p:sp>
      <p:sp>
        <p:nvSpPr>
          <p:cNvPr id="11" name="text s8.2.0.2.1.0.0"/>
          <p:cNvSpPr txBox="1"/>
          <p:nvPr/>
        </p:nvSpPr>
        <p:spPr>
          <a:xfrm>
            <a:off x="2714774" y="4213771"/>
            <a:ext cx="1447502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PPTX의 트리</a:t>
            </a:r>
          </a:p>
        </p:txBody>
      </p:sp>
      <p:sp>
        <p:nvSpPr>
          <p:cNvPr id="12" name="text s8.2.0.2.1.0.1"/>
          <p:cNvSpPr txBox="1"/>
          <p:nvPr/>
        </p:nvSpPr>
        <p:spPr>
          <a:xfrm>
            <a:off x="2714774" y="4461421"/>
            <a:ext cx="1447502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XML을 다시 읽는다</a:t>
            </a:r>
          </a:p>
        </p:txBody>
      </p:sp>
      <p:sp>
        <p:nvSpPr>
          <p:cNvPr id="13" name="shape s8.2.0.4"/>
          <p:cNvSpPr/>
          <p:nvPr/>
        </p:nvSpPr>
        <p:spPr>
          <a:xfrm>
            <a:off x="5029200" y="3244155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4320"/>
              </a:lnSpc>
            </a:pPr>
            <a:r>
              <a:rPr sz="3600" b="1">
                <a:solidFill>
                  <a:schemeClr val="bg1"/>
                </a:solidFill>
                <a:latin typeface="+mj-lt"/>
                <a:ea typeface="+mj-ea"/>
              </a:rPr>
              <a:t>=</a:t>
            </a:r>
          </a:p>
        </p:txBody>
      </p:sp>
      <p:sp>
        <p:nvSpPr>
          <p:cNvPr id="14" name="shape s8.2.1.0.0"/>
          <p:cNvSpPr/>
          <p:nvPr/>
        </p:nvSpPr>
        <p:spPr>
          <a:xfrm>
            <a:off x="6400800" y="2552998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15" name="text s8.2.1.0.1.0"/>
          <p:cNvSpPr txBox="1"/>
          <p:nvPr/>
        </p:nvSpPr>
        <p:spPr>
          <a:xfrm>
            <a:off x="6972300" y="2552998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패리티</a:t>
            </a:r>
          </a:p>
        </p:txBody>
      </p:sp>
      <p:sp>
        <p:nvSpPr>
          <p:cNvPr id="16" name="text s8.2.1.0.1.1"/>
          <p:cNvSpPr txBox="1"/>
          <p:nvPr/>
        </p:nvSpPr>
        <p:spPr>
          <a:xfrm>
            <a:off x="6972300" y="2850059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종류 · rect · 외관 · 순서 · 글자 런이 같다</a:t>
            </a:r>
          </a:p>
        </p:txBody>
      </p:sp>
      <p:sp>
        <p:nvSpPr>
          <p:cNvPr id="17" name="shape s8.2.1.1.0"/>
          <p:cNvSpPr/>
          <p:nvPr/>
        </p:nvSpPr>
        <p:spPr>
          <a:xfrm>
            <a:off x="6400800" y="3432870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18" name="text s8.2.1.1.1.0"/>
          <p:cNvSpPr txBox="1"/>
          <p:nvPr/>
        </p:nvSpPr>
        <p:spPr>
          <a:xfrm>
            <a:off x="6972300" y="3432870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스키마</a:t>
            </a:r>
          </a:p>
        </p:txBody>
      </p:sp>
      <p:sp>
        <p:nvSpPr>
          <p:cNvPr id="19" name="text s8.2.1.1.1.1"/>
          <p:cNvSpPr txBox="1"/>
          <p:nvPr/>
        </p:nvSpPr>
        <p:spPr>
          <a:xfrm>
            <a:off x="6972300" y="3729930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모든 XML 파트가 ECMA-376을 통과한다</a:t>
            </a:r>
          </a:p>
        </p:txBody>
      </p:sp>
      <p:sp>
        <p:nvSpPr>
          <p:cNvPr id="20" name="shape s8.2.1.2.0"/>
          <p:cNvSpPr/>
          <p:nvPr/>
        </p:nvSpPr>
        <p:spPr>
          <a:xfrm>
            <a:off x="6400800" y="4312741"/>
            <a:ext cx="342900" cy="342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✓</a:t>
            </a:r>
          </a:p>
        </p:txBody>
      </p:sp>
      <p:sp>
        <p:nvSpPr>
          <p:cNvPr id="21" name="text s8.2.1.2.1.0"/>
          <p:cNvSpPr txBox="1"/>
          <p:nvPr/>
        </p:nvSpPr>
        <p:spPr>
          <a:xfrm>
            <a:off x="6972300" y="4312741"/>
            <a:ext cx="4610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결정성</a:t>
            </a:r>
          </a:p>
        </p:txBody>
      </p:sp>
      <p:sp>
        <p:nvSpPr>
          <p:cNvPr id="22" name="text s8.2.1.2.1.1"/>
          <p:cNvSpPr txBox="1"/>
          <p:nvPr/>
        </p:nvSpPr>
        <p:spPr>
          <a:xfrm>
            <a:off x="6972300" y="4609802"/>
            <a:ext cx="46101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같은 입력은 같은 바이트를 낸다</a:t>
            </a:r>
          </a:p>
        </p:txBody>
      </p:sp>
      <p:sp>
        <p:nvSpPr>
          <p:cNvPr id="23" name="shape s8.7"/>
          <p:cNvSpPr/>
          <p:nvPr/>
        </p:nvSpPr>
        <p:spPr>
          <a:xfrm>
            <a:off x="609600" y="5667375"/>
            <a:ext cx="10972800" cy="581025"/>
          </a:xfrm>
          <a:prstGeom prst="roundRect">
            <a:avLst>
              <a:gd name="adj" fmla="val 1967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114300" rIns="228600" bIns="114300" anchor="t">
            <a:normAutofit/>
          </a:bodyPr>
          <a:lstStyle/>
          <a:p/>
        </p:txBody>
      </p:sp>
      <p:sp>
        <p:nvSpPr>
          <p:cNvPr id="24" name="text s8.7.0.0"/>
          <p:cNvSpPr txBox="1"/>
          <p:nvPr/>
        </p:nvSpPr>
        <p:spPr>
          <a:xfrm>
            <a:off x="871538" y="5815013"/>
            <a:ext cx="1714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go test ./...</a:t>
            </a:r>
          </a:p>
        </p:txBody>
      </p:sp>
      <p:sp>
        <p:nvSpPr>
          <p:cNvPr id="25" name="text s8.7.0.1"/>
          <p:cNvSpPr txBox="1"/>
          <p:nvPr/>
        </p:nvSpPr>
        <p:spPr>
          <a:xfrm>
            <a:off x="7276207" y="5837932"/>
            <a:ext cx="4044255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줄이 어디서 접히는지는 각 엔진의 몫이다 — 약속 밖이다.</a:t>
            </a:r>
          </a:p>
        </p:txBody>
      </p:sp>
      <p:cxnSp>
        <p:nvCxnSpPr>
          <p:cNvPr id="26" name="connector s8.3"/>
          <p:cNvCxnSpPr>
            <a:stCxn id="4" idx="3"/>
            <a:endCxn id="7" idx="1"/>
          </p:cNvCxnSpPr>
          <p:nvPr/>
        </p:nvCxnSpPr>
        <p:spPr>
          <a:xfrm flipV="1">
            <a:off x="1847850" y="2958405"/>
            <a:ext cx="685800" cy="74295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7" name="connector s8.4"/>
          <p:cNvCxnSpPr>
            <a:stCxn id="4" idx="3"/>
            <a:endCxn id="10" idx="1"/>
          </p:cNvCxnSpPr>
          <p:nvPr/>
        </p:nvCxnSpPr>
        <p:spPr>
          <a:xfrm>
            <a:off x="1847850" y="3701355"/>
            <a:ext cx="685800" cy="742950"/>
          </a:xfrm>
          <a:prstGeom prst="bent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8" name="connector s8.5"/>
          <p:cNvCxnSpPr>
            <a:stCxn id="7" idx="3"/>
            <a:endCxn id="13" idx="2"/>
          </p:cNvCxnSpPr>
          <p:nvPr/>
        </p:nvCxnSpPr>
        <p:spPr>
          <a:xfrm>
            <a:off x="4343400" y="2958405"/>
            <a:ext cx="685800" cy="742950"/>
          </a:xfrm>
          <a:prstGeom prst="bentConnector3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cxnSp>
        <p:nvCxnSpPr>
          <p:cNvPr id="29" name="connector s8.6"/>
          <p:cNvCxnSpPr>
            <a:stCxn id="10" idx="3"/>
            <a:endCxn id="13" idx="2"/>
          </p:cNvCxnSpPr>
          <p:nvPr/>
        </p:nvCxnSpPr>
        <p:spPr>
          <a:xfrm flipV="1">
            <a:off x="4343400" y="3701355"/>
            <a:ext cx="685800" cy="742950"/>
          </a:xfrm>
          <a:prstGeom prst="bentConnector3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30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31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9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4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1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4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13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/>
        </p:nvSpPr>
        <p:spPr>
          <a:xfrm>
            <a:off x="609600" y="1266825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4400"/>
              </a:lnSpc>
            </a:pPr>
            <a:r>
              <a:rPr sz="12000" b="1">
                <a:solidFill>
                  <a:schemeClr val="accent1"/>
                </a:solidFill>
                <a:latin typeface="+mj-lt"/>
                <a:ea typeface="+mj-ea"/>
              </a:rPr>
              <a:t>“</a:t>
            </a:r>
          </a:p>
        </p:txBody>
      </p:sp>
      <p:sp>
        <p:nvSpPr>
          <p:cNvPr id="3" name="blockquote s9.1"/>
          <p:cNvSpPr txBox="1"/>
          <p:nvPr/>
        </p:nvSpPr>
        <p:spPr>
          <a:xfrm>
            <a:off x="609600" y="3324225"/>
            <a:ext cx="1097280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625"/>
              </a:lnSpc>
            </a:pPr>
            <a:r>
              <a:rPr sz="3750" b="0">
                <a:solidFill>
                  <a:schemeClr val="tx1"/>
                </a:solidFill>
                <a:latin typeface="+mn-lt"/>
                <a:ea typeface="+mn-ea"/>
              </a:rPr>
              <a:t>“열리는 파일”과 </a:t>
            </a:r>
            <a:r>
              <a:rPr sz="3750" b="0" i="0" u="none">
                <a:solidFill>
                  <a:schemeClr val="accent1"/>
                </a:solidFill>
                <a:latin typeface="+mn-lt"/>
                <a:ea typeface="+mn-ea"/>
              </a:rPr>
              <a:t>“편집 가능한 파일”</a:t>
            </a:r>
            <a:r>
              <a:rPr sz="3750" b="0">
                <a:solidFill>
                  <a:schemeClr val="tx1"/>
                </a:solidFill>
                <a:latin typeface="+mn-lt"/>
                <a:ea typeface="+mn-ea"/>
              </a:rPr>
              <a:t>의 차이가 이 제품의 핵심이다.</a:t>
            </a:r>
          </a:p>
        </p:txBody>
      </p:sp>
      <p:sp>
        <p:nvSpPr>
          <p:cNvPr id="4" name="shape s9.2"/>
          <p:cNvSpPr/>
          <p:nvPr/>
        </p:nvSpPr>
        <p:spPr>
          <a:xfrm>
            <a:off x="5753100" y="4981575"/>
            <a:ext cx="685800" cy="38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9.3"/>
          <p:cNvSpPr txBox="1"/>
          <p:nvPr/>
        </p:nvSpPr>
        <p:spPr>
          <a:xfrm>
            <a:off x="609600" y="5248275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테스트 문서, 사람이 직접 pptx를 열어 확인하는 단계를 자동화하지 않는 이유</a:t>
            </a:r>
          </a:p>
        </p:txBody>
      </p:sp>
      <p:sp>
        <p:nvSpPr>
          <p:cNvPr id="6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7" name="chrome pageNumber"/>
          <p:cNvSpPr txBox="1"/>
          <p:nvPr/>
        </p:nvSpPr>
        <p:spPr>
          <a:xfrm>
            <a:off x="11386245" y="6248400"/>
            <a:ext cx="196155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10</a:t>
            </a:fld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0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지금</a:t>
            </a:r>
          </a:p>
        </p:txBody>
      </p:sp>
      <p:sp>
        <p:nvSpPr>
          <p:cNvPr id="3" name="h1 s10.1"/>
          <p:cNvSpPr txBox="1"/>
          <p:nvPr/>
        </p:nvSpPr>
        <p:spPr>
          <a:xfrm>
            <a:off x="609600" y="109537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되는 것과 다음</a:t>
            </a:r>
          </a:p>
        </p:txBody>
      </p:sp>
      <p:sp>
        <p:nvSpPr>
          <p:cNvPr id="4" name="shape s10.2.0"/>
          <p:cNvSpPr/>
          <p:nvPr/>
        </p:nvSpPr>
        <p:spPr>
          <a:xfrm>
            <a:off x="609600" y="1963936"/>
            <a:ext cx="6377880" cy="4284464"/>
          </a:xfrm>
          <a:prstGeom prst="roundRect">
            <a:avLst>
              <a:gd name="adj" fmla="val 53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10.2.0.0.0"/>
          <p:cNvSpPr txBox="1"/>
          <p:nvPr/>
        </p:nvSpPr>
        <p:spPr>
          <a:xfrm>
            <a:off x="1019324" y="237366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3"/>
                </a:solidFill>
                <a:latin typeface="+mn-lt"/>
                <a:ea typeface="+mn-ea"/>
              </a:rPr>
              <a:t>동작한다</a:t>
            </a:r>
          </a:p>
        </p:txBody>
      </p:sp>
      <p:sp>
        <p:nvSpPr>
          <p:cNvPr id="6" name="shape s10.2.0.0.1.0"/>
          <p:cNvSpPr/>
          <p:nvPr/>
        </p:nvSpPr>
        <p:spPr>
          <a:xfrm>
            <a:off x="1019324" y="2859435"/>
            <a:ext cx="1786086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웹 + 네이티브 PPTX</a:t>
            </a:r>
          </a:p>
        </p:txBody>
      </p:sp>
      <p:sp>
        <p:nvSpPr>
          <p:cNvPr id="7" name="shape s10.2.0.0.1.1"/>
          <p:cNvSpPr/>
          <p:nvPr/>
        </p:nvSpPr>
        <p:spPr>
          <a:xfrm>
            <a:off x="2862560" y="2859435"/>
            <a:ext cx="184219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레이아웃 11종 · 슬롯</a:t>
            </a:r>
          </a:p>
        </p:txBody>
      </p:sp>
      <p:sp>
        <p:nvSpPr>
          <p:cNvPr id="8" name="shape s10.2.0.0.1.2"/>
          <p:cNvSpPr/>
          <p:nvPr/>
        </p:nvSpPr>
        <p:spPr>
          <a:xfrm>
            <a:off x="4761905" y="2859435"/>
            <a:ext cx="1580852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도형 16종 · path</a:t>
            </a:r>
          </a:p>
        </p:txBody>
      </p:sp>
      <p:sp>
        <p:nvSpPr>
          <p:cNvPr id="9" name="shape s10.2.0.0.1.3"/>
          <p:cNvSpPr/>
          <p:nvPr/>
        </p:nvSpPr>
        <p:spPr>
          <a:xfrm>
            <a:off x="1019324" y="3421707"/>
            <a:ext cx="52000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표</a:t>
            </a:r>
          </a:p>
        </p:txBody>
      </p:sp>
      <p:sp>
        <p:nvSpPr>
          <p:cNvPr id="10" name="shape s10.2.0.0.1.4"/>
          <p:cNvSpPr/>
          <p:nvPr/>
        </p:nvSpPr>
        <p:spPr>
          <a:xfrm>
            <a:off x="1596479" y="3421707"/>
            <a:ext cx="1488430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차트 · 여러 계열</a:t>
            </a:r>
          </a:p>
        </p:txBody>
      </p:sp>
      <p:sp>
        <p:nvSpPr>
          <p:cNvPr id="11" name="shape s10.2.0.0.1.5"/>
          <p:cNvSpPr/>
          <p:nvPr/>
        </p:nvSpPr>
        <p:spPr>
          <a:xfrm>
            <a:off x="3142059" y="3421707"/>
            <a:ext cx="835521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연결선</a:t>
            </a:r>
          </a:p>
        </p:txBody>
      </p:sp>
      <p:sp>
        <p:nvSpPr>
          <p:cNvPr id="12" name="shape s10.2.0.0.1.6"/>
          <p:cNvSpPr/>
          <p:nvPr/>
        </p:nvSpPr>
        <p:spPr>
          <a:xfrm>
            <a:off x="4034730" y="3421707"/>
            <a:ext cx="1128415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등장 · 전환</a:t>
            </a:r>
          </a:p>
        </p:txBody>
      </p:sp>
      <p:sp>
        <p:nvSpPr>
          <p:cNvPr id="13" name="shape s10.2.0.0.1.7"/>
          <p:cNvSpPr/>
          <p:nvPr/>
        </p:nvSpPr>
        <p:spPr>
          <a:xfrm>
            <a:off x="5220295" y="3421707"/>
            <a:ext cx="103777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코드 강조</a:t>
            </a:r>
          </a:p>
        </p:txBody>
      </p:sp>
      <p:sp>
        <p:nvSpPr>
          <p:cNvPr id="14" name="shape s10.2.0.0.1.8"/>
          <p:cNvSpPr/>
          <p:nvPr/>
        </p:nvSpPr>
        <p:spPr>
          <a:xfrm>
            <a:off x="1019324" y="3983980"/>
            <a:ext cx="1042392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SVG 그림</a:t>
            </a:r>
          </a:p>
        </p:txBody>
      </p:sp>
      <p:sp>
        <p:nvSpPr>
          <p:cNvPr id="15" name="shape s10.2.0.0.1.9"/>
          <p:cNvSpPr/>
          <p:nvPr/>
        </p:nvSpPr>
        <p:spPr>
          <a:xfrm>
            <a:off x="2118866" y="3983980"/>
            <a:ext cx="160153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빗금 · 그라디언트</a:t>
            </a:r>
          </a:p>
        </p:txBody>
      </p:sp>
      <p:sp>
        <p:nvSpPr>
          <p:cNvPr id="16" name="shape s10.2.0.0.1.10"/>
          <p:cNvSpPr/>
          <p:nvPr/>
        </p:nvSpPr>
        <p:spPr>
          <a:xfrm>
            <a:off x="3777555" y="3983980"/>
            <a:ext cx="103777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뒤집힌 장</a:t>
            </a:r>
          </a:p>
        </p:txBody>
      </p:sp>
      <p:sp>
        <p:nvSpPr>
          <p:cNvPr id="17" name="shape s10.2.0.0.1.11"/>
          <p:cNvSpPr/>
          <p:nvPr/>
        </p:nvSpPr>
        <p:spPr>
          <a:xfrm>
            <a:off x="4872484" y="3983980"/>
            <a:ext cx="1488430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테마 배경 · 로고</a:t>
            </a:r>
          </a:p>
        </p:txBody>
      </p:sp>
      <p:sp>
        <p:nvSpPr>
          <p:cNvPr id="18" name="shape s10.2.0.0.1.12"/>
          <p:cNvSpPr/>
          <p:nvPr/>
        </p:nvSpPr>
        <p:spPr>
          <a:xfrm>
            <a:off x="1019324" y="4546253"/>
            <a:ext cx="1407319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theme install</a:t>
            </a:r>
          </a:p>
        </p:txBody>
      </p:sp>
      <p:sp>
        <p:nvSpPr>
          <p:cNvPr id="19" name="shape s10.2.0.0.1.13"/>
          <p:cNvSpPr/>
          <p:nvPr/>
        </p:nvSpPr>
        <p:spPr>
          <a:xfrm>
            <a:off x="2483793" y="4546253"/>
            <a:ext cx="1083766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줄:열 진단</a:t>
            </a:r>
          </a:p>
        </p:txBody>
      </p:sp>
      <p:sp>
        <p:nvSpPr>
          <p:cNvPr id="20" name="shape s10.2.0.0.1.14"/>
          <p:cNvSpPr/>
          <p:nvPr/>
        </p:nvSpPr>
        <p:spPr>
          <a:xfrm>
            <a:off x="1019324" y="5108525"/>
            <a:ext cx="3129707" cy="505123"/>
          </a:xfrm>
          <a:prstGeom prst="roundRect">
            <a:avLst>
              <a:gd name="adj" fmla="val 45256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57150" rIns="114300" bIns="5715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21" name="shape s10.2.1"/>
          <p:cNvSpPr/>
          <p:nvPr/>
        </p:nvSpPr>
        <p:spPr>
          <a:xfrm>
            <a:off x="7330380" y="1963936"/>
            <a:ext cx="4251871" cy="4284464"/>
          </a:xfrm>
          <a:prstGeom prst="roundRect">
            <a:avLst>
              <a:gd name="adj" fmla="val 537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22" name="text s10.2.1.0.0"/>
          <p:cNvSpPr txBox="1"/>
          <p:nvPr/>
        </p:nvSpPr>
        <p:spPr>
          <a:xfrm>
            <a:off x="7740104" y="2373660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다음</a:t>
            </a:r>
          </a:p>
        </p:txBody>
      </p:sp>
      <p:sp>
        <p:nvSpPr>
          <p:cNvPr id="23" name="shape s10.2.1.0.1.0.0"/>
          <p:cNvSpPr/>
          <p:nvPr/>
        </p:nvSpPr>
        <p:spPr>
          <a:xfrm>
            <a:off x="7740104" y="294039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text s10.2.1.0.1.0.1"/>
          <p:cNvSpPr txBox="1"/>
          <p:nvPr/>
        </p:nvSpPr>
        <p:spPr>
          <a:xfrm>
            <a:off x="8006804" y="285943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챕터를 PPTX 섹션으로</a:t>
            </a:r>
          </a:p>
        </p:txBody>
      </p:sp>
      <p:sp>
        <p:nvSpPr>
          <p:cNvPr id="25" name="shape s10.2.1.0.1.1.0"/>
          <p:cNvSpPr/>
          <p:nvPr/>
        </p:nvSpPr>
        <p:spPr>
          <a:xfrm>
            <a:off x="7740104" y="3483322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6" name="text s10.2.1.0.1.1.1"/>
          <p:cNvSpPr txBox="1"/>
          <p:nvPr/>
        </p:nvSpPr>
        <p:spPr>
          <a:xfrm>
            <a:off x="8006804" y="3402360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차트 값의 앞붙이 · 천 단위</a:t>
            </a:r>
          </a:p>
        </p:txBody>
      </p:sp>
      <p:sp>
        <p:nvSpPr>
          <p:cNvPr id="27" name="shape s10.2.1.0.1.2.0"/>
          <p:cNvSpPr/>
          <p:nvPr/>
        </p:nvSpPr>
        <p:spPr>
          <a:xfrm>
            <a:off x="7740104" y="402624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text s10.2.1.0.1.2.1"/>
          <p:cNvSpPr txBox="1"/>
          <p:nvPr/>
        </p:nvSpPr>
        <p:spPr>
          <a:xfrm>
            <a:off x="8006804" y="394528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표 칸의 글자 크기</a:t>
            </a:r>
          </a:p>
        </p:txBody>
      </p:sp>
      <p:sp>
        <p:nvSpPr>
          <p:cNvPr id="29" name="shape s10.2.1.0.1.3.0"/>
          <p:cNvSpPr/>
          <p:nvPr/>
        </p:nvSpPr>
        <p:spPr>
          <a:xfrm>
            <a:off x="7740104" y="4569172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0" name="text s10.2.1.0.1.3.1"/>
          <p:cNvSpPr txBox="1"/>
          <p:nvPr/>
        </p:nvSpPr>
        <p:spPr>
          <a:xfrm>
            <a:off x="8006804" y="4488210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늘린 프리셋의 매개변수</a:t>
            </a:r>
          </a:p>
        </p:txBody>
      </p:sp>
      <p:sp>
        <p:nvSpPr>
          <p:cNvPr id="31" name="shape s10.2.1.0.1.4.0"/>
          <p:cNvSpPr/>
          <p:nvPr/>
        </p:nvSpPr>
        <p:spPr>
          <a:xfrm>
            <a:off x="7740104" y="5112097"/>
            <a:ext cx="152400" cy="152400"/>
          </a:xfrm>
          <a:prstGeom prst="ellipse">
            <a:avLst/>
          </a:prstGeom>
          <a:noFill/>
          <a:ln w="19050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2" name="text s10.2.1.0.1.4.1"/>
          <p:cNvSpPr txBox="1"/>
          <p:nvPr/>
        </p:nvSpPr>
        <p:spPr>
          <a:xfrm>
            <a:off x="8006804" y="5031135"/>
            <a:ext cx="31657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영어 레퍼런스</a:t>
            </a:r>
          </a:p>
        </p:txBody>
      </p:sp>
      <p:sp>
        <p:nvSpPr>
          <p:cNvPr id="33" name="chrome footer"/>
          <p:cNvSpPr txBox="1"/>
          <p:nvPr/>
        </p:nvSpPr>
        <p:spPr>
          <a:xfrm>
            <a:off x="609600" y="6248400"/>
            <a:ext cx="89922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balpyo 소개</a:t>
            </a:r>
          </a:p>
        </p:txBody>
      </p:sp>
      <p:sp>
        <p:nvSpPr>
          <p:cNvPr id="34" name="chrome pageNumber"/>
          <p:cNvSpPr txBox="1"/>
          <p:nvPr/>
        </p:nvSpPr>
        <p:spPr>
          <a:xfrm>
            <a:off x="11386245" y="6248400"/>
            <a:ext cx="196155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11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33613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SOML로 </a:t>
            </a: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1"/>
                </a:gradFill>
                <a:latin typeface="+mj-lt"/>
                <a:ea typeface="+mj-ea"/>
              </a:rPr>
              <a:t>한 번 쓴다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76613"/>
            <a:ext cx="109728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나머지는 balpyo가 두 곳으로 렌더한다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76688"/>
            <a:ext cx="3505200" cy="647700"/>
          </a:xfrm>
          <a:prstGeom prst="roundRect">
            <a:avLst>
              <a:gd name="adj" fmla="val 17647"/>
            </a:avLst>
          </a:prstGeom>
          <a:solidFill>
            <a:schemeClr val="tx1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chemeClr val="accent3"/>
                </a:solidFill>
                <a:latin typeface="Noto Sans Mono"/>
                <a:ea typeface="Noto Sans Mono CJK KR"/>
              </a:rPr>
              <a:t>$</a:t>
            </a:r>
            <a:r>
              <a:rPr sz="1500" b="0">
                <a:solidFill>
                  <a:schemeClr val="bg1"/>
                </a:solidFill>
                <a:latin typeface="Noto Sans Mono"/>
                <a:ea typeface="Noto Sans Mono CJK KR"/>
              </a:rPr>
              <a:t> balpyo watch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balpyo 소개</dc:title>
  <dc:creator>balpyo</dc:creator>
  <cp:lastModifiedBy>balpyo</cp:lastModifiedBy>
  <cp:revision>1</cp:revision>
</cp:coreProperties>
</file>