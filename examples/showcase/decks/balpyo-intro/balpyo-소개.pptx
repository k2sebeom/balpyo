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자체가 산출물이다 — 지금 보고 있는 화면과 배포한 pptx가 같은 소스에서 나왔다.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둘 중 하나를 잃는다: 표현력이냐, 편집 가능한 산출물이냐.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여기가 제품의 출발점이다. 저자가 계산할 것이 남아 있으면 자동화가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파싱은 soml, 해석은 core, 측정은 render/geom, 렌더는 render/web과 render/pptx다.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설정은 balpyo.json 한 파일이다 — 제목·저자·언어·비율·출력 경로.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이것이 두 번째 통찰이다 — 브라우저를 레이아웃 엔진으로 빌려 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PowerPoint에서 글자를 고칠 수 있고, 표는 셀을 클릭해 행을 더할 수 있다. "열리는 파일"과 "편집 가능한 파일"의 차이가 여기서 갈린다.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토큰이 리터럴로 눕는 순간 제품의 약속이 깨진다. 골든 테스트가 그것을 감시한다.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골든은 좌표 없는 레이아웃 트리와 진단 둘뿐이다 — 좌표는 동일성 판정이 매번 다시 재므로, diff에는 "도형이 하나 늘었다"만 남는다.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그래서 바뀔 때마다 PowerPoint나 Keynote로 직접 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오른쪽 열이 다음에 할 일이다.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질문을 받는다. 덱을 pptx로 내려받아 직접 고쳐 보라고 권한다.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251573" y="1368772"/>
            <a:ext cx="368885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694932" y="1854547"/>
            <a:ext cx="2802136" cy="1005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tx1"/>
                </a:soli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795611" y="3088928"/>
            <a:ext cx="8600629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슬라이드를 한 번 쓰면 웹과 편집 가능한 PPTX가 같이 나온다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084266" y="4677668"/>
            <a:ext cx="202346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렌더 엔진 · 테마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407694" y="5249168"/>
            <a:ext cx="33764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 덱은 SOML 열두 장이고, balpyo가 렌더했다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텍스트로 슬라이드를 쓰면 둘 중 하나를 잃는다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Markdown 계열 · Marp · Slidev</a:t>
            </a:r>
          </a:p>
        </p:txBody>
      </p:sp>
      <p:sp>
        <p:nvSpPr>
          <p:cNvPr id="5" name="ul s1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Markdown은 문서 마크업이라 2단·도형·겹침 같은 슬라이드 어휘가 없다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PPTX 내보내기는 슬라이드를 이미지로 찍는다 — 열리지만 고칠 수 없다</a:t>
            </a:r>
          </a:p>
        </p:txBody>
      </p:sp>
      <p:sp>
        <p:nvSpPr>
          <p:cNvPr id="6" name="text s1.1.0.0.1"/>
          <p:cNvSpPr txBox="1"/>
          <p:nvPr/>
        </p:nvSpPr>
        <p:spPr>
          <a:xfrm>
            <a:off x="10193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편집 가능한 산출물을 잃는다</a:t>
            </a:r>
          </a:p>
        </p:txBody>
      </p:sp>
      <p:sp>
        <p:nvSpPr>
          <p:cNvPr id="7" name="shape s1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라이브러리 계열 · python-pptx</a:t>
            </a:r>
          </a:p>
        </p:txBody>
      </p:sp>
      <p:sp>
        <p:nvSpPr>
          <p:cNvPr id="9" name="ul s1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모든 요소를 EMU 절대 좌표로 손으로 배치한다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그라디언트 테두리처럼 "디자인된 느낌"에는 API조차 없어 raw XML을 조립한다</a:t>
            </a:r>
          </a:p>
        </p:txBody>
      </p:sp>
      <p:sp>
        <p:nvSpPr>
          <p:cNvPr id="10" name="text s1.2.0.0.1"/>
          <p:cNvSpPr txBox="1"/>
          <p:nvPr/>
        </p:nvSpPr>
        <p:spPr>
          <a:xfrm>
            <a:off x="66200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쓰기 쉬움을 잃는다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기업 덱의 카드 그리드 슬라이드 한 장을 python-pptx로 다시 만들었을 때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78111"/>
            <a:ext cx="6377880" cy="5170289"/>
          </a:xfrm>
          <a:prstGeom prst="roundRect">
            <a:avLst>
              <a:gd name="adj" fmla="val 4421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20593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77405"/>
            <a:ext cx="5558433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200"/>
              </a:lnSpc>
            </a:pPr>
            <a:r>
              <a:rPr sz="13500" b="1">
                <a:solidFill>
                  <a:schemeClr val="accent1"/>
                </a:solidFill>
                <a:latin typeface="+mj-lt"/>
                <a:ea typeface="+mj-ea"/>
              </a:rPr>
              <a:t>128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749105"/>
            <a:ext cx="5558433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수동 좌표 계산 · 그리고 raw XML 수술 10회</a:t>
            </a:r>
          </a:p>
        </p:txBody>
      </p:sp>
      <p:sp>
        <p:nvSpPr>
          <p:cNvPr id="7" name="shape s2.1.1"/>
          <p:cNvSpPr/>
          <p:nvPr/>
        </p:nvSpPr>
        <p:spPr>
          <a:xfrm>
            <a:off x="7330380" y="1078111"/>
            <a:ext cx="4251871" cy="5170289"/>
          </a:xfrm>
          <a:prstGeom prst="roundRect">
            <a:avLst>
              <a:gd name="adj" fmla="val 5376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2.1.1.0.0"/>
          <p:cNvSpPr txBox="1"/>
          <p:nvPr/>
        </p:nvSpPr>
        <p:spPr>
          <a:xfrm>
            <a:off x="7740104" y="2360265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9" name="text s2.1.1.0.1"/>
          <p:cNvSpPr txBox="1"/>
          <p:nvPr/>
        </p:nvSpPr>
        <p:spPr>
          <a:xfrm>
            <a:off x="7740104" y="2846040"/>
            <a:ext cx="3432423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bg1"/>
                </a:solidFill>
                <a:latin typeface="+mj-lt"/>
                <a:ea typeface="+mj-ea"/>
              </a:rPr>
              <a:t>1줄</a:t>
            </a:r>
          </a:p>
        </p:txBody>
      </p:sp>
      <p:sp>
        <p:nvSpPr>
          <p:cNvPr id="10" name="text s2.1.1.0.2"/>
          <p:cNvSpPr txBox="1"/>
          <p:nvPr/>
        </p:nvSpPr>
        <p:spPr>
          <a:xfrm>
            <a:off x="7740104" y="4080421"/>
            <a:ext cx="34324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1" name="text s2.1.1.0.3"/>
          <p:cNvSpPr txBox="1"/>
          <p:nvPr/>
        </p:nvSpPr>
        <p:spPr>
          <a:xfrm>
            <a:off x="7740104" y="4623346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좌표는 브라우저가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3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한 소스, 두 산출물</a:t>
            </a:r>
          </a:p>
        </p:txBody>
      </p:sp>
      <p:sp>
        <p:nvSpPr>
          <p:cNvPr id="3" name="shape s3.1.0.0"/>
          <p:cNvSpPr/>
          <p:nvPr/>
        </p:nvSpPr>
        <p:spPr>
          <a:xfrm>
            <a:off x="609600" y="1478161"/>
            <a:ext cx="2657475" cy="685800"/>
          </a:xfrm>
          <a:prstGeom prst="chevron">
            <a:avLst>
              <a:gd name="adj" fmla="val 775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3.1.0.1"/>
          <p:cNvSpPr txBox="1"/>
          <p:nvPr/>
        </p:nvSpPr>
        <p:spPr>
          <a:xfrm>
            <a:off x="60960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1 · SOML 파싱</a:t>
            </a:r>
          </a:p>
        </p:txBody>
      </p:sp>
      <p:sp>
        <p:nvSpPr>
          <p:cNvPr id="5" name="shape s3.1.1.0"/>
          <p:cNvSpPr/>
          <p:nvPr/>
        </p:nvSpPr>
        <p:spPr>
          <a:xfrm>
            <a:off x="3381375" y="1478161"/>
            <a:ext cx="2657475" cy="685800"/>
          </a:xfrm>
          <a:prstGeom prst="chevron">
            <a:avLst>
              <a:gd name="adj" fmla="val 775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text s3.1.1.1"/>
          <p:cNvSpPr txBox="1"/>
          <p:nvPr/>
        </p:nvSpPr>
        <p:spPr>
          <a:xfrm>
            <a:off x="338137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2 · 외관·배치 해석</a:t>
            </a:r>
          </a:p>
        </p:txBody>
      </p:sp>
      <p:sp>
        <p:nvSpPr>
          <p:cNvPr id="7" name="shape s3.1.2.0"/>
          <p:cNvSpPr/>
          <p:nvPr/>
        </p:nvSpPr>
        <p:spPr>
          <a:xfrm>
            <a:off x="6153150" y="1478161"/>
            <a:ext cx="2657475" cy="685800"/>
          </a:xfrm>
          <a:prstGeom prst="chevron">
            <a:avLst>
              <a:gd name="adj" fmla="val 775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3.1.2.1"/>
          <p:cNvSpPr txBox="1"/>
          <p:nvPr/>
        </p:nvSpPr>
        <p:spPr>
          <a:xfrm>
            <a:off x="615315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3 · 지오메트리 측정</a:t>
            </a:r>
          </a:p>
        </p:txBody>
      </p:sp>
      <p:sp>
        <p:nvSpPr>
          <p:cNvPr id="9" name="shape s3.1.3.0"/>
          <p:cNvSpPr/>
          <p:nvPr/>
        </p:nvSpPr>
        <p:spPr>
          <a:xfrm>
            <a:off x="8924925" y="1478161"/>
            <a:ext cx="2657475" cy="685800"/>
          </a:xfrm>
          <a:prstGeom prst="chevron">
            <a:avLst>
              <a:gd name="adj" fmla="val 77500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text s3.1.3.1"/>
          <p:cNvSpPr txBox="1"/>
          <p:nvPr/>
        </p:nvSpPr>
        <p:spPr>
          <a:xfrm>
            <a:off x="892492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1" i="0" u="none">
                <a:solidFill>
                  <a:schemeClr val="accent1"/>
                </a:solidFill>
                <a:latin typeface="+mn-lt"/>
                <a:ea typeface="+mn-ea"/>
              </a:rPr>
              <a:t>4 · 두 타깃 렌더</a:t>
            </a:r>
          </a:p>
        </p:txBody>
      </p:sp>
      <p:sp>
        <p:nvSpPr>
          <p:cNvPr id="11" name="shape s3.2.0"/>
          <p:cNvSpPr/>
          <p:nvPr/>
        </p:nvSpPr>
        <p:spPr>
          <a:xfrm>
            <a:off x="60960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3.2.0.0.0"/>
          <p:cNvSpPr txBox="1"/>
          <p:nvPr/>
        </p:nvSpPr>
        <p:spPr>
          <a:xfrm>
            <a:off x="101932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웹 · index.html 한 장</a:t>
            </a:r>
          </a:p>
        </p:txBody>
      </p:sp>
      <p:sp>
        <p:nvSpPr>
          <p:cNvPr id="13" name="ul s3.2.0.0.1"/>
          <p:cNvSpPr txBox="1"/>
          <p:nvPr/>
        </p:nvSpPr>
        <p:spPr>
          <a:xfrm>
            <a:off x="1019324" y="3688110"/>
            <a:ext cx="4495502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CSS와 발표 런타임이 인라인 — 파일 하나로 배포한다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발표자 화면 · 개요 그리드 · 노트 · 장 링크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브라우저 인쇄가 곧 PDF다</a:t>
            </a:r>
          </a:p>
        </p:txBody>
      </p:sp>
      <p:sp>
        <p:nvSpPr>
          <p:cNvPr id="14" name="shape s3.2.1"/>
          <p:cNvSpPr/>
          <p:nvPr/>
        </p:nvSpPr>
        <p:spPr>
          <a:xfrm>
            <a:off x="626745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3.2.1.0.0"/>
          <p:cNvSpPr txBox="1"/>
          <p:nvPr/>
        </p:nvSpPr>
        <p:spPr>
          <a:xfrm>
            <a:off x="667717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PPTX · 편집 가능한 원본</a:t>
            </a:r>
          </a:p>
        </p:txBody>
      </p:sp>
      <p:sp>
        <p:nvSpPr>
          <p:cNvPr id="16" name="ul s3.2.1.0.1"/>
          <p:cNvSpPr txBox="1"/>
          <p:nvPr/>
        </p:nvSpPr>
        <p:spPr>
          <a:xfrm>
            <a:off x="6677174" y="368811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텍스트 박스는 p:sp, 도형은 prstGeom, 표는 a:tbl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슬롯은 p:ph 플레이스홀더 — 레이아웃이 살아 있다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테마 색은 schemeClr — 이미지로 찍지 않는다</a:t>
            </a:r>
          </a:p>
        </p:txBody>
      </p:sp>
      <p:sp>
        <p:nvSpPr>
          <p:cNvPr id="17" name="text s3.3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같은 SOML 트리가 두 번 렌더된다. 갈라지는 지점은 마지막 단계 하나뿐이다.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4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프로젝트 하나가 덱 하나다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478161"/>
            <a:ext cx="5257800" cy="3732014"/>
          </a:xfrm>
          <a:prstGeom prst="roundRect">
            <a:avLst>
              <a:gd name="adj" fmla="val 612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balpyo.json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_draft_ideas.slide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diagram.png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themes/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my-brand/</a:t>
            </a:r>
          </a:p>
        </p:txBody>
      </p:sp>
      <p:sp>
        <p:nvSpPr>
          <p:cNvPr id="4" name="text s4.1.1.0.0"/>
          <p:cNvSpPr txBox="1"/>
          <p:nvPr/>
        </p:nvSpPr>
        <p:spPr>
          <a:xfrm>
            <a:off x="6324600" y="1478161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수집 규칙</a:t>
            </a:r>
          </a:p>
        </p:txBody>
      </p:sp>
      <p:sp>
        <p:nvSpPr>
          <p:cNvPr id="5" name="ul s4.1.1.0.1"/>
          <p:cNvSpPr txBox="1"/>
          <p:nvPr/>
        </p:nvSpPr>
        <p:spPr>
          <a:xfrm>
            <a:off x="6324600" y="1849636"/>
            <a:ext cx="5257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슬라이드 한 장이 파일 한 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순서는 경로 사전순 — 숫자 접두가 순서를 만든다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밑줄로 시작하는 파일은 건너뛴다 (초안·보류)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하위 디렉토리는 챕터가 된다</a:t>
            </a:r>
          </a:p>
        </p:txBody>
      </p:sp>
      <p:sp>
        <p:nvSpPr>
          <p:cNvPr id="6" name="text s4.1.1.1.0"/>
          <p:cNvSpPr txBox="1"/>
          <p:nvPr/>
        </p:nvSpPr>
        <p:spPr>
          <a:xfrm>
            <a:off x="6324600" y="3564136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balpyo.json</a:t>
            </a:r>
          </a:p>
        </p:txBody>
      </p:sp>
      <p:sp>
        <p:nvSpPr>
          <p:cNvPr id="7" name="p s4.1.1.1.1"/>
          <p:cNvSpPr txBox="1"/>
          <p:nvPr/>
        </p:nvSpPr>
        <p:spPr>
          <a:xfrm>
            <a:off x="6324600" y="3935611"/>
            <a:ext cx="52578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제목 · 저자 · 언어 · 비율(16:9 · 4:3) · 테마 · 출력 경로 · 꼬리말 · 쪽 번호</a:t>
            </a:r>
          </a:p>
        </p:txBody>
      </p:sp>
      <p:sp>
        <p:nvSpPr>
          <p:cNvPr id="8" name="shape s4.2"/>
          <p:cNvSpPr/>
          <p:nvPr/>
        </p:nvSpPr>
        <p:spPr>
          <a:xfrm>
            <a:off x="609600" y="5438775"/>
            <a:ext cx="10972800" cy="809625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 --project my-deck --target html,pptx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5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좌표는 브라우저가 계산한다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shape s5.1.0.0.0.0"/>
          <p:cNvSpPr/>
          <p:nvPr/>
        </p:nvSpPr>
        <p:spPr>
          <a:xfrm>
            <a:off x="9050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선언</a:t>
            </a:r>
          </a:p>
        </p:txBody>
      </p:sp>
      <p:sp>
        <p:nvSpPr>
          <p:cNvPr id="5" name="p s5.1.0.0.0.1"/>
          <p:cNvSpPr txBox="1"/>
          <p:nvPr/>
        </p:nvSpPr>
        <p:spPr>
          <a:xfrm>
            <a:off x="9050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저자는 flex와 grid로 배치를 선언한다. 좌표를 쓰는 자리가 어휘에 없다.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4379268"/>
            <a:ext cx="2838152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&lt;row&gt; · &lt;col&gt; · &lt;grid&gt; · &lt;stack&gt;</a:t>
            </a:r>
          </a:p>
        </p:txBody>
      </p:sp>
      <p:sp>
        <p:nvSpPr>
          <p:cNvPr id="7" name="shape s5.1.1"/>
          <p:cNvSpPr/>
          <p:nvPr/>
        </p:nvSpPr>
        <p:spPr>
          <a:xfrm>
            <a:off x="43815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shape s5.1.1.0.0.0"/>
          <p:cNvSpPr/>
          <p:nvPr/>
        </p:nvSpPr>
        <p:spPr>
          <a:xfrm>
            <a:off x="46769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측정</a:t>
            </a:r>
          </a:p>
        </p:txBody>
      </p:sp>
      <p:sp>
        <p:nvSpPr>
          <p:cNvPr id="9" name="p s5.1.1.0.0.1"/>
          <p:cNvSpPr txBox="1"/>
          <p:nvPr/>
        </p:nvSpPr>
        <p:spPr>
          <a:xfrm>
            <a:off x="46769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헤드리스 Chromium이 요소마다 박스를 재고, 패스는 그 지오메트리만 읽는다.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46769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1" name="shape s5.1.2"/>
          <p:cNvSpPr/>
          <p:nvPr/>
        </p:nvSpPr>
        <p:spPr>
          <a:xfrm>
            <a:off x="81534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shape s5.1.2.0.0.0"/>
          <p:cNvSpPr/>
          <p:nvPr/>
        </p:nvSpPr>
        <p:spPr>
          <a:xfrm>
            <a:off x="84488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굽기</a:t>
            </a:r>
          </a:p>
        </p:txBody>
      </p:sp>
      <p:sp>
        <p:nvSpPr>
          <p:cNvPr id="13" name="p s5.1.2.0.0.1"/>
          <p:cNvSpPr txBox="1"/>
          <p:nvPr/>
        </p:nvSpPr>
        <p:spPr>
          <a:xfrm>
            <a:off x="84488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잰 rect가 곧 PPTX 좌표다 — 1px은 9525 EMU이고 환산은 한 곳에만 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84488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15" name="shape s5.2"/>
          <p:cNvSpPr/>
          <p:nvPr/>
        </p:nvSpPr>
        <p:spPr>
          <a:xfrm>
            <a:off x="609600" y="5417641"/>
            <a:ext cx="10972800" cy="830759"/>
          </a:xfrm>
          <a:prstGeom prst="roundRect">
            <a:avLst>
              <a:gd name="adj" fmla="val 27517"/>
            </a:avLst>
          </a:prstGeom>
          <a:solidFill>
            <a:schemeClr val="bg2"/>
          </a:solidFill>
          <a:ln w="28575">
            <a:solidFill>
              <a:schemeClr val="accent1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파이프라인이 주고받는 수치는 전부 논리 스테이지 px다 (16:9는 1280×720). EMU와 pt는 PPTX 렌더러 안에서만 존재한다.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태그가 무엇이 되는가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048125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850755"/>
                <a:gridCol w="612204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산출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&lt;blockquote&gt;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텍스트 박스 — 확정된 rPr을 싣는다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(프리셋 12종)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— 자식 텍스트를 흡수한다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+ ppt/media 파트 (바이트 그대로)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&lt;ul&gt; · &lt;ol&gt;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하나 — 불릿 문단이 한 박스에 산다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0개 — 자식의 절대 좌표에 녹는다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(이 슬라이드)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편집 가능한 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+ 텍스트로 풀린다 — 막대 하나가 도형 하나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7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테마는 디자인 시스템이다</a:t>
            </a:r>
          </a:p>
        </p:txBody>
      </p:sp>
      <p:sp>
        <p:nvSpPr>
          <p:cNvPr id="3" name="shape s7.1.0"/>
          <p:cNvSpPr/>
          <p:nvPr/>
        </p:nvSpPr>
        <p:spPr>
          <a:xfrm>
            <a:off x="60960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fg</a:t>
            </a:r>
          </a:p>
        </p:txBody>
      </p:sp>
      <p:sp>
        <p:nvSpPr>
          <p:cNvPr id="4" name="shape s7.1.1"/>
          <p:cNvSpPr/>
          <p:nvPr/>
        </p:nvSpPr>
        <p:spPr>
          <a:xfrm>
            <a:off x="282699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bg</a:t>
            </a:r>
          </a:p>
        </p:txBody>
      </p:sp>
      <p:sp>
        <p:nvSpPr>
          <p:cNvPr id="5" name="shape s7.1.2"/>
          <p:cNvSpPr/>
          <p:nvPr/>
        </p:nvSpPr>
        <p:spPr>
          <a:xfrm>
            <a:off x="504438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muted</a:t>
            </a:r>
          </a:p>
        </p:txBody>
      </p:sp>
      <p:sp>
        <p:nvSpPr>
          <p:cNvPr id="6" name="shape s7.1.3"/>
          <p:cNvSpPr/>
          <p:nvPr/>
        </p:nvSpPr>
        <p:spPr>
          <a:xfrm>
            <a:off x="7261771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surface</a:t>
            </a:r>
          </a:p>
        </p:txBody>
      </p:sp>
      <p:sp>
        <p:nvSpPr>
          <p:cNvPr id="7" name="shape s7.1.4"/>
          <p:cNvSpPr/>
          <p:nvPr/>
        </p:nvSpPr>
        <p:spPr>
          <a:xfrm>
            <a:off x="9479161" y="1478161"/>
            <a:ext cx="2103239" cy="1143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accent1</a:t>
            </a:r>
          </a:p>
        </p:txBody>
      </p:sp>
      <p:sp>
        <p:nvSpPr>
          <p:cNvPr id="8" name="shape s7.2.0"/>
          <p:cNvSpPr/>
          <p:nvPr/>
        </p:nvSpPr>
        <p:spPr>
          <a:xfrm>
            <a:off x="60960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7.2.0.0.0"/>
          <p:cNvSpPr txBox="1"/>
          <p:nvPr/>
        </p:nvSpPr>
        <p:spPr>
          <a:xfrm>
            <a:off x="101932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토큰과 컴포넌트가 파일이다</a:t>
            </a:r>
          </a:p>
        </p:txBody>
      </p:sp>
      <p:sp>
        <p:nvSpPr>
          <p:cNvPr id="10" name="ul s7.2.0.0.1"/>
          <p:cNvSpPr txBox="1"/>
          <p:nvPr/>
        </p:nvSpPr>
        <p:spPr>
          <a:xfrm>
            <a:off x="1019324" y="363096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tokens.json — 색 · 폰트 · 공간 · 반경 · 그림자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components.json — 역할 5종과 variant (kicker · card · stat-card · badge)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layouts 아래 CSS — 배치만 쓸 수 있고 외관을 쓰면 경고다</a:t>
            </a:r>
          </a:p>
        </p:txBody>
      </p:sp>
      <p:sp>
        <p:nvSpPr>
          <p:cNvPr id="11" name="shape s7.2.1"/>
          <p:cNvSpPr/>
          <p:nvPr/>
        </p:nvSpPr>
        <p:spPr>
          <a:xfrm>
            <a:off x="626745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7.2.1.0.0.0"/>
          <p:cNvSpPr txBox="1"/>
          <p:nvPr/>
        </p:nvSpPr>
        <p:spPr>
          <a:xfrm>
            <a:off x="667717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토큰은 눕지 않는다</a:t>
            </a:r>
          </a:p>
        </p:txBody>
      </p:sp>
      <p:sp>
        <p:nvSpPr>
          <p:cNvPr id="13" name="p s7.2.1.0.0.1"/>
          <p:cNvSpPr txBox="1"/>
          <p:nvPr/>
        </p:nvSpPr>
        <p:spPr>
          <a:xfrm>
            <a:off x="6677174" y="3630960"/>
            <a:ext cx="449550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토큰으로 쓴 색은 웹에서 CSS 변수로, PPTX에서 a:schemeClr로 남는다. 리터럴만 srgbClr가 된다.</a:t>
            </a:r>
          </a:p>
        </p:txBody>
      </p:sp>
      <p:sp>
        <p:nvSpPr>
          <p:cNvPr id="14" name="text s7.2.1.0.1"/>
          <p:cNvSpPr txBox="1"/>
          <p:nvPr/>
        </p:nvSpPr>
        <p:spPr>
          <a:xfrm>
            <a:off x="6677174" y="5194846"/>
            <a:ext cx="449550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PowerPoint에서 테마 색을 바꾸면 덱이 따라온다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8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두 렌더가 같은 컴포넌트를 낸다</a:t>
            </a:r>
          </a:p>
        </p:txBody>
      </p:sp>
      <p:sp>
        <p:nvSpPr>
          <p:cNvPr id="3" name="shape s8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8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무엇이 같은가</a:t>
            </a:r>
          </a:p>
        </p:txBody>
      </p:sp>
      <p:sp>
        <p:nvSpPr>
          <p:cNvPr id="5" name="ul s8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요소 하나는 두 타깃에서 같은 종류의 객체다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자리는 브라우저가 잰 rect, 외관은 해석된 값이다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문서 순서가 곧 도형 순서다</a:t>
            </a:r>
          </a:p>
        </p:txBody>
      </p:sp>
      <p:sp>
        <p:nvSpPr>
          <p:cNvPr id="6" name="text s8.1.0.0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줄이 어디서 접히는지는 각 엔진의 몫이다 — 약속 밖이다.</a:t>
            </a:r>
          </a:p>
        </p:txBody>
      </p:sp>
      <p:sp>
        <p:nvSpPr>
          <p:cNvPr id="7" name="shape s8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8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bg1"/>
                </a:solidFill>
                <a:latin typeface="+mn-lt"/>
                <a:ea typeface="+mn-ea"/>
              </a:rPr>
              <a:t>무엇이 판정하는가</a:t>
            </a:r>
          </a:p>
        </p:txBody>
      </p:sp>
      <p:sp>
        <p:nvSpPr>
          <p:cNvPr id="9" name="ul s8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PPTX에서 읽은 트리가 웹이 잰 트리와 같다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모든 XML 파트가 ECMA-376 스키마를 통과한다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같은 입력은 같은 바이트를 낸다</a:t>
            </a:r>
          </a:p>
        </p:txBody>
      </p:sp>
      <p:sp>
        <p:nvSpPr>
          <p:cNvPr id="10" name="text s8.2.0.0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셋 다 go test ./... 한 줄에 들어 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9.0"/>
          <p:cNvSpPr txBox="1"/>
          <p:nvPr/>
        </p:nvSpPr>
        <p:spPr>
          <a:xfrm>
            <a:off x="609600" y="2400300"/>
            <a:ext cx="1097280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850"/>
              </a:lnSpc>
            </a:pPr>
            <a:r>
              <a:rPr sz="3900" b="0">
                <a:solidFill>
                  <a:schemeClr val="tx1"/>
                </a:solidFill>
                <a:latin typeface="+mn-lt"/>
                <a:ea typeface="+mn-ea"/>
              </a:rPr>
              <a:t>“열리는 파일”과 “편집 가능한 파일”의 차이가 이 제품의 핵심이다.</a:t>
            </a:r>
          </a:p>
        </p:txBody>
      </p:sp>
      <p:sp>
        <p:nvSpPr>
          <p:cNvPr id="3" name="text s9.1"/>
          <p:cNvSpPr txBox="1"/>
          <p:nvPr/>
        </p:nvSpPr>
        <p:spPr>
          <a:xfrm>
            <a:off x="609600" y="4114800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테스트 문서, 사람이 직접 pptx를 열어 확인하는 단계를 자동화하지 않는 이유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0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지금 되는 것과 다음</a:t>
            </a:r>
          </a:p>
        </p:txBody>
      </p:sp>
      <p:sp>
        <p:nvSpPr>
          <p:cNvPr id="3" name="shape s10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0.1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동작한다</a:t>
            </a:r>
          </a:p>
        </p:txBody>
      </p:sp>
      <p:sp>
        <p:nvSpPr>
          <p:cNvPr id="5" name="ul s10.1.0.0.1"/>
          <p:cNvSpPr txBox="1"/>
          <p:nvPr/>
        </p:nvSpPr>
        <p:spPr>
          <a:xfrm>
            <a:off x="1019324" y="2373660"/>
            <a:ext cx="4552652" cy="257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파싱에서 두 타깃까지 전 구간 — 웹 + 편집 가능한 네이티브 PPTX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텍스트 서브셋 · 레이아웃 컨테이너 · 도형 12종 · 그림 · 겹침 · 그라디언트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레이아웃 11종과 슬롯 — 슬롯은 PPTX에서 진짜 플레이스홀더가 된다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표와 차트 · 코드 강조 · 단계별 공개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내장 테마 셋과 외부 테마 패키지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6" name="shape s10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7" name="text s10.2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다음</a:t>
            </a:r>
          </a:p>
        </p:txBody>
      </p:sp>
      <p:sp>
        <p:nvSpPr>
          <p:cNvPr id="8" name="ul s10.2.0.0.1"/>
          <p:cNvSpPr txBox="1"/>
          <p:nvPr/>
        </p:nvSpPr>
        <p:spPr>
          <a:xfrm>
            <a:off x="6620024" y="2373660"/>
            <a:ext cx="4552652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테마가 소유하는 배경과 자산 — 배경 그림 · 로고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 variant의 그라디언트 토큰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측정 브라우저에 없는 테마 글꼴 경고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진단 다듬기 — 오타 후보 · 정렬 · 한 사고 한 경고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0221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SOML로 한 번 쓴다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45210"/>
            <a:ext cx="10972800" cy="396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3120"/>
              </a:lnSpc>
            </a:pPr>
            <a:r>
              <a:rPr sz="2400" b="1">
                <a:solidFill>
                  <a:schemeClr val="tx2"/>
                </a:solidFill>
                <a:latin typeface="+mj-lt"/>
                <a:ea typeface="+mj-ea"/>
              </a:rPr>
              <a:t>나머지는 balpyo가 두 곳으로 렌더한다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balpyo 소개</dc:title>
  <dc:creator>balpyo</dc:creator>
  <cp:lastModifiedBy>balpyo</cp:lastModifiedBy>
  <cp:revision>1</cp:revision>
</cp:coreProperties>
</file>